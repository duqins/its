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83a821b91442df" /><Relationship Type="http://schemas.openxmlformats.org/officeDocument/2006/relationships/extended-properties" Target="/docProps/app.xml" Id="R2704a60bc6624c88" /><Relationship Type="http://schemas.openxmlformats.org/officeDocument/2006/relationships/officeDocument" Target="/ppt/presentation.xml" Id="R3c593582a5034d33" /></Relationships>
</file>

<file path=ppt/presentation.xml><?xml version="1.0" encoding="utf-8"?>
<p:presentation xmlns:p="http://schemas.openxmlformats.org/presentationml/2006/main">
  <p:sldMasterIdLst>
    <p:sldMasterId xmlns:r="http://schemas.openxmlformats.org/officeDocument/2006/relationships" id="2147483648" r:id="R244f1015c9b64eca"/>
  </p:sldMasterIdLst>
  <p:notesMasterIdLst>
    <p:notesMasterId xmlns:r="http://schemas.openxmlformats.org/officeDocument/2006/relationships" r:id="Rdf17bbf93e844c16"/>
  </p:notesMasterIdLst>
  <p:sldIdLst>
    <p:sldId xmlns:r="http://schemas.openxmlformats.org/officeDocument/2006/relationships" id="256" r:id="R4faf2ad0bb944a35"/>
    <p:sldId xmlns:r="http://schemas.openxmlformats.org/officeDocument/2006/relationships" id="257" r:id="R6601ab601f604c26"/>
    <p:sldId xmlns:r="http://schemas.openxmlformats.org/officeDocument/2006/relationships" id="258" r:id="Rc1d02cb75a374411"/>
    <p:sldId xmlns:r="http://schemas.openxmlformats.org/officeDocument/2006/relationships" id="259" r:id="Ra27cca3286db4904"/>
    <p:sldId xmlns:r="http://schemas.openxmlformats.org/officeDocument/2006/relationships" id="260" r:id="R4533f0bc979a4ea1"/>
    <p:sldId xmlns:r="http://schemas.openxmlformats.org/officeDocument/2006/relationships" id="261" r:id="R2352278874704816"/>
    <p:sldId xmlns:r="http://schemas.openxmlformats.org/officeDocument/2006/relationships" id="262" r:id="R3911391752d143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db27bc0bd54048" /><Relationship Type="http://schemas.openxmlformats.org/officeDocument/2006/relationships/slideMaster" Target="/ppt/slideMasters/slideMaster1.xml" Id="R244f1015c9b64eca" /><Relationship Type="http://schemas.openxmlformats.org/officeDocument/2006/relationships/notesMaster" Target="/ppt/notesMasters/notesMaster1.xml" Id="Rdf17bbf93e844c16" /><Relationship Type="http://schemas.openxmlformats.org/officeDocument/2006/relationships/presProps" Target="/ppt/presProps.xml" Id="R86e753a9770c4385" /><Relationship Type="http://schemas.openxmlformats.org/officeDocument/2006/relationships/tableStyles" Target="/ppt/tableStyles.xml" Id="R4bc4b60fd7c349e2" /><Relationship Type="http://schemas.openxmlformats.org/officeDocument/2006/relationships/slide" Target="/ppt/slides/slide1.xml" Id="R4faf2ad0bb944a35" /><Relationship Type="http://schemas.openxmlformats.org/officeDocument/2006/relationships/slide" Target="/ppt/slides/slide2.xml" Id="R6601ab601f604c26" /><Relationship Type="http://schemas.openxmlformats.org/officeDocument/2006/relationships/slide" Target="/ppt/slides/slide3.xml" Id="Rc1d02cb75a374411" /><Relationship Type="http://schemas.openxmlformats.org/officeDocument/2006/relationships/slide" Target="/ppt/slides/slide4.xml" Id="Ra27cca3286db4904" /><Relationship Type="http://schemas.openxmlformats.org/officeDocument/2006/relationships/slide" Target="/ppt/slides/slide5.xml" Id="R4533f0bc979a4ea1" /><Relationship Type="http://schemas.openxmlformats.org/officeDocument/2006/relationships/slide" Target="/ppt/slides/slide6.xml" Id="R2352278874704816" /><Relationship Type="http://schemas.openxmlformats.org/officeDocument/2006/relationships/slide" Target="/ppt/slides/slide7.xml" Id="R3911391752d143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040d83f04345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f9e99486d940e3" /><Relationship Type="http://schemas.openxmlformats.org/officeDocument/2006/relationships/notesMaster" Target="/ppt/notesMasters/notesMaster1.xml" Id="Rb6efe9bdcc5642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a3be38c1a14d1a" /><Relationship Type="http://schemas.openxmlformats.org/officeDocument/2006/relationships/notesMaster" Target="/ppt/notesMasters/notesMaster1.xml" Id="R7df1bfc1e1a34d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2dc8fc878c4cee" /><Relationship Type="http://schemas.openxmlformats.org/officeDocument/2006/relationships/notesMaster" Target="/ppt/notesMasters/notesMaster1.xml" Id="R4dcf12eea06b42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188243c4e74b38" /><Relationship Type="http://schemas.openxmlformats.org/officeDocument/2006/relationships/notesMaster" Target="/ppt/notesMasters/notesMaster1.xml" Id="Rb9b7016b2e8745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6a6aed6cbb4f15" /><Relationship Type="http://schemas.openxmlformats.org/officeDocument/2006/relationships/notesMaster" Target="/ppt/notesMasters/notesMaster1.xml" Id="R9673d3cbb71e40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7c4f02ca5634d40" /><Relationship Type="http://schemas.openxmlformats.org/officeDocument/2006/relationships/notesMaster" Target="/ppt/notesMasters/notesMaster1.xml" Id="Rc6501389d23a4c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c3be58030148c9" /><Relationship Type="http://schemas.openxmlformats.org/officeDocument/2006/relationships/notesMaster" Target="/ppt/notesMasters/notesMaster1.xml" Id="R3b68065ed2a048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Sultan — 15 seconds</a:t>
            </a:r>
          </a:p>
          <a:p xmlns:a="http://schemas.openxmlformats.org/drawingml/2006/main">
            <a:r>
              <a:t/>
            </a:r>
          </a:p>
          <a:p xmlns:a="http://schemas.openxmlformats.org/drawingml/2006/main">
            <a:r>
              <a:t>Good morning. We are Group Four. Our project proposes a campus resource exchange system that helps departments reuse existing equipment. Today we will explain the problem and what we established in Phase One.</a:t>
            </a:r>
          </a:p>
          <a:p xmlns:a="http://schemas.openxmlformats.org/drawingml/2006/main">
            <a:r>
              <a:t/>
            </a:r>
          </a:p>
          <a:p xmlns:a="http://schemas.openxmlformats.org/drawingml/2006/main">
            <a:r>
              <a:t>Official title: Intelligent, AI-Powered Circular Campus Resource Exchange and Asset Life Cycle Management System. The photograph shows UNC Chapel Hill, not Khalifa University. It is illustrative and provides no evidence of surplus assets.</a:t>
            </a:r>
          </a:p>
          <a:p xmlns:a="http://schemas.openxmlformats.org/drawingml/2006/main">
            <a:r>
              <a:t/>
            </a:r>
          </a:p>
          <a:p xmlns:a="http://schemas.openxmlformats.org/drawingml/2006/main">
            <a:r>
              <a:t>Sources:</a:t>
            </a:r>
          </a:p>
          <a:p xmlns:a="http://schemas.openxmlformats.org/drawingml/2006/main">
            <a:r>
              <a:t>https://github.com/duqins/ITS/blob/main/docs/phase1/sections/00-title.md</a:t>
            </a:r>
          </a:p>
          <a:p xmlns:a="http://schemas.openxmlformats.org/drawingml/2006/main">
            <a:r>
              <a:t>https://github.com/duqins/ITS/blob/main/docs/phase1/sections/01-introduction.md</a:t>
            </a:r>
          </a:p>
          <a:p xmlns:a="http://schemas.openxmlformats.org/drawingml/2006/main">
            <a:r>
              <a:t>Photo: https://commons.wikimedia.org/wiki/File:2003-09-30_UNC-CH_Phillips_classroom_1.jpg</a:t>
            </a:r>
          </a:p>
          <a:p xmlns:a="http://schemas.openxmlformats.org/drawingml/2006/main">
            <a:r>
              <a:t>Photo by Ildar Sagdejev (Specious), 30 September 2003. CC BY-SA 3.0: https://creativecommons.org/licenses/by-sa/3.0 . Image resized proportionally, no cropping or other edits.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Sultan — 35 seconds</a:t>
            </a:r>
          </a:p>
          <a:p xmlns:a="http://schemas.openxmlformats.org/drawingml/2006/main">
            <a:r>
              <a:t/>
            </a:r>
          </a:p>
          <a:p xmlns:a="http://schemas.openxmlformats.org/drawingml/2006/main">
            <a:r>
              <a:t>The assignment describes departments buying equipment while similar usable items sit idle elsewhere. Imagine one department has five unused chairs and another needs seating for five people. This is a hypothetical example. The problem is that people may not know what is available or who can approve a transfer. We want to connect that information, so departments can consider reuse before buying new equipment and keep items useful for longer.</a:t>
            </a:r>
          </a:p>
          <a:p xmlns:a="http://schemas.openxmlformats.org/drawingml/2006/main">
            <a:r>
              <a:t/>
            </a:r>
          </a:p>
          <a:p xmlns:a="http://schemas.openxmlformats.org/drawingml/2006/main">
            <a:r>
              <a:t>The university process is an initial course-scenario analysis. Real stakeholder interviews and process validation are planned. Do not present the chair example as measured campus activity.</a:t>
            </a:r>
          </a:p>
          <a:p xmlns:a="http://schemas.openxmlformats.org/drawingml/2006/main">
            <a:r>
              <a:t/>
            </a:r>
          </a:p>
          <a:p xmlns:a="http://schemas.openxmlformats.org/drawingml/2006/main">
            <a:r>
              <a:t>Sources:</a:t>
            </a:r>
          </a:p>
          <a:p xmlns:a="http://schemas.openxmlformats.org/drawingml/2006/main">
            <a:r>
              <a:t>https://github.com/duqins/ITS/blob/main/docs/phase1/sections/01-introduction.md</a:t>
            </a:r>
          </a:p>
          <a:p xmlns:a="http://schemas.openxmlformats.org/drawingml/2006/main">
            <a:r>
              <a:t>https://github.com/duqins/ITS/blob/main/docs/phase1/sections/04-as-is-process.md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Sultan — 45 seconds</a:t>
            </a:r>
          </a:p>
          <a:p xmlns:a="http://schemas.openxmlformats.org/drawingml/2006/main">
            <a:r>
              <a:t/>
            </a:r>
          </a:p>
          <a:p xmlns:a="http://schemas.openxmlformats.org/drawingml/2006/main">
            <a:r>
              <a:t>Our proposed web application connects the whole process. A custodian records an asset and publishes it when available. Another department can find it, request it and get the necessary approvals. After the transfer, the system keeps the new location, custodian and maintenance history. AI can help connect a request for seating with a listing called office chairs, but authorised people still approve the transfer. Hosting and deployment are included in our scope. Live finance-system integration and payments are excluded. Zayed will now explain how we established the initial requirements.</a:t>
            </a:r>
          </a:p>
          <a:p xmlns:a="http://schemas.openxmlformats.org/drawingml/2006/main">
            <a:r>
              <a:t/>
            </a:r>
          </a:p>
          <a:p xmlns:a="http://schemas.openxmlformats.org/drawingml/2006/main">
            <a:r>
              <a:t>Scope also includes AI services and sustainability reporting. Other exclusions include physical transport/RFID hardware, native mobile apps and custom model training. Deployment is NFR-13, a planned Should-have item after the initial Must-have baseline, with instructor agreement needed for any course-scope deferral.</a:t>
            </a:r>
          </a:p>
          <a:p xmlns:a="http://schemas.openxmlformats.org/drawingml/2006/main">
            <a:r>
              <a:t/>
            </a:r>
          </a:p>
          <a:p xmlns:a="http://schemas.openxmlformats.org/drawingml/2006/main">
            <a:r>
              <a:t>Sources:</a:t>
            </a:r>
          </a:p>
          <a:p xmlns:a="http://schemas.openxmlformats.org/drawingml/2006/main">
            <a:r>
              <a:t>https://github.com/duqins/ITS/blob/main/docs/phase1/sections/02-project-overview.md</a:t>
            </a:r>
          </a:p>
          <a:p xmlns:a="http://schemas.openxmlformats.org/drawingml/2006/main">
            <a:r>
              <a:t>https://github.com/duqins/ITS/blob/main/docs/phase1/sections/06-requirements-specification.md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Zayed — 55 seconds</a:t>
            </a:r>
          </a:p>
          <a:p xmlns:a="http://schemas.openxmlformats.org/drawingml/2006/main">
            <a:r>
              <a:t/>
            </a:r>
          </a:p>
          <a:p xmlns:a="http://schemas.openxmlformats.org/drawingml/2006/main">
            <a:r>
              <a:t>For Phase One, we analysed the project description and lab slides, then walked through the assignment scenario. We identified nine system roles and mapped their responsibilities. A requester searches for an asset, a custodian keeps its record, and the releasing and receiving departments approve its transfer. Finance or procurement reviews apply where required. We also documented the current process, its gaps and the initial requirements. This is a preliminary analysis based on the supplied documents. Interviews, a short survey and a process workshop are planned to validate assumptions and detailed approval rules. These outputs gave Ghith a starting point for the specification and success criteria.</a:t>
            </a:r>
          </a:p>
          <a:p xmlns:a="http://schemas.openxmlformats.org/drawingml/2006/main">
            <a:r>
              <a:t/>
            </a:r>
          </a:p>
          <a:p xmlns:a="http://schemas.openxmlformats.org/drawingml/2006/main">
            <a:r>
              <a:t>Nine operational roles: department representative, asset custodian, requester, administrator, procurement officer, finance officer, maintenance staff, sustainability officer and system administrator. Instructors, university management and the team are additional stakeholders. Technical administration does not automatically grant business approval rights.</a:t>
            </a:r>
          </a:p>
          <a:p xmlns:a="http://schemas.openxmlformats.org/drawingml/2006/main">
            <a:r>
              <a:t/>
            </a:r>
          </a:p>
          <a:p xmlns:a="http://schemas.openxmlformats.org/drawingml/2006/main">
            <a:r>
              <a:t>Sources:</a:t>
            </a:r>
          </a:p>
          <a:p xmlns:a="http://schemas.openxmlformats.org/drawingml/2006/main">
            <a:r>
              <a:t>https://github.com/duqins/ITS/blob/main/docs/phase1/sections/03-stakeholder-analysis.md</a:t>
            </a:r>
          </a:p>
          <a:p xmlns:a="http://schemas.openxmlformats.org/drawingml/2006/main">
            <a:r>
              <a:t>https://github.com/duqins/ITS/blob/main/docs/phase1/sections/04-as-is-process.md</a:t>
            </a:r>
          </a:p>
          <a:p xmlns:a="http://schemas.openxmlformats.org/drawingml/2006/main">
            <a:r>
              <a:t>https://github.com/duqins/ITS/blob/main/docs/phase1/sections/05-requirements-gathering.md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Ghith — 55 seconds</a:t>
            </a:r>
          </a:p>
          <a:p xmlns:a="http://schemas.openxmlformats.org/drawingml/2006/main">
            <a:r>
              <a:t/>
            </a:r>
          </a:p>
          <a:p xmlns:a="http://schemas.openxmlformats.org/drawingml/2006/main">
            <a:r>
              <a:t>Our initial specification contains fifty-two requirements across classic functions, AI, sustainability and quality. The classic baseline handles records, availability, permissions, approvals and asset history. AI adds classification, matching and draft reports. For example, semantic matching should understand that seating and office chairs may refer to the same need. It must still respect quantity, specifications and permissions, and show why an item was suggested. Classic search remains available if the AI service fails. We also plan an assistant and sustainable-action recommendations after the first baseline. Every requirement has an identifier and priority, so we can trace it into design and testing. The important control is that AI recommends and authorised people approve.</a:t>
            </a:r>
          </a:p>
          <a:p xmlns:a="http://schemas.openxmlformats.org/drawingml/2006/main">
            <a:r>
              <a:t/>
            </a:r>
          </a:p>
          <a:p xmlns:a="http://schemas.openxmlformats.org/drawingml/2006/main">
            <a:r>
              <a:t>52 is the initial requirement count, not a completed feature count: 18 classic functional, 13 AI, 8 sustainability, 13 non-functional. 47 Must and 5 Should. Should items: AI-06, AI-07, AI-08, NFR-11 and NFR-13. AI recommendations never bypass permission or business approval checks.</a:t>
            </a:r>
          </a:p>
          <a:p xmlns:a="http://schemas.openxmlformats.org/drawingml/2006/main">
            <a:r>
              <a:t/>
            </a:r>
          </a:p>
          <a:p xmlns:a="http://schemas.openxmlformats.org/drawingml/2006/main">
            <a:r>
              <a:t>Sources:</a:t>
            </a:r>
          </a:p>
          <a:p xmlns:a="http://schemas.openxmlformats.org/drawingml/2006/main">
            <a:r>
              <a:t>https://github.com/duqins/ITS/blob/main/docs/phase1/sections/06-requirements-specification.md</a:t>
            </a:r>
          </a:p>
          <a:p xmlns:a="http://schemas.openxmlformats.org/drawingml/2006/main">
            <a:r>
              <a:t>https://github.com/duqins/ITS/blob/main/docs/phase1/sections/09-classic-vs-ai.md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Ghith — 40 seconds</a:t>
            </a:r>
          </a:p>
          <a:p xmlns:a="http://schemas.openxmlformats.org/drawingml/2006/main">
            <a:r>
              <a:t/>
            </a:r>
          </a:p>
          <a:p xmlns:a="http://schemas.openxmlformats.org/drawingml/2006/main">
            <a:r>
              <a:t>These are proposed targets that we will test on synthetic data. We want at least one useful item in the top three matches for sixteen of twenty labelled requests. We will compare AI with keyword search on the same requests. We also want four of five test users to complete the main tasks without help. For classic search, ninety-five of one hundred searches should finish within two seconds with five hundred assets and five concurrent users. These targets give us evidence to judge the prototype.</a:t>
            </a:r>
          </a:p>
          <a:p xmlns:a="http://schemas.openxmlformats.org/drawingml/2006/main">
            <a:r>
              <a:t/>
            </a:r>
          </a:p>
          <a:p xmlns:a="http://schemas.openxmlformats.org/drawingml/2006/main">
            <a:r>
              <a:t>These are future acceptance criteria, not measured results. The matching metric is request success within the top three, not model accuracy. Tasks are appropriate to each test user role. Classic search timing excludes AI latency. The report also defines approval, fallback, sustainability and hosted-workflow tests. Compare AI with the keyword baseline; the planned target is at least two additional successful requests out of twenty.</a:t>
            </a:r>
          </a:p>
          <a:p xmlns:a="http://schemas.openxmlformats.org/drawingml/2006/main">
            <a:r>
              <a:t/>
            </a:r>
          </a:p>
          <a:p xmlns:a="http://schemas.openxmlformats.org/drawingml/2006/main">
            <a:r>
              <a:t>Sources:</a:t>
            </a:r>
          </a:p>
          <a:p xmlns:a="http://schemas.openxmlformats.org/drawingml/2006/main">
            <a:r>
              <a:t>https://github.com/duqins/ITS/blob/main/docs/phase1/sections/07-success-criteria.md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Sultan — 55 seconds</a:t>
            </a:r>
          </a:p>
          <a:p xmlns:a="http://schemas.openxmlformats.org/drawingml/2006/main">
            <a:r>
              <a:t/>
            </a:r>
          </a:p>
          <a:p xmlns:a="http://schemas.openxmlformats.org/drawingml/2006/main">
            <a:r>
              <a:t>Those requirements and tests lead to our delivery plan. We use short work cycles within the course phases: plan a small piece, complete it, review it and adjust. Our next step is the feasibility study, where we check our technology, AI access, hosting and available time. Then we refine requirements, design the system, build and deploy it, and test it before the final demonstration. I coordinate the project and backend integration. Zayed leads requirements, user experience and testing. Ghith leads architecture, AI and deployment, with my support. We will test uncertain choices early and keep classic workflows available if AI fails. Phase One gives us the scope, responsibilities and testable requirements to start that work. Thank you.</a:t>
            </a:r>
          </a:p>
          <a:p xmlns:a="http://schemas.openxmlformats.org/drawingml/2006/main">
            <a:r>
              <a:t/>
            </a:r>
          </a:p>
          <a:p xmlns:a="http://schemas.openxmlformats.org/drawingml/2006/main">
            <a:r>
              <a:t>Hosting selection is planned for Phase 2, an initial hosted version for Phase 6 and the final HTTPS URL with deployment instructions for Phase 8. Calendar dates are provisional because course sources differ, so the pitch uses phases. No application has been implemented or deployed in Phase 1.</a:t>
            </a:r>
          </a:p>
          <a:p xmlns:a="http://schemas.openxmlformats.org/drawingml/2006/main">
            <a:r>
              <a:t/>
            </a:r>
          </a:p>
          <a:p xmlns:a="http://schemas.openxmlformats.org/drawingml/2006/main">
            <a:r>
              <a:t>Sources:</a:t>
            </a:r>
          </a:p>
          <a:p xmlns:a="http://schemas.openxmlformats.org/drawingml/2006/main">
            <a:r>
              <a:t>https://github.com/duqins/ITS/blob/main/docs/phase1/sections/08-project-plan.md</a:t>
            </a:r>
          </a:p>
          <a:p xmlns:a="http://schemas.openxmlformats.org/drawingml/2006/main">
            <a:r>
              <a:t>https://github.com/duqins/ITS/blob/main/docs/phase1/sections/07-success-criteria.md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29a6dd43c424a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9a2831b09f416f" /><Relationship Type="http://schemas.openxmlformats.org/officeDocument/2006/relationships/slideLayout" Target="/ppt/slideLayouts/slideLayout1.xml" Id="R7c487ad5f8a548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487ad5f8a548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1b18ecbe4544708" /><Relationship Type="http://schemas.openxmlformats.org/officeDocument/2006/relationships/image" Target="/ppt/media/image.jpeg" Id="Reb82d8a44ae54fa1" /><Relationship Type="http://schemas.openxmlformats.org/officeDocument/2006/relationships/notesSlide" Target="/ppt/notesSlides/notesSlide1.xml" Id="Rcd9786f9e63240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d78b3609c424f40" /><Relationship Type="http://schemas.openxmlformats.org/officeDocument/2006/relationships/notesSlide" Target="/ppt/notesSlides/notesSlide2.xml" Id="R0bc2eac7f642449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a78cb9c38c4e33" /><Relationship Type="http://schemas.openxmlformats.org/officeDocument/2006/relationships/notesSlide" Target="/ppt/notesSlides/notesSlide3.xml" Id="Rfe50d95967e346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3f7fd77cbf648fa" /><Relationship Type="http://schemas.openxmlformats.org/officeDocument/2006/relationships/notesSlide" Target="/ppt/notesSlides/notesSlide4.xml" Id="R888d0b3715624b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772a96da1e4a7b" /><Relationship Type="http://schemas.openxmlformats.org/officeDocument/2006/relationships/notesSlide" Target="/ppt/notesSlides/notesSlide5.xml" Id="Rcbfa5aa135f241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b44f2f3077b4ebf" /><Relationship Type="http://schemas.openxmlformats.org/officeDocument/2006/relationships/notesSlide" Target="/ppt/notesSlides/notesSlide6.xml" Id="R73676a7e41f743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e1955fb5b7477e" /><Relationship Type="http://schemas.openxmlformats.org/officeDocument/2006/relationships/notesSlide" Target="/ppt/notesSlides/notesSlide7.xml" Id="R5e8c597bf2474b81" /></Relationships>
</file>

<file path=ppt/slides/slide1.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8" name="phase-label">
            <a:extLst xmlns:a="http://schemas.openxmlformats.org/drawingml/2006/main">
              <a:ext uri="{FF2B5EF4-FFF2-40B4-BE49-F238E27FC236}">
                <a16:creationId xmlns:a16="http://schemas.microsoft.com/office/drawing/2014/main" id="{C037F4D0-BA6A-4D5B-9D11-97038BD49DD1}"/>
              </a:ext>
            </a:extLst>
          </p:cNvPr>
          <p:cNvSpPr>
            <a:spLocks xmlns:a="http://schemas.openxmlformats.org/drawingml/2006/main" noGrp="1"/>
          </p:cNvSpPr>
          <p:nvPr/>
        </p:nvSpPr>
        <p:spPr>
          <a:xfrm xmlns:a="http://schemas.openxmlformats.org/drawingml/2006/main">
            <a:off x="685800" y="866775"/>
            <a:ext cx="5953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6746D"/>
                </a:solidFill>
                <a:latin typeface="Arial"/>
                <a:ea typeface="Arial"/>
                <a:cs typeface="Arial"/>
              </a:defRPr>
            </a:pPr>
            <a:r>
              <a:rPr sz="2100" b="0">
                <a:solidFill>
                  <a:srgbClr val="26746D"/>
                </a:solidFill>
                <a:latin typeface="Arial"/>
                <a:ea typeface="Arial"/>
                <a:cs typeface="Arial"/>
              </a:rPr>
              <a:t>Phase 1 project pitch</a:t>
            </a:r>
          </a:p>
        </p:txBody>
      </p:sp>
      <p:sp>
        <p:nvSpPr>
          <p:cNvPr id="2" name="cover-title">
            <a:extLst xmlns:a="http://schemas.openxmlformats.org/drawingml/2006/main">
              <a:ext uri="{FF2B5EF4-FFF2-40B4-BE49-F238E27FC236}">
                <a16:creationId xmlns:a16="http://schemas.microsoft.com/office/drawing/2014/main" id="{C0CA46A2-7E09-44BB-8368-976B56EB0730}"/>
              </a:ext>
            </a:extLst>
          </p:cNvPr>
          <p:cNvSpPr>
            <a:spLocks xmlns:a="http://schemas.openxmlformats.org/drawingml/2006/main" noGrp="1"/>
          </p:cNvSpPr>
          <p:nvPr/>
        </p:nvSpPr>
        <p:spPr>
          <a:xfrm xmlns:a="http://schemas.openxmlformats.org/drawingml/2006/main">
            <a:off x="685800" y="1790700"/>
            <a:ext cx="6286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17343C"/>
                </a:solidFill>
                <a:latin typeface="Arial"/>
                <a:ea typeface="Arial"/>
                <a:cs typeface="Arial"/>
              </a:defRPr>
            </a:pPr>
            <a:r>
              <a:rPr sz="4800" b="1">
                <a:solidFill>
                  <a:srgbClr val="17343C"/>
                </a:solidFill>
                <a:latin typeface="Arial"/>
                <a:ea typeface="Arial"/>
                <a:cs typeface="Arial"/>
              </a:rPr>
              <a:t>Campus</a:t>
            </a:r>
          </a:p>
          <a:p xmlns:a="http://schemas.openxmlformats.org/drawingml/2006/main">
            <a:pPr algn="l">
              <a:defRPr sz="4800" b="1">
                <a:solidFill>
                  <a:srgbClr val="17343C"/>
                </a:solidFill>
                <a:latin typeface="Arial"/>
                <a:ea typeface="Arial"/>
                <a:cs typeface="Arial"/>
              </a:defRPr>
            </a:pPr>
            <a:r>
              <a:rPr sz="4800" b="1">
                <a:solidFill>
                  <a:srgbClr val="17343C"/>
                </a:solidFill>
                <a:latin typeface="Arial"/>
                <a:ea typeface="Arial"/>
                <a:cs typeface="Arial"/>
              </a:rPr>
              <a:t>Resource Exchange</a:t>
            </a:r>
          </a:p>
        </p:txBody>
      </p:sp>
      <p:sp>
        <p:nvSpPr>
          <p:cNvPr id="3" name="cover-purpose">
            <a:extLst xmlns:a="http://schemas.openxmlformats.org/drawingml/2006/main">
              <a:ext uri="{FF2B5EF4-FFF2-40B4-BE49-F238E27FC236}">
                <a16:creationId xmlns:a16="http://schemas.microsoft.com/office/drawing/2014/main" id="{9C542DBF-3B6A-4683-A11B-BB22D43D8BAA}"/>
              </a:ext>
            </a:extLst>
          </p:cNvPr>
          <p:cNvSpPr>
            <a:spLocks xmlns:a="http://schemas.openxmlformats.org/drawingml/2006/main" noGrp="1"/>
          </p:cNvSpPr>
          <p:nvPr/>
        </p:nvSpPr>
        <p:spPr>
          <a:xfrm xmlns:a="http://schemas.openxmlformats.org/drawingml/2006/main">
            <a:off x="685800" y="3724275"/>
            <a:ext cx="6096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Reusing university assets with</a:t>
            </a:r>
          </a:p>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AI support and human approvals</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b82d8a44ae54fa1"/>
          <a:stretch xmlns:a="http://schemas.openxmlformats.org/drawingml/2006/main"/>
        </p:blipFill>
        <p:spPr>
          <a:xfrm xmlns:a="http://schemas.openxmlformats.org/drawingml/2006/main">
            <a:off x="7200900" y="1466850"/>
            <a:ext cx="4305300" cy="3228975"/>
          </a:xfrm>
          <a:prstGeom xmlns:a="http://schemas.openxmlformats.org/drawingml/2006/main" prst="rect">
            <a:avLst/>
          </a:prstGeom>
        </p:spPr>
      </p:pic>
      <p:sp>
        <p:nvSpPr>
          <p:cNvPr id="5" name="photo-caption">
            <a:extLst xmlns:a="http://schemas.openxmlformats.org/drawingml/2006/main">
              <a:ext uri="{FF2B5EF4-FFF2-40B4-BE49-F238E27FC236}">
                <a16:creationId xmlns:a16="http://schemas.microsoft.com/office/drawing/2014/main" id="{66F8A7BA-7FC2-4A68-9B7D-3069F570E64A}"/>
              </a:ext>
            </a:extLst>
          </p:cNvPr>
          <p:cNvSpPr>
            <a:spLocks xmlns:a="http://schemas.openxmlformats.org/drawingml/2006/main" noGrp="1"/>
          </p:cNvSpPr>
          <p:nvPr/>
        </p:nvSpPr>
        <p:spPr>
          <a:xfrm xmlns:a="http://schemas.openxmlformats.org/drawingml/2006/main">
            <a:off x="7200900" y="4829175"/>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Classroom photograph for illustration</a:t>
            </a:r>
          </a:p>
        </p:txBody>
      </p:sp>
      <p:sp>
        <p:nvSpPr>
          <p:cNvPr id="6" name="team">
            <a:extLst xmlns:a="http://schemas.openxmlformats.org/drawingml/2006/main">
              <a:ext uri="{FF2B5EF4-FFF2-40B4-BE49-F238E27FC236}">
                <a16:creationId xmlns:a16="http://schemas.microsoft.com/office/drawing/2014/main" id="{244D87D7-B640-4E70-B759-03970CD79C56}"/>
              </a:ext>
            </a:extLst>
          </p:cNvPr>
          <p:cNvSpPr>
            <a:spLocks xmlns:a="http://schemas.openxmlformats.org/drawingml/2006/main" noGrp="1"/>
          </p:cNvSpPr>
          <p:nvPr/>
        </p:nvSpPr>
        <p:spPr>
          <a:xfrm xmlns:a="http://schemas.openxmlformats.org/drawingml/2006/main">
            <a:off x="685800" y="56007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343C"/>
                </a:solidFill>
                <a:latin typeface="Arial"/>
                <a:ea typeface="Arial"/>
                <a:cs typeface="Arial"/>
              </a:defRPr>
            </a:pPr>
            <a:r>
              <a:rPr sz="1875" b="0">
                <a:solidFill>
                  <a:srgbClr val="17343C"/>
                </a:solidFill>
                <a:latin typeface="Arial"/>
                <a:ea typeface="Arial"/>
                <a:cs typeface="Arial"/>
              </a:rPr>
              <a:t>Sultan Almheiri, Zayed Alfadli and Ghith Alhinaai</a:t>
            </a:r>
          </a:p>
        </p:txBody>
      </p:sp>
      <p:sp>
        <p:nvSpPr>
          <p:cNvPr id="7" name="course">
            <a:extLst xmlns:a="http://schemas.openxmlformats.org/drawingml/2006/main">
              <a:ext uri="{FF2B5EF4-FFF2-40B4-BE49-F238E27FC236}">
                <a16:creationId xmlns:a16="http://schemas.microsoft.com/office/drawing/2014/main" id="{DF1B20CC-1CC4-4B07-AE2A-D4F3B9C44DF7}"/>
              </a:ext>
            </a:extLst>
          </p:cNvPr>
          <p:cNvSpPr>
            <a:spLocks xmlns:a="http://schemas.openxmlformats.org/drawingml/2006/main" noGrp="1"/>
          </p:cNvSpPr>
          <p:nvPr/>
        </p:nvSpPr>
        <p:spPr>
          <a:xfrm xmlns:a="http://schemas.openxmlformats.org/drawingml/2006/main">
            <a:off x="685800" y="610552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36466"/>
                </a:solidFill>
                <a:latin typeface="Arial"/>
                <a:ea typeface="Arial"/>
                <a:cs typeface="Arial"/>
              </a:defRPr>
            </a:pPr>
            <a:r>
              <a:rPr sz="1575" b="0">
                <a:solidFill>
                  <a:srgbClr val="536466"/>
                </a:solidFill>
                <a:latin typeface="Arial"/>
                <a:ea typeface="Arial"/>
                <a:cs typeface="Arial"/>
              </a:rPr>
              <a:t>COSC336  •  Khalifa University  •  Group 4</a:t>
            </a:r>
          </a:p>
        </p:txBody>
      </p:sp>
    </p:spTree>
    <p:extLst>
      <p:ext uri="{BB962C8B-B14F-4D97-AF65-F5344CB8AC3E}">
        <p14:creationId xmlns:p14="http://schemas.microsoft.com/office/powerpoint/2010/main" val="604531973"/>
      </p:ext>
    </p:extLst>
  </p:cSld>
</p:sld>
</file>

<file path=ppt/slides/slide2.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1081673-05A5-4B83-952E-1B9EEA074E76}"/>
              </a:ext>
            </a:extLst>
          </p:cNvPr>
          <p:cNvSpPr>
            <a:spLocks xmlns:a="http://schemas.openxmlformats.org/drawingml/2006/main" noGrp="1"/>
          </p:cNvSpPr>
          <p:nvPr/>
        </p:nvSpPr>
        <p:spPr>
          <a:xfrm xmlns:a="http://schemas.openxmlformats.org/drawingml/2006/main">
            <a:off x="685800" y="5524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The reuse problem</a:t>
            </a:r>
          </a:p>
        </p:txBody>
      </p:sp>
      <p:sp>
        <p:nvSpPr>
          <p:cNvPr id="2" name="page-number">
            <a:extLst xmlns:a="http://schemas.openxmlformats.org/drawingml/2006/main">
              <a:ext uri="{FF2B5EF4-FFF2-40B4-BE49-F238E27FC236}">
                <a16:creationId xmlns:a16="http://schemas.microsoft.com/office/drawing/2014/main" id="{34AC8E64-BD8D-4F7C-B073-33B0ED2F8579}"/>
              </a:ext>
            </a:extLst>
          </p:cNvPr>
          <p:cNvSpPr>
            <a:spLocks xmlns:a="http://schemas.openxmlformats.org/drawingml/2006/main" noGrp="1"/>
          </p:cNvSpPr>
          <p:nvPr/>
        </p:nvSpPr>
        <p:spPr>
          <a:xfrm xmlns:a="http://schemas.openxmlformats.org/drawingml/2006/main">
            <a:off x="11049000" y="6372225"/>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2</a:t>
            </a:r>
          </a:p>
        </p:txBody>
      </p:sp>
      <p:sp>
        <p:nvSpPr>
          <p:cNvPr id="3" name="example-label">
            <a:extLst xmlns:a="http://schemas.openxmlformats.org/drawingml/2006/main">
              <a:ext uri="{FF2B5EF4-FFF2-40B4-BE49-F238E27FC236}">
                <a16:creationId xmlns:a16="http://schemas.microsoft.com/office/drawing/2014/main" id="{8F48E114-F702-48F5-A778-C76E67B15E35}"/>
              </a:ext>
            </a:extLst>
          </p:cNvPr>
          <p:cNvSpPr>
            <a:spLocks xmlns:a="http://schemas.openxmlformats.org/drawingml/2006/main" noGrp="1"/>
          </p:cNvSpPr>
          <p:nvPr/>
        </p:nvSpPr>
        <p:spPr>
          <a:xfrm xmlns:a="http://schemas.openxmlformats.org/drawingml/2006/main">
            <a:off x="685800" y="143827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466"/>
                </a:solidFill>
                <a:latin typeface="Arial"/>
                <a:ea typeface="Arial"/>
                <a:cs typeface="Arial"/>
              </a:defRPr>
            </a:pPr>
            <a:r>
              <a:rPr sz="1875" b="0">
                <a:solidFill>
                  <a:srgbClr val="536466"/>
                </a:solidFill>
                <a:latin typeface="Arial"/>
                <a:ea typeface="Arial"/>
                <a:cs typeface="Arial"/>
              </a:rPr>
              <a:t>A hypothetical example</a:t>
            </a:r>
          </a:p>
        </p:txBody>
      </p:sp>
      <p:sp>
        <p:nvSpPr>
          <p:cNvPr id="4" name="department-a">
            <a:extLst xmlns:a="http://schemas.openxmlformats.org/drawingml/2006/main">
              <a:ext uri="{FF2B5EF4-FFF2-40B4-BE49-F238E27FC236}">
                <a16:creationId xmlns:a16="http://schemas.microsoft.com/office/drawing/2014/main" id="{DDFF3BAD-D05B-445E-9899-7EB2005AF532}"/>
              </a:ext>
            </a:extLst>
          </p:cNvPr>
          <p:cNvSpPr>
            <a:spLocks xmlns:a="http://schemas.openxmlformats.org/drawingml/2006/main" noGrp="1"/>
          </p:cNvSpPr>
          <p:nvPr/>
        </p:nvSpPr>
        <p:spPr>
          <a:xfrm xmlns:a="http://schemas.openxmlformats.org/drawingml/2006/main">
            <a:off x="685800" y="23050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6746D"/>
                </a:solidFill>
                <a:latin typeface="Arial"/>
                <a:ea typeface="Arial"/>
                <a:cs typeface="Arial"/>
              </a:defRPr>
            </a:pPr>
            <a:r>
              <a:rPr sz="2100" b="0">
                <a:solidFill>
                  <a:srgbClr val="26746D"/>
                </a:solidFill>
                <a:latin typeface="Arial"/>
                <a:ea typeface="Arial"/>
                <a:cs typeface="Arial"/>
              </a:rPr>
              <a:t>Department A</a:t>
            </a:r>
          </a:p>
        </p:txBody>
      </p:sp>
      <p:sp>
        <p:nvSpPr>
          <p:cNvPr id="5" name="available">
            <a:extLst xmlns:a="http://schemas.openxmlformats.org/drawingml/2006/main">
              <a:ext uri="{FF2B5EF4-FFF2-40B4-BE49-F238E27FC236}">
                <a16:creationId xmlns:a16="http://schemas.microsoft.com/office/drawing/2014/main" id="{5E7B61DF-E044-4BA9-98D9-2A232166BEDA}"/>
              </a:ext>
            </a:extLst>
          </p:cNvPr>
          <p:cNvSpPr>
            <a:spLocks xmlns:a="http://schemas.openxmlformats.org/drawingml/2006/main" noGrp="1"/>
          </p:cNvSpPr>
          <p:nvPr/>
        </p:nvSpPr>
        <p:spPr>
          <a:xfrm xmlns:a="http://schemas.openxmlformats.org/drawingml/2006/main">
            <a:off x="685800" y="2895600"/>
            <a:ext cx="50958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343C"/>
                </a:solidFill>
                <a:latin typeface="Arial"/>
                <a:ea typeface="Arial"/>
                <a:cs typeface="Arial"/>
              </a:defRPr>
            </a:pPr>
            <a:r>
              <a:rPr sz="3600" b="1">
                <a:solidFill>
                  <a:srgbClr val="17343C"/>
                </a:solidFill>
                <a:latin typeface="Arial"/>
                <a:ea typeface="Arial"/>
                <a:cs typeface="Arial"/>
              </a:rPr>
              <a:t>5 unused chairs</a:t>
            </a:r>
          </a:p>
        </p:txBody>
      </p:sp>
      <p:sp>
        <p:nvSpPr>
          <p:cNvPr id="6" name="department-b">
            <a:extLst xmlns:a="http://schemas.openxmlformats.org/drawingml/2006/main">
              <a:ext uri="{FF2B5EF4-FFF2-40B4-BE49-F238E27FC236}">
                <a16:creationId xmlns:a16="http://schemas.microsoft.com/office/drawing/2014/main" id="{0D64B1DC-C46F-4527-84A9-31ACB2F6D91B}"/>
              </a:ext>
            </a:extLst>
          </p:cNvPr>
          <p:cNvSpPr>
            <a:spLocks xmlns:a="http://schemas.openxmlformats.org/drawingml/2006/main" noGrp="1"/>
          </p:cNvSpPr>
          <p:nvPr/>
        </p:nvSpPr>
        <p:spPr>
          <a:xfrm xmlns:a="http://schemas.openxmlformats.org/drawingml/2006/main">
            <a:off x="6572250" y="2305050"/>
            <a:ext cx="4933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6746D"/>
                </a:solidFill>
                <a:latin typeface="Arial"/>
                <a:ea typeface="Arial"/>
                <a:cs typeface="Arial"/>
              </a:defRPr>
            </a:pPr>
            <a:r>
              <a:rPr sz="2100" b="0">
                <a:solidFill>
                  <a:srgbClr val="26746D"/>
                </a:solidFill>
                <a:latin typeface="Arial"/>
                <a:ea typeface="Arial"/>
                <a:cs typeface="Arial"/>
              </a:rPr>
              <a:t>Department B</a:t>
            </a:r>
          </a:p>
        </p:txBody>
      </p:sp>
      <p:sp>
        <p:nvSpPr>
          <p:cNvPr id="7" name="needed">
            <a:extLst xmlns:a="http://schemas.openxmlformats.org/drawingml/2006/main">
              <a:ext uri="{FF2B5EF4-FFF2-40B4-BE49-F238E27FC236}">
                <a16:creationId xmlns:a16="http://schemas.microsoft.com/office/drawing/2014/main" id="{6597BB4C-00B9-481A-9B81-06396182BD1D}"/>
              </a:ext>
            </a:extLst>
          </p:cNvPr>
          <p:cNvSpPr>
            <a:spLocks xmlns:a="http://schemas.openxmlformats.org/drawingml/2006/main" noGrp="1"/>
          </p:cNvSpPr>
          <p:nvPr/>
        </p:nvSpPr>
        <p:spPr>
          <a:xfrm xmlns:a="http://schemas.openxmlformats.org/drawingml/2006/main">
            <a:off x="6572250" y="2895600"/>
            <a:ext cx="49339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Seating needed</a:t>
            </a:r>
          </a:p>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for 5 people</a:t>
            </a:r>
          </a:p>
        </p:txBody>
      </p:sp>
      <p:sp>
        <p:nvSpPr>
          <p:cNvPr id="8" name="gap">
            <a:extLst xmlns:a="http://schemas.openxmlformats.org/drawingml/2006/main">
              <a:ext uri="{FF2B5EF4-FFF2-40B4-BE49-F238E27FC236}">
                <a16:creationId xmlns:a16="http://schemas.microsoft.com/office/drawing/2014/main" id="{7BD6991D-0BA5-4FAB-A368-E91FF0D7ED82}"/>
              </a:ext>
            </a:extLst>
          </p:cNvPr>
          <p:cNvSpPr>
            <a:spLocks xmlns:a="http://schemas.openxmlformats.org/drawingml/2006/main" noGrp="1"/>
          </p:cNvSpPr>
          <p:nvPr/>
        </p:nvSpPr>
        <p:spPr>
          <a:xfrm xmlns:a="http://schemas.openxmlformats.org/drawingml/2006/main">
            <a:off x="685800" y="5105400"/>
            <a:ext cx="1082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7343C"/>
                </a:solidFill>
                <a:latin typeface="Arial"/>
                <a:ea typeface="Arial"/>
                <a:cs typeface="Arial"/>
              </a:defRPr>
            </a:pPr>
            <a:r>
              <a:rPr sz="2400" b="0">
                <a:solidFill>
                  <a:srgbClr val="17343C"/>
                </a:solidFill>
                <a:latin typeface="Arial"/>
                <a:ea typeface="Arial"/>
                <a:cs typeface="Arial"/>
              </a:rPr>
              <a:t>Reuse needs a shared view of available items</a:t>
            </a:r>
          </a:p>
          <a:p xmlns:a="http://schemas.openxmlformats.org/drawingml/2006/main">
            <a:pPr algn="l">
              <a:defRPr sz="2400" b="0">
                <a:solidFill>
                  <a:srgbClr val="17343C"/>
                </a:solidFill>
                <a:latin typeface="Arial"/>
                <a:ea typeface="Arial"/>
                <a:cs typeface="Arial"/>
              </a:defRPr>
            </a:pPr>
            <a:r>
              <a:rPr sz="2400" b="0">
                <a:solidFill>
                  <a:srgbClr val="17343C"/>
                </a:solidFill>
                <a:latin typeface="Arial"/>
                <a:ea typeface="Arial"/>
                <a:cs typeface="Arial"/>
              </a:rPr>
              <a:t>and a clear way to approve transfers.</a:t>
            </a:r>
          </a:p>
        </p:txBody>
      </p:sp>
    </p:spTree>
    <p:extLst>
      <p:ext uri="{BB962C8B-B14F-4D97-AF65-F5344CB8AC3E}">
        <p14:creationId xmlns:p14="http://schemas.microsoft.com/office/powerpoint/2010/main" val="1844202102"/>
      </p:ext>
    </p:extLst>
  </p:cSld>
</p:sld>
</file>

<file path=ppt/slides/slide3.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827CB3E9-F46F-437C-A40D-F6CC721EF31A}"/>
              </a:ext>
            </a:extLst>
          </p:cNvPr>
          <p:cNvSpPr>
            <a:spLocks xmlns:a="http://schemas.openxmlformats.org/drawingml/2006/main" noGrp="1"/>
          </p:cNvSpPr>
          <p:nvPr/>
        </p:nvSpPr>
        <p:spPr>
          <a:xfrm xmlns:a="http://schemas.openxmlformats.org/drawingml/2006/main">
            <a:off x="685800" y="5524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The proposed service</a:t>
            </a:r>
          </a:p>
        </p:txBody>
      </p:sp>
      <p:sp>
        <p:nvSpPr>
          <p:cNvPr id="2" name="page-number">
            <a:extLst xmlns:a="http://schemas.openxmlformats.org/drawingml/2006/main">
              <a:ext uri="{FF2B5EF4-FFF2-40B4-BE49-F238E27FC236}">
                <a16:creationId xmlns:a16="http://schemas.microsoft.com/office/drawing/2014/main" id="{406F2139-1697-4204-8E9E-7756612B9437}"/>
              </a:ext>
            </a:extLst>
          </p:cNvPr>
          <p:cNvSpPr>
            <a:spLocks xmlns:a="http://schemas.openxmlformats.org/drawingml/2006/main" noGrp="1"/>
          </p:cNvSpPr>
          <p:nvPr/>
        </p:nvSpPr>
        <p:spPr>
          <a:xfrm xmlns:a="http://schemas.openxmlformats.org/drawingml/2006/main">
            <a:off x="11049000" y="6372225"/>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3</a:t>
            </a:r>
          </a:p>
        </p:txBody>
      </p:sp>
      <p:sp>
        <p:nvSpPr>
          <p:cNvPr id="3" name="step-0">
            <a:extLst xmlns:a="http://schemas.openxmlformats.org/drawingml/2006/main">
              <a:ext uri="{FF2B5EF4-FFF2-40B4-BE49-F238E27FC236}">
                <a16:creationId xmlns:a16="http://schemas.microsoft.com/office/drawing/2014/main" id="{42E5D4B7-28BE-49E9-8203-32A373980103}"/>
              </a:ext>
            </a:extLst>
          </p:cNvPr>
          <p:cNvSpPr>
            <a:spLocks xmlns:a="http://schemas.openxmlformats.org/drawingml/2006/main" noGrp="1"/>
          </p:cNvSpPr>
          <p:nvPr/>
        </p:nvSpPr>
        <p:spPr>
          <a:xfrm xmlns:a="http://schemas.openxmlformats.org/drawingml/2006/main">
            <a:off x="685800" y="1781175"/>
            <a:ext cx="32861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6746D"/>
                </a:solidFill>
                <a:latin typeface="Arial"/>
                <a:ea typeface="Arial"/>
                <a:cs typeface="Arial"/>
              </a:defRPr>
            </a:pPr>
            <a:r>
              <a:rPr sz="2175" b="1">
                <a:solidFill>
                  <a:srgbClr val="26746D"/>
                </a:solidFill>
                <a:latin typeface="Arial"/>
                <a:ea typeface="Arial"/>
                <a:cs typeface="Arial"/>
              </a:rPr>
              <a:t>Publish</a:t>
            </a:r>
          </a:p>
        </p:txBody>
      </p:sp>
      <p:sp>
        <p:nvSpPr>
          <p:cNvPr id="4" name="detail-0">
            <a:extLst xmlns:a="http://schemas.openxmlformats.org/drawingml/2006/main">
              <a:ext uri="{FF2B5EF4-FFF2-40B4-BE49-F238E27FC236}">
                <a16:creationId xmlns:a16="http://schemas.microsoft.com/office/drawing/2014/main" id="{5DD6EF61-C355-4031-AF6F-2F160F762A8B}"/>
              </a:ext>
            </a:extLst>
          </p:cNvPr>
          <p:cNvSpPr>
            <a:spLocks xmlns:a="http://schemas.openxmlformats.org/drawingml/2006/main" noGrp="1"/>
          </p:cNvSpPr>
          <p:nvPr/>
        </p:nvSpPr>
        <p:spPr>
          <a:xfrm xmlns:a="http://schemas.openxmlformats.org/drawingml/2006/main">
            <a:off x="4276725" y="1781175"/>
            <a:ext cx="7229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Record available assets and their condition</a:t>
            </a:r>
          </a:p>
        </p:txBody>
      </p:sp>
      <p:sp>
        <p:nvSpPr>
          <p:cNvPr id="5" name="step-1">
            <a:extLst xmlns:a="http://schemas.openxmlformats.org/drawingml/2006/main">
              <a:ext uri="{FF2B5EF4-FFF2-40B4-BE49-F238E27FC236}">
                <a16:creationId xmlns:a16="http://schemas.microsoft.com/office/drawing/2014/main" id="{258119E0-6ACF-4788-9438-DA790AD70B2C}"/>
              </a:ext>
            </a:extLst>
          </p:cNvPr>
          <p:cNvSpPr>
            <a:spLocks xmlns:a="http://schemas.openxmlformats.org/drawingml/2006/main" noGrp="1"/>
          </p:cNvSpPr>
          <p:nvPr/>
        </p:nvSpPr>
        <p:spPr>
          <a:xfrm xmlns:a="http://schemas.openxmlformats.org/drawingml/2006/main">
            <a:off x="685800" y="2609850"/>
            <a:ext cx="32861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6746D"/>
                </a:solidFill>
                <a:latin typeface="Arial"/>
                <a:ea typeface="Arial"/>
                <a:cs typeface="Arial"/>
              </a:defRPr>
            </a:pPr>
            <a:r>
              <a:rPr sz="2175" b="1">
                <a:solidFill>
                  <a:srgbClr val="26746D"/>
                </a:solidFill>
                <a:latin typeface="Arial"/>
                <a:ea typeface="Arial"/>
                <a:cs typeface="Arial"/>
              </a:rPr>
              <a:t>Find and request</a:t>
            </a:r>
          </a:p>
        </p:txBody>
      </p:sp>
      <p:sp>
        <p:nvSpPr>
          <p:cNvPr id="6" name="detail-1">
            <a:extLst xmlns:a="http://schemas.openxmlformats.org/drawingml/2006/main">
              <a:ext uri="{FF2B5EF4-FFF2-40B4-BE49-F238E27FC236}">
                <a16:creationId xmlns:a16="http://schemas.microsoft.com/office/drawing/2014/main" id="{7D14C4AB-33E9-45EC-BBF6-599E24EC223F}"/>
              </a:ext>
            </a:extLst>
          </p:cNvPr>
          <p:cNvSpPr>
            <a:spLocks xmlns:a="http://schemas.openxmlformats.org/drawingml/2006/main" noGrp="1"/>
          </p:cNvSpPr>
          <p:nvPr/>
        </p:nvSpPr>
        <p:spPr>
          <a:xfrm xmlns:a="http://schemas.openxmlformats.org/drawingml/2006/main">
            <a:off x="4276725" y="2609850"/>
            <a:ext cx="7229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Search for an item and submit a request</a:t>
            </a:r>
          </a:p>
        </p:txBody>
      </p:sp>
      <p:sp>
        <p:nvSpPr>
          <p:cNvPr id="7" name="step-2">
            <a:extLst xmlns:a="http://schemas.openxmlformats.org/drawingml/2006/main">
              <a:ext uri="{FF2B5EF4-FFF2-40B4-BE49-F238E27FC236}">
                <a16:creationId xmlns:a16="http://schemas.microsoft.com/office/drawing/2014/main" id="{2C1FECCE-B5F1-4157-B1FC-7A513D4C1CC1}"/>
              </a:ext>
            </a:extLst>
          </p:cNvPr>
          <p:cNvSpPr>
            <a:spLocks xmlns:a="http://schemas.openxmlformats.org/drawingml/2006/main" noGrp="1"/>
          </p:cNvSpPr>
          <p:nvPr/>
        </p:nvSpPr>
        <p:spPr>
          <a:xfrm xmlns:a="http://schemas.openxmlformats.org/drawingml/2006/main">
            <a:off x="685800" y="3438525"/>
            <a:ext cx="32861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6746D"/>
                </a:solidFill>
                <a:latin typeface="Arial"/>
                <a:ea typeface="Arial"/>
                <a:cs typeface="Arial"/>
              </a:defRPr>
            </a:pPr>
            <a:r>
              <a:rPr sz="2175" b="1">
                <a:solidFill>
                  <a:srgbClr val="26746D"/>
                </a:solidFill>
                <a:latin typeface="Arial"/>
                <a:ea typeface="Arial"/>
                <a:cs typeface="Arial"/>
              </a:rPr>
              <a:t>Approve and transfer</a:t>
            </a:r>
          </a:p>
        </p:txBody>
      </p:sp>
      <p:sp>
        <p:nvSpPr>
          <p:cNvPr id="8" name="detail-2">
            <a:extLst xmlns:a="http://schemas.openxmlformats.org/drawingml/2006/main">
              <a:ext uri="{FF2B5EF4-FFF2-40B4-BE49-F238E27FC236}">
                <a16:creationId xmlns:a16="http://schemas.microsoft.com/office/drawing/2014/main" id="{336B358A-C44D-479A-B7DC-BA4F4B7D66D2}"/>
              </a:ext>
            </a:extLst>
          </p:cNvPr>
          <p:cNvSpPr>
            <a:spLocks xmlns:a="http://schemas.openxmlformats.org/drawingml/2006/main" noGrp="1"/>
          </p:cNvSpPr>
          <p:nvPr/>
        </p:nvSpPr>
        <p:spPr>
          <a:xfrm xmlns:a="http://schemas.openxmlformats.org/drawingml/2006/main">
            <a:off x="4276725" y="3438525"/>
            <a:ext cx="7229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Authorised people confirm release and receipt</a:t>
            </a:r>
          </a:p>
        </p:txBody>
      </p:sp>
      <p:sp>
        <p:nvSpPr>
          <p:cNvPr id="9" name="step-3">
            <a:extLst xmlns:a="http://schemas.openxmlformats.org/drawingml/2006/main">
              <a:ext uri="{FF2B5EF4-FFF2-40B4-BE49-F238E27FC236}">
                <a16:creationId xmlns:a16="http://schemas.microsoft.com/office/drawing/2014/main" id="{DCA3A95B-D96D-43B7-9D1E-27460C98F900}"/>
              </a:ext>
            </a:extLst>
          </p:cNvPr>
          <p:cNvSpPr>
            <a:spLocks xmlns:a="http://schemas.openxmlformats.org/drawingml/2006/main" noGrp="1"/>
          </p:cNvSpPr>
          <p:nvPr/>
        </p:nvSpPr>
        <p:spPr>
          <a:xfrm xmlns:a="http://schemas.openxmlformats.org/drawingml/2006/main">
            <a:off x="685800" y="4267200"/>
            <a:ext cx="32861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6746D"/>
                </a:solidFill>
                <a:latin typeface="Arial"/>
                <a:ea typeface="Arial"/>
                <a:cs typeface="Arial"/>
              </a:defRPr>
            </a:pPr>
            <a:r>
              <a:rPr sz="2175" b="1">
                <a:solidFill>
                  <a:srgbClr val="26746D"/>
                </a:solidFill>
                <a:latin typeface="Arial"/>
                <a:ea typeface="Arial"/>
                <a:cs typeface="Arial"/>
              </a:rPr>
              <a:t>Maintain and report</a:t>
            </a:r>
          </a:p>
        </p:txBody>
      </p:sp>
      <p:sp>
        <p:nvSpPr>
          <p:cNvPr id="10" name="detail-3">
            <a:extLst xmlns:a="http://schemas.openxmlformats.org/drawingml/2006/main">
              <a:ext uri="{FF2B5EF4-FFF2-40B4-BE49-F238E27FC236}">
                <a16:creationId xmlns:a16="http://schemas.microsoft.com/office/drawing/2014/main" id="{870B8BBF-9332-4FF1-B429-8B9E1462D037}"/>
              </a:ext>
            </a:extLst>
          </p:cNvPr>
          <p:cNvSpPr>
            <a:spLocks xmlns:a="http://schemas.openxmlformats.org/drawingml/2006/main" noGrp="1"/>
          </p:cNvSpPr>
          <p:nvPr/>
        </p:nvSpPr>
        <p:spPr>
          <a:xfrm xmlns:a="http://schemas.openxmlformats.org/drawingml/2006/main">
            <a:off x="4276725" y="4267200"/>
            <a:ext cx="7229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343C"/>
                </a:solidFill>
                <a:latin typeface="Arial"/>
                <a:ea typeface="Arial"/>
                <a:cs typeface="Arial"/>
              </a:defRPr>
            </a:pPr>
            <a:r>
              <a:rPr sz="2175" b="0">
                <a:solidFill>
                  <a:srgbClr val="17343C"/>
                </a:solidFill>
                <a:latin typeface="Arial"/>
                <a:ea typeface="Arial"/>
                <a:cs typeface="Arial"/>
              </a:rPr>
              <a:t>Track custody, repairs and reuse outcomes</a:t>
            </a:r>
          </a:p>
        </p:txBody>
      </p:sp>
      <p:sp>
        <p:nvSpPr>
          <p:cNvPr id="11" name="hosting">
            <a:extLst xmlns:a="http://schemas.openxmlformats.org/drawingml/2006/main">
              <a:ext uri="{FF2B5EF4-FFF2-40B4-BE49-F238E27FC236}">
                <a16:creationId xmlns:a16="http://schemas.microsoft.com/office/drawing/2014/main" id="{EF884241-8898-4DAE-BB99-7DD611B57878}"/>
              </a:ext>
            </a:extLst>
          </p:cNvPr>
          <p:cNvSpPr>
            <a:spLocks xmlns:a="http://schemas.openxmlformats.org/drawingml/2006/main" noGrp="1"/>
          </p:cNvSpPr>
          <p:nvPr/>
        </p:nvSpPr>
        <p:spPr>
          <a:xfrm xmlns:a="http://schemas.openxmlformats.org/drawingml/2006/main">
            <a:off x="685800" y="55530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7343C"/>
                </a:solidFill>
                <a:latin typeface="Arial"/>
                <a:ea typeface="Arial"/>
                <a:cs typeface="Arial"/>
              </a:defRPr>
            </a:pPr>
            <a:r>
              <a:rPr sz="2175" b="1">
                <a:solidFill>
                  <a:srgbClr val="17343C"/>
                </a:solidFill>
                <a:latin typeface="Arial"/>
                <a:ea typeface="Arial"/>
                <a:cs typeface="Arial"/>
              </a:rPr>
              <a:t>A hosted web application, with deployment in scope</a:t>
            </a:r>
          </a:p>
        </p:txBody>
      </p:sp>
    </p:spTree>
    <p:extLst>
      <p:ext uri="{BB962C8B-B14F-4D97-AF65-F5344CB8AC3E}">
        <p14:creationId xmlns:p14="http://schemas.microsoft.com/office/powerpoint/2010/main" val="1398928180"/>
      </p:ext>
    </p:extLst>
  </p:cSld>
</p:sld>
</file>

<file path=ppt/slides/slide4.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16FA2C7-FEDD-4DEC-8CE7-48B9203EF772}"/>
              </a:ext>
            </a:extLst>
          </p:cNvPr>
          <p:cNvSpPr>
            <a:spLocks xmlns:a="http://schemas.openxmlformats.org/drawingml/2006/main" noGrp="1"/>
          </p:cNvSpPr>
          <p:nvPr/>
        </p:nvSpPr>
        <p:spPr>
          <a:xfrm xmlns:a="http://schemas.openxmlformats.org/drawingml/2006/main">
            <a:off x="685800" y="5524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What Phase 1 established</a:t>
            </a:r>
          </a:p>
        </p:txBody>
      </p:sp>
      <p:sp>
        <p:nvSpPr>
          <p:cNvPr id="2" name="page-number">
            <a:extLst xmlns:a="http://schemas.openxmlformats.org/drawingml/2006/main">
              <a:ext uri="{FF2B5EF4-FFF2-40B4-BE49-F238E27FC236}">
                <a16:creationId xmlns:a16="http://schemas.microsoft.com/office/drawing/2014/main" id="{EAA78940-C15F-446C-B4E6-6D15175DB0A7}"/>
              </a:ext>
            </a:extLst>
          </p:cNvPr>
          <p:cNvSpPr>
            <a:spLocks xmlns:a="http://schemas.openxmlformats.org/drawingml/2006/main" noGrp="1"/>
          </p:cNvSpPr>
          <p:nvPr/>
        </p:nvSpPr>
        <p:spPr>
          <a:xfrm xmlns:a="http://schemas.openxmlformats.org/drawingml/2006/main">
            <a:off x="11049000" y="6372225"/>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4</a:t>
            </a:r>
          </a:p>
        </p:txBody>
      </p:sp>
      <p:sp>
        <p:nvSpPr>
          <p:cNvPr id="3" name="role-count">
            <a:extLst xmlns:a="http://schemas.openxmlformats.org/drawingml/2006/main">
              <a:ext uri="{FF2B5EF4-FFF2-40B4-BE49-F238E27FC236}">
                <a16:creationId xmlns:a16="http://schemas.microsoft.com/office/drawing/2014/main" id="{E88DDB5A-8DA1-4D7D-9DBA-54EC2BD1D4B8}"/>
              </a:ext>
            </a:extLst>
          </p:cNvPr>
          <p:cNvSpPr>
            <a:spLocks xmlns:a="http://schemas.openxmlformats.org/drawingml/2006/main" noGrp="1"/>
          </p:cNvSpPr>
          <p:nvPr/>
        </p:nvSpPr>
        <p:spPr>
          <a:xfrm xmlns:a="http://schemas.openxmlformats.org/drawingml/2006/main">
            <a:off x="685800" y="1895475"/>
            <a:ext cx="2381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500" b="1">
                <a:solidFill>
                  <a:srgbClr val="26746D"/>
                </a:solidFill>
                <a:latin typeface="Arial"/>
                <a:ea typeface="Arial"/>
                <a:cs typeface="Arial"/>
              </a:defRPr>
            </a:pPr>
            <a:r>
              <a:rPr sz="7500" b="1">
                <a:solidFill>
                  <a:srgbClr val="26746D"/>
                </a:solidFill>
                <a:latin typeface="Arial"/>
                <a:ea typeface="Arial"/>
                <a:cs typeface="Arial"/>
              </a:rPr>
              <a:t>9</a:t>
            </a:r>
          </a:p>
        </p:txBody>
      </p:sp>
      <p:sp>
        <p:nvSpPr>
          <p:cNvPr id="4" name="role-count-label">
            <a:extLst xmlns:a="http://schemas.openxmlformats.org/drawingml/2006/main">
              <a:ext uri="{FF2B5EF4-FFF2-40B4-BE49-F238E27FC236}">
                <a16:creationId xmlns:a16="http://schemas.microsoft.com/office/drawing/2014/main" id="{2A1C302A-71FC-4908-8480-DA1E41F60AC7}"/>
              </a:ext>
            </a:extLst>
          </p:cNvPr>
          <p:cNvSpPr>
            <a:spLocks xmlns:a="http://schemas.openxmlformats.org/drawingml/2006/main" noGrp="1"/>
          </p:cNvSpPr>
          <p:nvPr/>
        </p:nvSpPr>
        <p:spPr>
          <a:xfrm xmlns:a="http://schemas.openxmlformats.org/drawingml/2006/main">
            <a:off x="685800" y="314325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343C"/>
                </a:solidFill>
                <a:latin typeface="Arial"/>
                <a:ea typeface="Arial"/>
                <a:cs typeface="Arial"/>
              </a:defRPr>
            </a:pPr>
            <a:r>
              <a:rPr sz="2325" b="1">
                <a:solidFill>
                  <a:srgbClr val="17343C"/>
                </a:solidFill>
                <a:latin typeface="Arial"/>
                <a:ea typeface="Arial"/>
                <a:cs typeface="Arial"/>
              </a:rPr>
              <a:t>system roles</a:t>
            </a:r>
          </a:p>
        </p:txBody>
      </p:sp>
      <p:sp>
        <p:nvSpPr>
          <p:cNvPr id="5" name="roles-example">
            <a:extLst xmlns:a="http://schemas.openxmlformats.org/drawingml/2006/main">
              <a:ext uri="{FF2B5EF4-FFF2-40B4-BE49-F238E27FC236}">
                <a16:creationId xmlns:a16="http://schemas.microsoft.com/office/drawing/2014/main" id="{0011BEE2-D2E8-4CFC-8A82-430D4A733547}"/>
              </a:ext>
            </a:extLst>
          </p:cNvPr>
          <p:cNvSpPr>
            <a:spLocks xmlns:a="http://schemas.openxmlformats.org/drawingml/2006/main" noGrp="1"/>
          </p:cNvSpPr>
          <p:nvPr/>
        </p:nvSpPr>
        <p:spPr>
          <a:xfrm xmlns:a="http://schemas.openxmlformats.org/drawingml/2006/main">
            <a:off x="685800" y="3876675"/>
            <a:ext cx="400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Requesters, custodians,</a:t>
            </a:r>
          </a:p>
          <a:p xmlns:a="http://schemas.openxmlformats.org/drawingml/2006/main">
            <a:pPr algn="l">
              <a:defRPr sz="2025" b="0">
                <a:solidFill>
                  <a:srgbClr val="17343C"/>
                </a:solidFill>
                <a:latin typeface="Arial"/>
                <a:ea typeface="Arial"/>
                <a:cs typeface="Arial"/>
              </a:defRPr>
            </a:pPr>
            <a:r>
              <a:rPr sz="2025" b="0">
                <a:solidFill>
                  <a:srgbClr val="17343C"/>
                </a:solidFill>
                <a:latin typeface="Arial"/>
                <a:ea typeface="Arial"/>
                <a:cs typeface="Arial"/>
              </a:rPr>
              <a:t>approvers and support roles</a:t>
            </a:r>
          </a:p>
        </p:txBody>
      </p:sp>
      <p:sp>
        <p:nvSpPr>
          <p:cNvPr id="6" name="work-a">
            <a:extLst xmlns:a="http://schemas.openxmlformats.org/drawingml/2006/main">
              <a:ext uri="{FF2B5EF4-FFF2-40B4-BE49-F238E27FC236}">
                <a16:creationId xmlns:a16="http://schemas.microsoft.com/office/drawing/2014/main" id="{7750C6A7-F772-4FA4-B2BE-D32CEB77D225}"/>
              </a:ext>
            </a:extLst>
          </p:cNvPr>
          <p:cNvSpPr>
            <a:spLocks xmlns:a="http://schemas.openxmlformats.org/drawingml/2006/main" noGrp="1"/>
          </p:cNvSpPr>
          <p:nvPr/>
        </p:nvSpPr>
        <p:spPr>
          <a:xfrm xmlns:a="http://schemas.openxmlformats.org/drawingml/2006/main">
            <a:off x="5429250" y="1866900"/>
            <a:ext cx="60769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343C"/>
                </a:solidFill>
                <a:latin typeface="Arial"/>
                <a:ea typeface="Arial"/>
                <a:cs typeface="Arial"/>
              </a:defRPr>
            </a:pPr>
            <a:r>
              <a:rPr sz="2400" b="1">
                <a:solidFill>
                  <a:srgbClr val="17343C"/>
                </a:solidFill>
                <a:latin typeface="Arial"/>
                <a:ea typeface="Arial"/>
                <a:cs typeface="Arial"/>
              </a:rPr>
              <a:t>Mapped the process and approval owners</a:t>
            </a:r>
          </a:p>
        </p:txBody>
      </p:sp>
      <p:sp>
        <p:nvSpPr>
          <p:cNvPr id="7" name="work-b">
            <a:extLst xmlns:a="http://schemas.openxmlformats.org/drawingml/2006/main">
              <a:ext uri="{FF2B5EF4-FFF2-40B4-BE49-F238E27FC236}">
                <a16:creationId xmlns:a16="http://schemas.microsoft.com/office/drawing/2014/main" id="{27F1A9AD-E8C9-4F44-83C8-62D648D64AC3}"/>
              </a:ext>
            </a:extLst>
          </p:cNvPr>
          <p:cNvSpPr>
            <a:spLocks xmlns:a="http://schemas.openxmlformats.org/drawingml/2006/main" noGrp="1"/>
          </p:cNvSpPr>
          <p:nvPr/>
        </p:nvSpPr>
        <p:spPr>
          <a:xfrm xmlns:a="http://schemas.openxmlformats.org/drawingml/2006/main">
            <a:off x="5429250" y="2962275"/>
            <a:ext cx="6076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Analysed course documents and the scenario</a:t>
            </a:r>
          </a:p>
        </p:txBody>
      </p:sp>
      <p:sp>
        <p:nvSpPr>
          <p:cNvPr id="8" name="work-c">
            <a:extLst xmlns:a="http://schemas.openxmlformats.org/drawingml/2006/main">
              <a:ext uri="{FF2B5EF4-FFF2-40B4-BE49-F238E27FC236}">
                <a16:creationId xmlns:a16="http://schemas.microsoft.com/office/drawing/2014/main" id="{072658BE-FE4F-4BED-BB15-B4DE9371623E}"/>
              </a:ext>
            </a:extLst>
          </p:cNvPr>
          <p:cNvSpPr>
            <a:spLocks xmlns:a="http://schemas.openxmlformats.org/drawingml/2006/main" noGrp="1"/>
          </p:cNvSpPr>
          <p:nvPr/>
        </p:nvSpPr>
        <p:spPr>
          <a:xfrm xmlns:a="http://schemas.openxmlformats.org/drawingml/2006/main">
            <a:off x="5429250" y="4076700"/>
            <a:ext cx="6076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Defined initial requirements and priorities</a:t>
            </a:r>
          </a:p>
        </p:txBody>
      </p:sp>
      <p:sp>
        <p:nvSpPr>
          <p:cNvPr id="9" name="validation-next">
            <a:extLst xmlns:a="http://schemas.openxmlformats.org/drawingml/2006/main">
              <a:ext uri="{FF2B5EF4-FFF2-40B4-BE49-F238E27FC236}">
                <a16:creationId xmlns:a16="http://schemas.microsoft.com/office/drawing/2014/main" id="{6E8212E5-5DD5-41C7-B0E2-ECC43E4B4A69}"/>
              </a:ext>
            </a:extLst>
          </p:cNvPr>
          <p:cNvSpPr>
            <a:spLocks xmlns:a="http://schemas.openxmlformats.org/drawingml/2006/main" noGrp="1"/>
          </p:cNvSpPr>
          <p:nvPr/>
        </p:nvSpPr>
        <p:spPr>
          <a:xfrm xmlns:a="http://schemas.openxmlformats.org/drawingml/2006/main">
            <a:off x="685800" y="56578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36466"/>
                </a:solidFill>
                <a:latin typeface="Arial"/>
                <a:ea typeface="Arial"/>
                <a:cs typeface="Arial"/>
              </a:defRPr>
            </a:pPr>
            <a:r>
              <a:rPr sz="1875" b="0">
                <a:solidFill>
                  <a:srgbClr val="536466"/>
                </a:solidFill>
                <a:latin typeface="Arial"/>
                <a:ea typeface="Arial"/>
                <a:cs typeface="Arial"/>
              </a:rPr>
              <a:t>Next: validate assumptions through interviews, a survey and a workshop</a:t>
            </a:r>
          </a:p>
        </p:txBody>
      </p:sp>
    </p:spTree>
    <p:extLst>
      <p:ext uri="{BB962C8B-B14F-4D97-AF65-F5344CB8AC3E}">
        <p14:creationId xmlns:p14="http://schemas.microsoft.com/office/powerpoint/2010/main" val="7067261"/>
      </p:ext>
    </p:extLst>
  </p:cSld>
</p:sld>
</file>

<file path=ppt/slides/slide5.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C89F975A-4A60-41A1-AC65-F1806053163C}"/>
              </a:ext>
            </a:extLst>
          </p:cNvPr>
          <p:cNvSpPr>
            <a:spLocks xmlns:a="http://schemas.openxmlformats.org/drawingml/2006/main" noGrp="1"/>
          </p:cNvSpPr>
          <p:nvPr/>
        </p:nvSpPr>
        <p:spPr>
          <a:xfrm xmlns:a="http://schemas.openxmlformats.org/drawingml/2006/main">
            <a:off x="685800" y="5524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Classic functions and AI support</a:t>
            </a:r>
          </a:p>
        </p:txBody>
      </p:sp>
      <p:sp>
        <p:nvSpPr>
          <p:cNvPr id="2" name="page-number">
            <a:extLst xmlns:a="http://schemas.openxmlformats.org/drawingml/2006/main">
              <a:ext uri="{FF2B5EF4-FFF2-40B4-BE49-F238E27FC236}">
                <a16:creationId xmlns:a16="http://schemas.microsoft.com/office/drawing/2014/main" id="{CFC7C78F-842A-4170-81C8-FD7F4E930EA2}"/>
              </a:ext>
            </a:extLst>
          </p:cNvPr>
          <p:cNvSpPr>
            <a:spLocks xmlns:a="http://schemas.openxmlformats.org/drawingml/2006/main" noGrp="1"/>
          </p:cNvSpPr>
          <p:nvPr/>
        </p:nvSpPr>
        <p:spPr>
          <a:xfrm xmlns:a="http://schemas.openxmlformats.org/drawingml/2006/main">
            <a:off x="11049000" y="6372225"/>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5</a:t>
            </a:r>
          </a:p>
        </p:txBody>
      </p:sp>
      <p:sp>
        <p:nvSpPr>
          <p:cNvPr id="3" name="requirement-count">
            <a:extLst xmlns:a="http://schemas.openxmlformats.org/drawingml/2006/main">
              <a:ext uri="{FF2B5EF4-FFF2-40B4-BE49-F238E27FC236}">
                <a16:creationId xmlns:a16="http://schemas.microsoft.com/office/drawing/2014/main" id="{A596600E-33C2-486E-985C-D71307B55B51}"/>
              </a:ext>
            </a:extLst>
          </p:cNvPr>
          <p:cNvSpPr>
            <a:spLocks xmlns:a="http://schemas.openxmlformats.org/drawingml/2006/main" noGrp="1"/>
          </p:cNvSpPr>
          <p:nvPr/>
        </p:nvSpPr>
        <p:spPr>
          <a:xfrm xmlns:a="http://schemas.openxmlformats.org/drawingml/2006/main">
            <a:off x="685800" y="1428750"/>
            <a:ext cx="108204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536466"/>
                </a:solidFill>
                <a:latin typeface="Arial"/>
                <a:ea typeface="Arial"/>
                <a:cs typeface="Arial"/>
              </a:defRPr>
            </a:pPr>
            <a:r>
              <a:rPr sz="2100" b="0">
                <a:solidFill>
                  <a:srgbClr val="536466"/>
                </a:solidFill>
                <a:latin typeface="Arial"/>
                <a:ea typeface="Arial"/>
                <a:cs typeface="Arial"/>
              </a:rPr>
              <a:t>52 initial requirements across functions, AI, sustainability and quality</a:t>
            </a:r>
          </a:p>
        </p:txBody>
      </p:sp>
      <p:sp>
        <p:nvSpPr>
          <p:cNvPr id="4" name="classic-title">
            <a:extLst xmlns:a="http://schemas.openxmlformats.org/drawingml/2006/main">
              <a:ext uri="{FF2B5EF4-FFF2-40B4-BE49-F238E27FC236}">
                <a16:creationId xmlns:a16="http://schemas.microsoft.com/office/drawing/2014/main" id="{7DFBC914-D124-4696-B3C7-98273C6EB06E}"/>
              </a:ext>
            </a:extLst>
          </p:cNvPr>
          <p:cNvSpPr>
            <a:spLocks xmlns:a="http://schemas.openxmlformats.org/drawingml/2006/main" noGrp="1"/>
          </p:cNvSpPr>
          <p:nvPr/>
        </p:nvSpPr>
        <p:spPr>
          <a:xfrm xmlns:a="http://schemas.openxmlformats.org/drawingml/2006/main">
            <a:off x="685800" y="24574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6746D"/>
                </a:solidFill>
                <a:latin typeface="Arial"/>
                <a:ea typeface="Arial"/>
                <a:cs typeface="Arial"/>
              </a:defRPr>
            </a:pPr>
            <a:r>
              <a:rPr sz="2550" b="1">
                <a:solidFill>
                  <a:srgbClr val="26746D"/>
                </a:solidFill>
                <a:latin typeface="Arial"/>
                <a:ea typeface="Arial"/>
                <a:cs typeface="Arial"/>
              </a:rPr>
              <a:t>Classic functions</a:t>
            </a:r>
          </a:p>
        </p:txBody>
      </p:sp>
      <p:sp>
        <p:nvSpPr>
          <p:cNvPr id="5" name="classic-body">
            <a:extLst xmlns:a="http://schemas.openxmlformats.org/drawingml/2006/main">
              <a:ext uri="{FF2B5EF4-FFF2-40B4-BE49-F238E27FC236}">
                <a16:creationId xmlns:a16="http://schemas.microsoft.com/office/drawing/2014/main" id="{24C28C5F-0ED1-47D3-B426-77D2DE51F6CA}"/>
              </a:ext>
            </a:extLst>
          </p:cNvPr>
          <p:cNvSpPr>
            <a:spLocks xmlns:a="http://schemas.openxmlformats.org/drawingml/2006/main" noGrp="1"/>
          </p:cNvSpPr>
          <p:nvPr/>
        </p:nvSpPr>
        <p:spPr>
          <a:xfrm xmlns:a="http://schemas.openxmlformats.org/drawingml/2006/main">
            <a:off x="685800" y="3181350"/>
            <a:ext cx="4933950" cy="1800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Asset records and availability</a:t>
            </a:r>
          </a:p>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Permissions and approvals</a:t>
            </a:r>
          </a:p>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Transfers and maintenance</a:t>
            </a:r>
          </a:p>
        </p:txBody>
      </p:sp>
      <p:sp>
        <p:nvSpPr>
          <p:cNvPr id="6" name="ai-title">
            <a:extLst xmlns:a="http://schemas.openxmlformats.org/drawingml/2006/main">
              <a:ext uri="{FF2B5EF4-FFF2-40B4-BE49-F238E27FC236}">
                <a16:creationId xmlns:a16="http://schemas.microsoft.com/office/drawing/2014/main" id="{94FBB2E7-4023-40E7-A020-AC8294136650}"/>
              </a:ext>
            </a:extLst>
          </p:cNvPr>
          <p:cNvSpPr>
            <a:spLocks xmlns:a="http://schemas.openxmlformats.org/drawingml/2006/main" noGrp="1"/>
          </p:cNvSpPr>
          <p:nvPr/>
        </p:nvSpPr>
        <p:spPr>
          <a:xfrm xmlns:a="http://schemas.openxmlformats.org/drawingml/2006/main">
            <a:off x="6572250" y="2457450"/>
            <a:ext cx="4933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6746D"/>
                </a:solidFill>
                <a:latin typeface="Arial"/>
                <a:ea typeface="Arial"/>
                <a:cs typeface="Arial"/>
              </a:defRPr>
            </a:pPr>
            <a:r>
              <a:rPr sz="2550" b="1">
                <a:solidFill>
                  <a:srgbClr val="26746D"/>
                </a:solidFill>
                <a:latin typeface="Arial"/>
                <a:ea typeface="Arial"/>
                <a:cs typeface="Arial"/>
              </a:rPr>
              <a:t>AI support</a:t>
            </a:r>
          </a:p>
        </p:txBody>
      </p:sp>
      <p:sp>
        <p:nvSpPr>
          <p:cNvPr id="7" name="ai-body">
            <a:extLst xmlns:a="http://schemas.openxmlformats.org/drawingml/2006/main">
              <a:ext uri="{FF2B5EF4-FFF2-40B4-BE49-F238E27FC236}">
                <a16:creationId xmlns:a16="http://schemas.microsoft.com/office/drawing/2014/main" id="{2553C608-5105-4B37-9EBD-1AEE17931BD3}"/>
              </a:ext>
            </a:extLst>
          </p:cNvPr>
          <p:cNvSpPr>
            <a:spLocks xmlns:a="http://schemas.openxmlformats.org/drawingml/2006/main" noGrp="1"/>
          </p:cNvSpPr>
          <p:nvPr/>
        </p:nvSpPr>
        <p:spPr>
          <a:xfrm xmlns:a="http://schemas.openxmlformats.org/drawingml/2006/main">
            <a:off x="6572250" y="3181350"/>
            <a:ext cx="4933950" cy="1800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Suggest asset categories</a:t>
            </a:r>
          </a:p>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Rank and explain matches</a:t>
            </a:r>
          </a:p>
          <a:p xmlns:a="http://schemas.openxmlformats.org/drawingml/2006/main">
            <a:pPr algn="l">
              <a:defRPr sz="2325" b="0">
                <a:solidFill>
                  <a:srgbClr val="17343C"/>
                </a:solidFill>
                <a:latin typeface="Arial"/>
                <a:ea typeface="Arial"/>
                <a:cs typeface="Arial"/>
              </a:defRPr>
            </a:pPr>
            <a:r>
              <a:rPr sz="2325" b="0">
                <a:solidFill>
                  <a:srgbClr val="17343C"/>
                </a:solidFill>
                <a:latin typeface="Arial"/>
                <a:ea typeface="Arial"/>
                <a:cs typeface="Arial"/>
              </a:rPr>
              <a:t>Draft reports and summaries</a:t>
            </a:r>
          </a:p>
        </p:txBody>
      </p:sp>
      <p:sp>
        <p:nvSpPr>
          <p:cNvPr id="8" name="human-control">
            <a:extLst xmlns:a="http://schemas.openxmlformats.org/drawingml/2006/main">
              <a:ext uri="{FF2B5EF4-FFF2-40B4-BE49-F238E27FC236}">
                <a16:creationId xmlns:a16="http://schemas.microsoft.com/office/drawing/2014/main" id="{DE12F894-3242-481B-BB1C-1D231A627A4F}"/>
              </a:ext>
            </a:extLst>
          </p:cNvPr>
          <p:cNvSpPr>
            <a:spLocks xmlns:a="http://schemas.openxmlformats.org/drawingml/2006/main" noGrp="1"/>
          </p:cNvSpPr>
          <p:nvPr/>
        </p:nvSpPr>
        <p:spPr>
          <a:xfrm xmlns:a="http://schemas.openxmlformats.org/drawingml/2006/main">
            <a:off x="685800" y="550545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343C"/>
                </a:solidFill>
                <a:latin typeface="Arial"/>
                <a:ea typeface="Arial"/>
                <a:cs typeface="Arial"/>
              </a:defRPr>
            </a:pPr>
            <a:r>
              <a:rPr sz="2550" b="1">
                <a:solidFill>
                  <a:srgbClr val="17343C"/>
                </a:solidFill>
                <a:latin typeface="Arial"/>
                <a:ea typeface="Arial"/>
                <a:cs typeface="Arial"/>
              </a:rPr>
              <a:t>AI recommends. Authorised people approve.</a:t>
            </a:r>
          </a:p>
        </p:txBody>
      </p:sp>
    </p:spTree>
    <p:extLst>
      <p:ext uri="{BB962C8B-B14F-4D97-AF65-F5344CB8AC3E}">
        <p14:creationId xmlns:p14="http://schemas.microsoft.com/office/powerpoint/2010/main" val="149734839"/>
      </p:ext>
    </p:extLst>
  </p:cSld>
</p:sld>
</file>

<file path=ppt/slides/slide6.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C594320D-9A7E-4306-B4A6-3A12DA96647B}"/>
              </a:ext>
            </a:extLst>
          </p:cNvPr>
          <p:cNvSpPr>
            <a:spLocks xmlns:a="http://schemas.openxmlformats.org/drawingml/2006/main" noGrp="1"/>
          </p:cNvSpPr>
          <p:nvPr/>
        </p:nvSpPr>
        <p:spPr>
          <a:xfrm xmlns:a="http://schemas.openxmlformats.org/drawingml/2006/main">
            <a:off x="685800" y="5524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Proposed success targets</a:t>
            </a:r>
          </a:p>
        </p:txBody>
      </p:sp>
      <p:sp>
        <p:nvSpPr>
          <p:cNvPr id="2" name="page-number">
            <a:extLst xmlns:a="http://schemas.openxmlformats.org/drawingml/2006/main">
              <a:ext uri="{FF2B5EF4-FFF2-40B4-BE49-F238E27FC236}">
                <a16:creationId xmlns:a16="http://schemas.microsoft.com/office/drawing/2014/main" id="{6641AF2F-E8F9-4D76-8B4A-0DE40FA3A2AF}"/>
              </a:ext>
            </a:extLst>
          </p:cNvPr>
          <p:cNvSpPr>
            <a:spLocks xmlns:a="http://schemas.openxmlformats.org/drawingml/2006/main" noGrp="1"/>
          </p:cNvSpPr>
          <p:nvPr/>
        </p:nvSpPr>
        <p:spPr>
          <a:xfrm xmlns:a="http://schemas.openxmlformats.org/drawingml/2006/main">
            <a:off x="11049000" y="6372225"/>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6</a:t>
            </a:r>
          </a:p>
        </p:txBody>
      </p:sp>
      <p:sp>
        <p:nvSpPr>
          <p:cNvPr id="3" name="test-context">
            <a:extLst xmlns:a="http://schemas.openxmlformats.org/drawingml/2006/main">
              <a:ext uri="{FF2B5EF4-FFF2-40B4-BE49-F238E27FC236}">
                <a16:creationId xmlns:a16="http://schemas.microsoft.com/office/drawing/2014/main" id="{2DE294C6-2F58-4FF9-87B6-A536462D8827}"/>
              </a:ext>
            </a:extLst>
          </p:cNvPr>
          <p:cNvSpPr>
            <a:spLocks xmlns:a="http://schemas.openxmlformats.org/drawingml/2006/main" noGrp="1"/>
          </p:cNvSpPr>
          <p:nvPr/>
        </p:nvSpPr>
        <p:spPr>
          <a:xfrm xmlns:a="http://schemas.openxmlformats.org/drawingml/2006/main">
            <a:off x="685800" y="14382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536466"/>
                </a:solidFill>
                <a:latin typeface="Arial"/>
                <a:ea typeface="Arial"/>
                <a:cs typeface="Arial"/>
              </a:defRPr>
            </a:pPr>
            <a:r>
              <a:rPr sz="2100" b="0">
                <a:solidFill>
                  <a:srgbClr val="536466"/>
                </a:solidFill>
                <a:latin typeface="Arial"/>
                <a:ea typeface="Arial"/>
                <a:cs typeface="Arial"/>
              </a:rPr>
              <a:t>Prototype evaluation using synthetic data</a:t>
            </a:r>
          </a:p>
        </p:txBody>
      </p:sp>
      <p:sp>
        <p:nvSpPr>
          <p:cNvPr id="4" name="metric-0">
            <a:extLst xmlns:a="http://schemas.openxmlformats.org/drawingml/2006/main">
              <a:ext uri="{FF2B5EF4-FFF2-40B4-BE49-F238E27FC236}">
                <a16:creationId xmlns:a16="http://schemas.microsoft.com/office/drawing/2014/main" id="{381EF58F-63CA-4A22-BF0D-80374C030211}"/>
              </a:ext>
            </a:extLst>
          </p:cNvPr>
          <p:cNvSpPr>
            <a:spLocks xmlns:a="http://schemas.openxmlformats.org/drawingml/2006/main" noGrp="1"/>
          </p:cNvSpPr>
          <p:nvPr/>
        </p:nvSpPr>
        <p:spPr>
          <a:xfrm xmlns:a="http://schemas.openxmlformats.org/drawingml/2006/main">
            <a:off x="685800" y="25146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75" b="1">
                <a:solidFill>
                  <a:srgbClr val="26746D"/>
                </a:solidFill>
                <a:latin typeface="Arial"/>
                <a:ea typeface="Arial"/>
                <a:cs typeface="Arial"/>
              </a:defRPr>
            </a:pPr>
            <a:r>
              <a:rPr sz="4875" b="1">
                <a:solidFill>
                  <a:srgbClr val="26746D"/>
                </a:solidFill>
                <a:latin typeface="Arial"/>
                <a:ea typeface="Arial"/>
                <a:cs typeface="Arial"/>
              </a:rPr>
              <a:t>16 / 20</a:t>
            </a:r>
          </a:p>
        </p:txBody>
      </p:sp>
      <p:sp>
        <p:nvSpPr>
          <p:cNvPr id="5" name="metric-label-0">
            <a:extLst xmlns:a="http://schemas.openxmlformats.org/drawingml/2006/main">
              <a:ext uri="{FF2B5EF4-FFF2-40B4-BE49-F238E27FC236}">
                <a16:creationId xmlns:a16="http://schemas.microsoft.com/office/drawing/2014/main" id="{165CB1FF-3222-42A3-B0D0-705E4F893706}"/>
              </a:ext>
            </a:extLst>
          </p:cNvPr>
          <p:cNvSpPr>
            <a:spLocks xmlns:a="http://schemas.openxmlformats.org/drawingml/2006/main" noGrp="1"/>
          </p:cNvSpPr>
          <p:nvPr/>
        </p:nvSpPr>
        <p:spPr>
          <a:xfrm xmlns:a="http://schemas.openxmlformats.org/drawingml/2006/main">
            <a:off x="685800" y="3667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Useful AI matches</a:t>
            </a:r>
          </a:p>
        </p:txBody>
      </p:sp>
      <p:sp>
        <p:nvSpPr>
          <p:cNvPr id="6" name="metric-description-0">
            <a:extLst xmlns:a="http://schemas.openxmlformats.org/drawingml/2006/main">
              <a:ext uri="{FF2B5EF4-FFF2-40B4-BE49-F238E27FC236}">
                <a16:creationId xmlns:a16="http://schemas.microsoft.com/office/drawing/2014/main" id="{7F6DF818-C90A-4255-B4BE-27D4943EFED0}"/>
              </a:ext>
            </a:extLst>
          </p:cNvPr>
          <p:cNvSpPr>
            <a:spLocks xmlns:a="http://schemas.openxmlformats.org/drawingml/2006/main" noGrp="1"/>
          </p:cNvSpPr>
          <p:nvPr/>
        </p:nvSpPr>
        <p:spPr>
          <a:xfrm xmlns:a="http://schemas.openxmlformats.org/drawingml/2006/main">
            <a:off x="685800" y="4514850"/>
            <a:ext cx="333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7343C"/>
                </a:solidFill>
                <a:latin typeface="Arial"/>
                <a:ea typeface="Arial"/>
                <a:cs typeface="Arial"/>
              </a:defRPr>
            </a:pPr>
            <a:r>
              <a:rPr sz="1725" b="0">
                <a:solidFill>
                  <a:srgbClr val="17343C"/>
                </a:solidFill>
                <a:latin typeface="Arial"/>
                <a:ea typeface="Arial"/>
                <a:cs typeface="Arial"/>
              </a:rPr>
              <a:t>A useful item in the top three</a:t>
            </a:r>
          </a:p>
          <a:p xmlns:a="http://schemas.openxmlformats.org/drawingml/2006/main">
            <a:pPr algn="l">
              <a:defRPr sz="1725" b="0">
                <a:solidFill>
                  <a:srgbClr val="17343C"/>
                </a:solidFill>
                <a:latin typeface="Arial"/>
                <a:ea typeface="Arial"/>
                <a:cs typeface="Arial"/>
              </a:defRPr>
            </a:pPr>
            <a:r>
              <a:rPr sz="1725" b="0">
                <a:solidFill>
                  <a:srgbClr val="17343C"/>
                </a:solidFill>
                <a:latin typeface="Arial"/>
                <a:ea typeface="Arial"/>
                <a:cs typeface="Arial"/>
              </a:rPr>
              <a:t>for at least 16 of 20 requests</a:t>
            </a:r>
          </a:p>
        </p:txBody>
      </p:sp>
      <p:sp>
        <p:nvSpPr>
          <p:cNvPr id="7" name="metric-1">
            <a:extLst xmlns:a="http://schemas.openxmlformats.org/drawingml/2006/main">
              <a:ext uri="{FF2B5EF4-FFF2-40B4-BE49-F238E27FC236}">
                <a16:creationId xmlns:a16="http://schemas.microsoft.com/office/drawing/2014/main" id="{69F68D3A-9629-4881-B64E-1B11088F2088}"/>
              </a:ext>
            </a:extLst>
          </p:cNvPr>
          <p:cNvSpPr>
            <a:spLocks xmlns:a="http://schemas.openxmlformats.org/drawingml/2006/main" noGrp="1"/>
          </p:cNvSpPr>
          <p:nvPr/>
        </p:nvSpPr>
        <p:spPr>
          <a:xfrm xmlns:a="http://schemas.openxmlformats.org/drawingml/2006/main">
            <a:off x="4429125" y="25146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75" b="1">
                <a:solidFill>
                  <a:srgbClr val="26746D"/>
                </a:solidFill>
                <a:latin typeface="Arial"/>
                <a:ea typeface="Arial"/>
                <a:cs typeface="Arial"/>
              </a:defRPr>
            </a:pPr>
            <a:r>
              <a:rPr sz="4875" b="1">
                <a:solidFill>
                  <a:srgbClr val="26746D"/>
                </a:solidFill>
                <a:latin typeface="Arial"/>
                <a:ea typeface="Arial"/>
                <a:cs typeface="Arial"/>
              </a:rPr>
              <a:t>4 / 5</a:t>
            </a:r>
          </a:p>
        </p:txBody>
      </p:sp>
      <p:sp>
        <p:nvSpPr>
          <p:cNvPr id="8" name="metric-label-1">
            <a:extLst xmlns:a="http://schemas.openxmlformats.org/drawingml/2006/main">
              <a:ext uri="{FF2B5EF4-FFF2-40B4-BE49-F238E27FC236}">
                <a16:creationId xmlns:a16="http://schemas.microsoft.com/office/drawing/2014/main" id="{18F3EC9C-23D9-43F3-A8B7-151E9706949D}"/>
              </a:ext>
            </a:extLst>
          </p:cNvPr>
          <p:cNvSpPr>
            <a:spLocks xmlns:a="http://schemas.openxmlformats.org/drawingml/2006/main" noGrp="1"/>
          </p:cNvSpPr>
          <p:nvPr/>
        </p:nvSpPr>
        <p:spPr>
          <a:xfrm xmlns:a="http://schemas.openxmlformats.org/drawingml/2006/main">
            <a:off x="4429125" y="3667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Users complete tasks</a:t>
            </a:r>
          </a:p>
        </p:txBody>
      </p:sp>
      <p:sp>
        <p:nvSpPr>
          <p:cNvPr id="9" name="metric-description-1">
            <a:extLst xmlns:a="http://schemas.openxmlformats.org/drawingml/2006/main">
              <a:ext uri="{FF2B5EF4-FFF2-40B4-BE49-F238E27FC236}">
                <a16:creationId xmlns:a16="http://schemas.microsoft.com/office/drawing/2014/main" id="{5D9A180A-A043-44B1-90CB-36B5D21EB20A}"/>
              </a:ext>
            </a:extLst>
          </p:cNvPr>
          <p:cNvSpPr>
            <a:spLocks xmlns:a="http://schemas.openxmlformats.org/drawingml/2006/main" noGrp="1"/>
          </p:cNvSpPr>
          <p:nvPr/>
        </p:nvSpPr>
        <p:spPr>
          <a:xfrm xmlns:a="http://schemas.openxmlformats.org/drawingml/2006/main">
            <a:off x="4429125" y="4514850"/>
            <a:ext cx="333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7343C"/>
                </a:solidFill>
                <a:latin typeface="Arial"/>
                <a:ea typeface="Arial"/>
                <a:cs typeface="Arial"/>
              </a:defRPr>
            </a:pPr>
            <a:r>
              <a:rPr sz="1725" b="0">
                <a:solidFill>
                  <a:srgbClr val="17343C"/>
                </a:solidFill>
                <a:latin typeface="Arial"/>
                <a:ea typeface="Arial"/>
                <a:cs typeface="Arial"/>
              </a:rPr>
              <a:t>At least four of five users</a:t>
            </a:r>
          </a:p>
          <a:p xmlns:a="http://schemas.openxmlformats.org/drawingml/2006/main">
            <a:pPr algn="l">
              <a:defRPr sz="1725" b="0">
                <a:solidFill>
                  <a:srgbClr val="17343C"/>
                </a:solidFill>
                <a:latin typeface="Arial"/>
                <a:ea typeface="Arial"/>
                <a:cs typeface="Arial"/>
              </a:defRPr>
            </a:pPr>
            <a:r>
              <a:rPr sz="1725" b="0">
                <a:solidFill>
                  <a:srgbClr val="17343C"/>
                </a:solidFill>
                <a:latin typeface="Arial"/>
                <a:ea typeface="Arial"/>
                <a:cs typeface="Arial"/>
              </a:rPr>
              <a:t>finish main tasks unaided</a:t>
            </a:r>
          </a:p>
        </p:txBody>
      </p:sp>
      <p:sp>
        <p:nvSpPr>
          <p:cNvPr id="10" name="metric-2">
            <a:extLst xmlns:a="http://schemas.openxmlformats.org/drawingml/2006/main">
              <a:ext uri="{FF2B5EF4-FFF2-40B4-BE49-F238E27FC236}">
                <a16:creationId xmlns:a16="http://schemas.microsoft.com/office/drawing/2014/main" id="{3C5C5CDD-FD53-4EFD-936F-787D843420D9}"/>
              </a:ext>
            </a:extLst>
          </p:cNvPr>
          <p:cNvSpPr>
            <a:spLocks xmlns:a="http://schemas.openxmlformats.org/drawingml/2006/main" noGrp="1"/>
          </p:cNvSpPr>
          <p:nvPr/>
        </p:nvSpPr>
        <p:spPr>
          <a:xfrm xmlns:a="http://schemas.openxmlformats.org/drawingml/2006/main">
            <a:off x="8172450" y="25146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75" b="1">
                <a:solidFill>
                  <a:srgbClr val="26746D"/>
                </a:solidFill>
                <a:latin typeface="Arial"/>
                <a:ea typeface="Arial"/>
                <a:cs typeface="Arial"/>
              </a:defRPr>
            </a:pPr>
            <a:r>
              <a:rPr sz="4875" b="1">
                <a:solidFill>
                  <a:srgbClr val="26746D"/>
                </a:solidFill>
                <a:latin typeface="Arial"/>
                <a:ea typeface="Arial"/>
                <a:cs typeface="Arial"/>
              </a:rPr>
              <a:t>2 sec</a:t>
            </a:r>
          </a:p>
        </p:txBody>
      </p:sp>
      <p:sp>
        <p:nvSpPr>
          <p:cNvPr id="11" name="metric-label-2">
            <a:extLst xmlns:a="http://schemas.openxmlformats.org/drawingml/2006/main">
              <a:ext uri="{FF2B5EF4-FFF2-40B4-BE49-F238E27FC236}">
                <a16:creationId xmlns:a16="http://schemas.microsoft.com/office/drawing/2014/main" id="{9ED2611F-2BB8-47C5-9ED8-6777D80995BF}"/>
              </a:ext>
            </a:extLst>
          </p:cNvPr>
          <p:cNvSpPr>
            <a:spLocks xmlns:a="http://schemas.openxmlformats.org/drawingml/2006/main" noGrp="1"/>
          </p:cNvSpPr>
          <p:nvPr/>
        </p:nvSpPr>
        <p:spPr>
          <a:xfrm xmlns:a="http://schemas.openxmlformats.org/drawingml/2006/main">
            <a:off x="8172450" y="3667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343C"/>
                </a:solidFill>
                <a:latin typeface="Arial"/>
                <a:ea typeface="Arial"/>
                <a:cs typeface="Arial"/>
              </a:defRPr>
            </a:pPr>
            <a:r>
              <a:rPr sz="2100" b="1">
                <a:solidFill>
                  <a:srgbClr val="17343C"/>
                </a:solidFill>
                <a:latin typeface="Arial"/>
                <a:ea typeface="Arial"/>
                <a:cs typeface="Arial"/>
              </a:rPr>
              <a:t>Classic search speed</a:t>
            </a:r>
          </a:p>
        </p:txBody>
      </p:sp>
      <p:sp>
        <p:nvSpPr>
          <p:cNvPr id="12" name="metric-description-2">
            <a:extLst xmlns:a="http://schemas.openxmlformats.org/drawingml/2006/main">
              <a:ext uri="{FF2B5EF4-FFF2-40B4-BE49-F238E27FC236}">
                <a16:creationId xmlns:a16="http://schemas.microsoft.com/office/drawing/2014/main" id="{3D679530-783A-422B-B933-464ADD09A2E4}"/>
              </a:ext>
            </a:extLst>
          </p:cNvPr>
          <p:cNvSpPr>
            <a:spLocks xmlns:a="http://schemas.openxmlformats.org/drawingml/2006/main" noGrp="1"/>
          </p:cNvSpPr>
          <p:nvPr/>
        </p:nvSpPr>
        <p:spPr>
          <a:xfrm xmlns:a="http://schemas.openxmlformats.org/drawingml/2006/main">
            <a:off x="8172450" y="4514850"/>
            <a:ext cx="333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7343C"/>
                </a:solidFill>
                <a:latin typeface="Arial"/>
                <a:ea typeface="Arial"/>
                <a:cs typeface="Arial"/>
              </a:defRPr>
            </a:pPr>
            <a:r>
              <a:rPr sz="1725" b="0">
                <a:solidFill>
                  <a:srgbClr val="17343C"/>
                </a:solidFill>
                <a:latin typeface="Arial"/>
                <a:ea typeface="Arial"/>
                <a:cs typeface="Arial"/>
              </a:rPr>
              <a:t>At least 95 of 100 searches</a:t>
            </a:r>
          </a:p>
          <a:p xmlns:a="http://schemas.openxmlformats.org/drawingml/2006/main">
            <a:pPr algn="l">
              <a:defRPr sz="1725" b="0">
                <a:solidFill>
                  <a:srgbClr val="17343C"/>
                </a:solidFill>
                <a:latin typeface="Arial"/>
                <a:ea typeface="Arial"/>
                <a:cs typeface="Arial"/>
              </a:defRPr>
            </a:pPr>
            <a:r>
              <a:rPr sz="1725" b="0">
                <a:solidFill>
                  <a:srgbClr val="17343C"/>
                </a:solidFill>
                <a:latin typeface="Arial"/>
                <a:ea typeface="Arial"/>
                <a:cs typeface="Arial"/>
              </a:rPr>
              <a:t>finish within two seconds</a:t>
            </a:r>
          </a:p>
        </p:txBody>
      </p:sp>
      <p:sp>
        <p:nvSpPr>
          <p:cNvPr id="13" name="metric-context">
            <a:extLst xmlns:a="http://schemas.openxmlformats.org/drawingml/2006/main">
              <a:ext uri="{FF2B5EF4-FFF2-40B4-BE49-F238E27FC236}">
                <a16:creationId xmlns:a16="http://schemas.microsoft.com/office/drawing/2014/main" id="{3C4403E8-F70A-45C8-BD84-AF4D4605AAF8}"/>
              </a:ext>
            </a:extLst>
          </p:cNvPr>
          <p:cNvSpPr>
            <a:spLocks xmlns:a="http://schemas.openxmlformats.org/drawingml/2006/main" noGrp="1"/>
          </p:cNvSpPr>
          <p:nvPr/>
        </p:nvSpPr>
        <p:spPr>
          <a:xfrm xmlns:a="http://schemas.openxmlformats.org/drawingml/2006/main">
            <a:off x="685800" y="58959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466"/>
                </a:solidFill>
                <a:latin typeface="Arial"/>
                <a:ea typeface="Arial"/>
                <a:cs typeface="Arial"/>
              </a:defRPr>
            </a:pPr>
            <a:r>
              <a:rPr sz="1725" b="0">
                <a:solidFill>
                  <a:srgbClr val="536466"/>
                </a:solidFill>
                <a:latin typeface="Arial"/>
                <a:ea typeface="Arial"/>
                <a:cs typeface="Arial"/>
              </a:rPr>
              <a:t>Search test: 500 synthetic assets and 5 concurrent users</a:t>
            </a:r>
          </a:p>
        </p:txBody>
      </p:sp>
    </p:spTree>
    <p:extLst>
      <p:ext uri="{BB962C8B-B14F-4D97-AF65-F5344CB8AC3E}">
        <p14:creationId xmlns:p14="http://schemas.microsoft.com/office/powerpoint/2010/main" val="1795847366"/>
      </p:ext>
    </p:extLst>
  </p:cSld>
</p:sld>
</file>

<file path=ppt/slides/slide7.xml><?xml version="1.0" encoding="utf-8"?>
<p:sld xmlns:p="http://schemas.openxmlformats.org/presentationml/2006/main">
  <p:cSld>
    <p:bg>
      <p:bgPr>
        <a:solidFill xmlns:a="http://schemas.openxmlformats.org/drawingml/2006/main">
          <a:srgbClr val="FAFAF7"/>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D6FB272B-2A57-4CEF-AB6E-0B851E3BB0A9}"/>
              </a:ext>
            </a:extLst>
          </p:cNvPr>
          <p:cNvSpPr>
            <a:spLocks xmlns:a="http://schemas.openxmlformats.org/drawingml/2006/main" noGrp="1"/>
          </p:cNvSpPr>
          <p:nvPr/>
        </p:nvSpPr>
        <p:spPr>
          <a:xfrm xmlns:a="http://schemas.openxmlformats.org/drawingml/2006/main">
            <a:off x="685800" y="5524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343C"/>
                </a:solidFill>
                <a:latin typeface="Arial"/>
                <a:ea typeface="Arial"/>
                <a:cs typeface="Arial"/>
              </a:defRPr>
            </a:pPr>
            <a:r>
              <a:rPr sz="3450" b="1">
                <a:solidFill>
                  <a:srgbClr val="17343C"/>
                </a:solidFill>
                <a:latin typeface="Arial"/>
                <a:ea typeface="Arial"/>
                <a:cs typeface="Arial"/>
              </a:rPr>
              <a:t>Delivery plan</a:t>
            </a:r>
          </a:p>
        </p:txBody>
      </p:sp>
      <p:sp>
        <p:nvSpPr>
          <p:cNvPr id="2" name="page-number">
            <a:extLst xmlns:a="http://schemas.openxmlformats.org/drawingml/2006/main">
              <a:ext uri="{FF2B5EF4-FFF2-40B4-BE49-F238E27FC236}">
                <a16:creationId xmlns:a16="http://schemas.microsoft.com/office/drawing/2014/main" id="{2E81808A-8151-46A0-9BF3-D6F6FA12F39B}"/>
              </a:ext>
            </a:extLst>
          </p:cNvPr>
          <p:cNvSpPr>
            <a:spLocks xmlns:a="http://schemas.openxmlformats.org/drawingml/2006/main" noGrp="1"/>
          </p:cNvSpPr>
          <p:nvPr/>
        </p:nvSpPr>
        <p:spPr>
          <a:xfrm xmlns:a="http://schemas.openxmlformats.org/drawingml/2006/main">
            <a:off x="11049000" y="6372225"/>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36466"/>
                </a:solidFill>
                <a:latin typeface="Arial"/>
                <a:ea typeface="Arial"/>
                <a:cs typeface="Arial"/>
              </a:defRPr>
            </a:pPr>
            <a:r>
              <a:rPr sz="1350" b="0">
                <a:solidFill>
                  <a:srgbClr val="536466"/>
                </a:solidFill>
                <a:latin typeface="Arial"/>
                <a:ea typeface="Arial"/>
                <a:cs typeface="Arial"/>
              </a:rPr>
              <a:t>7</a:t>
            </a:r>
          </a:p>
        </p:txBody>
      </p:sp>
      <p:graphicFrame>
        <p:nvGraphicFramePr>
          <p:cNvPr id="8" name=""/>
          <p:cNvGraphicFramePr/>
          <p:nvPr/>
        </p:nvGraphicFramePr>
        <p:xfrm>
          <a:off xmlns:a="http://schemas.openxmlformats.org/drawingml/2006/main" x="685800" y="1676400"/>
          <a:ext xmlns:a="http://schemas.openxmlformats.org/drawingml/2006/main" cx="10820400" cy="2952750"/>
        </p:xfrm>
        <a:graphic xmlns:a="http://schemas.openxmlformats.org/drawingml/2006/main">
          <a:graphicData uri="http://schemas.openxmlformats.org/drawingml/2006/table">
            <a:tbl>
              <a:tblPr firstRow="0" firstCol="0" bandRow="0"/>
              <a:tblGrid>
                <a:gridCol w="4114800"/>
                <a:gridCol w="6705600"/>
              </a:tblGrid>
              <a:tr h="552450">
                <a:tc>
                  <a:txBody>
                    <a:bodyPr lIns="0" tIns="57150" rIns="114300" bIns="57150">
                      <a:noAutofit/>
                    </a:bodyPr>
                    <a:lstStyle/>
                    <a:p>
                      <a:r>
                        <a:rPr sz="1875" b="1">
                          <a:solidFill>
                            <a:srgbClr val="26746D"/>
                          </a:solidFill>
                          <a:latin typeface="Arial"/>
                          <a:ea typeface="Arial"/>
                          <a:cs typeface="Arial"/>
                        </a:rPr>
                        <a:t>Phase</a:t>
                      </a:r>
                    </a:p>
                  </a:txBody>
                  <a:tcPr marL="91440" marR="91440" marT="45720" marB="45720" anchor="ctr">
                    <a:solidFill>
                      <a:srgbClr val="FAFAF7"/>
                    </a:solidFill>
                  </a:tcPr>
                </a:tc>
                <a:tc>
                  <a:txBody>
                    <a:bodyPr lIns="0" tIns="57150" rIns="114300" bIns="57150">
                      <a:noAutofit/>
                    </a:bodyPr>
                    <a:lstStyle/>
                    <a:p>
                      <a:r>
                        <a:rPr sz="1875" b="1">
                          <a:solidFill>
                            <a:srgbClr val="26746D"/>
                          </a:solidFill>
                          <a:latin typeface="Arial"/>
                          <a:ea typeface="Arial"/>
                          <a:cs typeface="Arial"/>
                        </a:rPr>
                        <a:t>Next deliverable</a:t>
                      </a:r>
                    </a:p>
                  </a:txBody>
                  <a:tcPr marL="91440" marR="91440" marT="45720" marB="45720" anchor="ctr">
                    <a:solidFill>
                      <a:srgbClr val="FAFAF7"/>
                    </a:solidFill>
                  </a:tcPr>
                </a:tc>
              </a:tr>
              <a:tr h="800100">
                <a:tc>
                  <a:txBody>
                    <a:bodyPr lIns="0" tIns="57150" rIns="114300" bIns="57150">
                      <a:noAutofit/>
                    </a:bodyPr>
                    <a:lstStyle/>
                    <a:p>
                      <a:r>
                        <a:rPr sz="2025" b="0">
                          <a:solidFill>
                            <a:srgbClr val="17343C"/>
                          </a:solidFill>
                          <a:latin typeface="Arial"/>
                          <a:ea typeface="Arial"/>
                          <a:cs typeface="Arial"/>
                        </a:rPr>
                        <a:t>2  Feasibility</a:t>
                      </a:r>
                    </a:p>
                  </a:txBody>
                  <a:tcPr marL="91440" marR="91440" marT="45720" marB="45720" anchor="ctr">
                    <a:solidFill>
                      <a:srgbClr val="FAFAF7"/>
                    </a:solidFill>
                  </a:tcPr>
                </a:tc>
                <a:tc>
                  <a:txBody>
                    <a:bodyPr lIns="0" tIns="57150" rIns="114300" bIns="57150">
                      <a:noAutofit/>
                    </a:bodyPr>
                    <a:lstStyle/>
                    <a:p>
                      <a:r>
                        <a:rPr sz="2025" b="0">
                          <a:solidFill>
                            <a:srgbClr val="17343C"/>
                          </a:solidFill>
                          <a:latin typeface="Arial"/>
                          <a:ea typeface="Arial"/>
                          <a:cs typeface="Arial"/>
                        </a:rPr>
                        <a:t>Choose technology, AI access and hosting</a:t>
                      </a:r>
                    </a:p>
                  </a:txBody>
                  <a:tcPr marL="91440" marR="91440" marT="45720" marB="45720" anchor="ctr">
                    <a:solidFill>
                      <a:srgbClr val="FAFAF7"/>
                    </a:solidFill>
                  </a:tcPr>
                </a:tc>
              </a:tr>
              <a:tr h="800100">
                <a:tc>
                  <a:txBody>
                    <a:bodyPr lIns="0" tIns="57150" rIns="114300" bIns="57150">
                      <a:noAutofit/>
                    </a:bodyPr>
                    <a:lstStyle/>
                    <a:p>
                      <a:r>
                        <a:rPr sz="2025" b="0">
                          <a:solidFill>
                            <a:srgbClr val="17343C"/>
                          </a:solidFill>
                          <a:latin typeface="Arial"/>
                          <a:ea typeface="Arial"/>
                          <a:cs typeface="Arial"/>
                        </a:rPr>
                        <a:t>3–5  Requirements and design</a:t>
                      </a:r>
                    </a:p>
                  </a:txBody>
                  <a:tcPr marL="91440" marR="91440" marT="45720" marB="45720" anchor="ctr">
                    <a:solidFill>
                      <a:srgbClr val="FAFAF7"/>
                    </a:solidFill>
                  </a:tcPr>
                </a:tc>
                <a:tc>
                  <a:txBody>
                    <a:bodyPr lIns="0" tIns="57150" rIns="114300" bIns="57150">
                      <a:noAutofit/>
                    </a:bodyPr>
                    <a:lstStyle/>
                    <a:p>
                      <a:r>
                        <a:rPr sz="2025" b="0">
                          <a:solidFill>
                            <a:srgbClr val="17343C"/>
                          </a:solidFill>
                          <a:latin typeface="Arial"/>
                          <a:ea typeface="Arial"/>
                          <a:cs typeface="Arial"/>
                        </a:rPr>
                        <a:t>Validate needs and define the architecture</a:t>
                      </a:r>
                    </a:p>
                  </a:txBody>
                  <a:tcPr marL="91440" marR="91440" marT="45720" marB="45720" anchor="ctr">
                    <a:solidFill>
                      <a:srgbClr val="FAFAF7"/>
                    </a:solidFill>
                  </a:tcPr>
                </a:tc>
              </a:tr>
              <a:tr h="800100">
                <a:tc>
                  <a:txBody>
                    <a:bodyPr lIns="0" tIns="57150" rIns="114300" bIns="57150">
                      <a:noAutofit/>
                    </a:bodyPr>
                    <a:lstStyle/>
                    <a:p>
                      <a:r>
                        <a:rPr sz="2025" b="0">
                          <a:solidFill>
                            <a:srgbClr val="17343C"/>
                          </a:solidFill>
                          <a:latin typeface="Arial"/>
                          <a:ea typeface="Arial"/>
                          <a:cs typeface="Arial"/>
                        </a:rPr>
                        <a:t>6–8  Build, deploy and test</a:t>
                      </a:r>
                    </a:p>
                  </a:txBody>
                  <a:tcPr marL="91440" marR="91440" marT="45720" marB="45720" anchor="ctr">
                    <a:solidFill>
                      <a:srgbClr val="FAFAF7"/>
                    </a:solidFill>
                  </a:tcPr>
                </a:tc>
                <a:tc>
                  <a:txBody>
                    <a:bodyPr lIns="0" tIns="57150" rIns="114300" bIns="57150">
                      <a:noAutofit/>
                    </a:bodyPr>
                    <a:lstStyle/>
                    <a:p>
                      <a:r>
                        <a:rPr sz="2025" b="0">
                          <a:solidFill>
                            <a:srgbClr val="17343C"/>
                          </a:solidFill>
                          <a:latin typeface="Arial"/>
                          <a:ea typeface="Arial"/>
                          <a:cs typeface="Arial"/>
                        </a:rPr>
                        <a:t>Hosted application, evaluation and final demo</a:t>
                      </a:r>
                    </a:p>
                  </a:txBody>
                  <a:tcPr marL="91440" marR="91440" marT="45720" marB="45720" anchor="ctr">
                    <a:solidFill>
                      <a:srgbClr val="FAFAF7"/>
                    </a:solidFill>
                  </a:tcPr>
                </a:tc>
              </a:tr>
            </a:tbl>
          </a:graphicData>
        </a:graphic>
      </p:graphicFrame>
      <p:sp>
        <p:nvSpPr>
          <p:cNvPr id="4" name="iteration">
            <a:extLst xmlns:a="http://schemas.openxmlformats.org/drawingml/2006/main">
              <a:ext uri="{FF2B5EF4-FFF2-40B4-BE49-F238E27FC236}">
                <a16:creationId xmlns:a16="http://schemas.microsoft.com/office/drawing/2014/main" id="{140A2C3F-6D54-4477-B31C-94053F70F1F3}"/>
              </a:ext>
            </a:extLst>
          </p:cNvPr>
          <p:cNvSpPr>
            <a:spLocks xmlns:a="http://schemas.openxmlformats.org/drawingml/2006/main" noGrp="1"/>
          </p:cNvSpPr>
          <p:nvPr/>
        </p:nvSpPr>
        <p:spPr>
          <a:xfrm xmlns:a="http://schemas.openxmlformats.org/drawingml/2006/main">
            <a:off x="685800" y="5048250"/>
            <a:ext cx="108204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343C"/>
                </a:solidFill>
                <a:latin typeface="Arial"/>
                <a:ea typeface="Arial"/>
                <a:cs typeface="Arial"/>
              </a:defRPr>
            </a:pPr>
            <a:r>
              <a:rPr sz="2325" b="1">
                <a:solidFill>
                  <a:srgbClr val="17343C"/>
                </a:solidFill>
                <a:latin typeface="Arial"/>
                <a:ea typeface="Arial"/>
                <a:cs typeface="Arial"/>
              </a:rPr>
              <a:t>Short work cycles, reviewed at each course milestone</a:t>
            </a:r>
          </a:p>
        </p:txBody>
      </p:sp>
      <p:sp>
        <p:nvSpPr>
          <p:cNvPr id="5" name="ownership">
            <a:extLst xmlns:a="http://schemas.openxmlformats.org/drawingml/2006/main">
              <a:ext uri="{FF2B5EF4-FFF2-40B4-BE49-F238E27FC236}">
                <a16:creationId xmlns:a16="http://schemas.microsoft.com/office/drawing/2014/main" id="{966F85A5-5145-4E82-9AD3-DF69790E20E0}"/>
              </a:ext>
            </a:extLst>
          </p:cNvPr>
          <p:cNvSpPr>
            <a:spLocks xmlns:a="http://schemas.openxmlformats.org/drawingml/2006/main" noGrp="1"/>
          </p:cNvSpPr>
          <p:nvPr/>
        </p:nvSpPr>
        <p:spPr>
          <a:xfrm xmlns:a="http://schemas.openxmlformats.org/drawingml/2006/main">
            <a:off x="685800" y="5895975"/>
            <a:ext cx="10820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466"/>
                </a:solidFill>
                <a:latin typeface="Arial"/>
                <a:ea typeface="Arial"/>
                <a:cs typeface="Arial"/>
              </a:defRPr>
            </a:pPr>
            <a:r>
              <a:rPr sz="1725" b="0">
                <a:solidFill>
                  <a:srgbClr val="536466"/>
                </a:solidFill>
                <a:latin typeface="Arial"/>
                <a:ea typeface="Arial"/>
                <a:cs typeface="Arial"/>
              </a:rPr>
              <a:t>Sultan: planning and backend    Zayed: requirements and UX    Ghith: AI and architecture</a:t>
            </a:r>
          </a:p>
        </p:txBody>
      </p:sp>
    </p:spTree>
    <p:extLst>
      <p:ext uri="{BB962C8B-B14F-4D97-AF65-F5344CB8AC3E}">
        <p14:creationId xmlns:p14="http://schemas.microsoft.com/office/powerpoint/2010/main" val="13896177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2026-09-15T09:32:57.3660000Z</dcterms:created>
  <dcterms:modified xsi:type="dcterms:W3CDTF">2026-09-15T09:32:57.3660000Z</dcterms:modified>
</coreProperties>
</file>