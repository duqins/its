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4f8350c5744dd3" /><Relationship Type="http://schemas.openxmlformats.org/officeDocument/2006/relationships/extended-properties" Target="/docProps/app.xml" Id="R07128645eca14a79" /><Relationship Type="http://schemas.openxmlformats.org/officeDocument/2006/relationships/officeDocument" Target="/ppt/presentation.xml" Id="R9a4f245feda7460a" /></Relationships>
</file>

<file path=ppt/presentation.xml><?xml version="1.0" encoding="utf-8"?>
<p:presentation xmlns:p="http://schemas.openxmlformats.org/presentationml/2006/main">
  <p:sldMasterIdLst>
    <p:sldMasterId xmlns:r="http://schemas.openxmlformats.org/officeDocument/2006/relationships" id="2147483648" r:id="R38e6ed99daff42a5"/>
  </p:sldMasterIdLst>
  <p:notesMasterIdLst>
    <p:notesMasterId xmlns:r="http://schemas.openxmlformats.org/officeDocument/2006/relationships" r:id="R5c160953cf3e4190"/>
  </p:notesMasterIdLst>
  <p:sldIdLst>
    <p:sldId xmlns:r="http://schemas.openxmlformats.org/officeDocument/2006/relationships" id="256" r:id="Rcef7dada8350451f"/>
    <p:sldId xmlns:r="http://schemas.openxmlformats.org/officeDocument/2006/relationships" id="257" r:id="Redf0a2b2af3049d2"/>
    <p:sldId xmlns:r="http://schemas.openxmlformats.org/officeDocument/2006/relationships" id="258" r:id="Rae9bc93029e14712"/>
    <p:sldId xmlns:r="http://schemas.openxmlformats.org/officeDocument/2006/relationships" id="259" r:id="R2b121a4acd6f4f69"/>
    <p:sldId xmlns:r="http://schemas.openxmlformats.org/officeDocument/2006/relationships" id="260" r:id="R442d29c8fe124872"/>
    <p:sldId xmlns:r="http://schemas.openxmlformats.org/officeDocument/2006/relationships" id="261" r:id="R2a3e005584e248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948aec3a6042b6" /><Relationship Type="http://schemas.openxmlformats.org/officeDocument/2006/relationships/slideMaster" Target="/ppt/slideMasters/slideMaster1.xml" Id="R38e6ed99daff42a5" /><Relationship Type="http://schemas.openxmlformats.org/officeDocument/2006/relationships/notesMaster" Target="/ppt/notesMasters/notesMaster1.xml" Id="R5c160953cf3e4190" /><Relationship Type="http://schemas.openxmlformats.org/officeDocument/2006/relationships/presProps" Target="/ppt/presProps.xml" Id="R19db80a5b4eb4643" /><Relationship Type="http://schemas.openxmlformats.org/officeDocument/2006/relationships/tableStyles" Target="/ppt/tableStyles.xml" Id="R9ffcfac024134524" /><Relationship Type="http://schemas.openxmlformats.org/officeDocument/2006/relationships/slide" Target="/ppt/slides/slide1.xml" Id="Rcef7dada8350451f" /><Relationship Type="http://schemas.openxmlformats.org/officeDocument/2006/relationships/slide" Target="/ppt/slides/slide2.xml" Id="Redf0a2b2af3049d2" /><Relationship Type="http://schemas.openxmlformats.org/officeDocument/2006/relationships/slide" Target="/ppt/slides/slide3.xml" Id="Rae9bc93029e14712" /><Relationship Type="http://schemas.openxmlformats.org/officeDocument/2006/relationships/slide" Target="/ppt/slides/slide4.xml" Id="R2b121a4acd6f4f69" /><Relationship Type="http://schemas.openxmlformats.org/officeDocument/2006/relationships/slide" Target="/ppt/slides/slide5.xml" Id="R442d29c8fe124872" /><Relationship Type="http://schemas.openxmlformats.org/officeDocument/2006/relationships/slide" Target="/ppt/slides/slide6.xml" Id="R2a3e005584e248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283823e88249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fd5ec5da114b25" /><Relationship Type="http://schemas.openxmlformats.org/officeDocument/2006/relationships/notesMaster" Target="/ppt/notesMasters/notesMaster1.xml" Id="R9f3e2dd757d44d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068350d4ce4988" /><Relationship Type="http://schemas.openxmlformats.org/officeDocument/2006/relationships/notesMaster" Target="/ppt/notesMasters/notesMaster1.xml" Id="Rf848d73cdb2c4c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ff971e409e4099" /><Relationship Type="http://schemas.openxmlformats.org/officeDocument/2006/relationships/notesMaster" Target="/ppt/notesMasters/notesMaster1.xml" Id="R5eb2154e102445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4c014bba554e49" /><Relationship Type="http://schemas.openxmlformats.org/officeDocument/2006/relationships/notesMaster" Target="/ppt/notesMasters/notesMaster1.xml" Id="Rd712002e65b44c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b7404fb04f451f" /><Relationship Type="http://schemas.openxmlformats.org/officeDocument/2006/relationships/notesMaster" Target="/ppt/notesMasters/notesMaster1.xml" Id="R57641d28572f49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9664a1b7d74614" /><Relationship Type="http://schemas.openxmlformats.org/officeDocument/2006/relationships/notesMaster" Target="/ppt/notesMasters/notesMaster1.xml" Id="R5ed87cfee79c4e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Sultan - 50 seconds</a:t>
            </a:r>
          </a:p>
          <a:p xmlns:a="http://schemas.openxmlformats.org/drawingml/2006/main">
            <a:r>
              <a:t/>
            </a:r>
          </a:p>
          <a:p xmlns:a="http://schemas.openxmlformats.org/drawingml/2006/main">
            <a:r>
              <a:t>Good morning. We will focus on the decisions Group Four made in Phase One and what we will do next. We scoped a hosted web application using free resources and synthetic data. Our plan is to build the Must-have baseline first: asset records, requests, approvals, transfers, maintenance, AI classification and matching, and basic reporting. Then we complete the planned Should-have work, including the assistant and sustainable-action recommendations. Hosting and deployment remain in scope. We have not selected the framework, database, AI provider or host yet. We will compare those choices during feasibility, before committing to the design.</a:t>
            </a:r>
          </a:p>
          <a:p xmlns:a="http://schemas.openxmlformats.org/drawingml/2006/main">
            <a:r>
              <a:t/>
            </a:r>
          </a:p>
          <a:p xmlns:a="http://schemas.openxmlformats.org/drawingml/2006/main">
            <a:r>
              <a:t>COSC336, Khalifa University, Fall 2026. Official project title: Intelligent, AI-Powered Circular Campus Resource Exchange and Asset Life Cycle Management System. This is a Phase 1 planning presentation. The baseline also includes all other Must requirements such as access control, audit history, sustainability indicators and conventional/AI reports; visible examples are not the full scope. Deployment is planned Should NFR-13, in semester scope, with hosting choice in Phase 2, hosted draft in Phase 6 and final URL/instructions in Phase 8. Any course-scope deferral needs instructor agreement. Photo by Ildar Sagdejev (Specious), 30 September 2003, UNC Chapel Hill, not Khalifa University. CC BY-SA 3.0 https://creativecommons.org/licenses/by-sa/3.0 . Resized proportionally without cropping or other edits.</a:t>
            </a:r>
          </a:p>
          <a:p xmlns:a="http://schemas.openxmlformats.org/drawingml/2006/main">
            <a:r>
              <a:t/>
            </a:r>
          </a:p>
          <a:p xmlns:a="http://schemas.openxmlformats.org/drawingml/2006/main">
            <a:r>
              <a:t>Sources:</a:t>
            </a:r>
          </a:p>
          <a:p xmlns:a="http://schemas.openxmlformats.org/drawingml/2006/main">
            <a:r>
              <a:t>https://github.com/duqins/ITS/blob/main/docs/phase1/sections/02-project-overview.md</a:t>
            </a:r>
          </a:p>
          <a:p xmlns:a="http://schemas.openxmlformats.org/drawingml/2006/main">
            <a:r>
              <a:t>https://github.com/duqins/ITS/blob/main/docs/phase1/sections/05-requirements-gathering.md</a:t>
            </a:r>
          </a:p>
          <a:p xmlns:a="http://schemas.openxmlformats.org/drawingml/2006/main">
            <a:r>
              <a:t>https://github.com/duqins/ITS/blob/main/docs/phase1/sections/08-project-plan.md</a:t>
            </a:r>
          </a:p>
          <a:p xmlns:a="http://schemas.openxmlformats.org/drawingml/2006/main">
            <a:r>
              <a:t>https://commons.wikimedia.org/wiki/File:2003-09-30_UNC-CH_Phillips_classroom_1.jpg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Zayed - 50 seconds</a:t>
            </a:r>
          </a:p>
          <a:p xmlns:a="http://schemas.openxmlformats.org/drawingml/2006/main">
            <a:r>
              <a:t/>
            </a:r>
          </a:p>
          <a:p xmlns:a="http://schemas.openxmlformats.org/drawingml/2006/main">
            <a:r>
              <a:t>We translated the user roles in the brief into specific responsibilities and approval owners. For a transfer, the custodian keeps the asset record accurate and confirms handover. The releasing and receiving department representatives provide the required approvals, with finance or procurement involved where policy requires it. We also separated technical access from business authority: a system administrator does not gain permission to approve a transfer simply because they manage the software. These rules are documented in our nine-role mapping. Financial thresholds and the final end-of-life approval sequence remain open questions that we will confirm with the client.</a:t>
            </a:r>
          </a:p>
          <a:p xmlns:a="http://schemas.openxmlformats.org/drawingml/2006/main">
            <a:r>
              <a:t/>
            </a:r>
          </a:p>
          <a:p xmlns:a="http://schemas.openxmlformats.org/drawingml/2006/main">
            <a:r>
              <a:t>Initial proposed requirements, not an implemented or institutionally validated workflow. FR-10 routes approvals and records decision maker, time and reason. FR-11 requires releasing/receiving department approval plus finance/procurement when needed. System roles are distinct from all project stakeholders.</a:t>
            </a:r>
          </a:p>
          <a:p xmlns:a="http://schemas.openxmlformats.org/drawingml/2006/main">
            <a:r>
              <a:t/>
            </a:r>
          </a:p>
          <a:p xmlns:a="http://schemas.openxmlformats.org/drawingml/2006/main">
            <a:r>
              <a:t>Sources:</a:t>
            </a:r>
          </a:p>
          <a:p xmlns:a="http://schemas.openxmlformats.org/drawingml/2006/main">
            <a:r>
              <a:t>https://github.com/duqins/ITS/blob/main/docs/phase1/sections/03-stakeholder-analysis.md</a:t>
            </a:r>
          </a:p>
          <a:p xmlns:a="http://schemas.openxmlformats.org/drawingml/2006/main">
            <a:r>
              <a:t>https://github.com/duqins/ITS/blob/main/docs/phase1/sections/06-requirements-specification.md</a:t>
            </a:r>
          </a:p>
          <a:p xmlns:a="http://schemas.openxmlformats.org/drawingml/2006/main">
            <a:r>
              <a:t>https://github.com/duqins/ITS/blob/main/docs/phase1/sections/10-open-questions-references.md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Zayed - 50 seconds</a:t>
            </a:r>
          </a:p>
          <a:p xmlns:a="http://schemas.openxmlformats.org/drawingml/2006/main">
            <a:r>
              <a:t/>
            </a:r>
          </a:p>
          <a:p xmlns:a="http://schemas.openxmlformats.org/drawingml/2006/main">
            <a:r>
              <a:t>Our Phase One output is an initial specification with fifty-two numbered requirements: eighteen classic functional, thirteen AI, eight sustainability and thirteen non-functional requirements. We assigned forty-seven Must and five Should priorities to make the implementation order explicit. We gathered the initial information through course-document analysis and a desk walkthrough of the scenario. We have not conducted stakeholder interviews yet. Next, we will use interviews, a short survey and a process workshop to check assumptions and approval rules. We will record the source of each finding and update the requirements. A requirement becomes validated when the client or an appropriate stakeholder confirms it.</a:t>
            </a:r>
          </a:p>
          <a:p xmlns:a="http://schemas.openxmlformats.org/drawingml/2006/main">
            <a:r>
              <a:t/>
            </a:r>
          </a:p>
          <a:p xmlns:a="http://schemas.openxmlformats.org/drawingml/2006/main">
            <a:r>
              <a:t>52 is a requirement count, not an implemented feature count. Should requirements are AI-06, AI-07, AI-08, NFR-11 and NFR-13. Priorities are subject to feasibility/client review. Phase 1 plan and requirements are completed documentation; application, interviews, testing and deployment are future work.</a:t>
            </a:r>
          </a:p>
          <a:p xmlns:a="http://schemas.openxmlformats.org/drawingml/2006/main">
            <a:r>
              <a:t/>
            </a:r>
          </a:p>
          <a:p xmlns:a="http://schemas.openxmlformats.org/drawingml/2006/main">
            <a:r>
              <a:t>Sources:</a:t>
            </a:r>
          </a:p>
          <a:p xmlns:a="http://schemas.openxmlformats.org/drawingml/2006/main">
            <a:r>
              <a:t>https://github.com/duqins/ITS/blob/main/docs/phase1/sections/04-as-is-process.md</a:t>
            </a:r>
          </a:p>
          <a:p xmlns:a="http://schemas.openxmlformats.org/drawingml/2006/main">
            <a:r>
              <a:t>https://github.com/duqins/ITS/blob/main/docs/phase1/sections/05-requirements-gathering.md</a:t>
            </a:r>
          </a:p>
          <a:p xmlns:a="http://schemas.openxmlformats.org/drawingml/2006/main">
            <a:r>
              <a:t>https://github.com/duqins/ITS/blob/main/docs/phase1/sections/06-requirements-specification.md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Ghith - 50 seconds</a:t>
            </a:r>
          </a:p>
          <a:p xmlns:a="http://schemas.openxmlformats.org/drawingml/2006/main">
            <a:r>
              <a:t/>
            </a:r>
          </a:p>
          <a:p xmlns:a="http://schemas.openxmlformats.org/drawingml/2006/main">
            <a:r>
              <a:t>Our proposed approach is to check mandatory eligibility before asking AI to rank assets. An unavailable item, an item with the wrong specifications, or a record the requester cannot access must not become an actionable recommendation. AI then ranks eligible candidates and explains the main matching factors. We will distinguish compatibility with the request from the model confidence information, because neither is an approval or a guarantee of correctness. The user chooses an eligible option and the normal approval process still applies. If AI fails, we preserve the entered information and provide classic search. We will test these boundaries as well as match quality.</a:t>
            </a:r>
          </a:p>
          <a:p xmlns:a="http://schemas.openxmlformats.org/drawingml/2006/main">
            <a:r>
              <a:t/>
            </a:r>
          </a:p>
          <a:p xmlns:a="http://schemas.openxmlformats.org/drawingml/2006/main">
            <a:r>
              <a:t>Proposed approach; no final architecture or model chosen. AI-03 mandatory constraints, AI-04 explanation/compatibility/confidence, AI-05 ranking, AI-13 classic fallback. NFR-07 targets availability of classic alternative within 15 seconds. Final factor weights and AI service are still to be selected and evaluated.</a:t>
            </a:r>
          </a:p>
          <a:p xmlns:a="http://schemas.openxmlformats.org/drawingml/2006/main">
            <a:r>
              <a:t/>
            </a:r>
          </a:p>
          <a:p xmlns:a="http://schemas.openxmlformats.org/drawingml/2006/main">
            <a:r>
              <a:t>Sources:</a:t>
            </a:r>
          </a:p>
          <a:p xmlns:a="http://schemas.openxmlformats.org/drawingml/2006/main">
            <a:r>
              <a:t>https://github.com/duqins/ITS/blob/main/docs/phase1/sections/06-requirements-specification.md</a:t>
            </a:r>
          </a:p>
          <a:p xmlns:a="http://schemas.openxmlformats.org/drawingml/2006/main">
            <a:r>
              <a:t>https://github.com/duqins/ITS/blob/main/docs/phase1/sections/09-classic-vs-ai.md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Ghith - 50 seconds</a:t>
            </a:r>
          </a:p>
          <a:p xmlns:a="http://schemas.openxmlformats.org/drawingml/2006/main">
            <a:r>
              <a:t/>
            </a:r>
          </a:p>
          <a:p xmlns:a="http://schemas.openxmlformats.org/drawingml/2006/main">
            <a:r>
              <a:t>We will compare AI matching with keyword search on the same twenty requests and asset snapshot. Two team members will independently label useful assets, then resolve disagreements using one checklist. Our proposed target is a useful item in the top three AI results for at least sixteen requests, and at least two more successful requests than keyword search. This tests whether AI adds value on our dataset. We will also test approval permissions, attempts to reserve the same item, sustainability calculations and a fresh hosted deployment with AI unavailable. These are planned checks and targets. We do not have measured results yet.</a:t>
            </a:r>
          </a:p>
          <a:p xmlns:a="http://schemas.openxmlformats.org/drawingml/2006/main">
            <a:r>
              <a:t/>
            </a:r>
          </a:p>
          <a:p xmlns:a="http://schemas.openxmlformats.org/drawingml/2006/main">
            <a:r>
              <a:t>Main synthetic dataset: 500 assets, 10 departments, 50 requests. The 20-request evaluation subset has suitable assets. Matching target is top-three request usefulness, not model accuracy. Data-integrity test: 10 two-user attempts to reserve the same single unit, exactly one success each time. Sustainability: 10 hand-calculated cases, missing data, negative net benefit, no duplicate benefits. Count avoided purchase after fulfilled/reviewed demand, subtract attributable costs. Deployment: one teammate performs fresh documented deployment and checks hosted registration/search/request/approval and fallback. Also test 95/100 classic searches within 2 seconds at 5 concurrent users and 4/5 role-appropriate user-task completion.</a:t>
            </a:r>
          </a:p>
          <a:p xmlns:a="http://schemas.openxmlformats.org/drawingml/2006/main">
            <a:r>
              <a:t/>
            </a:r>
          </a:p>
          <a:p xmlns:a="http://schemas.openxmlformats.org/drawingml/2006/main">
            <a:r>
              <a:t>Sources:</a:t>
            </a:r>
          </a:p>
          <a:p xmlns:a="http://schemas.openxmlformats.org/drawingml/2006/main">
            <a:r>
              <a:t>https://github.com/duqins/ITS/blob/main/docs/phase1/sections/07-success-criteria.md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Sultan - 50 seconds</a:t>
            </a:r>
          </a:p>
          <a:p xmlns:a="http://schemas.openxmlformats.org/drawingml/2006/main">
            <a:r>
              <a:t/>
            </a:r>
          </a:p>
          <a:p xmlns:a="http://schemas.openxmlformats.org/drawingml/2006/main">
            <a:r>
              <a:t>Our next step is the feasibility study. Ghith will evaluate two AI providers and propose the technology stack and hosting. Zayed will draft the feasibility document and plan the stakeholder validation. I will coordinate the work and the backend dependencies, and we will review the choices together. We chose short work cycles within the course milestones so we can check uncertain choices early and adjust. After feasibility, we refine the requirements, design the system and implement it. The plan includes a hosted draft, testing, and a final deployed application with setup instructions. That is how we will turn our Phase One decisions into a working prototype.</a:t>
            </a:r>
          </a:p>
          <a:p xmlns:a="http://schemas.openxmlformats.org/drawingml/2006/main">
            <a:r>
              <a:t/>
            </a:r>
          </a:p>
          <a:p xmlns:a="http://schemas.openxmlformats.org/drawingml/2006/main">
            <a:r>
              <a:t>Proposed ownership and next steps, not completed feasibility work. AI-provider comparison comes from risk R1. Framework, relational database, AI/embedding API and host are unchosen. Hosting selected in Phase 2, initial hosted draft in Phase 6, final HTTPS URL/restart instructions in Phase 8. Ghith leads deployment with Sultan supporting configuration/integration. Dates remain provisional because course documents differ. Team timing: Sultan slides 1 and 6, Zayed 2 and 3, Ghith 4 and 5. Each 100 seconds, total 300 seconds.</a:t>
            </a:r>
          </a:p>
          <a:p xmlns:a="http://schemas.openxmlformats.org/drawingml/2006/main">
            <a:r>
              <a:t/>
            </a:r>
          </a:p>
          <a:p xmlns:a="http://schemas.openxmlformats.org/drawingml/2006/main">
            <a:r>
              <a:t>Sources:</a:t>
            </a:r>
          </a:p>
          <a:p xmlns:a="http://schemas.openxmlformats.org/drawingml/2006/main">
            <a:r>
              <a:t>https://github.com/duqins/ITS/blob/main/docs/phase1/sections/08-project-plan.md</a:t>
            </a:r>
          </a:p>
          <a:p xmlns:a="http://schemas.openxmlformats.org/drawingml/2006/main">
            <a:r>
              <a:t>https://github.com/duqins/ITS/blob/main/docs/phase1/sections/07-success-criteria.md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92a3ce4cba42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4dfe33b1e04c2d" /><Relationship Type="http://schemas.openxmlformats.org/officeDocument/2006/relationships/slideLayout" Target="/ppt/slideLayouts/slideLayout1.xml" Id="R7a2418248d744f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2418248d744f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a8aa314eb94378" /><Relationship Type="http://schemas.openxmlformats.org/officeDocument/2006/relationships/image" Target="/ppt/media/image.jpeg" Id="R79ebd1c319294e10" /><Relationship Type="http://schemas.openxmlformats.org/officeDocument/2006/relationships/notesSlide" Target="/ppt/notesSlides/notesSlide1.xml" Id="R8f08a5fe4a4d40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76b06663f349a7" /><Relationship Type="http://schemas.openxmlformats.org/officeDocument/2006/relationships/notesSlide" Target="/ppt/notesSlides/notesSlide2.xml" Id="R9879915bda5d41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d592a6b464458b" /><Relationship Type="http://schemas.openxmlformats.org/officeDocument/2006/relationships/notesSlide" Target="/ppt/notesSlides/notesSlide3.xml" Id="R34ae7dfefc4e4a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97b81216044a60" /><Relationship Type="http://schemas.openxmlformats.org/officeDocument/2006/relationships/notesSlide" Target="/ppt/notesSlides/notesSlide4.xml" Id="Rb1e13726115f4d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b5d40d8865444a" /><Relationship Type="http://schemas.openxmlformats.org/officeDocument/2006/relationships/notesSlide" Target="/ppt/notesSlides/notesSlide5.xml" Id="R387fed6f59ba40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b09b9ba4cc463d" /><Relationship Type="http://schemas.openxmlformats.org/officeDocument/2006/relationships/notesSlide" Target="/ppt/notesSlides/notesSlide6.xml" Id="R62d4c321189943b2"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project-label">
            <a:extLst xmlns:a="http://schemas.openxmlformats.org/drawingml/2006/main">
              <a:ext uri="{FF2B5EF4-FFF2-40B4-BE49-F238E27FC236}">
                <a16:creationId xmlns:a16="http://schemas.microsoft.com/office/drawing/2014/main" id="{CDE87D20-A765-46C3-835F-CBC7F14AB7D4}"/>
              </a:ext>
            </a:extLst>
          </p:cNvPr>
          <p:cNvSpPr>
            <a:spLocks xmlns:a="http://schemas.openxmlformats.org/drawingml/2006/main" noGrp="1"/>
          </p:cNvSpPr>
          <p:nvPr/>
        </p:nvSpPr>
        <p:spPr>
          <a:xfrm xmlns:a="http://schemas.openxmlformats.org/drawingml/2006/main">
            <a:off x="685800" y="6858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746D"/>
                </a:solidFill>
                <a:latin typeface="Arial"/>
                <a:ea typeface="Arial"/>
                <a:cs typeface="Arial"/>
              </a:defRPr>
            </a:pPr>
            <a:r>
              <a:rPr sz="2100" b="0">
                <a:solidFill>
                  <a:srgbClr val="26746D"/>
                </a:solidFill>
                <a:latin typeface="Arial"/>
                <a:ea typeface="Arial"/>
                <a:cs typeface="Arial"/>
              </a:rPr>
              <a:t>Campus Resource Exchange</a:t>
            </a:r>
          </a:p>
        </p:txBody>
      </p:sp>
      <p:sp>
        <p:nvSpPr>
          <p:cNvPr id="2" name="cover-title">
            <a:extLst xmlns:a="http://schemas.openxmlformats.org/drawingml/2006/main">
              <a:ext uri="{FF2B5EF4-FFF2-40B4-BE49-F238E27FC236}">
                <a16:creationId xmlns:a16="http://schemas.microsoft.com/office/drawing/2014/main" id="{0C6D1AB5-73E4-4260-A396-46E3FF5C2EF9}"/>
              </a:ext>
            </a:extLst>
          </p:cNvPr>
          <p:cNvSpPr>
            <a:spLocks xmlns:a="http://schemas.openxmlformats.org/drawingml/2006/main" noGrp="1"/>
          </p:cNvSpPr>
          <p:nvPr/>
        </p:nvSpPr>
        <p:spPr>
          <a:xfrm xmlns:a="http://schemas.openxmlformats.org/drawingml/2006/main">
            <a:off x="685800" y="1438275"/>
            <a:ext cx="62388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343C"/>
                </a:solidFill>
                <a:latin typeface="Arial"/>
                <a:ea typeface="Arial"/>
                <a:cs typeface="Arial"/>
              </a:defRPr>
            </a:pPr>
            <a:r>
              <a:rPr sz="4500" b="1">
                <a:solidFill>
                  <a:srgbClr val="17343C"/>
                </a:solidFill>
                <a:latin typeface="Arial"/>
                <a:ea typeface="Arial"/>
                <a:cs typeface="Arial"/>
              </a:rPr>
              <a:t>Our scope</a:t>
            </a:r>
          </a:p>
          <a:p xmlns:a="http://schemas.openxmlformats.org/drawingml/2006/main">
            <a:pPr algn="l">
              <a:defRPr sz="4500" b="1">
                <a:solidFill>
                  <a:srgbClr val="17343C"/>
                </a:solidFill>
                <a:latin typeface="Arial"/>
                <a:ea typeface="Arial"/>
                <a:cs typeface="Arial"/>
              </a:defRPr>
            </a:pPr>
            <a:r>
              <a:rPr sz="4500" b="1">
                <a:solidFill>
                  <a:srgbClr val="17343C"/>
                </a:solidFill>
                <a:latin typeface="Arial"/>
                <a:ea typeface="Arial"/>
                <a:cs typeface="Arial"/>
              </a:rPr>
              <a:t>and priorities</a:t>
            </a:r>
          </a:p>
        </p:txBody>
      </p:sp>
      <p:sp>
        <p:nvSpPr>
          <p:cNvPr id="3" name="scope">
            <a:extLst xmlns:a="http://schemas.openxmlformats.org/drawingml/2006/main">
              <a:ext uri="{FF2B5EF4-FFF2-40B4-BE49-F238E27FC236}">
                <a16:creationId xmlns:a16="http://schemas.microsoft.com/office/drawing/2014/main" id="{6CAF67DD-3307-47FF-96C8-B632C90BC8B9}"/>
              </a:ext>
            </a:extLst>
          </p:cNvPr>
          <p:cNvSpPr>
            <a:spLocks xmlns:a="http://schemas.openxmlformats.org/drawingml/2006/main" noGrp="1"/>
          </p:cNvSpPr>
          <p:nvPr/>
        </p:nvSpPr>
        <p:spPr>
          <a:xfrm xmlns:a="http://schemas.openxmlformats.org/drawingml/2006/main">
            <a:off x="685800" y="328612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343C"/>
                </a:solidFill>
                <a:latin typeface="Arial"/>
                <a:ea typeface="Arial"/>
                <a:cs typeface="Arial"/>
              </a:defRPr>
            </a:pPr>
            <a:r>
              <a:rPr sz="2250" b="1">
                <a:solidFill>
                  <a:srgbClr val="17343C"/>
                </a:solidFill>
                <a:latin typeface="Arial"/>
                <a:ea typeface="Arial"/>
                <a:cs typeface="Arial"/>
              </a:rPr>
              <a:t>Hosted web application</a:t>
            </a:r>
          </a:p>
        </p:txBody>
      </p:sp>
      <p:sp>
        <p:nvSpPr>
          <p:cNvPr id="4" name="priority">
            <a:extLst xmlns:a="http://schemas.openxmlformats.org/drawingml/2006/main">
              <a:ext uri="{FF2B5EF4-FFF2-40B4-BE49-F238E27FC236}">
                <a16:creationId xmlns:a16="http://schemas.microsoft.com/office/drawing/2014/main" id="{F753C79C-E3F2-460C-B573-1287FBA1383D}"/>
              </a:ext>
            </a:extLst>
          </p:cNvPr>
          <p:cNvSpPr>
            <a:spLocks xmlns:a="http://schemas.openxmlformats.org/drawingml/2006/main" noGrp="1"/>
          </p:cNvSpPr>
          <p:nvPr/>
        </p:nvSpPr>
        <p:spPr>
          <a:xfrm xmlns:a="http://schemas.openxmlformats.org/drawingml/2006/main">
            <a:off x="685800" y="39147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Must baseline before planned extensions</a:t>
            </a:r>
          </a:p>
        </p:txBody>
      </p:sp>
      <p:sp>
        <p:nvSpPr>
          <p:cNvPr id="5" name="resources">
            <a:extLst xmlns:a="http://schemas.openxmlformats.org/drawingml/2006/main">
              <a:ext uri="{FF2B5EF4-FFF2-40B4-BE49-F238E27FC236}">
                <a16:creationId xmlns:a16="http://schemas.microsoft.com/office/drawing/2014/main" id="{08F552D2-7B33-48CF-9094-BB17B45E7159}"/>
              </a:ext>
            </a:extLst>
          </p:cNvPr>
          <p:cNvSpPr>
            <a:spLocks xmlns:a="http://schemas.openxmlformats.org/drawingml/2006/main" noGrp="1"/>
          </p:cNvSpPr>
          <p:nvPr/>
        </p:nvSpPr>
        <p:spPr>
          <a:xfrm xmlns:a="http://schemas.openxmlformats.org/drawingml/2006/main">
            <a:off x="685800" y="46101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Free resources and synthetic data</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9ebd1c319294e10"/>
          <a:stretch xmlns:a="http://schemas.openxmlformats.org/drawingml/2006/main"/>
        </p:blipFill>
        <p:spPr>
          <a:xfrm xmlns:a="http://schemas.openxmlformats.org/drawingml/2006/main">
            <a:off x="7200900" y="1466850"/>
            <a:ext cx="4305300" cy="3228975"/>
          </a:xfrm>
          <a:prstGeom xmlns:a="http://schemas.openxmlformats.org/drawingml/2006/main" prst="rect">
            <a:avLst/>
          </a:prstGeom>
        </p:spPr>
      </p:pic>
      <p:sp>
        <p:nvSpPr>
          <p:cNvPr id="7" name="photo-caption">
            <a:extLst xmlns:a="http://schemas.openxmlformats.org/drawingml/2006/main">
              <a:ext uri="{FF2B5EF4-FFF2-40B4-BE49-F238E27FC236}">
                <a16:creationId xmlns:a16="http://schemas.microsoft.com/office/drawing/2014/main" id="{08F95238-A368-40D8-A6DA-A68438CC44BA}"/>
              </a:ext>
            </a:extLst>
          </p:cNvPr>
          <p:cNvSpPr>
            <a:spLocks xmlns:a="http://schemas.openxmlformats.org/drawingml/2006/main" noGrp="1"/>
          </p:cNvSpPr>
          <p:nvPr/>
        </p:nvSpPr>
        <p:spPr>
          <a:xfrm xmlns:a="http://schemas.openxmlformats.org/drawingml/2006/main">
            <a:off x="7200900" y="4829175"/>
            <a:ext cx="430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466"/>
                </a:solidFill>
                <a:latin typeface="Arial"/>
                <a:ea typeface="Arial"/>
                <a:cs typeface="Arial"/>
              </a:defRPr>
            </a:pPr>
            <a:r>
              <a:rPr sz="1350" b="0">
                <a:solidFill>
                  <a:srgbClr val="536466"/>
                </a:solidFill>
                <a:latin typeface="Arial"/>
                <a:ea typeface="Arial"/>
                <a:cs typeface="Arial"/>
              </a:rPr>
              <a:t>Classroom photograph for illustration</a:t>
            </a:r>
          </a:p>
        </p:txBody>
      </p:sp>
      <p:sp>
        <p:nvSpPr>
          <p:cNvPr id="8" name="open-decision">
            <a:extLst xmlns:a="http://schemas.openxmlformats.org/drawingml/2006/main">
              <a:ext uri="{FF2B5EF4-FFF2-40B4-BE49-F238E27FC236}">
                <a16:creationId xmlns:a16="http://schemas.microsoft.com/office/drawing/2014/main" id="{174A1724-1D35-4D6E-8DF0-A08EE147D106}"/>
              </a:ext>
            </a:extLst>
          </p:cNvPr>
          <p:cNvSpPr>
            <a:spLocks xmlns:a="http://schemas.openxmlformats.org/drawingml/2006/main" noGrp="1"/>
          </p:cNvSpPr>
          <p:nvPr/>
        </p:nvSpPr>
        <p:spPr>
          <a:xfrm xmlns:a="http://schemas.openxmlformats.org/drawingml/2006/main">
            <a:off x="685800" y="5572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466"/>
                </a:solidFill>
                <a:latin typeface="Arial"/>
                <a:ea typeface="Arial"/>
                <a:cs typeface="Arial"/>
              </a:defRPr>
            </a:pPr>
            <a:r>
              <a:rPr sz="1875" b="0">
                <a:solidFill>
                  <a:srgbClr val="536466"/>
                </a:solidFill>
                <a:latin typeface="Arial"/>
                <a:ea typeface="Arial"/>
                <a:cs typeface="Arial"/>
              </a:rPr>
              <a:t>Stack, database, AI service and hosting provider: Phase 2 decisions</a:t>
            </a:r>
          </a:p>
        </p:txBody>
      </p:sp>
      <p:sp>
        <p:nvSpPr>
          <p:cNvPr id="9" name="team">
            <a:extLst xmlns:a="http://schemas.openxmlformats.org/drawingml/2006/main">
              <a:ext uri="{FF2B5EF4-FFF2-40B4-BE49-F238E27FC236}">
                <a16:creationId xmlns:a16="http://schemas.microsoft.com/office/drawing/2014/main" id="{7E4ADC7D-7A2A-4279-A989-0EBA0284AC2E}"/>
              </a:ext>
            </a:extLst>
          </p:cNvPr>
          <p:cNvSpPr>
            <a:spLocks xmlns:a="http://schemas.openxmlformats.org/drawingml/2006/main" noGrp="1"/>
          </p:cNvSpPr>
          <p:nvPr/>
        </p:nvSpPr>
        <p:spPr>
          <a:xfrm xmlns:a="http://schemas.openxmlformats.org/drawingml/2006/main">
            <a:off x="685800" y="61531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343C"/>
                </a:solidFill>
                <a:latin typeface="Arial"/>
                <a:ea typeface="Arial"/>
                <a:cs typeface="Arial"/>
              </a:defRPr>
            </a:pPr>
            <a:r>
              <a:rPr sz="1650" b="0">
                <a:solidFill>
                  <a:srgbClr val="17343C"/>
                </a:solidFill>
                <a:latin typeface="Arial"/>
                <a:ea typeface="Arial"/>
                <a:cs typeface="Arial"/>
              </a:rPr>
              <a:t>Group 4   Sultan Almheiri, Zayed Alfadli and Ghith Alhinaai</a:t>
            </a:r>
          </a:p>
        </p:txBody>
      </p:sp>
    </p:spTree>
    <p:extLst>
      <p:ext uri="{BB962C8B-B14F-4D97-AF65-F5344CB8AC3E}">
        <p14:creationId xmlns:p14="http://schemas.microsoft.com/office/powerpoint/2010/main" val="2129965451"/>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226D71C-6F0F-4AF7-9B98-77E7E6F88696}"/>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43C"/>
                </a:solidFill>
                <a:latin typeface="Arial"/>
                <a:ea typeface="Arial"/>
                <a:cs typeface="Arial"/>
              </a:defRPr>
            </a:pPr>
            <a:r>
              <a:rPr sz="3450" b="1">
                <a:solidFill>
                  <a:srgbClr val="17343C"/>
                </a:solidFill>
                <a:latin typeface="Arial"/>
                <a:ea typeface="Arial"/>
                <a:cs typeface="Arial"/>
              </a:rPr>
              <a:t>Who approves each step</a:t>
            </a:r>
          </a:p>
        </p:txBody>
      </p:sp>
      <p:sp>
        <p:nvSpPr>
          <p:cNvPr id="2" name="page-number">
            <a:extLst xmlns:a="http://schemas.openxmlformats.org/drawingml/2006/main">
              <a:ext uri="{FF2B5EF4-FFF2-40B4-BE49-F238E27FC236}">
                <a16:creationId xmlns:a16="http://schemas.microsoft.com/office/drawing/2014/main" id="{DEF66004-1091-463C-B48F-22C1A68DED05}"/>
              </a:ext>
            </a:extLst>
          </p:cNvPr>
          <p:cNvSpPr>
            <a:spLocks xmlns:a="http://schemas.openxmlformats.org/drawingml/2006/main" noGrp="1"/>
          </p:cNvSpPr>
          <p:nvPr/>
        </p:nvSpPr>
        <p:spPr>
          <a:xfrm xmlns:a="http://schemas.openxmlformats.org/drawingml/2006/main">
            <a:off x="11049000" y="63722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466"/>
                </a:solidFill>
                <a:latin typeface="Arial"/>
                <a:ea typeface="Arial"/>
                <a:cs typeface="Arial"/>
              </a:defRPr>
            </a:pPr>
            <a:r>
              <a:rPr sz="1350" b="0">
                <a:solidFill>
                  <a:srgbClr val="536466"/>
                </a:solidFill>
                <a:latin typeface="Arial"/>
                <a:ea typeface="Arial"/>
                <a:cs typeface="Arial"/>
              </a:rPr>
              <a:t>2</a:t>
            </a:r>
          </a:p>
        </p:txBody>
      </p:sp>
      <p:sp>
        <p:nvSpPr>
          <p:cNvPr id="3" name="mapping">
            <a:extLst xmlns:a="http://schemas.openxmlformats.org/drawingml/2006/main">
              <a:ext uri="{FF2B5EF4-FFF2-40B4-BE49-F238E27FC236}">
                <a16:creationId xmlns:a16="http://schemas.microsoft.com/office/drawing/2014/main" id="{A074DDA3-D178-44ED-A4F8-64D834862DE5}"/>
              </a:ext>
            </a:extLst>
          </p:cNvPr>
          <p:cNvSpPr>
            <a:spLocks xmlns:a="http://schemas.openxmlformats.org/drawingml/2006/main" noGrp="1"/>
          </p:cNvSpPr>
          <p:nvPr/>
        </p:nvSpPr>
        <p:spPr>
          <a:xfrm xmlns:a="http://schemas.openxmlformats.org/drawingml/2006/main">
            <a:off x="685800" y="14382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466"/>
                </a:solidFill>
                <a:latin typeface="Arial"/>
                <a:ea typeface="Arial"/>
                <a:cs typeface="Arial"/>
              </a:defRPr>
            </a:pPr>
            <a:r>
              <a:rPr sz="2100" b="0">
                <a:solidFill>
                  <a:srgbClr val="536466"/>
                </a:solidFill>
                <a:latin typeface="Arial"/>
                <a:ea typeface="Arial"/>
                <a:cs typeface="Arial"/>
              </a:rPr>
              <a:t>We mapped 9 system roles to permissions and approval owners</a:t>
            </a:r>
          </a:p>
        </p:txBody>
      </p:sp>
      <p:graphicFrame>
        <p:nvGraphicFramePr>
          <p:cNvPr id="9" name=""/>
          <p:cNvGraphicFramePr/>
          <p:nvPr/>
        </p:nvGraphicFramePr>
        <p:xfrm>
          <a:off xmlns:a="http://schemas.openxmlformats.org/drawingml/2006/main" x="685800" y="2190750"/>
          <a:ext xmlns:a="http://schemas.openxmlformats.org/drawingml/2006/main" cx="10820400" cy="2895600"/>
        </p:xfrm>
        <a:graphic xmlns:a="http://schemas.openxmlformats.org/drawingml/2006/main">
          <a:graphicData uri="http://schemas.openxmlformats.org/drawingml/2006/table">
            <a:tbl>
              <a:tblPr firstRow="0" firstCol="0" bandRow="0"/>
              <a:tblGrid>
                <a:gridCol w="4029075"/>
                <a:gridCol w="6791325"/>
              </a:tblGrid>
              <a:tr h="533400">
                <a:tc>
                  <a:txBody>
                    <a:bodyPr lIns="76200" tIns="57150" rIns="114300" bIns="57150">
                      <a:noAutofit/>
                    </a:bodyPr>
                    <a:lstStyle/>
                    <a:p>
                      <a:r>
                        <a:rPr sz="1875" b="1">
                          <a:solidFill>
                            <a:srgbClr val="26746D"/>
                          </a:solidFill>
                          <a:latin typeface="Arial"/>
                          <a:ea typeface="Arial"/>
                          <a:cs typeface="Arial"/>
                        </a:rPr>
                        <a:t>Role</a:t>
                      </a:r>
                    </a:p>
                  </a:txBody>
                  <a:tcPr marL="91440" marR="91440" marT="45720" marB="45720" anchor="ctr">
                    <a:solidFill>
                      <a:srgbClr val="FAFAF7"/>
                    </a:solidFill>
                  </a:tcPr>
                </a:tc>
                <a:tc>
                  <a:txBody>
                    <a:bodyPr lIns="76200" tIns="57150" rIns="114300" bIns="57150">
                      <a:noAutofit/>
                    </a:bodyPr>
                    <a:lstStyle/>
                    <a:p>
                      <a:r>
                        <a:rPr sz="1875" b="1">
                          <a:solidFill>
                            <a:srgbClr val="26746D"/>
                          </a:solidFill>
                          <a:latin typeface="Arial"/>
                          <a:ea typeface="Arial"/>
                          <a:cs typeface="Arial"/>
                        </a:rPr>
                        <a:t>Defined responsibility</a:t>
                      </a:r>
                    </a:p>
                  </a:txBody>
                  <a:tcPr marL="91440" marR="91440" marT="45720" marB="45720" anchor="ctr">
                    <a:solidFill>
                      <a:srgbClr val="FAFAF7"/>
                    </a:solidFill>
                  </a:tcPr>
                </a:tc>
              </a:tr>
              <a:tr h="723900">
                <a:tc>
                  <a:txBody>
                    <a:bodyPr lIns="76200" tIns="57150" rIns="114300" bIns="57150">
                      <a:noAutofit/>
                    </a:bodyPr>
                    <a:lstStyle/>
                    <a:p>
                      <a:r>
                        <a:rPr sz="2025" b="0">
                          <a:solidFill>
                            <a:srgbClr val="17343C"/>
                          </a:solidFill>
                          <a:latin typeface="Arial"/>
                          <a:ea typeface="Arial"/>
                          <a:cs typeface="Arial"/>
                        </a:rPr>
                        <a:t>Asset custodian</a:t>
                      </a:r>
                    </a:p>
                  </a:txBody>
                  <a:tcPr marL="91440" marR="91440" marT="45720" marB="45720" anchor="ctr">
                    <a:solidFill>
                      <a:srgbClr val="FAFAF7"/>
                    </a:solidFill>
                  </a:tcPr>
                </a:tc>
                <a:tc>
                  <a:txBody>
                    <a:bodyPr lIns="76200" tIns="57150" rIns="114300" bIns="57150">
                      <a:noAutofit/>
                    </a:bodyPr>
                    <a:lstStyle/>
                    <a:p>
                      <a:r>
                        <a:rPr sz="2025" b="0">
                          <a:solidFill>
                            <a:srgbClr val="17343C"/>
                          </a:solidFill>
                          <a:latin typeface="Arial"/>
                          <a:ea typeface="Arial"/>
                          <a:cs typeface="Arial"/>
                        </a:rPr>
                        <a:t>Maintain the record and confirm handover</a:t>
                      </a:r>
                    </a:p>
                  </a:txBody>
                  <a:tcPr marL="91440" marR="91440" marT="45720" marB="45720" anchor="ctr">
                    <a:solidFill>
                      <a:srgbClr val="FAFAF7"/>
                    </a:solidFill>
                  </a:tcPr>
                </a:tc>
              </a:tr>
              <a:tr h="723900">
                <a:tc>
                  <a:txBody>
                    <a:bodyPr lIns="76200" tIns="57150" rIns="114300" bIns="57150">
                      <a:noAutofit/>
                    </a:bodyPr>
                    <a:lstStyle/>
                    <a:p>
                      <a:r>
                        <a:rPr sz="2025" b="0">
                          <a:solidFill>
                            <a:srgbClr val="17343C"/>
                          </a:solidFill>
                          <a:latin typeface="Arial"/>
                          <a:ea typeface="Arial"/>
                          <a:cs typeface="Arial"/>
                        </a:rPr>
                        <a:t>Department representatives</a:t>
                      </a:r>
                    </a:p>
                  </a:txBody>
                  <a:tcPr marL="91440" marR="91440" marT="45720" marB="45720" anchor="ctr">
                    <a:solidFill>
                      <a:srgbClr val="FAFAF7"/>
                    </a:solidFill>
                  </a:tcPr>
                </a:tc>
                <a:tc>
                  <a:txBody>
                    <a:bodyPr lIns="76200" tIns="57150" rIns="114300" bIns="57150">
                      <a:noAutofit/>
                    </a:bodyPr>
                    <a:lstStyle/>
                    <a:p>
                      <a:r>
                        <a:rPr sz="2025" b="0">
                          <a:solidFill>
                            <a:srgbClr val="17343C"/>
                          </a:solidFill>
                          <a:latin typeface="Arial"/>
                          <a:ea typeface="Arial"/>
                          <a:cs typeface="Arial"/>
                        </a:rPr>
                        <a:t>Approve release and receipt</a:t>
                      </a:r>
                    </a:p>
                  </a:txBody>
                  <a:tcPr marL="91440" marR="91440" marT="45720" marB="45720" anchor="ctr">
                    <a:solidFill>
                      <a:srgbClr val="FAFAF7"/>
                    </a:solidFill>
                  </a:tcPr>
                </a:tc>
              </a:tr>
              <a:tr h="914400">
                <a:tc>
                  <a:txBody>
                    <a:bodyPr lIns="76200" tIns="57150" rIns="114300" bIns="57150">
                      <a:noAutofit/>
                    </a:bodyPr>
                    <a:lstStyle/>
                    <a:p>
                      <a:r>
                        <a:rPr sz="2025" b="0">
                          <a:solidFill>
                            <a:srgbClr val="17343C"/>
                          </a:solidFill>
                          <a:latin typeface="Arial"/>
                          <a:ea typeface="Arial"/>
                          <a:cs typeface="Arial"/>
                        </a:rPr>
                        <a:t>System administrator</a:t>
                      </a:r>
                    </a:p>
                  </a:txBody>
                  <a:tcPr marL="91440" marR="91440" marT="45720" marB="45720" anchor="ctr">
                    <a:solidFill>
                      <a:srgbClr val="FAFAF7"/>
                    </a:solidFill>
                  </a:tcPr>
                </a:tc>
                <a:tc>
                  <a:txBody>
                    <a:bodyPr lIns="76200" tIns="57150" rIns="114300" bIns="57150">
                      <a:noAutofit/>
                    </a:bodyPr>
                    <a:lstStyle/>
                    <a:p>
                      <a:r>
                        <a:rPr sz="2025" b="0">
                          <a:solidFill>
                            <a:srgbClr val="17343C"/>
                          </a:solidFill>
                          <a:latin typeface="Arial"/>
                          <a:ea typeface="Arial"/>
                          <a:cs typeface="Arial"/>
                        </a:rPr>
                        <a:t>Manage technical access, without automatic</a:t>
                      </a:r>
                    </a:p>
                    <a:p>
                      <a:r>
                        <a:rPr sz="2025" b="0">
                          <a:solidFill>
                            <a:srgbClr val="17343C"/>
                          </a:solidFill>
                          <a:latin typeface="Arial"/>
                          <a:ea typeface="Arial"/>
                          <a:cs typeface="Arial"/>
                        </a:rPr>
                        <a:t>business approval rights</a:t>
                      </a:r>
                    </a:p>
                  </a:txBody>
                  <a:tcPr marL="91440" marR="91440" marT="45720" marB="45720" anchor="ctr">
                    <a:solidFill>
                      <a:srgbClr val="FAFAF7"/>
                    </a:solidFill>
                  </a:tcPr>
                </a:tc>
              </a:tr>
            </a:tbl>
          </a:graphicData>
        </a:graphic>
      </p:graphicFrame>
      <p:sp>
        <p:nvSpPr>
          <p:cNvPr id="5" name="open-rules">
            <a:extLst xmlns:a="http://schemas.openxmlformats.org/drawingml/2006/main">
              <a:ext uri="{FF2B5EF4-FFF2-40B4-BE49-F238E27FC236}">
                <a16:creationId xmlns:a16="http://schemas.microsoft.com/office/drawing/2014/main" id="{6BC35503-95EF-4224-9BC9-94DA7DAA826B}"/>
              </a:ext>
            </a:extLst>
          </p:cNvPr>
          <p:cNvSpPr>
            <a:spLocks xmlns:a="http://schemas.openxmlformats.org/drawingml/2006/main" noGrp="1"/>
          </p:cNvSpPr>
          <p:nvPr/>
        </p:nvSpPr>
        <p:spPr>
          <a:xfrm xmlns:a="http://schemas.openxmlformats.org/drawingml/2006/main">
            <a:off x="685800" y="54483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Client confirmation needed: financial thresholds and the final</a:t>
            </a:r>
          </a:p>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approval sequence for donation, recycling and disposal</a:t>
            </a:r>
          </a:p>
        </p:txBody>
      </p:sp>
    </p:spTree>
    <p:extLst>
      <p:ext uri="{BB962C8B-B14F-4D97-AF65-F5344CB8AC3E}">
        <p14:creationId xmlns:p14="http://schemas.microsoft.com/office/powerpoint/2010/main" val="27573420"/>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373D7018-5DDB-4645-BE3C-8CDB9BF4667B}"/>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43C"/>
                </a:solidFill>
                <a:latin typeface="Arial"/>
                <a:ea typeface="Arial"/>
                <a:cs typeface="Arial"/>
              </a:defRPr>
            </a:pPr>
            <a:r>
              <a:rPr sz="3450" b="1">
                <a:solidFill>
                  <a:srgbClr val="17343C"/>
                </a:solidFill>
                <a:latin typeface="Arial"/>
                <a:ea typeface="Arial"/>
                <a:cs typeface="Arial"/>
              </a:rPr>
              <a:t>What we established in Phase 1</a:t>
            </a:r>
          </a:p>
        </p:txBody>
      </p:sp>
      <p:sp>
        <p:nvSpPr>
          <p:cNvPr id="2" name="page-number">
            <a:extLst xmlns:a="http://schemas.openxmlformats.org/drawingml/2006/main">
              <a:ext uri="{FF2B5EF4-FFF2-40B4-BE49-F238E27FC236}">
                <a16:creationId xmlns:a16="http://schemas.microsoft.com/office/drawing/2014/main" id="{478AB4AA-50DE-4620-AE62-F2FCA46A3736}"/>
              </a:ext>
            </a:extLst>
          </p:cNvPr>
          <p:cNvSpPr>
            <a:spLocks xmlns:a="http://schemas.openxmlformats.org/drawingml/2006/main" noGrp="1"/>
          </p:cNvSpPr>
          <p:nvPr/>
        </p:nvSpPr>
        <p:spPr>
          <a:xfrm xmlns:a="http://schemas.openxmlformats.org/drawingml/2006/main">
            <a:off x="11049000" y="63722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466"/>
                </a:solidFill>
                <a:latin typeface="Arial"/>
                <a:ea typeface="Arial"/>
                <a:cs typeface="Arial"/>
              </a:defRPr>
            </a:pPr>
            <a:r>
              <a:rPr sz="1350" b="0">
                <a:solidFill>
                  <a:srgbClr val="536466"/>
                </a:solidFill>
                <a:latin typeface="Arial"/>
                <a:ea typeface="Arial"/>
                <a:cs typeface="Arial"/>
              </a:rPr>
              <a:t>3</a:t>
            </a:r>
          </a:p>
        </p:txBody>
      </p:sp>
      <p:sp>
        <p:nvSpPr>
          <p:cNvPr id="3" name="count">
            <a:extLst xmlns:a="http://schemas.openxmlformats.org/drawingml/2006/main">
              <a:ext uri="{FF2B5EF4-FFF2-40B4-BE49-F238E27FC236}">
                <a16:creationId xmlns:a16="http://schemas.microsoft.com/office/drawing/2014/main" id="{C01EEF6C-1906-41A9-9D54-16D24FD0A3CF}"/>
              </a:ext>
            </a:extLst>
          </p:cNvPr>
          <p:cNvSpPr>
            <a:spLocks xmlns:a="http://schemas.openxmlformats.org/drawingml/2006/main" noGrp="1"/>
          </p:cNvSpPr>
          <p:nvPr/>
        </p:nvSpPr>
        <p:spPr>
          <a:xfrm xmlns:a="http://schemas.openxmlformats.org/drawingml/2006/main">
            <a:off x="685800" y="2057400"/>
            <a:ext cx="3190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26746D"/>
                </a:solidFill>
                <a:latin typeface="Arial"/>
                <a:ea typeface="Arial"/>
                <a:cs typeface="Arial"/>
              </a:defRPr>
            </a:pPr>
            <a:r>
              <a:rPr sz="7500" b="1">
                <a:solidFill>
                  <a:srgbClr val="26746D"/>
                </a:solidFill>
                <a:latin typeface="Arial"/>
                <a:ea typeface="Arial"/>
                <a:cs typeface="Arial"/>
              </a:rPr>
              <a:t>52</a:t>
            </a:r>
          </a:p>
        </p:txBody>
      </p:sp>
      <p:sp>
        <p:nvSpPr>
          <p:cNvPr id="4" name="count-label">
            <a:extLst xmlns:a="http://schemas.openxmlformats.org/drawingml/2006/main">
              <a:ext uri="{FF2B5EF4-FFF2-40B4-BE49-F238E27FC236}">
                <a16:creationId xmlns:a16="http://schemas.microsoft.com/office/drawing/2014/main" id="{AE4260E5-3948-4AD6-9D47-64B6C5482A1E}"/>
              </a:ext>
            </a:extLst>
          </p:cNvPr>
          <p:cNvSpPr>
            <a:spLocks xmlns:a="http://schemas.openxmlformats.org/drawingml/2006/main" noGrp="1"/>
          </p:cNvSpPr>
          <p:nvPr/>
        </p:nvSpPr>
        <p:spPr>
          <a:xfrm xmlns:a="http://schemas.openxmlformats.org/drawingml/2006/main">
            <a:off x="685800" y="3400425"/>
            <a:ext cx="3962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343C"/>
                </a:solidFill>
                <a:latin typeface="Arial"/>
                <a:ea typeface="Arial"/>
                <a:cs typeface="Arial"/>
              </a:defRPr>
            </a:pPr>
            <a:r>
              <a:rPr sz="2250" b="1">
                <a:solidFill>
                  <a:srgbClr val="17343C"/>
                </a:solidFill>
                <a:latin typeface="Arial"/>
                <a:ea typeface="Arial"/>
                <a:cs typeface="Arial"/>
              </a:rPr>
              <a:t>initial requirements</a:t>
            </a:r>
          </a:p>
        </p:txBody>
      </p:sp>
      <p:sp>
        <p:nvSpPr>
          <p:cNvPr id="5" name="priorities">
            <a:extLst xmlns:a="http://schemas.openxmlformats.org/drawingml/2006/main">
              <a:ext uri="{FF2B5EF4-FFF2-40B4-BE49-F238E27FC236}">
                <a16:creationId xmlns:a16="http://schemas.microsoft.com/office/drawing/2014/main" id="{03759676-1029-4382-B7A5-0793FDFA6D8D}"/>
              </a:ext>
            </a:extLst>
          </p:cNvPr>
          <p:cNvSpPr>
            <a:spLocks xmlns:a="http://schemas.openxmlformats.org/drawingml/2006/main" noGrp="1"/>
          </p:cNvSpPr>
          <p:nvPr/>
        </p:nvSpPr>
        <p:spPr>
          <a:xfrm xmlns:a="http://schemas.openxmlformats.org/drawingml/2006/main">
            <a:off x="685800" y="40576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47 Must and 5 Should</a:t>
            </a:r>
          </a:p>
        </p:txBody>
      </p:sp>
      <p:sp>
        <p:nvSpPr>
          <p:cNvPr id="6" name="completed-label">
            <a:extLst xmlns:a="http://schemas.openxmlformats.org/drawingml/2006/main">
              <a:ext uri="{FF2B5EF4-FFF2-40B4-BE49-F238E27FC236}">
                <a16:creationId xmlns:a16="http://schemas.microsoft.com/office/drawing/2014/main" id="{839F8C82-DC4D-47BD-B262-F79D06CF877E}"/>
              </a:ext>
            </a:extLst>
          </p:cNvPr>
          <p:cNvSpPr>
            <a:spLocks xmlns:a="http://schemas.openxmlformats.org/drawingml/2006/main" noGrp="1"/>
          </p:cNvSpPr>
          <p:nvPr/>
        </p:nvSpPr>
        <p:spPr>
          <a:xfrm xmlns:a="http://schemas.openxmlformats.org/drawingml/2006/main">
            <a:off x="5553075" y="1819275"/>
            <a:ext cx="595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Completed</a:t>
            </a:r>
          </a:p>
        </p:txBody>
      </p:sp>
      <p:sp>
        <p:nvSpPr>
          <p:cNvPr id="7" name="completed">
            <a:extLst xmlns:a="http://schemas.openxmlformats.org/drawingml/2006/main">
              <a:ext uri="{FF2B5EF4-FFF2-40B4-BE49-F238E27FC236}">
                <a16:creationId xmlns:a16="http://schemas.microsoft.com/office/drawing/2014/main" id="{39F69EF6-C6CF-46F7-86EF-B43860CE212B}"/>
              </a:ext>
            </a:extLst>
          </p:cNvPr>
          <p:cNvSpPr>
            <a:spLocks xmlns:a="http://schemas.openxmlformats.org/drawingml/2006/main" noGrp="1"/>
          </p:cNvSpPr>
          <p:nvPr/>
        </p:nvSpPr>
        <p:spPr>
          <a:xfrm xmlns:a="http://schemas.openxmlformats.org/drawingml/2006/main">
            <a:off x="5553075" y="2466975"/>
            <a:ext cx="5953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Course document analysis</a:t>
            </a:r>
          </a:p>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Desk walkthrough of the process</a:t>
            </a:r>
          </a:p>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Numbered requirements and priorities</a:t>
            </a:r>
          </a:p>
        </p:txBody>
      </p:sp>
      <p:sp>
        <p:nvSpPr>
          <p:cNvPr id="8" name="planned-label">
            <a:extLst xmlns:a="http://schemas.openxmlformats.org/drawingml/2006/main">
              <a:ext uri="{FF2B5EF4-FFF2-40B4-BE49-F238E27FC236}">
                <a16:creationId xmlns:a16="http://schemas.microsoft.com/office/drawing/2014/main" id="{D9005555-4FDE-4419-A212-DBB725C9D212}"/>
              </a:ext>
            </a:extLst>
          </p:cNvPr>
          <p:cNvSpPr>
            <a:spLocks xmlns:a="http://schemas.openxmlformats.org/drawingml/2006/main" noGrp="1"/>
          </p:cNvSpPr>
          <p:nvPr/>
        </p:nvSpPr>
        <p:spPr>
          <a:xfrm xmlns:a="http://schemas.openxmlformats.org/drawingml/2006/main">
            <a:off x="5553075" y="4295775"/>
            <a:ext cx="595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Validation next</a:t>
            </a:r>
          </a:p>
        </p:txBody>
      </p:sp>
      <p:sp>
        <p:nvSpPr>
          <p:cNvPr id="9" name="planned">
            <a:extLst xmlns:a="http://schemas.openxmlformats.org/drawingml/2006/main">
              <a:ext uri="{FF2B5EF4-FFF2-40B4-BE49-F238E27FC236}">
                <a16:creationId xmlns:a16="http://schemas.microsoft.com/office/drawing/2014/main" id="{A9A32016-14B3-4484-AF50-5025BFFD5EB5}"/>
              </a:ext>
            </a:extLst>
          </p:cNvPr>
          <p:cNvSpPr>
            <a:spLocks xmlns:a="http://schemas.openxmlformats.org/drawingml/2006/main" noGrp="1"/>
          </p:cNvSpPr>
          <p:nvPr/>
        </p:nvSpPr>
        <p:spPr>
          <a:xfrm xmlns:a="http://schemas.openxmlformats.org/drawingml/2006/main">
            <a:off x="5553075" y="4933950"/>
            <a:ext cx="5953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Interviews, survey and a process workshop</a:t>
            </a:r>
          </a:p>
        </p:txBody>
      </p:sp>
      <p:sp>
        <p:nvSpPr>
          <p:cNvPr id="10" name="categories">
            <a:extLst xmlns:a="http://schemas.openxmlformats.org/drawingml/2006/main">
              <a:ext uri="{FF2B5EF4-FFF2-40B4-BE49-F238E27FC236}">
                <a16:creationId xmlns:a16="http://schemas.microsoft.com/office/drawing/2014/main" id="{EF195C1B-22C3-4A9B-A47A-DABA896B2AE3}"/>
              </a:ext>
            </a:extLst>
          </p:cNvPr>
          <p:cNvSpPr>
            <a:spLocks xmlns:a="http://schemas.openxmlformats.org/drawingml/2006/main" noGrp="1"/>
          </p:cNvSpPr>
          <p:nvPr/>
        </p:nvSpPr>
        <p:spPr>
          <a:xfrm xmlns:a="http://schemas.openxmlformats.org/drawingml/2006/main">
            <a:off x="685800" y="60007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66"/>
                </a:solidFill>
                <a:latin typeface="Arial"/>
                <a:ea typeface="Arial"/>
                <a:cs typeface="Arial"/>
              </a:defRPr>
            </a:pPr>
            <a:r>
              <a:rPr sz="1725" b="0">
                <a:solidFill>
                  <a:srgbClr val="536466"/>
                </a:solidFill>
                <a:latin typeface="Arial"/>
                <a:ea typeface="Arial"/>
                <a:cs typeface="Arial"/>
              </a:rPr>
              <a:t>18 classic functional, 13 AI, 8 sustainability and 13 non-functional requirements</a:t>
            </a:r>
          </a:p>
        </p:txBody>
      </p:sp>
    </p:spTree>
    <p:extLst>
      <p:ext uri="{BB962C8B-B14F-4D97-AF65-F5344CB8AC3E}">
        <p14:creationId xmlns:p14="http://schemas.microsoft.com/office/powerpoint/2010/main" val="731583401"/>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6FA9382-6924-4D85-ACB3-E1478BC21046}"/>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43C"/>
                </a:solidFill>
                <a:latin typeface="Arial"/>
                <a:ea typeface="Arial"/>
                <a:cs typeface="Arial"/>
              </a:defRPr>
            </a:pPr>
            <a:r>
              <a:rPr sz="3450" b="1">
                <a:solidFill>
                  <a:srgbClr val="17343C"/>
                </a:solidFill>
                <a:latin typeface="Arial"/>
                <a:ea typeface="Arial"/>
                <a:cs typeface="Arial"/>
              </a:rPr>
              <a:t>Our AI matching approach</a:t>
            </a:r>
          </a:p>
        </p:txBody>
      </p:sp>
      <p:sp>
        <p:nvSpPr>
          <p:cNvPr id="2" name="page-number">
            <a:extLst xmlns:a="http://schemas.openxmlformats.org/drawingml/2006/main">
              <a:ext uri="{FF2B5EF4-FFF2-40B4-BE49-F238E27FC236}">
                <a16:creationId xmlns:a16="http://schemas.microsoft.com/office/drawing/2014/main" id="{497DD343-FA2C-4405-9623-FDC7616EF4DB}"/>
              </a:ext>
            </a:extLst>
          </p:cNvPr>
          <p:cNvSpPr>
            <a:spLocks xmlns:a="http://schemas.openxmlformats.org/drawingml/2006/main" noGrp="1"/>
          </p:cNvSpPr>
          <p:nvPr/>
        </p:nvSpPr>
        <p:spPr>
          <a:xfrm xmlns:a="http://schemas.openxmlformats.org/drawingml/2006/main">
            <a:off x="11049000" y="63722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466"/>
                </a:solidFill>
                <a:latin typeface="Arial"/>
                <a:ea typeface="Arial"/>
                <a:cs typeface="Arial"/>
              </a:defRPr>
            </a:pPr>
            <a:r>
              <a:rPr sz="1350" b="0">
                <a:solidFill>
                  <a:srgbClr val="536466"/>
                </a:solidFill>
                <a:latin typeface="Arial"/>
                <a:ea typeface="Arial"/>
                <a:cs typeface="Arial"/>
              </a:rPr>
              <a:t>4</a:t>
            </a:r>
          </a:p>
        </p:txBody>
      </p:sp>
      <p:sp>
        <p:nvSpPr>
          <p:cNvPr id="3" name="step-0">
            <a:extLst xmlns:a="http://schemas.openxmlformats.org/drawingml/2006/main">
              <a:ext uri="{FF2B5EF4-FFF2-40B4-BE49-F238E27FC236}">
                <a16:creationId xmlns:a16="http://schemas.microsoft.com/office/drawing/2014/main" id="{26103332-3B7C-4390-8261-38E8E0369280}"/>
              </a:ext>
            </a:extLst>
          </p:cNvPr>
          <p:cNvSpPr>
            <a:spLocks xmlns:a="http://schemas.openxmlformats.org/drawingml/2006/main" noGrp="1"/>
          </p:cNvSpPr>
          <p:nvPr/>
        </p:nvSpPr>
        <p:spPr>
          <a:xfrm xmlns:a="http://schemas.openxmlformats.org/drawingml/2006/main">
            <a:off x="685800" y="1676400"/>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Eligibility first</a:t>
            </a:r>
          </a:p>
        </p:txBody>
      </p:sp>
      <p:sp>
        <p:nvSpPr>
          <p:cNvPr id="4" name="detail-0">
            <a:extLst xmlns:a="http://schemas.openxmlformats.org/drawingml/2006/main">
              <a:ext uri="{FF2B5EF4-FFF2-40B4-BE49-F238E27FC236}">
                <a16:creationId xmlns:a16="http://schemas.microsoft.com/office/drawing/2014/main" id="{5503219B-9545-4642-B141-F9C5DF8838B2}"/>
              </a:ext>
            </a:extLst>
          </p:cNvPr>
          <p:cNvSpPr>
            <a:spLocks xmlns:a="http://schemas.openxmlformats.org/drawingml/2006/main" noGrp="1"/>
          </p:cNvSpPr>
          <p:nvPr/>
        </p:nvSpPr>
        <p:spPr>
          <a:xfrm xmlns:a="http://schemas.openxmlformats.org/drawingml/2006/main">
            <a:off x="4476750" y="1676400"/>
            <a:ext cx="702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Check permissions, quantity, specifications</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and required dates</a:t>
            </a:r>
          </a:p>
        </p:txBody>
      </p:sp>
      <p:sp>
        <p:nvSpPr>
          <p:cNvPr id="5" name="step-1">
            <a:extLst xmlns:a="http://schemas.openxmlformats.org/drawingml/2006/main">
              <a:ext uri="{FF2B5EF4-FFF2-40B4-BE49-F238E27FC236}">
                <a16:creationId xmlns:a16="http://schemas.microsoft.com/office/drawing/2014/main" id="{6061B702-AFDF-4745-AF64-98D0EF55FA70}"/>
              </a:ext>
            </a:extLst>
          </p:cNvPr>
          <p:cNvSpPr>
            <a:spLocks xmlns:a="http://schemas.openxmlformats.org/drawingml/2006/main" noGrp="1"/>
          </p:cNvSpPr>
          <p:nvPr/>
        </p:nvSpPr>
        <p:spPr>
          <a:xfrm xmlns:a="http://schemas.openxmlformats.org/drawingml/2006/main">
            <a:off x="685800" y="2733675"/>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Then AI ranking</a:t>
            </a:r>
          </a:p>
        </p:txBody>
      </p:sp>
      <p:sp>
        <p:nvSpPr>
          <p:cNvPr id="6" name="detail-1">
            <a:extLst xmlns:a="http://schemas.openxmlformats.org/drawingml/2006/main">
              <a:ext uri="{FF2B5EF4-FFF2-40B4-BE49-F238E27FC236}">
                <a16:creationId xmlns:a16="http://schemas.microsoft.com/office/drawing/2014/main" id="{F409C28B-2982-40AA-9F42-0BFBAED7A7F1}"/>
              </a:ext>
            </a:extLst>
          </p:cNvPr>
          <p:cNvSpPr>
            <a:spLocks xmlns:a="http://schemas.openxmlformats.org/drawingml/2006/main" noGrp="1"/>
          </p:cNvSpPr>
          <p:nvPr/>
        </p:nvSpPr>
        <p:spPr>
          <a:xfrm xmlns:a="http://schemas.openxmlformats.org/drawingml/2006/main">
            <a:off x="4476750" y="2733675"/>
            <a:ext cx="702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Rank eligible candidates and explain</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why each item was suggested</a:t>
            </a:r>
          </a:p>
        </p:txBody>
      </p:sp>
      <p:sp>
        <p:nvSpPr>
          <p:cNvPr id="7" name="step-2">
            <a:extLst xmlns:a="http://schemas.openxmlformats.org/drawingml/2006/main">
              <a:ext uri="{FF2B5EF4-FFF2-40B4-BE49-F238E27FC236}">
                <a16:creationId xmlns:a16="http://schemas.microsoft.com/office/drawing/2014/main" id="{21EC5514-4AA5-4115-8857-DD9E0BAB6747}"/>
              </a:ext>
            </a:extLst>
          </p:cNvPr>
          <p:cNvSpPr>
            <a:spLocks xmlns:a="http://schemas.openxmlformats.org/drawingml/2006/main" noGrp="1"/>
          </p:cNvSpPr>
          <p:nvPr/>
        </p:nvSpPr>
        <p:spPr>
          <a:xfrm xmlns:a="http://schemas.openxmlformats.org/drawingml/2006/main">
            <a:off x="685800" y="3790950"/>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Human decision</a:t>
            </a:r>
          </a:p>
        </p:txBody>
      </p:sp>
      <p:sp>
        <p:nvSpPr>
          <p:cNvPr id="8" name="detail-2">
            <a:extLst xmlns:a="http://schemas.openxmlformats.org/drawingml/2006/main">
              <a:ext uri="{FF2B5EF4-FFF2-40B4-BE49-F238E27FC236}">
                <a16:creationId xmlns:a16="http://schemas.microsoft.com/office/drawing/2014/main" id="{22E08BA1-5D50-442B-9A9A-0926094246A4}"/>
              </a:ext>
            </a:extLst>
          </p:cNvPr>
          <p:cNvSpPr>
            <a:spLocks xmlns:a="http://schemas.openxmlformats.org/drawingml/2006/main" noGrp="1"/>
          </p:cNvSpPr>
          <p:nvPr/>
        </p:nvSpPr>
        <p:spPr>
          <a:xfrm xmlns:a="http://schemas.openxmlformats.org/drawingml/2006/main">
            <a:off x="4476750" y="3790950"/>
            <a:ext cx="702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Users choose an eligible option and</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follow the normal approval workflow</a:t>
            </a:r>
          </a:p>
        </p:txBody>
      </p:sp>
      <p:sp>
        <p:nvSpPr>
          <p:cNvPr id="9" name="step-3">
            <a:extLst xmlns:a="http://schemas.openxmlformats.org/drawingml/2006/main">
              <a:ext uri="{FF2B5EF4-FFF2-40B4-BE49-F238E27FC236}">
                <a16:creationId xmlns:a16="http://schemas.microsoft.com/office/drawing/2014/main" id="{E3C86BB1-7AE7-4528-8506-F47BE56CBF4E}"/>
              </a:ext>
            </a:extLst>
          </p:cNvPr>
          <p:cNvSpPr>
            <a:spLocks xmlns:a="http://schemas.openxmlformats.org/drawingml/2006/main" noGrp="1"/>
          </p:cNvSpPr>
          <p:nvPr/>
        </p:nvSpPr>
        <p:spPr>
          <a:xfrm xmlns:a="http://schemas.openxmlformats.org/drawingml/2006/main">
            <a:off x="685800" y="4848225"/>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Classic fallback</a:t>
            </a:r>
          </a:p>
        </p:txBody>
      </p:sp>
      <p:sp>
        <p:nvSpPr>
          <p:cNvPr id="10" name="detail-3">
            <a:extLst xmlns:a="http://schemas.openxmlformats.org/drawingml/2006/main">
              <a:ext uri="{FF2B5EF4-FFF2-40B4-BE49-F238E27FC236}">
                <a16:creationId xmlns:a16="http://schemas.microsoft.com/office/drawing/2014/main" id="{FC106D50-CFE8-4BDF-8B2B-C62F389B78BD}"/>
              </a:ext>
            </a:extLst>
          </p:cNvPr>
          <p:cNvSpPr>
            <a:spLocks xmlns:a="http://schemas.openxmlformats.org/drawingml/2006/main" noGrp="1"/>
          </p:cNvSpPr>
          <p:nvPr/>
        </p:nvSpPr>
        <p:spPr>
          <a:xfrm xmlns:a="http://schemas.openxmlformats.org/drawingml/2006/main">
            <a:off x="4476750" y="4848225"/>
            <a:ext cx="702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Keep entered data and offer keyword</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search when AI is unavailable</a:t>
            </a:r>
          </a:p>
        </p:txBody>
      </p:sp>
    </p:spTree>
    <p:extLst>
      <p:ext uri="{BB962C8B-B14F-4D97-AF65-F5344CB8AC3E}">
        <p14:creationId xmlns:p14="http://schemas.microsoft.com/office/powerpoint/2010/main" val="1253636544"/>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3C58017-2CC5-4889-A06E-1EB54E0C1BD2}"/>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43C"/>
                </a:solidFill>
                <a:latin typeface="Arial"/>
                <a:ea typeface="Arial"/>
                <a:cs typeface="Arial"/>
              </a:defRPr>
            </a:pPr>
            <a:r>
              <a:rPr sz="3450" b="1">
                <a:solidFill>
                  <a:srgbClr val="17343C"/>
                </a:solidFill>
                <a:latin typeface="Arial"/>
                <a:ea typeface="Arial"/>
                <a:cs typeface="Arial"/>
              </a:rPr>
              <a:t>How we will test our choices</a:t>
            </a:r>
          </a:p>
        </p:txBody>
      </p:sp>
      <p:sp>
        <p:nvSpPr>
          <p:cNvPr id="2" name="page-number">
            <a:extLst xmlns:a="http://schemas.openxmlformats.org/drawingml/2006/main">
              <a:ext uri="{FF2B5EF4-FFF2-40B4-BE49-F238E27FC236}">
                <a16:creationId xmlns:a16="http://schemas.microsoft.com/office/drawing/2014/main" id="{94871B75-4725-4F9A-B99D-E3373904B2E8}"/>
              </a:ext>
            </a:extLst>
          </p:cNvPr>
          <p:cNvSpPr>
            <a:spLocks xmlns:a="http://schemas.openxmlformats.org/drawingml/2006/main" noGrp="1"/>
          </p:cNvSpPr>
          <p:nvPr/>
        </p:nvSpPr>
        <p:spPr>
          <a:xfrm xmlns:a="http://schemas.openxmlformats.org/drawingml/2006/main">
            <a:off x="11049000" y="63722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466"/>
                </a:solidFill>
                <a:latin typeface="Arial"/>
                <a:ea typeface="Arial"/>
                <a:cs typeface="Arial"/>
              </a:defRPr>
            </a:pPr>
            <a:r>
              <a:rPr sz="1350" b="0">
                <a:solidFill>
                  <a:srgbClr val="536466"/>
                </a:solidFill>
                <a:latin typeface="Arial"/>
                <a:ea typeface="Arial"/>
                <a:cs typeface="Arial"/>
              </a:rPr>
              <a:t>5</a:t>
            </a:r>
          </a:p>
        </p:txBody>
      </p:sp>
      <p:sp>
        <p:nvSpPr>
          <p:cNvPr id="3" name="prospective">
            <a:extLst xmlns:a="http://schemas.openxmlformats.org/drawingml/2006/main">
              <a:ext uri="{FF2B5EF4-FFF2-40B4-BE49-F238E27FC236}">
                <a16:creationId xmlns:a16="http://schemas.microsoft.com/office/drawing/2014/main" id="{9B96F55A-5D2B-4A8A-B01D-0E6FFD9E8EEB}"/>
              </a:ext>
            </a:extLst>
          </p:cNvPr>
          <p:cNvSpPr>
            <a:spLocks xmlns:a="http://schemas.openxmlformats.org/drawingml/2006/main" noGrp="1"/>
          </p:cNvSpPr>
          <p:nvPr/>
        </p:nvSpPr>
        <p:spPr>
          <a:xfrm xmlns:a="http://schemas.openxmlformats.org/drawingml/2006/main">
            <a:off x="685800" y="14382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6466"/>
                </a:solidFill>
                <a:latin typeface="Arial"/>
                <a:ea typeface="Arial"/>
                <a:cs typeface="Arial"/>
              </a:defRPr>
            </a:pPr>
            <a:r>
              <a:rPr sz="2025" b="0">
                <a:solidFill>
                  <a:srgbClr val="536466"/>
                </a:solidFill>
                <a:latin typeface="Arial"/>
                <a:ea typeface="Arial"/>
                <a:cs typeface="Arial"/>
              </a:rPr>
              <a:t>Proposed evaluation using the same data and eligibility filters</a:t>
            </a:r>
          </a:p>
        </p:txBody>
      </p:sp>
      <p:sp>
        <p:nvSpPr>
          <p:cNvPr id="4" name="request-count">
            <a:extLst xmlns:a="http://schemas.openxmlformats.org/drawingml/2006/main">
              <a:ext uri="{FF2B5EF4-FFF2-40B4-BE49-F238E27FC236}">
                <a16:creationId xmlns:a16="http://schemas.microsoft.com/office/drawing/2014/main" id="{E5D8192C-9E97-4B02-BEBA-5738ECB3A47C}"/>
              </a:ext>
            </a:extLst>
          </p:cNvPr>
          <p:cNvSpPr>
            <a:spLocks xmlns:a="http://schemas.openxmlformats.org/drawingml/2006/main" noGrp="1"/>
          </p:cNvSpPr>
          <p:nvPr/>
        </p:nvSpPr>
        <p:spPr>
          <a:xfrm xmlns:a="http://schemas.openxmlformats.org/drawingml/2006/main">
            <a:off x="685800" y="2505075"/>
            <a:ext cx="5372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26746D"/>
                </a:solidFill>
                <a:latin typeface="Arial"/>
                <a:ea typeface="Arial"/>
                <a:cs typeface="Arial"/>
              </a:defRPr>
            </a:pPr>
            <a:r>
              <a:rPr sz="3825" b="1">
                <a:solidFill>
                  <a:srgbClr val="26746D"/>
                </a:solidFill>
                <a:latin typeface="Arial"/>
                <a:ea typeface="Arial"/>
                <a:cs typeface="Arial"/>
              </a:rPr>
              <a:t>20 fixed requests</a:t>
            </a:r>
          </a:p>
        </p:txBody>
      </p:sp>
      <p:sp>
        <p:nvSpPr>
          <p:cNvPr id="5" name="labels">
            <a:extLst xmlns:a="http://schemas.openxmlformats.org/drawingml/2006/main">
              <a:ext uri="{FF2B5EF4-FFF2-40B4-BE49-F238E27FC236}">
                <a16:creationId xmlns:a16="http://schemas.microsoft.com/office/drawing/2014/main" id="{E3B64788-5343-4E92-B6E1-733B2110DDDB}"/>
              </a:ext>
            </a:extLst>
          </p:cNvPr>
          <p:cNvSpPr>
            <a:spLocks xmlns:a="http://schemas.openxmlformats.org/drawingml/2006/main" noGrp="1"/>
          </p:cNvSpPr>
          <p:nvPr/>
        </p:nvSpPr>
        <p:spPr>
          <a:xfrm xmlns:a="http://schemas.openxmlformats.org/drawingml/2006/main">
            <a:off x="685800" y="3648075"/>
            <a:ext cx="5238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Two teammates independently label</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which assets are useful</a:t>
            </a:r>
          </a:p>
        </p:txBody>
      </p:sp>
      <p:sp>
        <p:nvSpPr>
          <p:cNvPr id="6" name="target">
            <a:extLst xmlns:a="http://schemas.openxmlformats.org/drawingml/2006/main">
              <a:ext uri="{FF2B5EF4-FFF2-40B4-BE49-F238E27FC236}">
                <a16:creationId xmlns:a16="http://schemas.microsoft.com/office/drawing/2014/main" id="{69D91FB2-3127-4E02-8510-B08244BCDD3B}"/>
              </a:ext>
            </a:extLst>
          </p:cNvPr>
          <p:cNvSpPr>
            <a:spLocks xmlns:a="http://schemas.openxmlformats.org/drawingml/2006/main" noGrp="1"/>
          </p:cNvSpPr>
          <p:nvPr/>
        </p:nvSpPr>
        <p:spPr>
          <a:xfrm xmlns:a="http://schemas.openxmlformats.org/drawingml/2006/main">
            <a:off x="6705600" y="2505075"/>
            <a:ext cx="4800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6746D"/>
                </a:solidFill>
                <a:latin typeface="Arial"/>
                <a:ea typeface="Arial"/>
                <a:cs typeface="Arial"/>
              </a:defRPr>
            </a:pPr>
            <a:r>
              <a:rPr sz="4800" b="1">
                <a:solidFill>
                  <a:srgbClr val="26746D"/>
                </a:solidFill>
                <a:latin typeface="Arial"/>
                <a:ea typeface="Arial"/>
                <a:cs typeface="Arial"/>
              </a:rPr>
              <a:t>16 / 20</a:t>
            </a:r>
          </a:p>
        </p:txBody>
      </p:sp>
      <p:sp>
        <p:nvSpPr>
          <p:cNvPr id="7" name="target-label">
            <a:extLst xmlns:a="http://schemas.openxmlformats.org/drawingml/2006/main">
              <a:ext uri="{FF2B5EF4-FFF2-40B4-BE49-F238E27FC236}">
                <a16:creationId xmlns:a16="http://schemas.microsoft.com/office/drawing/2014/main" id="{494F7188-014C-4D65-8A5B-676363F69C2F}"/>
              </a:ext>
            </a:extLst>
          </p:cNvPr>
          <p:cNvSpPr>
            <a:spLocks xmlns:a="http://schemas.openxmlformats.org/drawingml/2006/main" noGrp="1"/>
          </p:cNvSpPr>
          <p:nvPr/>
        </p:nvSpPr>
        <p:spPr>
          <a:xfrm xmlns:a="http://schemas.openxmlformats.org/drawingml/2006/main">
            <a:off x="6705600" y="3648075"/>
            <a:ext cx="4800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Requests with a useful item</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in the top three AI results</a:t>
            </a:r>
          </a:p>
        </p:txBody>
      </p:sp>
      <p:sp>
        <p:nvSpPr>
          <p:cNvPr id="8" name="comparison">
            <a:extLst xmlns:a="http://schemas.openxmlformats.org/drawingml/2006/main">
              <a:ext uri="{FF2B5EF4-FFF2-40B4-BE49-F238E27FC236}">
                <a16:creationId xmlns:a16="http://schemas.microsoft.com/office/drawing/2014/main" id="{4EB1BD53-6DA2-4F2D-A9F0-9799DA6E0E67}"/>
              </a:ext>
            </a:extLst>
          </p:cNvPr>
          <p:cNvSpPr>
            <a:spLocks xmlns:a="http://schemas.openxmlformats.org/drawingml/2006/main" noGrp="1"/>
          </p:cNvSpPr>
          <p:nvPr/>
        </p:nvSpPr>
        <p:spPr>
          <a:xfrm xmlns:a="http://schemas.openxmlformats.org/drawingml/2006/main">
            <a:off x="685800" y="50482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343C"/>
                </a:solidFill>
                <a:latin typeface="Arial"/>
                <a:ea typeface="Arial"/>
                <a:cs typeface="Arial"/>
              </a:defRPr>
            </a:pPr>
            <a:r>
              <a:rPr sz="2250" b="1">
                <a:solidFill>
                  <a:srgbClr val="17343C"/>
                </a:solidFill>
                <a:latin typeface="Arial"/>
                <a:ea typeface="Arial"/>
                <a:cs typeface="Arial"/>
              </a:rPr>
              <a:t>Target: at least 2 more successful requests than keyword search</a:t>
            </a:r>
          </a:p>
        </p:txBody>
      </p:sp>
      <p:sp>
        <p:nvSpPr>
          <p:cNvPr id="9" name="other-checks">
            <a:extLst xmlns:a="http://schemas.openxmlformats.org/drawingml/2006/main">
              <a:ext uri="{FF2B5EF4-FFF2-40B4-BE49-F238E27FC236}">
                <a16:creationId xmlns:a16="http://schemas.microsoft.com/office/drawing/2014/main" id="{A5844155-C95E-4172-8D55-A3359C113C6F}"/>
              </a:ext>
            </a:extLst>
          </p:cNvPr>
          <p:cNvSpPr>
            <a:spLocks xmlns:a="http://schemas.openxmlformats.org/drawingml/2006/main" noGrp="1"/>
          </p:cNvSpPr>
          <p:nvPr/>
        </p:nvSpPr>
        <p:spPr>
          <a:xfrm xmlns:a="http://schemas.openxmlformats.org/drawingml/2006/main">
            <a:off x="685800" y="58864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66"/>
                </a:solidFill>
                <a:latin typeface="Arial"/>
                <a:ea typeface="Arial"/>
                <a:cs typeface="Arial"/>
              </a:defRPr>
            </a:pPr>
            <a:r>
              <a:rPr sz="1725" b="0">
                <a:solidFill>
                  <a:srgbClr val="536466"/>
                </a:solidFill>
                <a:latin typeface="Arial"/>
                <a:ea typeface="Arial"/>
                <a:cs typeface="Arial"/>
              </a:rPr>
              <a:t>Also test approvals, simultaneous reservations, sustainability calculations</a:t>
            </a:r>
          </a:p>
          <a:p xmlns:a="http://schemas.openxmlformats.org/drawingml/2006/main">
            <a:pPr algn="l">
              <a:defRPr sz="1725" b="0">
                <a:solidFill>
                  <a:srgbClr val="536466"/>
                </a:solidFill>
                <a:latin typeface="Arial"/>
                <a:ea typeface="Arial"/>
                <a:cs typeface="Arial"/>
              </a:defRPr>
            </a:pPr>
            <a:r>
              <a:rPr sz="1725" b="0">
                <a:solidFill>
                  <a:srgbClr val="536466"/>
                </a:solidFill>
                <a:latin typeface="Arial"/>
                <a:ea typeface="Arial"/>
                <a:cs typeface="Arial"/>
              </a:rPr>
              <a:t>and a fresh deployment with AI fallback</a:t>
            </a:r>
          </a:p>
        </p:txBody>
      </p:sp>
    </p:spTree>
    <p:extLst>
      <p:ext uri="{BB962C8B-B14F-4D97-AF65-F5344CB8AC3E}">
        <p14:creationId xmlns:p14="http://schemas.microsoft.com/office/powerpoint/2010/main" val="193387989"/>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BE6869A-2D16-4A55-AB3D-68965EA1F107}"/>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343C"/>
                </a:solidFill>
                <a:latin typeface="Arial"/>
                <a:ea typeface="Arial"/>
                <a:cs typeface="Arial"/>
              </a:defRPr>
            </a:pPr>
            <a:r>
              <a:rPr sz="3450" b="1">
                <a:solidFill>
                  <a:srgbClr val="17343C"/>
                </a:solidFill>
                <a:latin typeface="Arial"/>
                <a:ea typeface="Arial"/>
                <a:cs typeface="Arial"/>
              </a:rPr>
              <a:t>Next: feasibility and delivery</a:t>
            </a:r>
          </a:p>
        </p:txBody>
      </p:sp>
      <p:sp>
        <p:nvSpPr>
          <p:cNvPr id="2" name="page-number">
            <a:extLst xmlns:a="http://schemas.openxmlformats.org/drawingml/2006/main">
              <a:ext uri="{FF2B5EF4-FFF2-40B4-BE49-F238E27FC236}">
                <a16:creationId xmlns:a16="http://schemas.microsoft.com/office/drawing/2014/main" id="{2326091A-4A5F-46E2-9B36-F64F084A4FDF}"/>
              </a:ext>
            </a:extLst>
          </p:cNvPr>
          <p:cNvSpPr>
            <a:spLocks xmlns:a="http://schemas.openxmlformats.org/drawingml/2006/main" noGrp="1"/>
          </p:cNvSpPr>
          <p:nvPr/>
        </p:nvSpPr>
        <p:spPr>
          <a:xfrm xmlns:a="http://schemas.openxmlformats.org/drawingml/2006/main">
            <a:off x="11049000" y="63722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466"/>
                </a:solidFill>
                <a:latin typeface="Arial"/>
                <a:ea typeface="Arial"/>
                <a:cs typeface="Arial"/>
              </a:defRPr>
            </a:pPr>
            <a:r>
              <a:rPr sz="1350" b="0">
                <a:solidFill>
                  <a:srgbClr val="536466"/>
                </a:solidFill>
                <a:latin typeface="Arial"/>
                <a:ea typeface="Arial"/>
                <a:cs typeface="Arial"/>
              </a:rPr>
              <a:t>6</a:t>
            </a:r>
          </a:p>
        </p:txBody>
      </p:sp>
      <p:sp>
        <p:nvSpPr>
          <p:cNvPr id="3" name="next-goal">
            <a:extLst xmlns:a="http://schemas.openxmlformats.org/drawingml/2006/main">
              <a:ext uri="{FF2B5EF4-FFF2-40B4-BE49-F238E27FC236}">
                <a16:creationId xmlns:a16="http://schemas.microsoft.com/office/drawing/2014/main" id="{76AD6C66-A989-4E7E-BC68-A0BDEA85DE91}"/>
              </a:ext>
            </a:extLst>
          </p:cNvPr>
          <p:cNvSpPr>
            <a:spLocks xmlns:a="http://schemas.openxmlformats.org/drawingml/2006/main" noGrp="1"/>
          </p:cNvSpPr>
          <p:nvPr/>
        </p:nvSpPr>
        <p:spPr>
          <a:xfrm xmlns:a="http://schemas.openxmlformats.org/drawingml/2006/main">
            <a:off x="685800" y="14382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466"/>
                </a:solidFill>
                <a:latin typeface="Arial"/>
                <a:ea typeface="Arial"/>
                <a:cs typeface="Arial"/>
              </a:defRPr>
            </a:pPr>
            <a:r>
              <a:rPr sz="2100" b="0">
                <a:solidFill>
                  <a:srgbClr val="536466"/>
                </a:solidFill>
                <a:latin typeface="Arial"/>
                <a:ea typeface="Arial"/>
                <a:cs typeface="Arial"/>
              </a:rPr>
              <a:t>Choose technology and hosting after testing the main uncertainties</a:t>
            </a:r>
          </a:p>
        </p:txBody>
      </p:sp>
      <p:graphicFrame>
        <p:nvGraphicFramePr>
          <p:cNvPr id="10" name=""/>
          <p:cNvGraphicFramePr/>
          <p:nvPr/>
        </p:nvGraphicFramePr>
        <p:xfrm>
          <a:off xmlns:a="http://schemas.openxmlformats.org/drawingml/2006/main" x="685800" y="2266950"/>
          <a:ext xmlns:a="http://schemas.openxmlformats.org/drawingml/2006/main" cx="10820400" cy="2895600"/>
        </p:xfrm>
        <a:graphic xmlns:a="http://schemas.openxmlformats.org/drawingml/2006/main">
          <a:graphicData uri="http://schemas.openxmlformats.org/drawingml/2006/table">
            <a:tbl>
              <a:tblPr firstRow="0" firstCol="0" bandRow="0"/>
              <a:tblGrid>
                <a:gridCol w="2324100"/>
                <a:gridCol w="8496300"/>
              </a:tblGrid>
              <a:tr h="533400">
                <a:tc>
                  <a:txBody>
                    <a:bodyPr lIns="76200" tIns="57150" rIns="114300" bIns="57150">
                      <a:noAutofit/>
                    </a:bodyPr>
                    <a:lstStyle/>
                    <a:p>
                      <a:r>
                        <a:rPr sz="1875" b="1">
                          <a:solidFill>
                            <a:srgbClr val="26746D"/>
                          </a:solidFill>
                          <a:latin typeface="Arial"/>
                          <a:ea typeface="Arial"/>
                          <a:cs typeface="Arial"/>
                        </a:rPr>
                        <a:t>Owner</a:t>
                      </a:r>
                    </a:p>
                  </a:txBody>
                  <a:tcPr marL="91440" marR="91440" marT="45720" marB="45720" anchor="ctr">
                    <a:solidFill>
                      <a:srgbClr val="FAFAF7"/>
                    </a:solidFill>
                  </a:tcPr>
                </a:tc>
                <a:tc>
                  <a:txBody>
                    <a:bodyPr lIns="76200" tIns="57150" rIns="114300" bIns="57150">
                      <a:noAutofit/>
                    </a:bodyPr>
                    <a:lstStyle/>
                    <a:p>
                      <a:r>
                        <a:rPr sz="1875" b="1">
                          <a:solidFill>
                            <a:srgbClr val="26746D"/>
                          </a:solidFill>
                          <a:latin typeface="Arial"/>
                          <a:ea typeface="Arial"/>
                          <a:cs typeface="Arial"/>
                        </a:rPr>
                        <a:t>Next responsibility</a:t>
                      </a:r>
                    </a:p>
                  </a:txBody>
                  <a:tcPr marL="91440" marR="91440" marT="45720" marB="45720" anchor="ctr">
                    <a:solidFill>
                      <a:srgbClr val="FAFAF7"/>
                    </a:solidFill>
                  </a:tcPr>
                </a:tc>
              </a:tr>
              <a:tr h="723900">
                <a:tc>
                  <a:txBody>
                    <a:bodyPr lIns="76200" tIns="57150" rIns="114300" bIns="57150">
                      <a:noAutofit/>
                    </a:bodyPr>
                    <a:lstStyle/>
                    <a:p>
                      <a:r>
                        <a:rPr sz="2025" b="0">
                          <a:solidFill>
                            <a:srgbClr val="17343C"/>
                          </a:solidFill>
                          <a:latin typeface="Arial"/>
                          <a:ea typeface="Arial"/>
                          <a:cs typeface="Arial"/>
                        </a:rPr>
                        <a:t>Sultan</a:t>
                      </a:r>
                    </a:p>
                  </a:txBody>
                  <a:tcPr marL="91440" marR="91440" marT="45720" marB="45720" anchor="ctr">
                    <a:solidFill>
                      <a:srgbClr val="FAFAF7"/>
                    </a:solidFill>
                  </a:tcPr>
                </a:tc>
                <a:tc>
                  <a:txBody>
                    <a:bodyPr lIns="76200" tIns="57150" rIns="114300" bIns="57150">
                      <a:noAutofit/>
                    </a:bodyPr>
                    <a:lstStyle/>
                    <a:p>
                      <a:r>
                        <a:rPr sz="2025" b="0">
                          <a:solidFill>
                            <a:srgbClr val="17343C"/>
                          </a:solidFill>
                          <a:latin typeface="Arial"/>
                          <a:ea typeface="Arial"/>
                          <a:cs typeface="Arial"/>
                        </a:rPr>
                        <a:t>Coordinate the plan and backend dependencies</a:t>
                      </a:r>
                    </a:p>
                  </a:txBody>
                  <a:tcPr marL="91440" marR="91440" marT="45720" marB="45720" anchor="ctr">
                    <a:solidFill>
                      <a:srgbClr val="FAFAF7"/>
                    </a:solidFill>
                  </a:tcPr>
                </a:tc>
              </a:tr>
              <a:tr h="723900">
                <a:tc>
                  <a:txBody>
                    <a:bodyPr lIns="76200" tIns="57150" rIns="114300" bIns="57150">
                      <a:noAutofit/>
                    </a:bodyPr>
                    <a:lstStyle/>
                    <a:p>
                      <a:r>
                        <a:rPr sz="2025" b="0">
                          <a:solidFill>
                            <a:srgbClr val="17343C"/>
                          </a:solidFill>
                          <a:latin typeface="Arial"/>
                          <a:ea typeface="Arial"/>
                          <a:cs typeface="Arial"/>
                        </a:rPr>
                        <a:t>Zayed</a:t>
                      </a:r>
                    </a:p>
                  </a:txBody>
                  <a:tcPr marL="91440" marR="91440" marT="45720" marB="45720" anchor="ctr">
                    <a:solidFill>
                      <a:srgbClr val="FAFAF7"/>
                    </a:solidFill>
                  </a:tcPr>
                </a:tc>
                <a:tc>
                  <a:txBody>
                    <a:bodyPr lIns="76200" tIns="57150" rIns="114300" bIns="57150">
                      <a:noAutofit/>
                    </a:bodyPr>
                    <a:lstStyle/>
                    <a:p>
                      <a:r>
                        <a:rPr sz="2025" b="0">
                          <a:solidFill>
                            <a:srgbClr val="17343C"/>
                          </a:solidFill>
                          <a:latin typeface="Arial"/>
                          <a:ea typeface="Arial"/>
                          <a:cs typeface="Arial"/>
                        </a:rPr>
                        <a:t>Draft feasibility and plan stakeholder validation</a:t>
                      </a:r>
                    </a:p>
                  </a:txBody>
                  <a:tcPr marL="91440" marR="91440" marT="45720" marB="45720" anchor="ctr">
                    <a:solidFill>
                      <a:srgbClr val="FAFAF7"/>
                    </a:solidFill>
                  </a:tcPr>
                </a:tc>
              </a:tr>
              <a:tr h="914400">
                <a:tc>
                  <a:txBody>
                    <a:bodyPr lIns="76200" tIns="57150" rIns="114300" bIns="57150">
                      <a:noAutofit/>
                    </a:bodyPr>
                    <a:lstStyle/>
                    <a:p>
                      <a:r>
                        <a:rPr sz="2025" b="0">
                          <a:solidFill>
                            <a:srgbClr val="17343C"/>
                          </a:solidFill>
                          <a:latin typeface="Arial"/>
                          <a:ea typeface="Arial"/>
                          <a:cs typeface="Arial"/>
                        </a:rPr>
                        <a:t>Ghith</a:t>
                      </a:r>
                    </a:p>
                  </a:txBody>
                  <a:tcPr marL="91440" marR="91440" marT="45720" marB="45720" anchor="ctr">
                    <a:solidFill>
                      <a:srgbClr val="FAFAF7"/>
                    </a:solidFill>
                  </a:tcPr>
                </a:tc>
                <a:tc>
                  <a:txBody>
                    <a:bodyPr lIns="76200" tIns="57150" rIns="114300" bIns="57150">
                      <a:noAutofit/>
                    </a:bodyPr>
                    <a:lstStyle/>
                    <a:p>
                      <a:r>
                        <a:rPr sz="2025" b="0">
                          <a:solidFill>
                            <a:srgbClr val="17343C"/>
                          </a:solidFill>
                          <a:latin typeface="Arial"/>
                          <a:ea typeface="Arial"/>
                          <a:cs typeface="Arial"/>
                        </a:rPr>
                        <a:t>Evaluate two AI providers and propose</a:t>
                      </a:r>
                    </a:p>
                    <a:p>
                      <a:r>
                        <a:rPr sz="2025" b="0">
                          <a:solidFill>
                            <a:srgbClr val="17343C"/>
                          </a:solidFill>
                          <a:latin typeface="Arial"/>
                          <a:ea typeface="Arial"/>
                          <a:cs typeface="Arial"/>
                        </a:rPr>
                        <a:t>the stack and hosting</a:t>
                      </a:r>
                    </a:p>
                  </a:txBody>
                  <a:tcPr marL="91440" marR="91440" marT="45720" marB="45720" anchor="ctr">
                    <a:solidFill>
                      <a:srgbClr val="FAFAF7"/>
                    </a:solidFill>
                  </a:tcPr>
                </a:tc>
              </a:tr>
            </a:tbl>
          </a:graphicData>
        </a:graphic>
      </p:graphicFrame>
      <p:sp>
        <p:nvSpPr>
          <p:cNvPr id="5" name="working-method">
            <a:extLst xmlns:a="http://schemas.openxmlformats.org/drawingml/2006/main">
              <a:ext uri="{FF2B5EF4-FFF2-40B4-BE49-F238E27FC236}">
                <a16:creationId xmlns:a16="http://schemas.microsoft.com/office/drawing/2014/main" id="{86A17F7E-4FDD-49F1-A638-8502608F0D80}"/>
              </a:ext>
            </a:extLst>
          </p:cNvPr>
          <p:cNvSpPr>
            <a:spLocks xmlns:a="http://schemas.openxmlformats.org/drawingml/2006/main" noGrp="1"/>
          </p:cNvSpPr>
          <p:nvPr/>
        </p:nvSpPr>
        <p:spPr>
          <a:xfrm xmlns:a="http://schemas.openxmlformats.org/drawingml/2006/main">
            <a:off x="685800" y="54768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343C"/>
                </a:solidFill>
                <a:latin typeface="Arial"/>
                <a:ea typeface="Arial"/>
                <a:cs typeface="Arial"/>
              </a:defRPr>
            </a:pPr>
            <a:r>
              <a:rPr sz="2250" b="1">
                <a:solidFill>
                  <a:srgbClr val="17343C"/>
                </a:solidFill>
                <a:latin typeface="Arial"/>
                <a:ea typeface="Arial"/>
                <a:cs typeface="Arial"/>
              </a:rPr>
              <a:t>Short work cycles, reviewed at each course milestone</a:t>
            </a:r>
          </a:p>
        </p:txBody>
      </p:sp>
      <p:sp>
        <p:nvSpPr>
          <p:cNvPr id="6" name="later">
            <a:extLst xmlns:a="http://schemas.openxmlformats.org/drawingml/2006/main">
              <a:ext uri="{FF2B5EF4-FFF2-40B4-BE49-F238E27FC236}">
                <a16:creationId xmlns:a16="http://schemas.microsoft.com/office/drawing/2014/main" id="{6D0BE914-49BA-48D5-BF82-B5028C574DA9}"/>
              </a:ext>
            </a:extLst>
          </p:cNvPr>
          <p:cNvSpPr>
            <a:spLocks xmlns:a="http://schemas.openxmlformats.org/drawingml/2006/main" noGrp="1"/>
          </p:cNvSpPr>
          <p:nvPr/>
        </p:nvSpPr>
        <p:spPr>
          <a:xfrm xmlns:a="http://schemas.openxmlformats.org/drawingml/2006/main">
            <a:off x="685800" y="61150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466"/>
                </a:solidFill>
                <a:latin typeface="Arial"/>
                <a:ea typeface="Arial"/>
                <a:cs typeface="Arial"/>
              </a:defRPr>
            </a:pPr>
            <a:r>
              <a:rPr sz="1875" b="0">
                <a:solidFill>
                  <a:srgbClr val="536466"/>
                </a:solidFill>
                <a:latin typeface="Arial"/>
                <a:ea typeface="Arial"/>
                <a:cs typeface="Arial"/>
              </a:rPr>
              <a:t>Then refine requirements, design, build, deploy and test</a:t>
            </a:r>
          </a:p>
        </p:txBody>
      </p:sp>
    </p:spTree>
    <p:extLst>
      <p:ext uri="{BB962C8B-B14F-4D97-AF65-F5344CB8AC3E}">
        <p14:creationId xmlns:p14="http://schemas.microsoft.com/office/powerpoint/2010/main" val="4625514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2026-09-15T10:59:44.7190000Z</dcterms:created>
  <dcterms:modified xsi:type="dcterms:W3CDTF">2026-09-15T10:59:44.7190000Z</dcterms:modified>
</coreProperties>
</file>