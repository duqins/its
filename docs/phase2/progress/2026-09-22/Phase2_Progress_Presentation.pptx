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121c7e93ad4898" /><Relationship Type="http://schemas.openxmlformats.org/officeDocument/2006/relationships/extended-properties" Target="/docProps/app.xml" Id="R8efcf03516f64121" /><Relationship Type="http://schemas.openxmlformats.org/officeDocument/2006/relationships/officeDocument" Target="/ppt/presentation.xml" Id="R9f83a7f3a18740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d0f9326b8740a5"/>
  </p:sldMasterIdLst>
  <p:notesMasterIdLst>
    <p:notesMasterId xmlns:r="http://schemas.openxmlformats.org/officeDocument/2006/relationships" r:id="R640c9706de5b4166"/>
  </p:notesMasterIdLst>
  <p:sldIdLst>
    <p:sldId xmlns:r="http://schemas.openxmlformats.org/officeDocument/2006/relationships" id="256" r:id="R4e98c2f97e794309"/>
    <p:sldId xmlns:r="http://schemas.openxmlformats.org/officeDocument/2006/relationships" id="257" r:id="R485f636e172f4036"/>
    <p:sldId xmlns:r="http://schemas.openxmlformats.org/officeDocument/2006/relationships" id="258" r:id="R5e559ee914ce46eb"/>
    <p:sldId xmlns:r="http://schemas.openxmlformats.org/officeDocument/2006/relationships" id="259" r:id="R02a49565bf0e41a5"/>
    <p:sldId xmlns:r="http://schemas.openxmlformats.org/officeDocument/2006/relationships" id="260" r:id="Rc273b800682b4eeb"/>
    <p:sldId xmlns:r="http://schemas.openxmlformats.org/officeDocument/2006/relationships" id="261" r:id="R68a3804f8f7749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a0226b7db041d7" /><Relationship Type="http://schemas.openxmlformats.org/officeDocument/2006/relationships/slideMaster" Target="/ppt/slideMasters/slideMaster1.xml" Id="R3bd0f9326b8740a5" /><Relationship Type="http://schemas.openxmlformats.org/officeDocument/2006/relationships/notesMaster" Target="/ppt/notesMasters/notesMaster1.xml" Id="R640c9706de5b4166" /><Relationship Type="http://schemas.openxmlformats.org/officeDocument/2006/relationships/presProps" Target="/ppt/presProps.xml" Id="Raba87fb6d14a493f" /><Relationship Type="http://schemas.openxmlformats.org/officeDocument/2006/relationships/tableStyles" Target="/ppt/tableStyles.xml" Id="Ra5f99be4c49c49ab" /><Relationship Type="http://schemas.openxmlformats.org/officeDocument/2006/relationships/slide" Target="/ppt/slides/slide1.xml" Id="R4e98c2f97e794309" /><Relationship Type="http://schemas.openxmlformats.org/officeDocument/2006/relationships/slide" Target="/ppt/slides/slide2.xml" Id="R485f636e172f4036" /><Relationship Type="http://schemas.openxmlformats.org/officeDocument/2006/relationships/slide" Target="/ppt/slides/slide3.xml" Id="R5e559ee914ce46eb" /><Relationship Type="http://schemas.openxmlformats.org/officeDocument/2006/relationships/slide" Target="/ppt/slides/slide4.xml" Id="R02a49565bf0e41a5" /><Relationship Type="http://schemas.openxmlformats.org/officeDocument/2006/relationships/slide" Target="/ppt/slides/slide5.xml" Id="Rc273b800682b4eeb" /><Relationship Type="http://schemas.openxmlformats.org/officeDocument/2006/relationships/slide" Target="/ppt/slides/slide6.xml" Id="R68a3804f8f7749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378aa2259647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eac0c1fb344c2e" /><Relationship Type="http://schemas.openxmlformats.org/officeDocument/2006/relationships/notesMaster" Target="/ppt/notesMasters/notesMaster1.xml" Id="Rb87f5a786ec24b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464a3b8ffd48f8" /><Relationship Type="http://schemas.openxmlformats.org/officeDocument/2006/relationships/notesMaster" Target="/ppt/notesMasters/notesMaster1.xml" Id="Rc1d4955c549d49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36269626914065" /><Relationship Type="http://schemas.openxmlformats.org/officeDocument/2006/relationships/notesMaster" Target="/ppt/notesMasters/notesMaster1.xml" Id="R0402ea60aa0c48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69ebde30cd45ce" /><Relationship Type="http://schemas.openxmlformats.org/officeDocument/2006/relationships/notesMaster" Target="/ppt/notesMasters/notesMaster1.xml" Id="R4cbf52f239dd45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d761d98f3a42b1" /><Relationship Type="http://schemas.openxmlformats.org/officeDocument/2006/relationships/notesMaster" Target="/ppt/notesMasters/notesMaster1.xml" Id="R74a78b3be4ee40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20d4b052394cca" /><Relationship Type="http://schemas.openxmlformats.org/officeDocument/2006/relationships/notesMaster" Target="/ppt/notesMasters/notesMaster1.xml" Id="R05d557b402b646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Progress status: reviewed requirements and feedback, prepared team work plan, proposed scenario and measurement method, verified public provider prices. No interviews, timing tests, prototype, deployment or demonstrated savings. Next-week submission is the user’s clarification on 22 September 2026; exact day pending. Source: https://github.com/duqins/ITS/blob/main/docs/reference/Project-September2026.pdf pages 5 and 7. Photo: Ildar Sagdejev (Specious), 30 September 2003, UNC Chapel Hill, https://commons.wikimedia.org/wiki/File:2003-09-30_UNC-CH_Phillips_classroom_1.jpg ; CC BY-SA 3.0 https://creativecommons.org/licenses/by-sa/3.0 . Resized proportionally; no other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Scenario is proposed, not an existing KU mandate or an observed transfer. The two-monitor request is an illustrative case, not measured demand. Required approvals remain. The small case does not remove maintenance, end-of-life or sustainability requirements from course scope. Source: https://github.com/duqins/ITS/blob/main/docs/reference/Project-September2026.pdf and the team’s local Phase 2 foundation draft.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comparison plan, not a completed assessment of KU’s existing system. No claim is made that KU lacks search, approvals, reuse or reporting. Source: instructor feedback reported by Sultan and https://github.com/duqins/ITS/blob/main/docs/reference/Project-September2026.pdf page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Count active time for every participating role, including failed cases and AI review. Separate approval waiting from working minutes. State sample size and case selection; simulations do not establish campus-wide results. Count incremental avoided purchases relative to current process, not all reuse. Released time is capacity, not automatic cash reduction. Source: https://github.com/duqins/ITS/blob/main/docs/reference/Project-September2026.pdf page 7 and the Phase 2 evidence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Prices verified 22 September 2026. Railway: https://docs.railway.com/pricing and https://docs.railway.com/pricing/understanding-your-bill . Example assumes combined application/database average RAM0.5GB x USD10/GB-month=5.00; CPU0.05vCPU x USD20/vCPU-month=1.00; volume1GB x USD0.15/GB-month=0.15; public egress1GB x USD0.05/GB=0.05. Total USD6.20 monthly. Hobby minimumUSD5 includes usage; max(5,6.20)=6.20. This is an illustrative subtotal; no measured load or bill. AI, media storage, support, tax and other costs excluded. Render free app sleeps after15idleminutes, localfilesephemeral: https://render.com/docs/free . Neonfree database0.5GB100CUh5GBpublictransfer/project/month: https://github.com/neondatabase/website/blob/main/content/faqs/free-plan-limits-and-quotas.md . No platform or subscription selected.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Six course feasibility dimensions: technical, financial, operational, schedule, data/AI, legal/ethical. Zayed also leads the team’s brand/logo discussion; no brand adopted. Deployment remains in project scope. Task split from Phase2GroupWorkPlan; source https://github.com/duqins/ITS/blob/main/docs/reference/Project-September2026.pdf page7. Timing: approximately50seconds per slide, two slides per member, total5minutes. This note records allocation and sources, not a speaking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5e37603ee947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bf9b5474e1480b" /><Relationship Type="http://schemas.openxmlformats.org/officeDocument/2006/relationships/slideLayout" Target="/ppt/slideLayouts/slideLayout1.xml" Id="Rf731f68296f14b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31f68296f14b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459c5f6014f38" /><Relationship Type="http://schemas.openxmlformats.org/officeDocument/2006/relationships/image" Target="/ppt/media/image.jpeg" Id="R63b8999b11bd493b" /><Relationship Type="http://schemas.openxmlformats.org/officeDocument/2006/relationships/notesSlide" Target="/ppt/notesSlides/notesSlide1.xml" Id="R14101759872c40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28eb3b79540dc" /><Relationship Type="http://schemas.openxmlformats.org/officeDocument/2006/relationships/notesSlide" Target="/ppt/notesSlides/notesSlide2.xml" Id="Rd28a7496adfb4b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7377be9ac4e80" /><Relationship Type="http://schemas.openxmlformats.org/officeDocument/2006/relationships/notesSlide" Target="/ppt/notesSlides/notesSlide3.xml" Id="R85ae6bf64abb42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9d01f2df04be8" /><Relationship Type="http://schemas.openxmlformats.org/officeDocument/2006/relationships/notesSlide" Target="/ppt/notesSlides/notesSlide4.xml" Id="Rf2c56d1768b940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494f5eeb3444a" /><Relationship Type="http://schemas.openxmlformats.org/officeDocument/2006/relationships/notesSlide" Target="/ppt/notesSlides/notesSlide5.xml" Id="R9b91a99557a64f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d7d9d3f3e4a95" /><Relationship Type="http://schemas.openxmlformats.org/officeDocument/2006/relationships/notesSlide" Target="/ppt/notesSlides/notesSlide6.xml" Id="Rbb807798855745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presenter">
            <a:extLst xmlns:a="http://schemas.openxmlformats.org/drawingml/2006/main">
              <a:ext uri="{FF2B5EF4-FFF2-40B4-BE49-F238E27FC236}">
                <a16:creationId xmlns:a16="http://schemas.microsoft.com/office/drawing/2014/main" id="{BCCE71A8-EC28-4845-8528-DAF7C009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Sultan   1</a:t>
            </a:r>
          </a:p>
        </p:txBody>
      </p:sp>
      <p:sp>
        <p:nvSpPr>
          <p:cNvPr id="2" name="context">
            <a:extLst xmlns:a="http://schemas.openxmlformats.org/drawingml/2006/main">
              <a:ext uri="{FF2B5EF4-FFF2-40B4-BE49-F238E27FC236}">
                <a16:creationId xmlns:a16="http://schemas.microsoft.com/office/drawing/2014/main" id="{F4E282D3-1080-43AF-A8D7-4EC00CFE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676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6746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6746D"/>
                </a:solidFill>
                <a:latin typeface="Arial"/>
                <a:ea typeface="Arial"/>
                <a:cs typeface="Arial"/>
              </a:rPr>
              <a:t>Campus Resource Exchange</a:t>
            </a:r>
          </a:p>
        </p:txBody>
      </p:sp>
      <p:sp>
        <p:nvSpPr>
          <p:cNvPr id="3" name="cover">
            <a:extLst xmlns:a="http://schemas.openxmlformats.org/drawingml/2006/main">
              <a:ext uri="{FF2B5EF4-FFF2-40B4-BE49-F238E27FC236}">
                <a16:creationId xmlns:a16="http://schemas.microsoft.com/office/drawing/2014/main" id="{28063904-4E55-476D-B77C-23F577EB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6286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Phase 2</a:t>
            </a:r>
          </a:p>
          <a:p xmlns:a="http://schemas.openxmlformats.org/drawingml/2006/main">
            <a:pPr algn="l">
              <a:defRPr sz="450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progress update</a:t>
            </a:r>
          </a:p>
        </p:txBody>
      </p:sp>
      <p:sp>
        <p:nvSpPr>
          <p:cNvPr id="4" name="done">
            <a:extLst xmlns:a="http://schemas.openxmlformats.org/drawingml/2006/main">
              <a:ext uri="{FF2B5EF4-FFF2-40B4-BE49-F238E27FC236}">
                <a16:creationId xmlns:a16="http://schemas.microsoft.com/office/drawing/2014/main" id="{E00D9930-F196-418B-A761-15061DB6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Requirements reviewed</a:t>
            </a:r>
          </a:p>
          <a:p xmlns:a="http://schemas.openxmlformats.org/drawingml/2006/main">
            <a:pPr algn="l">
              <a:defRPr sz="2250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Scenario drafted</a:t>
            </a:r>
          </a:p>
          <a:p xmlns:a="http://schemas.openxmlformats.org/drawingml/2006/main">
            <a:pPr algn="l">
              <a:defRPr sz="2250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Cost research started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8999b11bd493b"/>
          <a:stretch xmlns:a="http://schemas.openxmlformats.org/drawingml/2006/main"/>
        </p:blipFill>
        <p:spPr>
          <a:xfrm xmlns:a="http://schemas.openxmlformats.org/drawingml/2006/main">
            <a:off x="7277100" y="1495425"/>
            <a:ext cx="4229100" cy="3171825"/>
          </a:xfrm>
          <a:prstGeom xmlns:a="http://schemas.openxmlformats.org/drawingml/2006/main" prst="rect">
            <a:avLst/>
          </a:prstGeom>
        </p:spPr>
      </p:pic>
      <p:sp>
        <p:nvSpPr>
          <p:cNvPr id="6" name="photo-label">
            <a:extLst xmlns:a="http://schemas.openxmlformats.org/drawingml/2006/main">
              <a:ext uri="{FF2B5EF4-FFF2-40B4-BE49-F238E27FC236}">
                <a16:creationId xmlns:a16="http://schemas.microsoft.com/office/drawing/2014/main" id="{752FBE36-9325-4BC9-96B5-2707DD2B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781550"/>
            <a:ext cx="422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Illustrative classroom, not KU</a:t>
            </a:r>
          </a:p>
        </p:txBody>
      </p:sp>
      <p:sp>
        <p:nvSpPr>
          <p:cNvPr id="7" name="timing">
            <a:extLst xmlns:a="http://schemas.openxmlformats.org/drawingml/2006/main">
              <a:ext uri="{FF2B5EF4-FFF2-40B4-BE49-F238E27FC236}">
                <a16:creationId xmlns:a16="http://schemas.microsoft.com/office/drawing/2014/main" id="{BAF99739-F881-49CE-A401-C4AE686C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Class discussion this week. Final submission next week.</a:t>
            </a:r>
          </a:p>
        </p:txBody>
      </p:sp>
      <p:sp>
        <p:nvSpPr>
          <p:cNvPr id="8" name="team">
            <a:extLst xmlns:a="http://schemas.openxmlformats.org/drawingml/2006/main">
              <a:ext uri="{FF2B5EF4-FFF2-40B4-BE49-F238E27FC236}">
                <a16:creationId xmlns:a16="http://schemas.microsoft.com/office/drawing/2014/main" id="{60962B89-BADE-4BFC-A9D1-A6CB6C59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9191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Group 4   Sultan Almheiri, Zayed Alfadli, Ghith Alhinaai   22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1094755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C2C374BC-CFA0-4058-9477-D00A078D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The scenario we propose</a:t>
            </a:r>
          </a:p>
        </p:txBody>
      </p:sp>
      <p:sp>
        <p:nvSpPr>
          <p:cNvPr id="2" name="presenter">
            <a:extLst xmlns:a="http://schemas.openxmlformats.org/drawingml/2006/main">
              <a:ext uri="{FF2B5EF4-FFF2-40B4-BE49-F238E27FC236}">
                <a16:creationId xmlns:a16="http://schemas.microsoft.com/office/drawing/2014/main" id="{0A9CDC4F-48DF-444A-B69F-CF763C6F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Zayed   2</a:t>
            </a:r>
          </a:p>
        </p:txBody>
      </p:sp>
      <p:sp>
        <p:nvSpPr>
          <p:cNvPr id="3" name="label0">
            <a:extLst xmlns:a="http://schemas.openxmlformats.org/drawingml/2006/main">
              <a:ext uri="{FF2B5EF4-FFF2-40B4-BE49-F238E27FC236}">
                <a16:creationId xmlns:a16="http://schemas.microsoft.com/office/drawing/2014/main" id="{2AF2EE5B-F069-45E3-B7AD-96DC32B3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319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674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6746D"/>
                </a:solidFill>
                <a:latin typeface="Arial"/>
                <a:ea typeface="Arial"/>
                <a:cs typeface="Arial"/>
              </a:rPr>
              <a:t>Our role</a:t>
            </a:r>
          </a:p>
        </p:txBody>
      </p:sp>
      <p:sp>
        <p:nvSpPr>
          <p:cNvPr id="4" name="body0">
            <a:extLst xmlns:a="http://schemas.openxmlformats.org/drawingml/2006/main">
              <a:ext uri="{FF2B5EF4-FFF2-40B4-BE49-F238E27FC236}">
                <a16:creationId xmlns:a16="http://schemas.microsoft.com/office/drawing/2014/main" id="{5F1C6968-2738-4312-B2D8-288AB7EB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62125"/>
            <a:ext cx="73437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Three KU students proposing a tool for staff</a:t>
            </a:r>
          </a:p>
        </p:txBody>
      </p:sp>
      <p:sp>
        <p:nvSpPr>
          <p:cNvPr id="5" name="label1">
            <a:extLst xmlns:a="http://schemas.openxmlformats.org/drawingml/2006/main">
              <a:ext uri="{FF2B5EF4-FFF2-40B4-BE49-F238E27FC236}">
                <a16:creationId xmlns:a16="http://schemas.microsoft.com/office/drawing/2014/main" id="{C40910D2-C392-4605-8371-A8D310CE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19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674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6746D"/>
                </a:solidFill>
                <a:latin typeface="Arial"/>
                <a:ea typeface="Arial"/>
                <a:cs typeface="Arial"/>
              </a:rPr>
              <a:t>Example request</a:t>
            </a:r>
          </a:p>
        </p:txBody>
      </p:sp>
      <p:sp>
        <p:nvSpPr>
          <p:cNvPr id="6" name="body1">
            <a:extLst xmlns:a="http://schemas.openxmlformats.org/drawingml/2006/main">
              <a:ext uri="{FF2B5EF4-FFF2-40B4-BE49-F238E27FC236}">
                <a16:creationId xmlns:a16="http://schemas.microsoft.com/office/drawing/2014/main" id="{BC2F3C08-33BF-4AF7-BEFD-FAA404A6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962275"/>
            <a:ext cx="73437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A staff member needs two suitable monitors</a:t>
            </a:r>
          </a:p>
        </p:txBody>
      </p:sp>
      <p:sp>
        <p:nvSpPr>
          <p:cNvPr id="7" name="label2">
            <a:extLst xmlns:a="http://schemas.openxmlformats.org/drawingml/2006/main">
              <a:ext uri="{FF2B5EF4-FFF2-40B4-BE49-F238E27FC236}">
                <a16:creationId xmlns:a16="http://schemas.microsoft.com/office/drawing/2014/main" id="{28C92563-0101-40A5-A98E-E024E10C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3190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674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6746D"/>
                </a:solidFill>
                <a:latin typeface="Arial"/>
                <a:ea typeface="Arial"/>
                <a:cs typeface="Arial"/>
              </a:rPr>
              <a:t>Proposed process</a:t>
            </a:r>
          </a:p>
        </p:txBody>
      </p:sp>
      <p:sp>
        <p:nvSpPr>
          <p:cNvPr id="8" name="body2">
            <a:extLst xmlns:a="http://schemas.openxmlformats.org/drawingml/2006/main">
              <a:ext uri="{FF2B5EF4-FFF2-40B4-BE49-F238E27FC236}">
                <a16:creationId xmlns:a16="http://schemas.microsoft.com/office/drawing/2014/main" id="{74C14D60-9B43-4954-9F00-F9026D90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162425"/>
            <a:ext cx="73437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Find spares, request them, get approval,</a:t>
            </a:r>
          </a:p>
          <a:p xmlns:a="http://schemas.openxmlformats.org/drawingml/2006/main">
            <a:pPr algn="l">
              <a:defRPr sz="2325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then record the handover</a:t>
            </a:r>
          </a:p>
        </p:txBody>
      </p:sp>
      <p:sp>
        <p:nvSpPr>
          <p:cNvPr id="9" name="condition">
            <a:extLst xmlns:a="http://schemas.openxmlformats.org/drawingml/2006/main">
              <a:ext uri="{FF2B5EF4-FFF2-40B4-BE49-F238E27FC236}">
                <a16:creationId xmlns:a16="http://schemas.microsoft.com/office/drawing/2014/main" id="{C59D625A-8F16-4F97-929A-A8C5D6E2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29275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We still need to confirm the KU unit that owns the service</a:t>
            </a:r>
          </a:p>
          <a:p xmlns:a="http://schemas.openxmlformats.org/drawingml/2006/main">
            <a:pPr algn="l">
              <a:defRPr sz="20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and the staff who would use it.</a:t>
            </a:r>
          </a:p>
        </p:txBody>
      </p:sp>
    </p:spTree>
    <p:extLst>
      <p:ext uri="{BB962C8B-B14F-4D97-AF65-F5344CB8AC3E}">
        <p14:creationId xmlns:p14="http://schemas.microsoft.com/office/powerpoint/2010/main" val="12324750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29C26F0-2B06-4809-A5F4-69B56D50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The comparison we are preparing</a:t>
            </a:r>
          </a:p>
        </p:txBody>
      </p:sp>
      <p:sp>
        <p:nvSpPr>
          <p:cNvPr id="2" name="presenter">
            <a:extLst xmlns:a="http://schemas.openxmlformats.org/drawingml/2006/main">
              <a:ext uri="{FF2B5EF4-FFF2-40B4-BE49-F238E27FC236}">
                <a16:creationId xmlns:a16="http://schemas.microsoft.com/office/drawing/2014/main" id="{7EB4209C-D62C-4EF4-AD71-EF5C5B2B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Zayed   3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771650"/>
          <a:ext xmlns:a="http://schemas.openxmlformats.org/drawingml/2006/main" cx="10820400" cy="349567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400425"/>
                <a:gridCol w="7419975"/>
              </a:tblGrid>
              <a:tr h="58102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Version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What we need to understand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92392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Current KU process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Which system and steps do staff use today?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92392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Our core tool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How would ordinary search and requests work?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1066800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Our tool with AI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What do suggestions add after staff check them?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4" name="missing">
            <a:extLst xmlns:a="http://schemas.openxmlformats.org/drawingml/2006/main">
              <a:ext uri="{FF2B5EF4-FFF2-40B4-BE49-F238E27FC236}">
                <a16:creationId xmlns:a16="http://schemas.microsoft.com/office/drawing/2014/main" id="{A7E7F484-84B6-4863-8350-E19E54F2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The current KU system, its features and the process owner</a:t>
            </a:r>
          </a:p>
          <a:p xmlns:a="http://schemas.openxmlformats.org/drawingml/2006/main">
            <a:pPr algn="l">
              <a:defRPr sz="210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still need confirmation.</a:t>
            </a:r>
          </a:p>
        </p:txBody>
      </p:sp>
    </p:spTree>
    <p:extLst>
      <p:ext uri="{BB962C8B-B14F-4D97-AF65-F5344CB8AC3E}">
        <p14:creationId xmlns:p14="http://schemas.microsoft.com/office/powerpoint/2010/main" val="21163542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DDC7358-A29B-4159-BB8F-F8A455D3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How we will measure the change</a:t>
            </a:r>
          </a:p>
        </p:txBody>
      </p:sp>
      <p:sp>
        <p:nvSpPr>
          <p:cNvPr id="2" name="presenter">
            <a:extLst xmlns:a="http://schemas.openxmlformats.org/drawingml/2006/main">
              <a:ext uri="{FF2B5EF4-FFF2-40B4-BE49-F238E27FC236}">
                <a16:creationId xmlns:a16="http://schemas.microsoft.com/office/drawing/2014/main" id="{B265DEE1-0A0A-4276-A6ED-0B7B5F47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Ghith   4</a:t>
            </a:r>
          </a:p>
        </p:txBody>
      </p:sp>
      <p:sp>
        <p:nvSpPr>
          <p:cNvPr id="3" name="method">
            <a:extLst xmlns:a="http://schemas.openxmlformats.org/drawingml/2006/main">
              <a:ext uri="{FF2B5EF4-FFF2-40B4-BE49-F238E27FC236}">
                <a16:creationId xmlns:a16="http://schemas.microsoft.com/office/drawing/2014/main" id="{56356787-1A51-4D50-90DD-83EC0C70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6746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6746D"/>
                </a:solidFill>
                <a:latin typeface="Arial"/>
                <a:ea typeface="Arial"/>
                <a:cs typeface="Arial"/>
              </a:rPr>
              <a:t>Same request and same correct outcome in each version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2419350"/>
          <a:ext xmlns:a="http://schemas.openxmlformats.org/drawingml/2006/main" cx="10820400" cy="302895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4010025"/>
                <a:gridCol w="6810375"/>
              </a:tblGrid>
              <a:tr h="552450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We will record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Why it matters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79057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Staff working minutes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Include checking, errors and extra data entry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79057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Completed requests and errors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A faster attempt is useful only if it works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895350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Extra purchases avoided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Subtract repair, transfer and operating costs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5" name="limit">
            <a:extLst xmlns:a="http://schemas.openxmlformats.org/drawingml/2006/main">
              <a:ext uri="{FF2B5EF4-FFF2-40B4-BE49-F238E27FC236}">
                <a16:creationId xmlns:a16="http://schemas.microsoft.com/office/drawing/2014/main" id="{0FF6ADF7-35DD-4696-A81D-137091B4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We have a measurement plan. We do not have results yet.</a:t>
            </a:r>
          </a:p>
        </p:txBody>
      </p:sp>
    </p:spTree>
    <p:extLst>
      <p:ext uri="{BB962C8B-B14F-4D97-AF65-F5344CB8AC3E}">
        <p14:creationId xmlns:p14="http://schemas.microsoft.com/office/powerpoint/2010/main" val="12689612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12B36125-C7C2-45BF-B772-189B6C73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What we found about hosting</a:t>
            </a:r>
          </a:p>
        </p:txBody>
      </p:sp>
      <p:sp>
        <p:nvSpPr>
          <p:cNvPr id="2" name="presenter">
            <a:extLst xmlns:a="http://schemas.openxmlformats.org/drawingml/2006/main">
              <a:ext uri="{FF2B5EF4-FFF2-40B4-BE49-F238E27FC236}">
                <a16:creationId xmlns:a16="http://schemas.microsoft.com/office/drawing/2014/main" id="{91C060DC-4CFE-4A2B-BD4B-AC64219F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Ghith   5</a:t>
            </a:r>
          </a:p>
        </p:txBody>
      </p:sp>
      <p:sp>
        <p:nvSpPr>
          <p:cNvPr id="3" name="free-label">
            <a:extLst xmlns:a="http://schemas.openxmlformats.org/drawingml/2006/main">
              <a:ext uri="{FF2B5EF4-FFF2-40B4-BE49-F238E27FC236}">
                <a16:creationId xmlns:a16="http://schemas.microsoft.com/office/drawing/2014/main" id="{D72C6C00-012C-4CE4-9B10-C95E22A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542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26746D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6746D"/>
                </a:solidFill>
                <a:latin typeface="Arial"/>
                <a:ea typeface="Arial"/>
                <a:cs typeface="Arial"/>
              </a:rPr>
              <a:t>Free option</a:t>
            </a:r>
          </a:p>
        </p:txBody>
      </p:sp>
      <p:sp>
        <p:nvSpPr>
          <p:cNvPr id="4" name="free">
            <a:extLst xmlns:a="http://schemas.openxmlformats.org/drawingml/2006/main">
              <a:ext uri="{FF2B5EF4-FFF2-40B4-BE49-F238E27FC236}">
                <a16:creationId xmlns:a16="http://schemas.microsoft.com/office/drawing/2014/main" id="{2CAD5D28-4E45-4EE6-85E1-BA1F9E3B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42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Render + Neon</a:t>
            </a:r>
          </a:p>
        </p:txBody>
      </p:sp>
      <p:sp>
        <p:nvSpPr>
          <p:cNvPr id="5" name="free-conditions">
            <a:extLst xmlns:a="http://schemas.openxmlformats.org/drawingml/2006/main">
              <a:ext uri="{FF2B5EF4-FFF2-40B4-BE49-F238E27FC236}">
                <a16:creationId xmlns:a16="http://schemas.microsoft.com/office/drawing/2014/main" id="{9BCFA638-3C6B-455F-9D60-E409FEA2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54387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Works only within free limits</a:t>
            </a:r>
          </a:p>
          <a:p xmlns:a="http://schemas.openxmlformats.org/drawingml/2006/main">
            <a:pPr algn="l">
              <a:defRPr sz="2100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The app sleeps when idle</a:t>
            </a:r>
          </a:p>
          <a:p xmlns:a="http://schemas.openxmlformats.org/drawingml/2006/main">
            <a:pPr algn="l">
              <a:defRPr sz="2100" b="0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43C"/>
                </a:solidFill>
                <a:latin typeface="Arial"/>
                <a:ea typeface="Arial"/>
                <a:cs typeface="Arial"/>
              </a:rPr>
              <a:t>File storage still needs a solution</a:t>
            </a:r>
          </a:p>
        </p:txBody>
      </p:sp>
      <p:sp>
        <p:nvSpPr>
          <p:cNvPr id="6" name="paid-label">
            <a:extLst xmlns:a="http://schemas.openxmlformats.org/drawingml/2006/main">
              <a:ext uri="{FF2B5EF4-FFF2-40B4-BE49-F238E27FC236}">
                <a16:creationId xmlns:a16="http://schemas.microsoft.com/office/drawing/2014/main" id="{0E1C1EC0-B67D-4DEA-9983-A94C6DF8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4838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6746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6746D"/>
                </a:solidFill>
                <a:latin typeface="Arial"/>
                <a:ea typeface="Arial"/>
                <a:cs typeface="Arial"/>
              </a:rPr>
              <a:t>Railway monthly example</a:t>
            </a:r>
          </a:p>
        </p:txBody>
      </p:sp>
      <p:sp>
        <p:nvSpPr>
          <p:cNvPr id="7" name="paid-total">
            <a:extLst xmlns:a="http://schemas.openxmlformats.org/drawingml/2006/main">
              <a:ext uri="{FF2B5EF4-FFF2-40B4-BE49-F238E27FC236}">
                <a16:creationId xmlns:a16="http://schemas.microsoft.com/office/drawing/2014/main" id="{4A63E755-2DE6-4F40-9CDD-FF52B4D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57425"/>
            <a:ext cx="48387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USD 6.20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667500" y="3448050"/>
          <a:ext xmlns:a="http://schemas.openxmlformats.org/drawingml/2006/main" cx="4838700" cy="1733550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3514725"/>
                <a:gridCol w="1323975"/>
              </a:tblGrid>
              <a:tr h="46672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Part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USD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54292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Memory and CPU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723900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Stored and outbound data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0.20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9" name="cost-limit">
            <a:extLst xmlns:a="http://schemas.openxmlformats.org/drawingml/2006/main">
              <a:ext uri="{FF2B5EF4-FFF2-40B4-BE49-F238E27FC236}">
                <a16:creationId xmlns:a16="http://schemas.microsoft.com/office/drawing/2014/main" id="{485EEF36-3830-433B-8CF6-FB3FE923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Assumed small workload, not a bill. AI, uploaded files and</a:t>
            </a:r>
          </a:p>
          <a:p xmlns:a="http://schemas.openxmlformats.org/drawingml/2006/main">
            <a:pPr algn="l">
              <a:defRPr sz="1950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other costs still need assessment.</a:t>
            </a:r>
          </a:p>
        </p:txBody>
      </p:sp>
    </p:spTree>
    <p:extLst>
      <p:ext uri="{BB962C8B-B14F-4D97-AF65-F5344CB8AC3E}">
        <p14:creationId xmlns:p14="http://schemas.microsoft.com/office/powerpoint/2010/main" val="2782935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D19517F-19E6-45E1-B527-8C9AA342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Work to finish before submission</a:t>
            </a:r>
          </a:p>
        </p:txBody>
      </p:sp>
      <p:sp>
        <p:nvSpPr>
          <p:cNvPr id="2" name="presenter">
            <a:extLst xmlns:a="http://schemas.openxmlformats.org/drawingml/2006/main">
              <a:ext uri="{FF2B5EF4-FFF2-40B4-BE49-F238E27FC236}">
                <a16:creationId xmlns:a16="http://schemas.microsoft.com/office/drawing/2014/main" id="{FA866BC8-F361-49A9-AF12-060C2BCA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Sultan   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288607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2390775"/>
                <a:gridCol w="8429625"/>
              </a:tblGrid>
              <a:tr h="533400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Owner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6746D"/>
                          </a:solidFill>
                          <a:latin typeface="Arial"/>
                          <a:ea typeface="Arial"/>
                          <a:cs typeface="Arial"/>
                        </a:rPr>
                        <a:t>Next work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742950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Sultan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Hosting, costs and the time plan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866775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Zayed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KU process, scenario, staff needs and rules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  <a:tr h="742950"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Ghith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  <a:tc>
                  <a:txBody>
                    <a:bodyPr lIns="76200" tIns="66675" rIns="114300" bIns="66675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343C"/>
                          </a:solidFill>
                          <a:latin typeface="Arial"/>
                          <a:ea typeface="Arial"/>
                          <a:cs typeface="Arial"/>
                        </a:rPr>
                        <a:t>Technology, data and an AI trial</a:t>
                      </a:r>
                    </a:p>
                  </a:txBody>
                  <a:tcPr marL="91440" marR="91440" marT="45720" marB="45720" anchor="ctr"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4" name="joint">
            <a:extLst xmlns:a="http://schemas.openxmlformats.org/drawingml/2006/main">
              <a:ext uri="{FF2B5EF4-FFF2-40B4-BE49-F238E27FC236}">
                <a16:creationId xmlns:a16="http://schemas.microsoft.com/office/drawing/2014/main" id="{C360794A-AD9A-4F75-A35B-03833F84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4425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4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43C"/>
                </a:solidFill>
                <a:latin typeface="Arial"/>
                <a:ea typeface="Arial"/>
                <a:cs typeface="Arial"/>
              </a:rPr>
              <a:t>Together: finish the six feasibility checks and review the report</a:t>
            </a:r>
          </a:p>
        </p:txBody>
      </p:sp>
      <p:sp>
        <p:nvSpPr>
          <p:cNvPr id="5" name="doctor">
            <a:extLst xmlns:a="http://schemas.openxmlformats.org/drawingml/2006/main">
              <a:ext uri="{FF2B5EF4-FFF2-40B4-BE49-F238E27FC236}">
                <a16:creationId xmlns:a16="http://schemas.microsoft.com/office/drawing/2014/main" id="{39F95F37-E0CA-45CA-935E-697320A1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Today we need to confirm the KU system, our scenario owner</a:t>
            </a:r>
          </a:p>
          <a:p xmlns:a="http://schemas.openxmlformats.org/drawingml/2006/main">
            <a:pPr algn="l">
              <a:defRPr sz="1800" b="0">
                <a:solidFill>
                  <a:srgbClr val="5262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264"/>
                </a:solidFill>
                <a:latin typeface="Arial"/>
                <a:ea typeface="Arial"/>
                <a:cs typeface="Arial"/>
              </a:rPr>
              <a:t>and access to evidence. The exact submission day is still to confirm.</a:t>
            </a:r>
          </a:p>
        </p:txBody>
      </p:sp>
    </p:spTree>
    <p:extLst>
      <p:ext uri="{BB962C8B-B14F-4D97-AF65-F5344CB8AC3E}">
        <p14:creationId xmlns:p14="http://schemas.microsoft.com/office/powerpoint/2010/main" val="1191974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2026-09-22T09:42:24.8240000Z</dcterms:created>
  <dcterms:modified xsi:type="dcterms:W3CDTF">2026-09-22T09:42:24.8250000Z</dcterms:modified>
</coreProperties>
</file>