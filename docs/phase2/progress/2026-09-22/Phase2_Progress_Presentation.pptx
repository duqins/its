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93752034a44281" /><Relationship Type="http://schemas.openxmlformats.org/officeDocument/2006/relationships/extended-properties" Target="/docProps/app.xml" Id="Rc7b2a9be76af4257" /><Relationship Type="http://schemas.openxmlformats.org/officeDocument/2006/relationships/officeDocument" Target="/ppt/presentation.xml" Id="Rac19af5319c348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1fd3b78f3b4cbc"/>
  </p:sldMasterIdLst>
  <p:notesMasterIdLst>
    <p:notesMasterId xmlns:r="http://schemas.openxmlformats.org/officeDocument/2006/relationships" r:id="R6ea028759fb4435a"/>
  </p:notesMasterIdLst>
  <p:sldIdLst>
    <p:sldId xmlns:r="http://schemas.openxmlformats.org/officeDocument/2006/relationships" id="256" r:id="R1ce67cc027c04933"/>
    <p:sldId xmlns:r="http://schemas.openxmlformats.org/officeDocument/2006/relationships" id="257" r:id="Rd42f81cce8194a53"/>
    <p:sldId xmlns:r="http://schemas.openxmlformats.org/officeDocument/2006/relationships" id="258" r:id="R27df153e3db34bba"/>
    <p:sldId xmlns:r="http://schemas.openxmlformats.org/officeDocument/2006/relationships" id="259" r:id="Ra3b390f1d5274d53"/>
    <p:sldId xmlns:r="http://schemas.openxmlformats.org/officeDocument/2006/relationships" id="260" r:id="R2a30841c43fe4b79"/>
    <p:sldId xmlns:r="http://schemas.openxmlformats.org/officeDocument/2006/relationships" id="261" r:id="R8e61bbe75a2c47a4"/>
    <p:sldId xmlns:r="http://schemas.openxmlformats.org/officeDocument/2006/relationships" id="262" r:id="R8f223647758a47e0"/>
    <p:sldId xmlns:r="http://schemas.openxmlformats.org/officeDocument/2006/relationships" id="263" r:id="Rf6b6623445584b27"/>
    <p:sldId xmlns:r="http://schemas.openxmlformats.org/officeDocument/2006/relationships" id="264" r:id="R22ab5ed9b80946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7900df395b4dc9" /><Relationship Type="http://schemas.openxmlformats.org/officeDocument/2006/relationships/slideMaster" Target="/ppt/slideMasters/slideMaster1.xml" Id="R011fd3b78f3b4cbc" /><Relationship Type="http://schemas.openxmlformats.org/officeDocument/2006/relationships/notesMaster" Target="/ppt/notesMasters/notesMaster1.xml" Id="R6ea028759fb4435a" /><Relationship Type="http://schemas.openxmlformats.org/officeDocument/2006/relationships/presProps" Target="/ppt/presProps.xml" Id="Rfef4c9b8bec14b6d" /><Relationship Type="http://schemas.openxmlformats.org/officeDocument/2006/relationships/tableStyles" Target="/ppt/tableStyles.xml" Id="R296dfe6b13f74064" /><Relationship Type="http://schemas.openxmlformats.org/officeDocument/2006/relationships/slide" Target="/ppt/slides/slide1.xml" Id="R1ce67cc027c04933" /><Relationship Type="http://schemas.openxmlformats.org/officeDocument/2006/relationships/slide" Target="/ppt/slides/slide2.xml" Id="Rd42f81cce8194a53" /><Relationship Type="http://schemas.openxmlformats.org/officeDocument/2006/relationships/slide" Target="/ppt/slides/slide3.xml" Id="R27df153e3db34bba" /><Relationship Type="http://schemas.openxmlformats.org/officeDocument/2006/relationships/slide" Target="/ppt/slides/slide4.xml" Id="Ra3b390f1d5274d53" /><Relationship Type="http://schemas.openxmlformats.org/officeDocument/2006/relationships/slide" Target="/ppt/slides/slide5.xml" Id="R2a30841c43fe4b79" /><Relationship Type="http://schemas.openxmlformats.org/officeDocument/2006/relationships/slide" Target="/ppt/slides/slide6.xml" Id="R8e61bbe75a2c47a4" /><Relationship Type="http://schemas.openxmlformats.org/officeDocument/2006/relationships/slide" Target="/ppt/slides/slide7.xml" Id="R8f223647758a47e0" /><Relationship Type="http://schemas.openxmlformats.org/officeDocument/2006/relationships/slide" Target="/ppt/slides/slide8.xml" Id="Rf6b6623445584b27" /><Relationship Type="http://schemas.openxmlformats.org/officeDocument/2006/relationships/slide" Target="/ppt/slides/slide9.xml" Id="R22ab5ed9b80946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3ea260e96d45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b05312b55c4ff8" /><Relationship Type="http://schemas.openxmlformats.org/officeDocument/2006/relationships/notesMaster" Target="/ppt/notesMasters/notesMaster1.xml" Id="Rf510e6b6f09f4a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c66b49a6624b95" /><Relationship Type="http://schemas.openxmlformats.org/officeDocument/2006/relationships/notesMaster" Target="/ppt/notesMasters/notesMaster1.xml" Id="R16ea715e620147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ca2c8243694c73" /><Relationship Type="http://schemas.openxmlformats.org/officeDocument/2006/relationships/notesMaster" Target="/ppt/notesMasters/notesMaster1.xml" Id="R68cd43225e2c471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fbcf7e240574438" /><Relationship Type="http://schemas.openxmlformats.org/officeDocument/2006/relationships/notesMaster" Target="/ppt/notesMasters/notesMaster1.xml" Id="R2b966cade5904bb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996e98ac45420d" /><Relationship Type="http://schemas.openxmlformats.org/officeDocument/2006/relationships/notesMaster" Target="/ppt/notesMasters/notesMaster1.xml" Id="Rf8ab190a0b774e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c014b237c845dc" /><Relationship Type="http://schemas.openxmlformats.org/officeDocument/2006/relationships/notesMaster" Target="/ppt/notesMasters/notesMaster1.xml" Id="Radb26f3b14614f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4c75a5416c4a51" /><Relationship Type="http://schemas.openxmlformats.org/officeDocument/2006/relationships/notesMaster" Target="/ppt/notesMasters/notesMaster1.xml" Id="R9ef48b80969b41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41adc21e19c4582" /><Relationship Type="http://schemas.openxmlformats.org/officeDocument/2006/relationships/notesMaster" Target="/ppt/notesMasters/notesMaster1.xml" Id="Rd84716582d494e3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8ced1142fa4e7a" /><Relationship Type="http://schemas.openxmlformats.org/officeDocument/2006/relationships/notesMaster" Target="/ppt/notesMasters/notesMaster1.xml" Id="Raaa2a25745db4e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status</a:t>
            </a:r>
          </a:p>
          <a:p xmlns:a="http://schemas.openxmlformats.org/drawingml/2006/main">
            <a:r>
              <a:t>https://github.com/duqins/ITS/blob/main/docs/reference/Project-September2026.pdf pages 5 and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Early progress report, not a measured 50 percent completion claim. No interviews, timing trials, implemented app or deployment claimed. Submission next week comes from the user; exact day remains to confirm. Photo by Ildar Sagdejev (Specious), UNC Chapel Hill, 2003-09-30. Source https://commons.wikimedia.org/wiki/File:2003-09-30_UNC-CH_Phillips_classroom_1.jpg . CC BY-SA 3.0 https://creativecommons.org/licenses/by-sa/3.0 . Proportional resizing only. Suggested time25seconds.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status</a:t>
            </a:r>
          </a:p>
          <a:p xmlns:a="http://schemas.openxmlformats.org/drawingml/2006/main">
            <a:r>
              <a:t>https://github.com/duqins/ITS/blob/main/docs/phase1/sections/06-requirements-specification.md</a:t>
            </a:r>
          </a:p>
          <a:p xmlns:a="http://schemas.openxmlformats.org/drawingml/2006/main">
            <a:r>
              <a:t>Local Phase2 foundation proposal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Illustrative scenario, not a measured request or a confirmed KU mandate. Participating units, staff and service owner still need confirmation. Steps summarise FR07,08,10,11; any additional finance/procurement approvals depend on policy. Diagram is a conceptual image generated with the built-in image tool, not a screenshot or implemented application. Source prompt is retained with the image. Suggested time35seconds.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status</a:t>
            </a:r>
          </a:p>
          <a:p xmlns:a="http://schemas.openxmlformats.org/drawingml/2006/main">
            <a:r>
              <a:t>https://github.com/duqins/ITS/blob/main/docs/phase1/sections/02-project-overview.md section2.5</a:t>
            </a:r>
          </a:p>
          <a:p xmlns:a="http://schemas.openxmlformats.org/drawingml/2006/main">
            <a:r>
              <a:t>https://github.com/duqins/ITS/blob/main/docs/phase1/sections/06-requirements-specification.md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Condensed scope summary. In scope includes authentication and nine roles, departments, assets with photos/documents, surplus marketplace, requests, search/filtering, reservations, approvals, transfer/custody, maintenance/repair, end-of-life actions, notifications/audit, classic reports, AI classification/matching/ranking/sustainable-action suggestions/assistant/generative reporting, sustainability, local setup, hosting/deployment and documentation. ERP means university enterprise resource planning; live integration is excluded and interfaces are simulated. Recording collection/delivery remains in scope, while physical logistics/hardware is excluded. Deployment is explicitly included. Suggested time35seconds.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status</a:t>
            </a:r>
          </a:p>
          <a:p xmlns:a="http://schemas.openxmlformats.org/drawingml/2006/main">
            <a:r>
              <a:t>https://github.com/duqins/ITS/blob/main/docs/reference/Project-September2026.pdf page5</a:t>
            </a:r>
          </a:p>
          <a:p xmlns:a="http://schemas.openxmlformats.org/drawingml/2006/main">
            <a:r>
              <a:t>https://github.com/duqins/ITS/blob/main/docs/phase1/sections/06-requirements-specification.md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KU capabilities are unconfirmed. This is a comparison plan, not a claim that KU lacks any listed feature. Core and AI entries describe intended functionality, not implemented features. Human approvals and permissions apply to all versions. Suggested time30seconds.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status</a:t>
            </a:r>
          </a:p>
          <a:p xmlns:a="http://schemas.openxmlformats.org/drawingml/2006/main">
            <a:r>
              <a:t>https://github.com/duqins/ITS/blob/main/docs/phase1/sections/06-requirements-specification.md AI03-AI05,AI11,AI13</a:t>
            </a:r>
          </a:p>
          <a:p xmlns:a="http://schemas.openxmlformats.org/drawingml/2006/main">
            <a:r>
              <a:t>https://github.com/duqins/ITS/blob/main/docs/phase1/sections/09-classic-vs-ai.md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Proposed behaviour. Enforce eligibility and permissions before actionable matching; AI must not override compatibility, available quantity, release/receipt approvals or controlled asset state changes. Ranking quality, explanations and fallback still need a trial. Suggested time35seconds.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status</a:t>
            </a:r>
          </a:p>
          <a:p xmlns:a="http://schemas.openxmlformats.org/drawingml/2006/main">
            <a:r>
              <a:t>https://github.com/duqins/ITS/blob/main/docs/reference/Project-September2026.pdf page7</a:t>
            </a:r>
          </a:p>
          <a:p xmlns:a="http://schemas.openxmlformats.org/drawingml/2006/main">
            <a:r>
              <a:t>Phase2_Progress_Update.docx page2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are hypotheses and a measurement plan, not demonstrated benefits. Include failed cases, sample size, active minutes of all roles, corrections, AI review, administration and duplicate entry. Use comparable input cases and record completion/errors. Count incremental avoided purchases relative to current process, subtract inspection/repair/transfer and added operation costs. Released staff time is capacity, not automatic cash savings. Suggested time35seconds.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status</a:t>
            </a:r>
          </a:p>
          <a:p xmlns:a="http://schemas.openxmlformats.org/drawingml/2006/main">
            <a:r>
              <a:t>https://github.com/duqins/ITS/blob/main/docs/reference/Project-September2026.pdf page7</a:t>
            </a:r>
          </a:p>
          <a:p xmlns:a="http://schemas.openxmlformats.org/drawingml/2006/main">
            <a:r>
              <a:t>Phase2_Group_Work_Plan.docx</a:t>
            </a:r>
          </a:p>
          <a:p xmlns:a="http://schemas.openxmlformats.org/drawingml/2006/main">
            <a:r>
              <a:t>Phase2_Progress_Update.docx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Status refers to documented planning/research, not completed feasibility validation. No actual stack experiment, interviews, current-process measurements, policy approval or implementation is claimed. Suggested time30seconds.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status</a:t>
            </a:r>
          </a:p>
          <a:p xmlns:a="http://schemas.openxmlformats.org/drawingml/2006/main">
            <a:r>
              <a:t>https://docs.railway.com/pricing</a:t>
            </a:r>
          </a:p>
          <a:p xmlns:a="http://schemas.openxmlformats.org/drawingml/2006/main">
            <a:r>
              <a:t>https://docs.railway.com/pricing/understanding-your-bill</a:t>
            </a:r>
          </a:p>
          <a:p xmlns:a="http://schemas.openxmlformats.org/drawingml/2006/main">
            <a:r>
              <a:t>https://render.com/docs/free</a:t>
            </a:r>
          </a:p>
          <a:p xmlns:a="http://schemas.openxmlformats.org/drawingml/2006/main">
            <a:r>
              <a:t>https://github.com/neondatabase/website/blob/main/content/faqs/free-plan-limits-and-quotas.md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Prices checked22September2026. Monthly average combined app/database resource assumptions: .5GB RAMx$10=$5; .05vCPUx$20=$1;1GBvolume x$.15=$.15;1GBpublicegress x$.05=$.05. Total$6.20. Hobby minimum$5 includes usage, so billmax(5,6.20)=6.20. Assumptions are unmeasured and not KU demand. Illustrative partial subtotal excludes AI, media storage, support, taxes and other unpriced costs. Renderfree sleeps15idleminutes and cannot persist appfiles; Neonfree database is separate. Chart data are literal calculations, not an external workbook or measured bill. Suggested time45seconds.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status</a:t>
            </a:r>
          </a:p>
          <a:p xmlns:a="http://schemas.openxmlformats.org/drawingml/2006/main">
            <a:r>
              <a:t>https://github.com/duqins/ITS/blob/main/docs/reference/Project-September2026.pdf page7</a:t>
            </a:r>
          </a:p>
          <a:p xmlns:a="http://schemas.openxmlformats.org/drawingml/2006/main">
            <a:r>
              <a:t>Phase2_Group_Work_Plan.docx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Three slides each. Sultan1,8,9 total100seconds; Zayed2,3,4 total100seconds; Ghith5,6,7 total100seconds. Suggested durations allow5minutes for the team. This is a timing allocation, not a speaking guide. Brand and logo remain unconfirmed. Final report integrates six feasibility dimensions. Deployment remains in semester scope. Suggested time30seconds.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5924625d043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f85558eb3a4abb" /><Relationship Type="http://schemas.openxmlformats.org/officeDocument/2006/relationships/slideLayout" Target="/ppt/slideLayouts/slideLayout1.xml" Id="R4fd25873c9ea44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d25873c9ea44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f199e756b4832" /><Relationship Type="http://schemas.openxmlformats.org/officeDocument/2006/relationships/image" Target="/ppt/media/image.jpeg" Id="R636a6d6f7e724723" /><Relationship Type="http://schemas.openxmlformats.org/officeDocument/2006/relationships/notesSlide" Target="/ppt/notesSlides/notesSlide1.xml" Id="R256f21dbd4bc42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1be7a437fc4064" /><Relationship Type="http://schemas.openxmlformats.org/officeDocument/2006/relationships/image" Target="/ppt/media/image.png" Id="Rad072401dfb4475e" /><Relationship Type="http://schemas.openxmlformats.org/officeDocument/2006/relationships/notesSlide" Target="/ppt/notesSlides/notesSlide2.xml" Id="Rf45c0b71556e4e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4cab14f686440c" /><Relationship Type="http://schemas.openxmlformats.org/officeDocument/2006/relationships/notesSlide" Target="/ppt/notesSlides/notesSlide3.xml" Id="R72139d43195342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3c9cea3653434b" /><Relationship Type="http://schemas.openxmlformats.org/officeDocument/2006/relationships/notesSlide" Target="/ppt/notesSlides/notesSlide4.xml" Id="R8e0d2818500742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8b34402b6464c" /><Relationship Type="http://schemas.openxmlformats.org/officeDocument/2006/relationships/notesSlide" Target="/ppt/notesSlides/notesSlide5.xml" Id="Rf6fc12941e364b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a6732585e457f" /><Relationship Type="http://schemas.openxmlformats.org/officeDocument/2006/relationships/notesSlide" Target="/ppt/notesSlides/notesSlide6.xml" Id="R7fb4961a880245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be6f7ebc145a2" /><Relationship Type="http://schemas.openxmlformats.org/officeDocument/2006/relationships/notesSlide" Target="/ppt/notesSlides/notesSlide7.xml" Id="Rdbc18bba55d94f8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33fd155804473" /><Relationship Type="http://schemas.openxmlformats.org/officeDocument/2006/relationships/chart" Target="/ppt/slides/charts/chart1.xml" Id="R44235931d0454288" /><Relationship Type="http://schemas.openxmlformats.org/officeDocument/2006/relationships/notesSlide" Target="/ppt/notesSlides/notesSlide8.xml" Id="R2c70ad46de6742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2944179a21434f" /><Relationship Type="http://schemas.openxmlformats.org/officeDocument/2006/relationships/notesSlide" Target="/ppt/notesSlides/notesSlide9.xml" Id="R2099f7de8b474c3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USD per month</c:v>
          </c:tx>
          <c:spPr>
            <a:solidFill xmlns:a="http://schemas.openxmlformats.org/drawingml/2006/main">
              <a:srgbClr val="26746D"/>
            </a:solidFill>
          </c:spPr>
          <c:cat>
            <c:strRef>
              <c:f>'Chart Data'!$A$2:$A$5</c:f>
              <c:strCache>
                <c:ptCount val="4"/>
                <c:pt idx="0">
                  <c:v>Data transfer</c:v>
                </c:pt>
                <c:pt idx="1">
                  <c:v>Stored data</c:v>
                </c:pt>
                <c:pt idx="2">
                  <c:v>CPU</c:v>
                </c:pt>
                <c:pt idx="3">
                  <c:v>Memory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0.05</c:v>
                </c:pt>
                <c:pt idx="1">
                  <c:v>0.15</c:v>
                </c:pt>
                <c:pt idx="2">
                  <c:v>1</c:v>
                </c:pt>
                <c:pt idx="3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7343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b"/>
        <c:numFmt formatCode="0"/>
        <c:majorTickMark val="none"/>
        <c:minorTickMark val="none"/>
        <c:spPr>
          <a:ln xmlns:a="http://schemas.openxmlformats.org/drawingml/2006/main" w="0">
            <a:solidFill>
              <a:srgbClr val="FAFAF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AFAF7"/>
        </a:solidFill>
        <a:ln xmlns:a="http://schemas.openxmlformats.org/drawingml/2006/main" w="0">
          <a:solidFill>
            <a:srgbClr val="FAFAF7"/>
          </a:solidFill>
        </a:ln>
      </c:spPr>
    </c:plotArea>
    <c:plotVisOnly val="1"/>
  </c:chart>
  <c:spPr>
    <a:solidFill xmlns:a="http://schemas.openxmlformats.org/drawingml/2006/main">
      <a:srgbClr val="FAFAF7"/>
    </a:solidFill>
    <a:ln xmlns:a="http://schemas.openxmlformats.org/drawingml/2006/main" w="0">
      <a:solidFill>
        <a:srgbClr val="FAFAF7"/>
      </a:solidFill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resenter">
            <a:extLst xmlns:a="http://schemas.openxmlformats.org/drawingml/2006/main">
              <a:ext uri="{FF2B5EF4-FFF2-40B4-BE49-F238E27FC236}">
                <a16:creationId xmlns:a16="http://schemas.microsoft.com/office/drawing/2014/main" id="{CC8ED219-50CD-4CE1-BC5A-FA33DBB2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429375"/>
            <a:ext cx="1400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Sultan   1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BC276E7B-C7BE-4922-B5D0-2B6E5FDCD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6746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6746D"/>
                </a:solidFill>
                <a:latin typeface="Arial"/>
                <a:ea typeface="Arial"/>
                <a:cs typeface="Arial"/>
              </a:rPr>
              <a:t>Campus Resource Exchange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BAB5542-C0C7-49C1-A1C1-8EF18A53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90650"/>
            <a:ext cx="641032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Phase 2</a:t>
            </a:r>
          </a:p>
          <a:p xmlns:a="http://schemas.openxmlformats.org/drawingml/2006/main">
            <a:pPr algn="l">
              <a:defRPr sz="450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progress update</a:t>
            </a:r>
          </a:p>
        </p:txBody>
      </p:sp>
      <p:sp>
        <p:nvSpPr>
          <p:cNvPr id="4" name="completed">
            <a:extLst xmlns:a="http://schemas.openxmlformats.org/drawingml/2006/main">
              <a:ext uri="{FF2B5EF4-FFF2-40B4-BE49-F238E27FC236}">
                <a16:creationId xmlns:a16="http://schemas.microsoft.com/office/drawing/2014/main" id="{FB7339CB-4405-4FAD-96A0-FF0679A3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613410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43C"/>
                </a:solidFill>
                <a:latin typeface="Arial"/>
                <a:ea typeface="Arial"/>
                <a:cs typeface="Arial"/>
              </a:rPr>
              <a:t>Scope reviewed</a:t>
            </a:r>
          </a:p>
          <a:p xmlns:a="http://schemas.openxmlformats.org/drawingml/2006/main">
            <a:pPr algn="l">
              <a:defRPr sz="2325" b="0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43C"/>
                </a:solidFill>
                <a:latin typeface="Arial"/>
                <a:ea typeface="Arial"/>
                <a:cs typeface="Arial"/>
              </a:rPr>
              <a:t>Scenario drafted</a:t>
            </a:r>
          </a:p>
          <a:p xmlns:a="http://schemas.openxmlformats.org/drawingml/2006/main">
            <a:pPr algn="l">
              <a:defRPr sz="2325" b="0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43C"/>
                </a:solidFill>
                <a:latin typeface="Arial"/>
                <a:ea typeface="Arial"/>
                <a:cs typeface="Arial"/>
              </a:rPr>
              <a:t>Hosting costs researched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a6d6f7e724723"/>
          <a:stretch xmlns:a="http://schemas.openxmlformats.org/drawingml/2006/main"/>
        </p:blipFill>
        <p:spPr>
          <a:xfrm xmlns:a="http://schemas.openxmlformats.org/drawingml/2006/main">
            <a:off x="7429500" y="1438275"/>
            <a:ext cx="4114800" cy="3086100"/>
          </a:xfrm>
          <a:prstGeom xmlns:a="http://schemas.openxmlformats.org/drawingml/2006/main" prst="rect">
            <a:avLst/>
          </a:prstGeom>
        </p:spPr>
      </p:pic>
      <p:sp>
        <p:nvSpPr>
          <p:cNvPr id="6" name="photo-caption">
            <a:extLst xmlns:a="http://schemas.openxmlformats.org/drawingml/2006/main">
              <a:ext uri="{FF2B5EF4-FFF2-40B4-BE49-F238E27FC236}">
                <a16:creationId xmlns:a16="http://schemas.microsoft.com/office/drawing/2014/main" id="{CF2F98F6-02DF-4DC8-9BCF-8DBEA910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19625"/>
            <a:ext cx="411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Illustrative classroom, not KU</a:t>
            </a:r>
          </a:p>
        </p:txBody>
      </p:sp>
      <p:sp>
        <p:nvSpPr>
          <p:cNvPr id="7" name="status">
            <a:extLst xmlns:a="http://schemas.openxmlformats.org/drawingml/2006/main">
              <a:ext uri="{FF2B5EF4-FFF2-40B4-BE49-F238E27FC236}">
                <a16:creationId xmlns:a16="http://schemas.microsoft.com/office/drawing/2014/main" id="{133792B0-135F-4487-BD30-45F0C814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95900"/>
            <a:ext cx="1089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This week: progress discussion</a:t>
            </a:r>
          </a:p>
          <a:p xmlns:a="http://schemas.openxmlformats.org/drawingml/2006/main">
            <a:pPr algn="l">
              <a:defRPr sz="225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Next week: final feasibility submission</a:t>
            </a:r>
          </a:p>
        </p:txBody>
      </p:sp>
      <p:sp>
        <p:nvSpPr>
          <p:cNvPr id="8" name="team">
            <a:extLst xmlns:a="http://schemas.openxmlformats.org/drawingml/2006/main">
              <a:ext uri="{FF2B5EF4-FFF2-40B4-BE49-F238E27FC236}">
                <a16:creationId xmlns:a16="http://schemas.microsoft.com/office/drawing/2014/main" id="{05102E60-9AF9-47E1-B327-43169D95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67450"/>
            <a:ext cx="91725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Group 4   Sultan Almheiri, Zayed Alfadli and Ghith Alhinaai   22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216407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C1574E45-A86F-41E6-81FC-06B3426E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Our proposed monitor example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BDA25D23-0F58-4DDF-B2C9-A8546538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429375"/>
            <a:ext cx="1400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Zayed   2</a:t>
            </a:r>
          </a:p>
        </p:txBody>
      </p:sp>
      <p:sp>
        <p:nvSpPr>
          <p:cNvPr id="3" name="team-role">
            <a:extLst xmlns:a="http://schemas.openxmlformats.org/drawingml/2006/main">
              <a:ext uri="{FF2B5EF4-FFF2-40B4-BE49-F238E27FC236}">
                <a16:creationId xmlns:a16="http://schemas.microsoft.com/office/drawing/2014/main" id="{D94EDC09-86A9-4C1F-AE5C-754FAE75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10896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46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746D"/>
                </a:solidFill>
                <a:latin typeface="Arial"/>
                <a:ea typeface="Arial"/>
                <a:cs typeface="Arial"/>
              </a:rPr>
              <a:t>We are three KU students proposing a reuse tool for staff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72401dfb4475e"/>
          <a:stretch xmlns:a="http://schemas.openxmlformats.org/drawingml/2006/main"/>
        </p:blipFill>
        <p:spPr>
          <a:xfrm xmlns:a="http://schemas.openxmlformats.org/drawingml/2006/main">
            <a:off x="542925" y="2354263"/>
            <a:ext cx="11106150" cy="3702050"/>
          </a:xfrm>
          <a:prstGeom xmlns:a="http://schemas.openxmlformats.org/drawingml/2006/main" prst="rect">
            <a:avLst/>
          </a:prstGeom>
        </p:spPr>
      </p:pic>
      <p:sp>
        <p:nvSpPr>
          <p:cNvPr id="5" name="step0">
            <a:extLst xmlns:a="http://schemas.openxmlformats.org/drawingml/2006/main">
              <a:ext uri="{FF2B5EF4-FFF2-40B4-BE49-F238E27FC236}">
                <a16:creationId xmlns:a16="http://schemas.microsoft.com/office/drawing/2014/main" id="{B1468F0C-CA74-43F4-A1B9-8766C324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2638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1  Request</a:t>
            </a:r>
          </a:p>
        </p:txBody>
      </p:sp>
      <p:sp>
        <p:nvSpPr>
          <p:cNvPr id="6" name="detail0">
            <a:extLst xmlns:a="http://schemas.openxmlformats.org/drawingml/2006/main">
              <a:ext uri="{FF2B5EF4-FFF2-40B4-BE49-F238E27FC236}">
                <a16:creationId xmlns:a16="http://schemas.microsoft.com/office/drawing/2014/main" id="{5566860B-4322-43ED-89C5-6E928794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24525"/>
            <a:ext cx="26384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Two suitable monitors</a:t>
            </a:r>
          </a:p>
        </p:txBody>
      </p:sp>
      <p:sp>
        <p:nvSpPr>
          <p:cNvPr id="7" name="step1">
            <a:extLst xmlns:a="http://schemas.openxmlformats.org/drawingml/2006/main">
              <a:ext uri="{FF2B5EF4-FFF2-40B4-BE49-F238E27FC236}">
                <a16:creationId xmlns:a16="http://schemas.microsoft.com/office/drawing/2014/main" id="{0BAD3C70-7BA5-43F4-AE5A-A6B65DBC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81200"/>
            <a:ext cx="2638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2  Find spares</a:t>
            </a:r>
          </a:p>
        </p:txBody>
      </p:sp>
      <p:sp>
        <p:nvSpPr>
          <p:cNvPr id="8" name="detail1">
            <a:extLst xmlns:a="http://schemas.openxmlformats.org/drawingml/2006/main">
              <a:ext uri="{FF2B5EF4-FFF2-40B4-BE49-F238E27FC236}">
                <a16:creationId xmlns:a16="http://schemas.microsoft.com/office/drawing/2014/main" id="{F4E27746-AF92-4AFA-B49E-4BC9AEDB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24525"/>
            <a:ext cx="26384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Check quantity and fit</a:t>
            </a:r>
          </a:p>
        </p:txBody>
      </p:sp>
      <p:sp>
        <p:nvSpPr>
          <p:cNvPr id="9" name="step2">
            <a:extLst xmlns:a="http://schemas.openxmlformats.org/drawingml/2006/main">
              <a:ext uri="{FF2B5EF4-FFF2-40B4-BE49-F238E27FC236}">
                <a16:creationId xmlns:a16="http://schemas.microsoft.com/office/drawing/2014/main" id="{82660C51-435E-4F71-83D5-3EF79141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981200"/>
            <a:ext cx="2638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3  Get approval</a:t>
            </a:r>
          </a:p>
        </p:txBody>
      </p:sp>
      <p:sp>
        <p:nvSpPr>
          <p:cNvPr id="10" name="detail2">
            <a:extLst xmlns:a="http://schemas.openxmlformats.org/drawingml/2006/main">
              <a:ext uri="{FF2B5EF4-FFF2-40B4-BE49-F238E27FC236}">
                <a16:creationId xmlns:a16="http://schemas.microsoft.com/office/drawing/2014/main" id="{2C43F43D-9C89-4B70-8A83-689DFBD5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724525"/>
            <a:ext cx="26384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Releasing and receiving staff</a:t>
            </a:r>
          </a:p>
        </p:txBody>
      </p:sp>
      <p:sp>
        <p:nvSpPr>
          <p:cNvPr id="11" name="step3">
            <a:extLst xmlns:a="http://schemas.openxmlformats.org/drawingml/2006/main">
              <a:ext uri="{FF2B5EF4-FFF2-40B4-BE49-F238E27FC236}">
                <a16:creationId xmlns:a16="http://schemas.microsoft.com/office/drawing/2014/main" id="{D04173A0-926F-420D-B68B-B55AEC609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981200"/>
            <a:ext cx="2638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4  Record handover</a:t>
            </a:r>
          </a:p>
        </p:txBody>
      </p:sp>
      <p:sp>
        <p:nvSpPr>
          <p:cNvPr id="12" name="detail3">
            <a:extLst xmlns:a="http://schemas.openxmlformats.org/drawingml/2006/main">
              <a:ext uri="{FF2B5EF4-FFF2-40B4-BE49-F238E27FC236}">
                <a16:creationId xmlns:a16="http://schemas.microsoft.com/office/drawing/2014/main" id="{0361F87A-B9CA-4569-8C22-8C6AFCA76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724525"/>
            <a:ext cx="26384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Update custody and location</a:t>
            </a:r>
          </a:p>
        </p:txBody>
      </p:sp>
    </p:spTree>
    <p:extLst>
      <p:ext uri="{BB962C8B-B14F-4D97-AF65-F5344CB8AC3E}">
        <p14:creationId xmlns:p14="http://schemas.microsoft.com/office/powerpoint/2010/main" val="11282027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607182A-8096-433F-B08E-DBE1AACE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Project scope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AC37414C-FFD2-4096-8FC3-DD4FC757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429375"/>
            <a:ext cx="1400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Zayed   3</a:t>
            </a:r>
          </a:p>
        </p:txBody>
      </p:sp>
      <p:sp>
        <p:nvSpPr>
          <p:cNvPr id="3" name="scope-intro">
            <a:extLst xmlns:a="http://schemas.openxmlformats.org/drawingml/2006/main">
              <a:ext uri="{FF2B5EF4-FFF2-40B4-BE49-F238E27FC236}">
                <a16:creationId xmlns:a16="http://schemas.microsoft.com/office/drawing/2014/main" id="{9284BF40-B683-4A44-B89D-4A435E49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04925"/>
            <a:ext cx="10896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These boundaries cover the semester project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47700" y="1781175"/>
          <a:ext xmlns:a="http://schemas.openxmlformats.org/drawingml/2006/main" cx="10896600" cy="41910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105025"/>
                <a:gridCol w="4391025"/>
                <a:gridCol w="4400550"/>
              </a:tblGrid>
              <a:tr h="5238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 scope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 of scope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</a:tr>
              <a:tr h="7334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Campus work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Asset lists, requests, approvals</a:t>
                      </a:r>
                    </a:p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and history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Live links to KU finance,</a:t>
                      </a:r>
                    </a:p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purchasing or ERP systems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7334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Asset care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Transfer, maintenance</a:t>
                      </a:r>
                    </a:p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and retirement records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Vehicle scheduling or</a:t>
                      </a:r>
                    </a:p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barcode and RFID hardware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</a:tr>
              <a:tr h="7334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Costs and reports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Cost records and</a:t>
                      </a:r>
                    </a:p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sustainability reports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Purchasing and</a:t>
                      </a:r>
                    </a:p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payment processing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7334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AI help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AI suggestions, assistant</a:t>
                      </a:r>
                    </a:p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and reports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Training new AI models</a:t>
                      </a:r>
                    </a:p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from scratch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</a:tr>
              <a:tr h="7334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Access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Responsive website,</a:t>
                      </a:r>
                    </a:p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hosting and deployment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Separate iPhone</a:t>
                      </a:r>
                    </a:p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and Android apps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5" name="scope-note">
            <a:extLst xmlns:a="http://schemas.openxmlformats.org/drawingml/2006/main">
              <a:ext uri="{FF2B5EF4-FFF2-40B4-BE49-F238E27FC236}">
                <a16:creationId xmlns:a16="http://schemas.microsoft.com/office/drawing/2014/main" id="{0E234A50-5350-4EDC-8F11-D46AE452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24575"/>
            <a:ext cx="108966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The monitor example is a small test case within this wider scope.</a:t>
            </a:r>
          </a:p>
        </p:txBody>
      </p:sp>
    </p:spTree>
    <p:extLst>
      <p:ext uri="{BB962C8B-B14F-4D97-AF65-F5344CB8AC3E}">
        <p14:creationId xmlns:p14="http://schemas.microsoft.com/office/powerpoint/2010/main" val="11925285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3C51354-42AB-4162-AE0D-2B44540F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What we will compare at KU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824885A5-425E-4E9C-A3F0-A90BAEB1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429375"/>
            <a:ext cx="1400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Zayed   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47700" y="1657350"/>
          <a:ext xmlns:a="http://schemas.openxmlformats.org/drawingml/2006/main" cx="10896600" cy="42481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1771650"/>
                <a:gridCol w="2952750"/>
                <a:gridCol w="2714625"/>
                <a:gridCol w="3457575"/>
              </a:tblGrid>
              <a:tr h="55245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KU process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Our core tool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Added AI help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</a:tr>
              <a:tr h="8477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Find an item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Confirm search</a:t>
                      </a:r>
                    </a:p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and availability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Keywords and</a:t>
                      </a:r>
                    </a:p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filters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Suggest matches</a:t>
                      </a:r>
                    </a:p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by meaning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9810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Send a request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Confirm entry</a:t>
                      </a:r>
                    </a:p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and routing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 form and</a:t>
                      </a:r>
                    </a:p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request status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Help fill the request</a:t>
                      </a:r>
                    </a:p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with user confirmation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</a:tr>
              <a:tr h="9810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Approve a transfer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Confirm rules</a:t>
                      </a:r>
                    </a:p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and decision owners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Staff approve</a:t>
                      </a:r>
                    </a:p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and record decisions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Suggestions only</a:t>
                      </a:r>
                    </a:p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Staff still decide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8858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Prepare reports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Confirm existing</a:t>
                      </a:r>
                    </a:p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reports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Recorded totals</a:t>
                      </a:r>
                    </a:p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and standard reports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Written summaries</a:t>
                      </a:r>
                    </a:p>
                    <a:p>
                      <a:r>
                        <a:rPr sz="187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for staff review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</a:tr>
            </a:tbl>
          </a:graphicData>
        </a:graphic>
      </p:graphicFrame>
      <p:sp>
        <p:nvSpPr>
          <p:cNvPr id="4" name="comparison-note">
            <a:extLst xmlns:a="http://schemas.openxmlformats.org/drawingml/2006/main">
              <a:ext uri="{FF2B5EF4-FFF2-40B4-BE49-F238E27FC236}">
                <a16:creationId xmlns:a16="http://schemas.microsoft.com/office/drawing/2014/main" id="{E9384C5B-0BFA-4E90-AB4F-D3E8E4C27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91225"/>
            <a:ext cx="10896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We need evidence of the current system before claiming an improvement.</a:t>
            </a:r>
          </a:p>
        </p:txBody>
      </p:sp>
    </p:spTree>
    <p:extLst>
      <p:ext uri="{BB962C8B-B14F-4D97-AF65-F5344CB8AC3E}">
        <p14:creationId xmlns:p14="http://schemas.microsoft.com/office/powerpoint/2010/main" val="6655114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E9643E33-2C70-4CAF-9A2B-A1097830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Where AI would help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937D6541-9303-4C6D-8E55-F1601399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429375"/>
            <a:ext cx="1400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Ghith   5</a:t>
            </a:r>
          </a:p>
        </p:txBody>
      </p:sp>
      <p:sp>
        <p:nvSpPr>
          <p:cNvPr id="3" name="same-case">
            <a:extLst xmlns:a="http://schemas.openxmlformats.org/drawingml/2006/main">
              <a:ext uri="{FF2B5EF4-FFF2-40B4-BE49-F238E27FC236}">
                <a16:creationId xmlns:a16="http://schemas.microsoft.com/office/drawing/2014/main" id="{E35B0B4F-1BEB-4EB3-B3A2-A98D3C91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62075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46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746D"/>
                </a:solidFill>
                <a:latin typeface="Arial"/>
                <a:ea typeface="Arial"/>
                <a:cs typeface="Arial"/>
              </a:rPr>
              <a:t>Example need: two working monitors with HDMI connections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47700" y="2324100"/>
          <a:ext xmlns:a="http://schemas.openxmlformats.org/drawingml/2006/main" cx="10896600" cy="268605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5448300"/>
                <a:gridCol w="5448300"/>
              </a:tblGrid>
              <a:tr h="5810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Ordinary search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Search with AI help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</a:tr>
              <a:tr h="110490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Search for “monitor”</a:t>
                      </a:r>
                    </a:p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Filter by connection and quantity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Describe what the monitors are needed for</a:t>
                      </a:r>
                    </a:p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AI ranks suitable options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10001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Read the item details</a:t>
                      </a:r>
                    </a:p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and choose a suitable match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Check the suggested match</a:t>
                      </a:r>
                    </a:p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and its explanation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</a:tr>
            </a:tbl>
          </a:graphicData>
        </a:graphic>
      </p:graphicFrame>
      <p:sp>
        <p:nvSpPr>
          <p:cNvPr id="5" name="rules">
            <a:extLst xmlns:a="http://schemas.openxmlformats.org/drawingml/2006/main">
              <a:ext uri="{FF2B5EF4-FFF2-40B4-BE49-F238E27FC236}">
                <a16:creationId xmlns:a16="http://schemas.microsoft.com/office/drawing/2014/main" id="{D9187CA1-65F5-4806-B19E-0864177C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Both versions keep the same rules</a:t>
            </a:r>
          </a:p>
        </p:txBody>
      </p:sp>
      <p:sp>
        <p:nvSpPr>
          <p:cNvPr id="6" name="rules-detail">
            <a:extLst xmlns:a="http://schemas.openxmlformats.org/drawingml/2006/main">
              <a:ext uri="{FF2B5EF4-FFF2-40B4-BE49-F238E27FC236}">
                <a16:creationId xmlns:a16="http://schemas.microsoft.com/office/drawing/2014/main" id="{5FD02C35-6FCA-45B2-A6F9-DDD1BA44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10896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Access permissions, available quantity and staff approvals still apply.</a:t>
            </a:r>
          </a:p>
          <a:p xmlns:a="http://schemas.openxmlformats.org/drawingml/2006/main">
            <a:pPr algn="l">
              <a:defRPr sz="1875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Ordinary search remains available if AI fails.</a:t>
            </a:r>
          </a:p>
        </p:txBody>
      </p:sp>
    </p:spTree>
    <p:extLst>
      <p:ext uri="{BB962C8B-B14F-4D97-AF65-F5344CB8AC3E}">
        <p14:creationId xmlns:p14="http://schemas.microsoft.com/office/powerpoint/2010/main" val="1760740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617B0D6E-879E-4CC0-9A75-B5C9B7D6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How we will check a benefit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055FACB5-B997-467B-85AE-A345A11A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429375"/>
            <a:ext cx="1400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Ghith   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685925"/>
          <a:ext xmlns:a="http://schemas.openxmlformats.org/drawingml/2006/main" cx="10896600" cy="33528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3448050"/>
                <a:gridCol w="3724275"/>
                <a:gridCol w="3724275"/>
              </a:tblGrid>
              <a:tr h="55245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Possible change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we will measure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Extra work to count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</a:tr>
              <a:tr h="7905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One list of spare items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Search and enquiry minutes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Keeping listings accurate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100965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Reuse item details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Repeated fields</a:t>
                      </a:r>
                    </a:p>
                    <a:p>
                      <a:r>
                        <a:rPr sz="210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and corrections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Any extra entry into</a:t>
                      </a:r>
                    </a:p>
                    <a:p>
                      <a:r>
                        <a:rPr sz="210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the current KU system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</a:tr>
              <a:tr h="10001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AI suggests a match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Useful results and</a:t>
                      </a:r>
                    </a:p>
                    <a:p>
                      <a:r>
                        <a:rPr sz="210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time to check them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Wrong matches, retries</a:t>
                      </a:r>
                    </a:p>
                    <a:p>
                      <a:r>
                        <a:rPr sz="210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and staff review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4" name="measure-rule">
            <a:extLst xmlns:a="http://schemas.openxmlformats.org/drawingml/2006/main">
              <a:ext uri="{FF2B5EF4-FFF2-40B4-BE49-F238E27FC236}">
                <a16:creationId xmlns:a16="http://schemas.microsoft.com/office/drawing/2014/main" id="{086110E8-0316-4382-813D-2CBA5DB4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43525"/>
            <a:ext cx="10896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6746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6746D"/>
                </a:solidFill>
                <a:latin typeface="Arial"/>
                <a:ea typeface="Arial"/>
                <a:cs typeface="Arial"/>
              </a:rPr>
              <a:t>Same task, same outcome, all staff involved</a:t>
            </a:r>
          </a:p>
        </p:txBody>
      </p:sp>
      <p:sp>
        <p:nvSpPr>
          <p:cNvPr id="5" name="money">
            <a:extLst xmlns:a="http://schemas.openxmlformats.org/drawingml/2006/main">
              <a:ext uri="{FF2B5EF4-FFF2-40B4-BE49-F238E27FC236}">
                <a16:creationId xmlns:a16="http://schemas.microsoft.com/office/drawing/2014/main" id="{BC50924B-90E3-4122-9CAA-B98EE1B5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10896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Money saved needs extra purchases avoided, less reuse and running costs.</a:t>
            </a:r>
          </a:p>
          <a:p xmlns:a="http://schemas.openxmlformats.org/drawingml/2006/main">
            <a:pPr algn="l">
              <a:defRPr sz="1800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Working minutes and waiting time stay separate. Results are still to collect.</a:t>
            </a:r>
          </a:p>
        </p:txBody>
      </p:sp>
    </p:spTree>
    <p:extLst>
      <p:ext uri="{BB962C8B-B14F-4D97-AF65-F5344CB8AC3E}">
        <p14:creationId xmlns:p14="http://schemas.microsoft.com/office/powerpoint/2010/main" val="360190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1226A7D7-D842-4741-AAA0-80CBC7A0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Feasibility work so far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F85C3F66-65C0-450F-8998-79139AEE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429375"/>
            <a:ext cx="1400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Ghith   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47700" y="1581150"/>
          <a:ext xmlns:a="http://schemas.openxmlformats.org/drawingml/2006/main" cx="10896600" cy="4429125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238375"/>
                <a:gridCol w="3810000"/>
                <a:gridCol w="4848225"/>
              </a:tblGrid>
              <a:tr h="55245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 started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Still needed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</a:tr>
              <a:tr h="59055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Technical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Hosting options listed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Test a suitable stack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6381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Financial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Example hosting cost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Actual use and supported benefits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</a:tr>
              <a:tr h="68580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Operational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Scenario drafted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Current KU steps and staff needs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590550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Schedule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Tasks divided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Deadline and available hours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</a:tr>
              <a:tr h="6381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Data and AI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Trial approach planned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Data access and model trial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73342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Rules and ethics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Data and approval risks noted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Relevant KU rules and controls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</a:tr>
            </a:tbl>
          </a:graphicData>
        </a:graphic>
      </p:graphicFrame>
      <p:sp>
        <p:nvSpPr>
          <p:cNvPr id="4" name="readiness">
            <a:extLst xmlns:a="http://schemas.openxmlformats.org/drawingml/2006/main">
              <a:ext uri="{FF2B5EF4-FFF2-40B4-BE49-F238E27FC236}">
                <a16:creationId xmlns:a16="http://schemas.microsoft.com/office/drawing/2014/main" id="{F1C78BAE-DCFB-4F98-94CA-E6BA0E7C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722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These are draft findings. The final report needs all six checks.</a:t>
            </a:r>
          </a:p>
        </p:txBody>
      </p:sp>
    </p:spTree>
    <p:extLst>
      <p:ext uri="{BB962C8B-B14F-4D97-AF65-F5344CB8AC3E}">
        <p14:creationId xmlns:p14="http://schemas.microsoft.com/office/powerpoint/2010/main" val="4721532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">
            <a:extLst xmlns:a="http://schemas.openxmlformats.org/drawingml/2006/main">
              <a:ext uri="{FF2B5EF4-FFF2-40B4-BE49-F238E27FC236}">
                <a16:creationId xmlns:a16="http://schemas.microsoft.com/office/drawing/2014/main" id="{A4F3B1BB-C555-44C7-A81C-E058C958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Our first hosting cost estimate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FF4443D7-236D-4C3D-8318-7C170E6B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429375"/>
            <a:ext cx="1400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Sultan   8</a:t>
            </a:r>
          </a:p>
        </p:txBody>
      </p:sp>
      <p:sp>
        <p:nvSpPr>
          <p:cNvPr id="3" name="total">
            <a:extLst xmlns:a="http://schemas.openxmlformats.org/drawingml/2006/main">
              <a:ext uri="{FF2B5EF4-FFF2-40B4-BE49-F238E27FC236}">
                <a16:creationId xmlns:a16="http://schemas.microsoft.com/office/drawing/2014/main" id="{BD3B3339-BD29-4360-91D8-2B697299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71650"/>
            <a:ext cx="38957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495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USD 6.20</a:t>
            </a:r>
          </a:p>
        </p:txBody>
      </p:sp>
      <p:sp>
        <p:nvSpPr>
          <p:cNvPr id="4" name="total-caption">
            <a:extLst xmlns:a="http://schemas.openxmlformats.org/drawingml/2006/main">
              <a:ext uri="{FF2B5EF4-FFF2-40B4-BE49-F238E27FC236}">
                <a16:creationId xmlns:a16="http://schemas.microsoft.com/office/drawing/2014/main" id="{7097A24D-51C0-4294-B820-85654539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38290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746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746D"/>
                </a:solidFill>
                <a:latin typeface="Arial"/>
                <a:ea typeface="Arial"/>
                <a:cs typeface="Arial"/>
              </a:rPr>
              <a:t>Illustrative monthly</a:t>
            </a:r>
          </a:p>
          <a:p xmlns:a="http://schemas.openxmlformats.org/drawingml/2006/main">
            <a:pPr algn="l">
              <a:defRPr sz="2250" b="1">
                <a:solidFill>
                  <a:srgbClr val="26746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6746D"/>
                </a:solidFill>
                <a:latin typeface="Arial"/>
                <a:ea typeface="Arial"/>
                <a:cs typeface="Arial"/>
              </a:rPr>
              <a:t>Railway hosting cost</a:t>
            </a:r>
          </a:p>
        </p:txBody>
      </p:sp>
      <p:sp>
        <p:nvSpPr>
          <p:cNvPr id="5" name="free-option">
            <a:extLst xmlns:a="http://schemas.openxmlformats.org/drawingml/2006/main">
              <a:ext uri="{FF2B5EF4-FFF2-40B4-BE49-F238E27FC236}">
                <a16:creationId xmlns:a16="http://schemas.microsoft.com/office/drawing/2014/main" id="{BB3035E6-260F-433B-819A-CD85AF45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3829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Free option to test</a:t>
            </a:r>
          </a:p>
          <a:p xmlns:a="http://schemas.openxmlformats.org/drawingml/2006/main">
            <a:pPr algn="l">
              <a:defRPr sz="210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Render + Neon</a:t>
            </a:r>
          </a:p>
        </p:txBody>
      </p:sp>
      <p:sp>
        <p:nvSpPr>
          <p:cNvPr id="6" name="free-limit">
            <a:extLst xmlns:a="http://schemas.openxmlformats.org/drawingml/2006/main">
              <a:ext uri="{FF2B5EF4-FFF2-40B4-BE49-F238E27FC236}">
                <a16:creationId xmlns:a16="http://schemas.microsoft.com/office/drawing/2014/main" id="{9AB1F5E1-6B78-487B-93EE-4306D44A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3924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Free limits and idle sleep apply.</a:t>
            </a:r>
          </a:p>
          <a:p xmlns:a="http://schemas.openxmlformats.org/drawingml/2006/main">
            <a:pPr algn="l">
              <a:defRPr sz="1800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Upload storage still needs a plan.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810125" y="1695450"/>
          <a:ext xmlns:a="http://schemas.openxmlformats.org/drawingml/2006/main" cx="6734175" cy="36290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4235931d0454288"/>
          </a:graphicData>
        </a:graphic>
      </p:graphicFrame>
      <p:sp>
        <p:nvSpPr>
          <p:cNvPr id="8" name="assumption">
            <a:extLst xmlns:a="http://schemas.openxmlformats.org/drawingml/2006/main">
              <a:ext uri="{FF2B5EF4-FFF2-40B4-BE49-F238E27FC236}">
                <a16:creationId xmlns:a16="http://schemas.microsoft.com/office/drawing/2014/main" id="{FBB911E9-EB17-4929-BFB9-ECA4B5CF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34075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Assumed use: 0.5 GB memory, 0.05 CPU cores, 1 GB stored, 1 GB sent.</a:t>
            </a:r>
          </a:p>
          <a:p xmlns:a="http://schemas.openxmlformats.org/drawingml/2006/main">
            <a:pPr algn="l">
              <a:defRPr sz="1725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Across the app and database. AI, upload storage and other costs still to add.</a:t>
            </a:r>
          </a:p>
        </p:txBody>
      </p:sp>
    </p:spTree>
    <p:extLst>
      <p:ext uri="{BB962C8B-B14F-4D97-AF65-F5344CB8AC3E}">
        <p14:creationId xmlns:p14="http://schemas.microsoft.com/office/powerpoint/2010/main" val="3933596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10B5F09F-EF3A-4103-A34F-137AB9E8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7200"/>
            <a:ext cx="10896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343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343C"/>
                </a:solidFill>
                <a:latin typeface="Arial"/>
                <a:ea typeface="Arial"/>
                <a:cs typeface="Arial"/>
              </a:rPr>
              <a:t>What we will finish next</a:t>
            </a:r>
          </a:p>
        </p:txBody>
      </p:sp>
      <p:sp>
        <p:nvSpPr>
          <p:cNvPr id="2" name="presenter">
            <a:extLst xmlns:a="http://schemas.openxmlformats.org/drawingml/2006/main">
              <a:ext uri="{FF2B5EF4-FFF2-40B4-BE49-F238E27FC236}">
                <a16:creationId xmlns:a16="http://schemas.microsoft.com/office/drawing/2014/main" id="{4C1C102D-CADB-445E-94FF-B08FDAB5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6429375"/>
            <a:ext cx="14001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Sultan   9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47700" y="1704975"/>
          <a:ext xmlns:a="http://schemas.openxmlformats.org/drawingml/2006/main" cx="10896600" cy="36195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133600"/>
                <a:gridCol w="8763000"/>
              </a:tblGrid>
              <a:tr h="5619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Owner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Before submission next week</a:t>
                      </a:r>
                    </a:p>
                  </a:txBody>
                  <a:tcPr marL="91440" marR="91440" marT="45720" marB="45720" anchor="ctr">
                    <a:solidFill>
                      <a:srgbClr val="17343C"/>
                    </a:solidFill>
                  </a:tcPr>
                </a:tc>
              </a:tr>
              <a:tr h="10191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Sultan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Finish costs and the time plan</a:t>
                      </a:r>
                    </a:p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Check workload against our available hours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  <a:tr h="10191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Zayed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Confirm the KU process and scenario</a:t>
                      </a:r>
                    </a:p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Review staff needs, rules and the brand</a:t>
                      </a:r>
                    </a:p>
                  </a:txBody>
                  <a:tcPr marL="91440" marR="91440" marT="45720" marB="45720" anchor="ctr">
                    <a:solidFill>
                      <a:srgbClr val="F0F4F3"/>
                    </a:solidFill>
                  </a:tcPr>
                </a:tc>
              </a:tr>
              <a:tr h="1019175"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Ghith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  <a:tc>
                  <a:txBody>
                    <a:bodyPr lIns="133350" tIns="85725" rIns="133350" bIns="85725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Compare technology and AI choices</a:t>
                      </a:r>
                    </a:p>
                    <a:p>
                      <a:r>
                        <a:rPr sz="2250" b="0">
                          <a:solidFill>
                            <a:srgbClr val="17343C"/>
                          </a:solidFill>
                          <a:latin typeface="Arial"/>
                          <a:ea typeface="Arial"/>
                          <a:cs typeface="Arial"/>
                        </a:rPr>
                        <a:t>Run a small trial if access allows</a:t>
                      </a:r>
                    </a:p>
                  </a:txBody>
                  <a:tcPr marL="91440" marR="91440" marT="45720" marB="45720" anchor="ctr">
                    <a:solidFill>
                      <a:srgbClr val="FAFAF7"/>
                    </a:solidFill>
                  </a:tcPr>
                </a:tc>
              </a:tr>
            </a:tbl>
          </a:graphicData>
        </a:graphic>
      </p:graphicFrame>
      <p:sp>
        <p:nvSpPr>
          <p:cNvPr id="4" name="confirm">
            <a:extLst xmlns:a="http://schemas.openxmlformats.org/drawingml/2006/main">
              <a:ext uri="{FF2B5EF4-FFF2-40B4-BE49-F238E27FC236}">
                <a16:creationId xmlns:a16="http://schemas.microsoft.com/office/drawing/2014/main" id="{D69A0456-FA00-4E35-B97C-710DE1BF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00700"/>
            <a:ext cx="1089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746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6746D"/>
                </a:solidFill>
                <a:latin typeface="Arial"/>
                <a:ea typeface="Arial"/>
                <a:cs typeface="Arial"/>
              </a:rPr>
              <a:t>For today’s discussion</a:t>
            </a:r>
          </a:p>
        </p:txBody>
      </p:sp>
      <p:sp>
        <p:nvSpPr>
          <p:cNvPr id="5" name="doctor">
            <a:extLst xmlns:a="http://schemas.openxmlformats.org/drawingml/2006/main">
              <a:ext uri="{FF2B5EF4-FFF2-40B4-BE49-F238E27FC236}">
                <a16:creationId xmlns:a16="http://schemas.microsoft.com/office/drawing/2014/main" id="{22DDA28F-E390-420F-93AE-848F202F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57900"/>
            <a:ext cx="10896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Confirm the current KU system, the service owner, evidence access</a:t>
            </a:r>
          </a:p>
          <a:p xmlns:a="http://schemas.openxmlformats.org/drawingml/2006/main">
            <a:pPr algn="l">
              <a:defRPr sz="1875" b="0">
                <a:solidFill>
                  <a:srgbClr val="52626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264"/>
                </a:solidFill>
                <a:latin typeface="Arial"/>
                <a:ea typeface="Arial"/>
                <a:cs typeface="Arial"/>
              </a:rPr>
              <a:t>and the exact submission day.</a:t>
            </a:r>
          </a:p>
        </p:txBody>
      </p:sp>
    </p:spTree>
    <p:extLst>
      <p:ext uri="{BB962C8B-B14F-4D97-AF65-F5344CB8AC3E}">
        <p14:creationId xmlns:p14="http://schemas.microsoft.com/office/powerpoint/2010/main" val="765572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2026-09-22T10:39:56.8750000Z</dcterms:created>
  <dcterms:modified xsi:type="dcterms:W3CDTF">2026-09-22T10:39:56.8750000Z</dcterms:modified>
</coreProperties>
</file>