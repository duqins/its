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018b378c0d4fad" /><Relationship Type="http://schemas.openxmlformats.org/officeDocument/2006/relationships/extended-properties" Target="/docProps/app.xml" Id="Rfc3bec23b6ae4f02" /><Relationship Type="http://schemas.openxmlformats.org/officeDocument/2006/relationships/officeDocument" Target="/ppt/presentation.xml" Id="R65b0ad86f22044a6" /></Relationships>
</file>

<file path=ppt/presentation.xml><?xml version="1.0" encoding="utf-8"?>
<p:presentation xmlns:p="http://schemas.openxmlformats.org/presentationml/2006/main">
  <p:sldMasterIdLst>
    <p:sldMasterId xmlns:r="http://schemas.openxmlformats.org/officeDocument/2006/relationships" id="2147483648" r:id="Rcb760f41b98a4841"/>
  </p:sldMasterIdLst>
  <p:notesMasterIdLst>
    <p:notesMasterId xmlns:r="http://schemas.openxmlformats.org/officeDocument/2006/relationships" r:id="R7dc5165d0ca04b9f"/>
  </p:notesMasterIdLst>
  <p:sldIdLst>
    <p:sldId xmlns:r="http://schemas.openxmlformats.org/officeDocument/2006/relationships" id="256" r:id="R2d9fa553e18d452e"/>
    <p:sldId xmlns:r="http://schemas.openxmlformats.org/officeDocument/2006/relationships" id="257" r:id="R433c26c344724dc3"/>
    <p:sldId xmlns:r="http://schemas.openxmlformats.org/officeDocument/2006/relationships" id="258" r:id="Ra8cfa36248ca4edc"/>
    <p:sldId xmlns:r="http://schemas.openxmlformats.org/officeDocument/2006/relationships" id="259" r:id="Ra7cd00db4fd7464c"/>
    <p:sldId xmlns:r="http://schemas.openxmlformats.org/officeDocument/2006/relationships" id="260" r:id="Rb8f0ce3a0f72413e"/>
    <p:sldId xmlns:r="http://schemas.openxmlformats.org/officeDocument/2006/relationships" id="261" r:id="R575dc9240b0346cb"/>
    <p:sldId xmlns:r="http://schemas.openxmlformats.org/officeDocument/2006/relationships" id="262" r:id="R0b0ee28a59cc4421"/>
    <p:sldId xmlns:r="http://schemas.openxmlformats.org/officeDocument/2006/relationships" id="263" r:id="Rb788de02e39541ba"/>
    <p:sldId xmlns:r="http://schemas.openxmlformats.org/officeDocument/2006/relationships" id="264" r:id="R5764f5860bad4a1e"/>
    <p:sldId xmlns:r="http://schemas.openxmlformats.org/officeDocument/2006/relationships" id="265" r:id="Rb86d66a2eec34c9e"/>
    <p:sldId xmlns:r="http://schemas.openxmlformats.org/officeDocument/2006/relationships" id="266" r:id="Ra538cfb1ebed4148"/>
    <p:sldId xmlns:r="http://schemas.openxmlformats.org/officeDocument/2006/relationships" id="267" r:id="R2f75165f659f45ed"/>
    <p:sldId xmlns:r="http://schemas.openxmlformats.org/officeDocument/2006/relationships" id="268" r:id="Rcfa87b0996874433"/>
    <p:sldId xmlns:r="http://schemas.openxmlformats.org/officeDocument/2006/relationships" id="269" r:id="R690a32a19ca74d2e"/>
    <p:sldId xmlns:r="http://schemas.openxmlformats.org/officeDocument/2006/relationships" id="270" r:id="R69c0f8cfb7ed44e1"/>
    <p:sldId xmlns:r="http://schemas.openxmlformats.org/officeDocument/2006/relationships" id="271" r:id="R09f7719534a94033"/>
    <p:sldId xmlns:r="http://schemas.openxmlformats.org/officeDocument/2006/relationships" id="272" r:id="R2157979562a34bda"/>
    <p:sldId xmlns:r="http://schemas.openxmlformats.org/officeDocument/2006/relationships" id="273" r:id="R740a3b9ebe3341a2"/>
    <p:sldId xmlns:r="http://schemas.openxmlformats.org/officeDocument/2006/relationships" id="274" r:id="R2ce55d968dce4abc"/>
    <p:sldId xmlns:r="http://schemas.openxmlformats.org/officeDocument/2006/relationships" id="275" r:id="Rae7ad2dc41604147"/>
    <p:sldId xmlns:r="http://schemas.openxmlformats.org/officeDocument/2006/relationships" id="276" r:id="R0df02a14e7074b05"/>
    <p:sldId xmlns:r="http://schemas.openxmlformats.org/officeDocument/2006/relationships" id="277" r:id="R88f78b3a4a1f479e"/>
    <p:sldId xmlns:r="http://schemas.openxmlformats.org/officeDocument/2006/relationships" id="278" r:id="R4b089ae9b8f24212"/>
    <p:sldId xmlns:r="http://schemas.openxmlformats.org/officeDocument/2006/relationships" id="279" r:id="R84c0935abcba459e"/>
    <p:sldId xmlns:r="http://schemas.openxmlformats.org/officeDocument/2006/relationships" id="280" r:id="Rd6dd51e70b7647c6"/>
    <p:sldId xmlns:r="http://schemas.openxmlformats.org/officeDocument/2006/relationships" id="281" r:id="R2f4aea1607d74f11"/>
    <p:sldId xmlns:r="http://schemas.openxmlformats.org/officeDocument/2006/relationships" id="282" r:id="Raff40b092a4d4d19"/>
    <p:sldId xmlns:r="http://schemas.openxmlformats.org/officeDocument/2006/relationships" id="283" r:id="Ra8863fcace0e4900"/>
    <p:sldId xmlns:r="http://schemas.openxmlformats.org/officeDocument/2006/relationships" id="284" r:id="R1ea38953707a4cb5"/>
    <p:sldId xmlns:r="http://schemas.openxmlformats.org/officeDocument/2006/relationships" id="285" r:id="Rb487ea0bb4e241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cf5dc4321f41dd" /><Relationship Type="http://schemas.openxmlformats.org/officeDocument/2006/relationships/slideMaster" Target="/ppt/slideMasters/slideMaster1.xml" Id="Rcb760f41b98a4841" /><Relationship Type="http://schemas.openxmlformats.org/officeDocument/2006/relationships/notesMaster" Target="/ppt/notesMasters/notesMaster1.xml" Id="R7dc5165d0ca04b9f" /><Relationship Type="http://schemas.openxmlformats.org/officeDocument/2006/relationships/presProps" Target="/ppt/presProps.xml" Id="R53d093e8d5924341" /><Relationship Type="http://schemas.openxmlformats.org/officeDocument/2006/relationships/tableStyles" Target="/ppt/tableStyles.xml" Id="Rfd78c910d92145d2" /><Relationship Type="http://schemas.openxmlformats.org/officeDocument/2006/relationships/slide" Target="/ppt/slides/slide1.xml" Id="R2d9fa553e18d452e" /><Relationship Type="http://schemas.openxmlformats.org/officeDocument/2006/relationships/slide" Target="/ppt/slides/slide2.xml" Id="R433c26c344724dc3" /><Relationship Type="http://schemas.openxmlformats.org/officeDocument/2006/relationships/slide" Target="/ppt/slides/slide3.xml" Id="Ra8cfa36248ca4edc" /><Relationship Type="http://schemas.openxmlformats.org/officeDocument/2006/relationships/slide" Target="/ppt/slides/slide4.xml" Id="Ra7cd00db4fd7464c" /><Relationship Type="http://schemas.openxmlformats.org/officeDocument/2006/relationships/slide" Target="/ppt/slides/slide5.xml" Id="Rb8f0ce3a0f72413e" /><Relationship Type="http://schemas.openxmlformats.org/officeDocument/2006/relationships/slide" Target="/ppt/slides/slide6.xml" Id="R575dc9240b0346cb" /><Relationship Type="http://schemas.openxmlformats.org/officeDocument/2006/relationships/slide" Target="/ppt/slides/slide7.xml" Id="R0b0ee28a59cc4421" /><Relationship Type="http://schemas.openxmlformats.org/officeDocument/2006/relationships/slide" Target="/ppt/slides/slide8.xml" Id="Rb788de02e39541ba" /><Relationship Type="http://schemas.openxmlformats.org/officeDocument/2006/relationships/slide" Target="/ppt/slides/slide9.xml" Id="R5764f5860bad4a1e" /><Relationship Type="http://schemas.openxmlformats.org/officeDocument/2006/relationships/slide" Target="/ppt/slides/slide10.xml" Id="Rb86d66a2eec34c9e" /><Relationship Type="http://schemas.openxmlformats.org/officeDocument/2006/relationships/slide" Target="/ppt/slides/slide11.xml" Id="Ra538cfb1ebed4148" /><Relationship Type="http://schemas.openxmlformats.org/officeDocument/2006/relationships/slide" Target="/ppt/slides/slide12.xml" Id="R2f75165f659f45ed" /><Relationship Type="http://schemas.openxmlformats.org/officeDocument/2006/relationships/slide" Target="/ppt/slides/slide13.xml" Id="Rcfa87b0996874433" /><Relationship Type="http://schemas.openxmlformats.org/officeDocument/2006/relationships/slide" Target="/ppt/slides/slide14.xml" Id="R690a32a19ca74d2e" /><Relationship Type="http://schemas.openxmlformats.org/officeDocument/2006/relationships/slide" Target="/ppt/slides/slide15.xml" Id="R69c0f8cfb7ed44e1" /><Relationship Type="http://schemas.openxmlformats.org/officeDocument/2006/relationships/slide" Target="/ppt/slides/slide16.xml" Id="R09f7719534a94033" /><Relationship Type="http://schemas.openxmlformats.org/officeDocument/2006/relationships/slide" Target="/ppt/slides/slide17.xml" Id="R2157979562a34bda" /><Relationship Type="http://schemas.openxmlformats.org/officeDocument/2006/relationships/slide" Target="/ppt/slides/slide18.xml" Id="R740a3b9ebe3341a2" /><Relationship Type="http://schemas.openxmlformats.org/officeDocument/2006/relationships/slide" Target="/ppt/slides/slide19.xml" Id="R2ce55d968dce4abc" /><Relationship Type="http://schemas.openxmlformats.org/officeDocument/2006/relationships/slide" Target="/ppt/slides/slide20.xml" Id="Rae7ad2dc41604147" /><Relationship Type="http://schemas.openxmlformats.org/officeDocument/2006/relationships/slide" Target="/ppt/slides/slide21.xml" Id="R0df02a14e7074b05" /><Relationship Type="http://schemas.openxmlformats.org/officeDocument/2006/relationships/slide" Target="/ppt/slides/slide22.xml" Id="R88f78b3a4a1f479e" /><Relationship Type="http://schemas.openxmlformats.org/officeDocument/2006/relationships/slide" Target="/ppt/slides/slide23.xml" Id="R4b089ae9b8f24212" /><Relationship Type="http://schemas.openxmlformats.org/officeDocument/2006/relationships/slide" Target="/ppt/slides/slide24.xml" Id="R84c0935abcba459e" /><Relationship Type="http://schemas.openxmlformats.org/officeDocument/2006/relationships/slide" Target="/ppt/slides/slide25.xml" Id="Rd6dd51e70b7647c6" /><Relationship Type="http://schemas.openxmlformats.org/officeDocument/2006/relationships/slide" Target="/ppt/slides/slide26.xml" Id="R2f4aea1607d74f11" /><Relationship Type="http://schemas.openxmlformats.org/officeDocument/2006/relationships/slide" Target="/ppt/slides/slide27.xml" Id="Raff40b092a4d4d19" /><Relationship Type="http://schemas.openxmlformats.org/officeDocument/2006/relationships/slide" Target="/ppt/slides/slide28.xml" Id="Ra8863fcace0e4900" /><Relationship Type="http://schemas.openxmlformats.org/officeDocument/2006/relationships/slide" Target="/ppt/slides/slide29.xml" Id="R1ea38953707a4cb5" /><Relationship Type="http://schemas.openxmlformats.org/officeDocument/2006/relationships/slide" Target="/ppt/slides/slide30.xml" Id="Rb487ea0bb4e241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0a6769e3ee48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79301fc5814d4d" /><Relationship Type="http://schemas.openxmlformats.org/officeDocument/2006/relationships/notesMaster" Target="/ppt/notesMasters/notesMaster1.xml" Id="R15c6cf5f4c5942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f995361b424a95" /><Relationship Type="http://schemas.openxmlformats.org/officeDocument/2006/relationships/notesMaster" Target="/ppt/notesMasters/notesMaster1.xml" Id="Re41cd8e9644348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ae58ad60d44d11" /><Relationship Type="http://schemas.openxmlformats.org/officeDocument/2006/relationships/notesMaster" Target="/ppt/notesMasters/notesMaster1.xml" Id="R0d946b2fd37944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78862587bf46ed" /><Relationship Type="http://schemas.openxmlformats.org/officeDocument/2006/relationships/notesMaster" Target="/ppt/notesMasters/notesMaster1.xml" Id="Rd1be468bef8b4c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4969c4ca774621" /><Relationship Type="http://schemas.openxmlformats.org/officeDocument/2006/relationships/notesMaster" Target="/ppt/notesMasters/notesMaster1.xml" Id="Rca0e78c08d7440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9634ede60946ae" /><Relationship Type="http://schemas.openxmlformats.org/officeDocument/2006/relationships/notesMaster" Target="/ppt/notesMasters/notesMaster1.xml" Id="Rc829be5ffe8f40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d9e6ce09854b54" /><Relationship Type="http://schemas.openxmlformats.org/officeDocument/2006/relationships/notesMaster" Target="/ppt/notesMasters/notesMaster1.xml" Id="R883937e06aa046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9764efe02e4af6" /><Relationship Type="http://schemas.openxmlformats.org/officeDocument/2006/relationships/notesMaster" Target="/ppt/notesMasters/notesMaster1.xml" Id="R9e31a7f306734b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143f56de794a4f" /><Relationship Type="http://schemas.openxmlformats.org/officeDocument/2006/relationships/notesMaster" Target="/ppt/notesMasters/notesMaster1.xml" Id="Ra61e3529934643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c343e26f3e466e" /><Relationship Type="http://schemas.openxmlformats.org/officeDocument/2006/relationships/notesMaster" Target="/ppt/notesMasters/notesMaster1.xml" Id="Rc2fbabe71f9e49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f8dceada634b1f" /><Relationship Type="http://schemas.openxmlformats.org/officeDocument/2006/relationships/notesMaster" Target="/ppt/notesMasters/notesMaster1.xml" Id="Rff6da09b6a0146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3c76a16c7f4b8d" /><Relationship Type="http://schemas.openxmlformats.org/officeDocument/2006/relationships/notesMaster" Target="/ppt/notesMasters/notesMaster1.xml" Id="R71870fa0fa5946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33781f27534d4d" /><Relationship Type="http://schemas.openxmlformats.org/officeDocument/2006/relationships/notesMaster" Target="/ppt/notesMasters/notesMaster1.xml" Id="R174175f262bc4f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470a18bb35463d" /><Relationship Type="http://schemas.openxmlformats.org/officeDocument/2006/relationships/notesMaster" Target="/ppt/notesMasters/notesMaster1.xml" Id="Rdcb62ec314244f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bc065ca3b84f98" /><Relationship Type="http://schemas.openxmlformats.org/officeDocument/2006/relationships/notesMaster" Target="/ppt/notesMasters/notesMaster1.xml" Id="Rba98db8c10144a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6bf21a44ea4e75" /><Relationship Type="http://schemas.openxmlformats.org/officeDocument/2006/relationships/notesMaster" Target="/ppt/notesMasters/notesMaster1.xml" Id="Reaed0c73222541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5b42dbcde14f79" /><Relationship Type="http://schemas.openxmlformats.org/officeDocument/2006/relationships/notesMaster" Target="/ppt/notesMasters/notesMaster1.xml" Id="R1bb6ba561e0b4d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7ae8fb95b944cc" /><Relationship Type="http://schemas.openxmlformats.org/officeDocument/2006/relationships/notesMaster" Target="/ppt/notesMasters/notesMaster1.xml" Id="Rb3142a7a61dd42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34d12d268542d7" /><Relationship Type="http://schemas.openxmlformats.org/officeDocument/2006/relationships/notesMaster" Target="/ppt/notesMasters/notesMaster1.xml" Id="R8c21a00a2dff41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4c84034e37431d" /><Relationship Type="http://schemas.openxmlformats.org/officeDocument/2006/relationships/notesMaster" Target="/ppt/notesMasters/notesMaster1.xml" Id="R62f871db75bc46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8e643b238c4836" /><Relationship Type="http://schemas.openxmlformats.org/officeDocument/2006/relationships/notesMaster" Target="/ppt/notesMasters/notesMaster1.xml" Id="R57afb40b931c483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468690db5024d90" /><Relationship Type="http://schemas.openxmlformats.org/officeDocument/2006/relationships/notesMaster" Target="/ppt/notesMasters/notesMaster1.xml" Id="Redf75e9c19dd4f9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fe03c7d9aa04fc3" /><Relationship Type="http://schemas.openxmlformats.org/officeDocument/2006/relationships/notesMaster" Target="/ppt/notesMasters/notesMaster1.xml" Id="Rb375f3e524844c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c43235fec24c96" /><Relationship Type="http://schemas.openxmlformats.org/officeDocument/2006/relationships/notesMaster" Target="/ppt/notesMasters/notesMaster1.xml" Id="Re7eeaeed4121428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3d1f0250184fab" /><Relationship Type="http://schemas.openxmlformats.org/officeDocument/2006/relationships/notesMaster" Target="/ppt/notesMasters/notesMaster1.xml" Id="Rad5b860925ab435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9e25cf87c394e17" /><Relationship Type="http://schemas.openxmlformats.org/officeDocument/2006/relationships/notesMaster" Target="/ppt/notesMasters/notesMaster1.xml" Id="Rd40c5089f80546e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d775248cc0a42db" /><Relationship Type="http://schemas.openxmlformats.org/officeDocument/2006/relationships/notesMaster" Target="/ppt/notesMasters/notesMaster1.xml" Id="Rc2f8407f6b5e481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dd5cac6fcc4d4d" /><Relationship Type="http://schemas.openxmlformats.org/officeDocument/2006/relationships/notesMaster" Target="/ppt/notesMasters/notesMaster1.xml" Id="R7db30ded73e447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2b59e6841f4636" /><Relationship Type="http://schemas.openxmlformats.org/officeDocument/2006/relationships/notesMaster" Target="/ppt/notesMasters/notesMaster1.xml" Id="Rc0afd803c6674bc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183347db24a4c2b" /><Relationship Type="http://schemas.openxmlformats.org/officeDocument/2006/relationships/notesMaster" Target="/ppt/notesMasters/notesMaster1.xml" Id="R4fa39e5a6e6b4a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Expanded evidence-based draft for class discussion. Includes source research and explicitly labelled planning scenarios. No interviews, technical trials, current KU workflow or achieved savings are claimed. Logo is a previously prepared team concept, not official KU branding.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[S04] Rheaply internal reuse</a:t>
            </a:r>
          </a:p>
          <a:p xmlns:a="http://schemas.openxmlformats.org/drawingml/2006/main">
            <a:r>
              <a:t>https://rheaply.com/internal-reuse/</a:t>
            </a:r>
          </a:p>
          <a:p xmlns:a="http://schemas.openxmlformats.org/drawingml/2006/main">
            <a:r>
              <a:t>Vendor-described marketplace, inventory, approvals and impact reporting.</a:t>
            </a:r>
          </a:p>
          <a:p xmlns:a="http://schemas.openxmlformats.org/drawingml/2006/main">
            <a:r>
              <a:t/>
            </a:r>
          </a:p>
          <a:p xmlns:a="http://schemas.openxmlformats.org/drawingml/2006/main">
            <a:r>
              <a:t>[S06] Warp It product tour</a:t>
            </a:r>
          </a:p>
          <a:p xmlns:a="http://schemas.openxmlformats.org/drawingml/2006/main">
            <a:r>
              <a:t>https://www.warp-it.co.uk/portal/warpit/tour</a:t>
            </a:r>
          </a:p>
          <a:p xmlns:a="http://schemas.openxmlformats.org/drawingml/2006/main">
            <a:r>
              <a:t>Vendor-described reuse workflow and reports; homepage https://www.warp-it.co.uk/ describes AI photo-based listing.</a:t>
            </a:r>
          </a:p>
          <a:p xmlns:a="http://schemas.openxmlformats.org/drawingml/2006/main">
            <a:r>
              <a:t/>
            </a:r>
          </a:p>
          <a:p xmlns:a="http://schemas.openxmlformats.org/drawingml/2006/main">
            <a:r>
              <a:t>Status and context</a:t>
            </a:r>
          </a:p>
          <a:p xmlns:a="http://schemas.openxmlformats.org/drawingml/2006/main">
            <a:r>
              <a:t>A conditional recommendation for a semester prototype, separate from institutional adoption. Economic and operational benefits remain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Semester scope summary. Hosted deployment remains included. Monitor transfer is one test case within the wider scope. Live integrations are simulated. Records of collection/delivery stay included although physical logistics are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Illustrative monitor example. It is not a completed KU request. Suitability includes function, connector, condition, quantity, availability, date and permission. Two-sided release/receipt approvals plus policy-required finance/procurement approval remain. Generated illustration already existed; it represents a proposed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[S03] KU ISO certificates</a:t>
            </a:r>
          </a:p>
          <a:p xmlns:a="http://schemas.openxmlformats.org/drawingml/2006/main">
            <a:r>
              <a:t>https://www.ku.ac.ae/iso-certificates</a:t>
            </a:r>
          </a:p>
          <a:p xmlns:a="http://schemas.openxmlformats.org/drawingml/2006/main">
            <a:r>
              <a:t>Lists asset management under Facilities Management; supports a proposed owner, not confirmed software ownership.</a:t>
            </a:r>
          </a:p>
          <a:p xmlns:a="http://schemas.openxmlformats.org/drawingml/2006/main">
            <a:r>
              <a:t/>
            </a:r>
          </a:p>
          <a:p xmlns:a="http://schemas.openxmlformats.org/drawingml/2006/main">
            <a:r>
              <a:t>Status and context</a:t>
            </a:r>
          </a:p>
          <a:p xmlns:a="http://schemas.openxmlformats.org/drawingml/2006/main">
            <a:r>
              <a:t>KU lists ISO 55001 Asset Management under Facilities Management. Proposed functional ownership remains unconfirmed. This is a proposed mapping of four of nine course-defined system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[S03] KU ISO certificates</a:t>
            </a:r>
          </a:p>
          <a:p xmlns:a="http://schemas.openxmlformats.org/drawingml/2006/main">
            <a:r>
              <a:t>https://www.ku.ac.ae/iso-certificates</a:t>
            </a:r>
          </a:p>
          <a:p xmlns:a="http://schemas.openxmlformats.org/drawingml/2006/main">
            <a:r>
              <a:t>Lists asset management under Facilities Management; supports a proposed owner, not confirmed software ownership.</a:t>
            </a:r>
          </a:p>
          <a:p xmlns:a="http://schemas.openxmlformats.org/drawingml/2006/main">
            <a:r>
              <a:t/>
            </a:r>
          </a:p>
          <a:p xmlns:a="http://schemas.openxmlformats.org/drawingml/2006/main">
            <a:r>
              <a:t>Status and context</a:t>
            </a:r>
          </a:p>
          <a:p xmlns:a="http://schemas.openxmlformats.org/drawingml/2006/main">
            <a:r>
              <a:t>Remaining five of nine course-defined system roles. Lab instructors act as academic client; the three students develop the prototype. Staff roles do not establish actual KU appointments. Business administration authorises roles and system administration implements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[S04] Rheaply internal reuse</a:t>
            </a:r>
          </a:p>
          <a:p xmlns:a="http://schemas.openxmlformats.org/drawingml/2006/main">
            <a:r>
              <a:t>https://rheaply.com/internal-reuse/</a:t>
            </a:r>
          </a:p>
          <a:p xmlns:a="http://schemas.openxmlformats.org/drawingml/2006/main">
            <a:r>
              <a:t>Vendor-described marketplace, inventory, approvals and impact reporting.</a:t>
            </a:r>
          </a:p>
          <a:p xmlns:a="http://schemas.openxmlformats.org/drawingml/2006/main">
            <a:r>
              <a:t/>
            </a:r>
          </a:p>
          <a:p xmlns:a="http://schemas.openxmlformats.org/drawingml/2006/main">
            <a:r>
              <a:t>[S05] Rheaply AI suggestions</a:t>
            </a:r>
          </a:p>
          <a:p xmlns:a="http://schemas.openxmlformats.org/drawingml/2006/main">
            <a:r>
              <a:t>https://support.rheaply.com/en/articles/7967928-use-ai-powered-suggestions-to-create-and-backfill-listings</a:t>
            </a:r>
          </a:p>
          <a:p xmlns:a="http://schemas.openxmlformats.org/drawingml/2006/main">
            <a:r>
              <a:t>AI-assisted listing details with human review.</a:t>
            </a:r>
          </a:p>
          <a:p xmlns:a="http://schemas.openxmlformats.org/drawingml/2006/main">
            <a:r>
              <a:t/>
            </a:r>
          </a:p>
          <a:p xmlns:a="http://schemas.openxmlformats.org/drawingml/2006/main">
            <a:r>
              <a:t>[S06] Warp It product tour</a:t>
            </a:r>
          </a:p>
          <a:p xmlns:a="http://schemas.openxmlformats.org/drawingml/2006/main">
            <a:r>
              <a:t>https://www.warp-it.co.uk/portal/warpit/tour</a:t>
            </a:r>
          </a:p>
          <a:p xmlns:a="http://schemas.openxmlformats.org/drawingml/2006/main">
            <a:r>
              <a:t>Vendor-described reuse workflow and reports; homepage https://www.warp-it.co.uk/ describes AI photo-based listing.</a:t>
            </a:r>
          </a:p>
          <a:p xmlns:a="http://schemas.openxmlformats.org/drawingml/2006/main">
            <a:r>
              <a:t/>
            </a:r>
          </a:p>
          <a:p xmlns:a="http://schemas.openxmlformats.org/drawingml/2006/main">
            <a:r>
              <a:t>[S07] Snipe-IT product and pricing</a:t>
            </a:r>
          </a:p>
          <a:p xmlns:a="http://schemas.openxmlformats.org/drawingml/2006/main">
            <a:r>
              <a:t>https://snipeitapp.com/product</a:t>
            </a:r>
          </a:p>
          <a:p xmlns:a="http://schemas.openxmlformats.org/drawingml/2006/main">
            <a:r>
              <a:t>Inventory/custody, requests, history, permissions and API. Pricing: https://snipeitapp.com/pricing .</a:t>
            </a:r>
          </a:p>
          <a:p xmlns:a="http://schemas.openxmlformats.org/drawingml/2006/main">
            <a:r>
              <a:t/>
            </a:r>
          </a:p>
          <a:p xmlns:a="http://schemas.openxmlformats.org/drawingml/2006/main">
            <a:r>
              <a:t>[S23] Warp It UK pricing</a:t>
            </a:r>
          </a:p>
          <a:p xmlns:a="http://schemas.openxmlformats.org/drawingml/2006/main">
            <a:r>
              <a:t>https://www.warp-it.co.uk/portal/warpit/pricing</a:t>
            </a:r>
          </a:p>
          <a:p xmlns:a="http://schemas.openxmlformats.org/drawingml/2006/main">
            <a:r>
              <a:t>Published UK bands are not a KU quotation; confirm local eligibility and taxes before cost comparison.</a:t>
            </a:r>
          </a:p>
          <a:p xmlns:a="http://schemas.openxmlformats.org/drawingml/2006/main">
            <a:r>
              <a:t/>
            </a:r>
          </a:p>
          <a:p xmlns:a="http://schemas.openxmlformats.org/drawingml/2006/main">
            <a:r>
              <a:t>Status and context</a:t>
            </a:r>
          </a:p>
          <a:p xmlns:a="http://schemas.openxmlformats.org/drawingml/2006/main">
            <a:r>
              <a:t>Official vendor documentation was checked 22 September 2026. These are advertised capabilities, not product tests. Snipe-IT price is USD39.99 monthly or USD399.99 annually. Warp It listed UK employee bands exclude VAT and are not KU quotations. A feature not documented in reviewed pages is unverified, not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[S08] UC Berkeley Rheaply showroom</a:t>
            </a:r>
          </a:p>
          <a:p xmlns:a="http://schemas.openxmlformats.org/drawingml/2006/main">
            <a:r>
              <a:t>https://property.berkeley.edu/surplus/campus/rheaply-online-showroom-inventory</a:t>
            </a:r>
          </a:p>
          <a:p xmlns:a="http://schemas.openxmlformats.org/drawingml/2006/main">
            <a:r>
              <a:t>Institutional use elsewhere supports relevance, not KU demand or savings.</a:t>
            </a:r>
          </a:p>
          <a:p xmlns:a="http://schemas.openxmlformats.org/drawingml/2006/main">
            <a:r>
              <a:t/>
            </a:r>
          </a:p>
          <a:p xmlns:a="http://schemas.openxmlformats.org/drawingml/2006/main">
            <a:r>
              <a:t>Status and context</a:t>
            </a:r>
          </a:p>
          <a:p xmlns:a="http://schemas.openxmlformats.org/drawingml/2006/main">
            <a:r>
              <a:t>UC Berkeley documents Rheaply furniture inventory and reservations. That supports university relevance only. KU demand, system and benefits remain unverified. The distinctive contribution is the proposed team evaluation design, not a claim of unique invention.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[S09] Django overview and authentication</a:t>
            </a:r>
          </a:p>
          <a:p xmlns:a="http://schemas.openxmlformats.org/drawingml/2006/main">
            <a:r>
              <a:t>https://www.djangoproject.com/start/overview/</a:t>
            </a:r>
          </a:p>
          <a:p xmlns:a="http://schemas.openxmlformats.org/drawingml/2006/main">
            <a:r>
              <a:t>Framework facilities; permissions: https://docs.djangoproject.com/en/stable/topics/auth/default/ . Department/item rules still need application code.</a:t>
            </a:r>
          </a:p>
          <a:p xmlns:a="http://schemas.openxmlformats.org/drawingml/2006/main">
            <a:r>
              <a:t/>
            </a:r>
          </a:p>
          <a:p xmlns:a="http://schemas.openxmlformats.org/drawingml/2006/main">
            <a:r>
              <a:t>[S10] PostgreSQL overview</a:t>
            </a:r>
          </a:p>
          <a:p xmlns:a="http://schemas.openxmlformats.org/drawingml/2006/main">
            <a:r>
              <a:t>https://www.postgresql.org/about/</a:t>
            </a:r>
          </a:p>
          <a:p xmlns:a="http://schemas.openxmlformats.org/drawingml/2006/main">
            <a:r>
              <a:t>Relational database candidate. Proposed stack remains untested.</a:t>
            </a:r>
          </a:p>
          <a:p xmlns:a="http://schemas.openxmlformats.org/drawingml/2006/main">
            <a:r>
              <a:t/>
            </a:r>
          </a:p>
          <a:p xmlns:a="http://schemas.openxmlformats.org/drawingml/2006/main">
            <a:r>
              <a:t>Status and context</a:t>
            </a:r>
          </a:p>
          <a:p xmlns:a="http://schemas.openxmlformats.org/drawingml/2006/main">
            <a:r>
              <a:t>Django and PostgreSQL are candidates, not an implemented or approved stack. Django documentation supports included framework/admin/auth facilities. Department-level and object-level permissions still need application rules. React/Express is a team-proposed alternative to be assessed against skills and deployment effort; no relative speed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[S09] Django overview and authentication</a:t>
            </a:r>
          </a:p>
          <a:p xmlns:a="http://schemas.openxmlformats.org/drawingml/2006/main">
            <a:r>
              <a:t>https://www.djangoproject.com/start/overview/</a:t>
            </a:r>
          </a:p>
          <a:p xmlns:a="http://schemas.openxmlformats.org/drawingml/2006/main">
            <a:r>
              <a:t>Framework facilities; permissions: https://docs.djangoproject.com/en/stable/topics/auth/default/ . Department/item rules still need application code.</a:t>
            </a:r>
          </a:p>
          <a:p xmlns:a="http://schemas.openxmlformats.org/drawingml/2006/main">
            <a:r>
              <a:t/>
            </a:r>
          </a:p>
          <a:p xmlns:a="http://schemas.openxmlformats.org/drawingml/2006/main">
            <a:r>
              <a:t>[S10] PostgreSQL overview</a:t>
            </a:r>
          </a:p>
          <a:p xmlns:a="http://schemas.openxmlformats.org/drawingml/2006/main">
            <a:r>
              <a:t>https://www.postgresql.org/about/</a:t>
            </a:r>
          </a:p>
          <a:p xmlns:a="http://schemas.openxmlformats.org/drawingml/2006/main">
            <a:r>
              <a:t>Relational database candidate. Proposed stack remains untested.</a:t>
            </a:r>
          </a:p>
          <a:p xmlns:a="http://schemas.openxmlformats.org/drawingml/2006/main">
            <a:r>
              <a:t/>
            </a:r>
          </a:p>
          <a:p xmlns:a="http://schemas.openxmlformats.org/drawingml/2006/main">
            <a:r>
              <a:t>Status and context</a:t>
            </a:r>
          </a:p>
          <a:p xmlns:a="http://schemas.openxmlformats.org/drawingml/2006/main">
            <a:r>
              <a:t>Resource plan pending actual device and skills inventory. Using hosted inference does not automatically need a local GPU. No claim of laptop capacity is established without checks. Media storage and backup are distinct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[S22] Act on Heat TELOS workflow</a:t>
            </a:r>
          </a:p>
          <a:p xmlns:a="http://schemas.openxmlformats.org/drawingml/2006/main">
            <a:r>
              <a:t>https://actionheat.eu/workflow-step-8</a:t>
            </a:r>
          </a:p>
          <a:p xmlns:a="http://schemas.openxmlformats.org/drawingml/2006/main">
            <a:r>
              <a:t>Technical, economic, legal, operational and scheduling framework; data/AI added separately by course.</a:t>
            </a:r>
          </a:p>
          <a:p xmlns:a="http://schemas.openxmlformats.org/drawingml/2006/main">
            <a:r>
              <a:t/>
            </a:r>
          </a:p>
          <a:p xmlns:a="http://schemas.openxmlformats.org/drawingml/2006/main">
            <a:r>
              <a:t>Status and context</a:t>
            </a:r>
          </a:p>
          <a:p xmlns:a="http://schemas.openxmlformats.org/drawingml/2006/main">
            <a:r>
              <a:t>TELOS is Technical, Economic, Legal, Operational and Schedule. The course separately requires data and AI feasibility. These are desk-review findings with open conditions, not completed experiment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[S19] NIST AI RMF Playbook Measure</a:t>
            </a:r>
          </a:p>
          <a:p xmlns:a="http://schemas.openxmlformats.org/drawingml/2006/main">
            <a:r>
              <a:t>https://airc.nist.gov/airmf-resources/playbook/measure/</a:t>
            </a:r>
          </a:p>
          <a:p xmlns:a="http://schemas.openxmlformats.org/drawingml/2006/main">
            <a:r>
              <a:t>Context-specific metrics, limitations and corrective action; no prescribed sample sizes here.</a:t>
            </a:r>
          </a:p>
          <a:p xmlns:a="http://schemas.openxmlformats.org/drawingml/2006/main">
            <a:r>
              <a:t/>
            </a:r>
          </a:p>
          <a:p xmlns:a="http://schemas.openxmlformats.org/drawingml/2006/main">
            <a:r>
              <a:t>Status and context</a:t>
            </a:r>
          </a:p>
          <a:p xmlns:a="http://schemas.openxmlformats.org/drawingml/2006/main">
            <a:r>
              <a:t>Start with labelled synthetic data. A KU sample requires permission. Phase 1 proposes 500 assets across 10 departments and 50 requests. These are team-defined test sizes, not measured KU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[S19] NIST AI RMF Playbook Measure</a:t>
            </a:r>
          </a:p>
          <a:p xmlns:a="http://schemas.openxmlformats.org/drawingml/2006/main">
            <a:r>
              <a:t>https://airc.nist.gov/airmf-resources/playbook/measure/</a:t>
            </a:r>
          </a:p>
          <a:p xmlns:a="http://schemas.openxmlformats.org/drawingml/2006/main">
            <a:r>
              <a:t>Context-specific metrics, limitations and corrective action; no prescribed sample sizes here.</a:t>
            </a:r>
          </a:p>
          <a:p xmlns:a="http://schemas.openxmlformats.org/drawingml/2006/main">
            <a:r>
              <a:t/>
            </a:r>
          </a:p>
          <a:p xmlns:a="http://schemas.openxmlformats.org/drawingml/2006/main">
            <a:r>
              <a:t>[S20] Introduction to Information Retrieval ranked evaluation</a:t>
            </a:r>
          </a:p>
          <a:p xmlns:a="http://schemas.openxmlformats.org/drawingml/2006/main">
            <a:r>
              <a:t>https://nlp.stanford.edu/IR-book/html/htmledition/evaluation-of-ranked-retrieval-results-1.html</a:t>
            </a:r>
          </a:p>
          <a:p xmlns:a="http://schemas.openxmlformats.org/drawingml/2006/main">
            <a:r>
              <a:t>Ranked retrieval evaluation background. Our request-level Hit@3 is a stated operational definition.</a:t>
            </a:r>
          </a:p>
          <a:p xmlns:a="http://schemas.openxmlformats.org/drawingml/2006/main">
            <a:r>
              <a:t/>
            </a:r>
          </a:p>
          <a:p xmlns:a="http://schemas.openxmlformats.org/drawingml/2006/main">
            <a:r>
              <a:t>[S21] scikit-learn zero one loss</a:t>
            </a:r>
          </a:p>
          <a:p xmlns:a="http://schemas.openxmlformats.org/drawingml/2006/main">
            <a:r>
              <a:t>https://scikit-learn.org/stable/modules/generated/sklearn.metrics.zero_one_loss.html</a:t>
            </a:r>
          </a:p>
          <a:p xmlns:a="http://schemas.openxmlformats.org/drawingml/2006/main">
            <a:r>
              <a:t>Normalised zero-one loss is the fraction of misclassifications.</a:t>
            </a:r>
          </a:p>
          <a:p xmlns:a="http://schemas.openxmlformats.org/drawingml/2006/main">
            <a:r>
              <a:t/>
            </a:r>
          </a:p>
          <a:p xmlns:a="http://schemas.openxmlformats.org/drawingml/2006/main">
            <a:r>
              <a:t>Status and context</a:t>
            </a:r>
          </a:p>
          <a:p xmlns:a="http://schemas.openxmlformats.org/drawingml/2006/main">
            <a:r>
              <a:t>All numbers are proposed Phase 1 targets, not achieved results. The project-defined request-level Hit@3 (%) equals 100 times the count of tested requests with at least one reviewer-labelled useful item in the top three, divided by the number of tested requests. This matches report equation E1 and differs from precision@3. Source S20 supports ranked retrieval evaluation generally. Source S21 defines normalised zero-one loss as the fraction of misclassifications. At least 16 correct categories out of 20 implies loss at most 4/20 = 0.20. Compare ordinary search and AI with identical frozen requests, asset records and mandatory eligibility filters. Two team members independently label suitability and resolve disagreements.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No completed interviews are claimed. Interview process owner/custodian and requester/department representative, obtain permission to use notes, record date/role and affected requirement. Classroom role-play is simulation. Workload formula is project-defined arithmetic; no timing values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This is a control proposal, not legal compliance advice or a statement that KU has approved these controls. Actual KU policies, procurement requirements and data-sharing constraints remain to confirm.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[S11] Railway pricing and billing</a:t>
            </a:r>
          </a:p>
          <a:p xmlns:a="http://schemas.openxmlformats.org/drawingml/2006/main">
            <a:r>
              <a:t>https://docs.railway.com/pricing</a:t>
            </a:r>
          </a:p>
          <a:p xmlns:a="http://schemas.openxmlformats.org/drawingml/2006/main">
            <a:r>
              <a:t>Rates and Hobby minimum. Billing: https://docs.railway.com/pricing/understanding-your-bill .</a:t>
            </a:r>
          </a:p>
          <a:p xmlns:a="http://schemas.openxmlformats.org/drawingml/2006/main">
            <a:r>
              <a:t/>
            </a:r>
          </a:p>
          <a:p xmlns:a="http://schemas.openxmlformats.org/drawingml/2006/main">
            <a:r>
              <a:t>[S12] Render free services</a:t>
            </a:r>
          </a:p>
          <a:p xmlns:a="http://schemas.openxmlformats.org/drawingml/2006/main">
            <a:r>
              <a:t>https://render.com/docs/free</a:t>
            </a:r>
          </a:p>
          <a:p xmlns:a="http://schemas.openxmlformats.org/drawingml/2006/main">
            <a:r>
              <a:t>Idle sleep and nonpersistent local files. A lasting upload store is still required.</a:t>
            </a:r>
          </a:p>
          <a:p xmlns:a="http://schemas.openxmlformats.org/drawingml/2006/main">
            <a:r>
              <a:t/>
            </a:r>
          </a:p>
          <a:p xmlns:a="http://schemas.openxmlformats.org/drawingml/2006/main">
            <a:r>
              <a:t>[S13] Neon official plan documentation source</a:t>
            </a:r>
          </a:p>
          <a:p xmlns:a="http://schemas.openxmlformats.org/drawingml/2006/main">
            <a:r>
              <a:t>https://github.com/neondatabase/website/blob/main/content/docs/introduction/plans.md</a:t>
            </a:r>
          </a:p>
          <a:p xmlns:a="http://schemas.openxmlformats.org/drawingml/2006/main">
            <a:r>
              <a:t>Free allowances: 0.5 GB storage, 100 CU-hours and 5 GB public transfer per project/month.</a:t>
            </a:r>
          </a:p>
          <a:p xmlns:a="http://schemas.openxmlformats.org/drawingml/2006/main">
            <a:r>
              <a:t/>
            </a:r>
          </a:p>
          <a:p xmlns:a="http://schemas.openxmlformats.org/drawingml/2006/main">
            <a:r>
              <a:t>Status and context</a:t>
            </a:r>
          </a:p>
          <a:p xmlns:a="http://schemas.openxmlformats.org/drawingml/2006/main">
            <a:r>
              <a:t>Phase1 states no monetary budget. The student prototype aims for no new cash spending using existing resources and available free allowances. The paid option is only an unapproved analysis scenario and does not alter budget authority. Free plans have limits and are not guaranteed forever. Render local files are nonpersistent and separate durable upload storage remains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[S11] Railway pricing and billing</a:t>
            </a:r>
          </a:p>
          <a:p xmlns:a="http://schemas.openxmlformats.org/drawingml/2006/main">
            <a:r>
              <a:t>https://docs.railway.com/pricing</a:t>
            </a:r>
          </a:p>
          <a:p xmlns:a="http://schemas.openxmlformats.org/drawingml/2006/main">
            <a:r>
              <a:t>Rates and Hobby minimum. Billing: https://docs.railway.com/pricing/understanding-your-bill .</a:t>
            </a:r>
          </a:p>
          <a:p xmlns:a="http://schemas.openxmlformats.org/drawingml/2006/main">
            <a:r>
              <a:t/>
            </a:r>
          </a:p>
          <a:p xmlns:a="http://schemas.openxmlformats.org/drawingml/2006/main">
            <a:r>
              <a:t>[S14] CBUAE reference exchange rates</a:t>
            </a:r>
          </a:p>
          <a:p xmlns:a="http://schemas.openxmlformats.org/drawingml/2006/main">
            <a:r>
              <a:t>https://centralbank.ae/umbraco/Surface/Exchange/GetExchangeRateAllCurrency</a:t>
            </a:r>
          </a:p>
          <a:p xmlns:a="http://schemas.openxmlformats.org/drawingml/2006/main">
            <a:r>
              <a:t>Table updated 21 September 2026: USD 1 = AED 3.6725. Reference rate, not card fees.</a:t>
            </a:r>
          </a:p>
          <a:p xmlns:a="http://schemas.openxmlformats.org/drawingml/2006/main">
            <a:r>
              <a:t/>
            </a:r>
          </a:p>
          <a:p xmlns:a="http://schemas.openxmlformats.org/drawingml/2006/main">
            <a:r>
              <a:t>Status and context</a:t>
            </a:r>
          </a:p>
          <a:p xmlns:a="http://schemas.openxmlformats.org/drawingml/2006/main">
            <a:r>
              <a:t>Railway rates checked 22 September 2026: RAM USD 10 per GB-month, CPU USD 20 per vCPU-month, volume USD 0.15 per GB-month and egress USD 0.05 per GB. AF02–05 assume combined app/database use: 0.5 × 10 + 0.05 × 20 + 1 × 0.15 + 1 × 0.05 = USD 6.20/month. The Hobby bill is the greater of USD 5 and usage, because its minimum includes usage. Annual conversion: 6.20 × 12 × 3.6725 = AED 273.234. These are unmeasured assumptions. AI, durable file backups, support, labour and any taxes/card fees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[S11] Railway pricing and billing</a:t>
            </a:r>
          </a:p>
          <a:p xmlns:a="http://schemas.openxmlformats.org/drawingml/2006/main">
            <a:r>
              <a:t>https://docs.railway.com/pricing</a:t>
            </a:r>
          </a:p>
          <a:p xmlns:a="http://schemas.openxmlformats.org/drawingml/2006/main">
            <a:r>
              <a:t>Rates and Hobby minimum. Billing: https://docs.railway.com/pricing/understanding-your-bill .</a:t>
            </a:r>
          </a:p>
          <a:p xmlns:a="http://schemas.openxmlformats.org/drawingml/2006/main">
            <a:r>
              <a:t/>
            </a:r>
          </a:p>
          <a:p xmlns:a="http://schemas.openxmlformats.org/drawingml/2006/main">
            <a:r>
              <a:t>[S14] CBUAE reference exchange rates</a:t>
            </a:r>
          </a:p>
          <a:p xmlns:a="http://schemas.openxmlformats.org/drawingml/2006/main">
            <a:r>
              <a:t>https://centralbank.ae/umbraco/Surface/Exchange/GetExchangeRateAllCurrency</a:t>
            </a:r>
          </a:p>
          <a:p xmlns:a="http://schemas.openxmlformats.org/drawingml/2006/main">
            <a:r>
              <a:t>Table updated 21 September 2026: USD 1 = AED 3.6725. Reference rate, not card fees.</a:t>
            </a:r>
          </a:p>
          <a:p xmlns:a="http://schemas.openxmlformats.org/drawingml/2006/main">
            <a:r>
              <a:t/>
            </a:r>
          </a:p>
          <a:p xmlns:a="http://schemas.openxmlformats.org/drawingml/2006/main">
            <a:r>
              <a:t>Status and context</a:t>
            </a:r>
          </a:p>
          <a:p xmlns:a="http://schemas.openxmlformats.org/drawingml/2006/main">
            <a:r>
              <a:t>Optional planning scenario in AED. AF01 is a one-year horizon. AF02–05 describe resource use. AF07 and AF08 are proposed AI and file/backup allowances, not provider quotations. AF09 is setup cash excluding labour. AF10 assumes the full 15% reserve is spent. Use unrounded values for totals. No spending is approved. Development labour, staff support, training, tax/card fees and institutional overhead remain outside this partial cash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[S15] Sharaf DG Samsung S3 S33GF monitor listing</a:t>
            </a:r>
          </a:p>
          <a:p xmlns:a="http://schemas.openxmlformats.org/drawingml/2006/main">
            <a:r>
              <a:t>https://uae.sharafdg.com/product/samsung-s3-s33gf-essential-fhd-monitor-24inch-ls24f330eamxue/</a:t>
            </a:r>
          </a:p>
          <a:p xmlns:a="http://schemas.openxmlformats.org/drawingml/2006/main">
            <a:r>
              <a:t>22 September 2026 listing: AED 345 incl. VAT, ENGAGE seller, 24-inch FHD with HDMI. Retail proxy, not KU quote. Delivery excluded.</a:t>
            </a:r>
          </a:p>
          <a:p xmlns:a="http://schemas.openxmlformats.org/drawingml/2006/main">
            <a:r>
              <a:t/>
            </a:r>
          </a:p>
          <a:p xmlns:a="http://schemas.openxmlformats.org/drawingml/2006/main">
            <a:r>
              <a:t>[S16] NHS Measurement for Improvement and Return on Investment</a:t>
            </a:r>
          </a:p>
          <a:p xmlns:a="http://schemas.openxmlformats.org/drawingml/2006/main">
            <a:r>
              <a:t>https://www.england.nhs.uk/improvement-hub/wp-content/uploads/sites/44/2017/11/2010-Measurement-for-Improvement-and-ROI.pdf</a:t>
            </a:r>
          </a:p>
          <a:p xmlns:a="http://schemas.openxmlformats.org/drawingml/2006/main">
            <a:r>
              <a:t>Printed page 26: ROI = net benefits / costs x 100. Project inputs are separate assumptions.</a:t>
            </a:r>
          </a:p>
          <a:p xmlns:a="http://schemas.openxmlformats.org/drawingml/2006/main">
            <a:r>
              <a:t/>
            </a:r>
          </a:p>
          <a:p xmlns:a="http://schemas.openxmlformats.org/drawingml/2006/main">
            <a:r>
              <a:t>Status and context</a:t>
            </a:r>
          </a:p>
          <a:p xmlns:a="http://schemas.openxmlformats.org/drawingml/2006/main">
            <a:r>
              <a:t>Source S15 lists a Samsung S3 S33GF 24-inch FHD HDMI monitor at AED 345 including VAT, seller ENGAGE on Sharaf DG, checked 22 September 2026. It is a retail proxy, not a KU quote. AF06 assumes two suitable monitors: 2 × 345 = AED 690 gross avoided purchase value. This requires a real need that would otherwise lead to purchases and incremental reuse caused by the proposal. Delivery, inspection, repair and handling still matter. Source S16 defines ROI as net benefits divided by costs, multiplied by 100. Full KU ROI remains unestablished.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[S11] Railway pricing and billing</a:t>
            </a:r>
          </a:p>
          <a:p xmlns:a="http://schemas.openxmlformats.org/drawingml/2006/main">
            <a:r>
              <a:t>https://docs.railway.com/pricing</a:t>
            </a:r>
          </a:p>
          <a:p xmlns:a="http://schemas.openxmlformats.org/drawingml/2006/main">
            <a:r>
              <a:t>Rates and Hobby minimum. Billing: https://docs.railway.com/pricing/understanding-your-bill .</a:t>
            </a:r>
          </a:p>
          <a:p xmlns:a="http://schemas.openxmlformats.org/drawingml/2006/main">
            <a:r>
              <a:t/>
            </a:r>
          </a:p>
          <a:p xmlns:a="http://schemas.openxmlformats.org/drawingml/2006/main">
            <a:r>
              <a:t>[S14] CBUAE reference exchange rates</a:t>
            </a:r>
          </a:p>
          <a:p xmlns:a="http://schemas.openxmlformats.org/drawingml/2006/main">
            <a:r>
              <a:t>https://centralbank.ae/umbraco/Surface/Exchange/GetExchangeRateAllCurrency</a:t>
            </a:r>
          </a:p>
          <a:p xmlns:a="http://schemas.openxmlformats.org/drawingml/2006/main">
            <a:r>
              <a:t>Table updated 21 September 2026: USD 1 = AED 3.6725. Reference rate, not card fees.</a:t>
            </a:r>
          </a:p>
          <a:p xmlns:a="http://schemas.openxmlformats.org/drawingml/2006/main">
            <a:r>
              <a:t/>
            </a:r>
          </a:p>
          <a:p xmlns:a="http://schemas.openxmlformats.org/drawingml/2006/main">
            <a:r>
              <a:t>[S15] Sharaf DG Samsung S3 S33GF monitor listing</a:t>
            </a:r>
          </a:p>
          <a:p xmlns:a="http://schemas.openxmlformats.org/drawingml/2006/main">
            <a:r>
              <a:t>https://uae.sharafdg.com/product/samsung-s3-s33gf-essential-fhd-monitor-24inch-ls24f330eamxue/</a:t>
            </a:r>
          </a:p>
          <a:p xmlns:a="http://schemas.openxmlformats.org/drawingml/2006/main">
            <a:r>
              <a:t>22 September 2026 listing: AED 345 incl. VAT, ENGAGE seller, 24-inch FHD with HDMI. Retail proxy, not KU quote. Delivery excluded.</a:t>
            </a:r>
          </a:p>
          <a:p xmlns:a="http://schemas.openxmlformats.org/drawingml/2006/main">
            <a:r>
              <a:t/>
            </a:r>
          </a:p>
          <a:p xmlns:a="http://schemas.openxmlformats.org/drawingml/2006/main">
            <a:r>
              <a:t>[S16] NHS Measurement for Improvement and Return on Investment</a:t>
            </a:r>
          </a:p>
          <a:p xmlns:a="http://schemas.openxmlformats.org/drawingml/2006/main">
            <a:r>
              <a:t>https://www.england.nhs.uk/improvement-hub/wp-content/uploads/sites/44/2017/11/2010-Measurement-for-Improvement-and-ROI.pdf</a:t>
            </a:r>
          </a:p>
          <a:p xmlns:a="http://schemas.openxmlformats.org/drawingml/2006/main">
            <a:r>
              <a:t>Printed page 26: ROI = net benefits / costs x 100. Project inputs are separate assumptions.</a:t>
            </a:r>
          </a:p>
          <a:p xmlns:a="http://schemas.openxmlformats.org/drawingml/2006/main">
            <a:r>
              <a:t/>
            </a:r>
          </a:p>
          <a:p xmlns:a="http://schemas.openxmlformats.org/drawingml/2006/main">
            <a:r>
              <a:t>Status and context</a:t>
            </a:r>
          </a:p>
          <a:p xmlns:a="http://schemas.openxmlformats.org/drawingml/2006/main">
            <a:r>
              <a:t>One-year sensitivity under AF01 and AF12, not a forecast. The cases assume 0, 4 or 8 additional single-monitor purchases avoided. Gross benefit B = 345n. Partial cash cost C = 1304.4266 + 25n. AF11 assumes AED 25 per monitor for extra cash handling/materials and excludes staff time. Net benefit = B − C; ROI = net benefit / C × 100. Results: n=0 gives AED −1304.43 and −100%; n=4 gives AED −24.43 and −1.74%; n=8 gives AED 1255.57 and 83.46%. Break-even = ceiling(1304.4266 / (345 − 25)) = 5 monitors in this partial cash model only. Labour, support and other unpriced costs remain excluded. Chart values are rounded to cents from the shared calculation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AS01 is a capacity scenario: 8 weeks × 3 members × 8 hours per member per week = 192 person-hours. AS02 estimates 150–210 hours for the remaining scope and adds a 15% effort reserve, giving 172.5–241.5 hours. The lower case leaves 19.5 hours; the upper case lacks 49.5 hours. Confirm each member’s availability, exact deadlines and dependencies. The eight-week case is for the remaining project, not the Phase 2 submission next week. Required-scope changes need instructor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[S17] NASA Software Engineering Handbook SWE-086</a:t>
            </a:r>
          </a:p>
          <a:p xmlns:a="http://schemas.openxmlformats.org/drawingml/2006/main">
            <a:r>
              <a:t>https://swehb.nasa.gov/spaces/SWEHBVD/pages/102695470/SWE-086%2B-%2BContinuous%2BRisk%2BManagement</a:t>
            </a:r>
          </a:p>
          <a:p xmlns:a="http://schemas.openxmlformats.org/drawingml/2006/main">
            <a:r>
              <a:t>Risk assessment, owners, mitigation, triggers and continuing review. Our numeric rubric is a team adaptation.</a:t>
            </a:r>
          </a:p>
          <a:p xmlns:a="http://schemas.openxmlformats.org/drawingml/2006/main">
            <a:r>
              <a:t/>
            </a:r>
          </a:p>
          <a:p xmlns:a="http://schemas.openxmlformats.org/drawingml/2006/main">
            <a:r>
              <a:t>[S18] NIST IR 8286Ar1</a:t>
            </a:r>
          </a:p>
          <a:p xmlns:a="http://schemas.openxmlformats.org/drawingml/2006/main">
            <a:r>
              <a:t>https://tsapps.nist.gov/publication/get_pdf.cfm?pub_id=933223</a:t>
            </a:r>
          </a:p>
          <a:p xmlns:a="http://schemas.openxmlformats.org/drawingml/2006/main">
            <a:r>
              <a:t>Printed pages 55–56 and 59: probability and monetary impact support quantitative risk exposure. Ordinal scores are not probabilities.</a:t>
            </a:r>
          </a:p>
          <a:p xmlns:a="http://schemas.openxmlformats.org/drawingml/2006/main">
            <a:r>
              <a:t/>
            </a:r>
          </a:p>
          <a:p xmlns:a="http://schemas.openxmlformats.org/drawingml/2006/main">
            <a:r>
              <a:t>Status and context</a:t>
            </a:r>
          </a:p>
          <a:p xmlns:a="http://schemas.openxmlformats.org/drawingml/2006/main">
            <a:r>
              <a:t>Risk rubric matches section 11 of the expanded report. This is a team adaptation informed by NASA guidance [S17]. Priority = likelihood × impact using ordinal 1–5 ratings. Likelihood: 1 unlikely with relevant control demonstrated; 2 possible with limited exposure; 3 plausible with an important control untested; 4 expected without action because an essential dependency is missing; 5 almost certain without intervention. Highest applicable impact: 1 under 2 hours of rework and no required workflow affected; 2 up to 1 day of rework and a minor feature affected; 3 a 2–3 day delay or a repeated core trial; 4 a 4–7 day delay or an unsupported feasibility conclusion; 5 over 7 days, a missed mandatory deadline, confidential disclosure or an unauthorised major action. A day is an agreed project working day; calendar effects depend on availability. Bands 1–4 low, 5–9 medium, 10–16 high and 17–25 critical are team assumptions. Review all impact-5 risks regardless of score. Existing problems also enter issue tracking. Scores are not probabilities or cash loss. Expected cash loss = event probability × cash impact [S18] requires defensible probabilities and amounts for a defined scenario and period. We do not calculate it because those inputs are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[S17] NASA Software Engineering Handbook SWE-086</a:t>
            </a:r>
          </a:p>
          <a:p xmlns:a="http://schemas.openxmlformats.org/drawingml/2006/main">
            <a:r>
              <a:t>https://swehb.nasa.gov/spaces/SWEHBVD/pages/102695470/SWE-086%2B-%2BContinuous%2BRisk%2BManagement</a:t>
            </a:r>
          </a:p>
          <a:p xmlns:a="http://schemas.openxmlformats.org/drawingml/2006/main">
            <a:r>
              <a:t>Risk assessment, owners, mitigation, triggers and continuing review. Our numeric rubric is a team adaptation.</a:t>
            </a:r>
          </a:p>
          <a:p xmlns:a="http://schemas.openxmlformats.org/drawingml/2006/main">
            <a:r>
              <a:t/>
            </a:r>
          </a:p>
          <a:p xmlns:a="http://schemas.openxmlformats.org/drawingml/2006/main">
            <a:r>
              <a:t>[S18] NIST IR 8286Ar1</a:t>
            </a:r>
          </a:p>
          <a:p xmlns:a="http://schemas.openxmlformats.org/drawingml/2006/main">
            <a:r>
              <a:t>https://tsapps.nist.gov/publication/get_pdf.cfm?pub_id=933223</a:t>
            </a:r>
          </a:p>
          <a:p xmlns:a="http://schemas.openxmlformats.org/drawingml/2006/main">
            <a:r>
              <a:t>Printed pages 55–56 and 59: probability and monetary impact support quantitative risk exposure. Ordinal scores are not probabilities.</a:t>
            </a:r>
          </a:p>
          <a:p xmlns:a="http://schemas.openxmlformats.org/drawingml/2006/main">
            <a:r>
              <a:t/>
            </a:r>
          </a:p>
          <a:p xmlns:a="http://schemas.openxmlformats.org/drawingml/2006/main">
            <a:r>
              <a:t>Status and context</a:t>
            </a:r>
          </a:p>
          <a:p xmlns:a="http://schemas.openxmlformats.org/drawingml/2006/main">
            <a:r>
              <a:t>Initial draft assessment based on documented uncertainty, not measured probabilities. R1: no verified owner, process or approved sample threatens comparison. R2: eligibility filters and ranking remain untested. R3: untested permissions/data routes could expose restricted information. R4: duplicate entry and staff acceptance are unknown. R5: usage, persistence and recovery are untested. R6: hours and effort remain unconfirmed. Post-control scores are targets, not demonstrated reductions. Review every impact-5 risk explicitly.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[S17] NASA Software Engineering Handbook SWE-086</a:t>
            </a:r>
          </a:p>
          <a:p xmlns:a="http://schemas.openxmlformats.org/drawingml/2006/main">
            <a:r>
              <a:t>https://swehb.nasa.gov/spaces/SWEHBVD/pages/102695470/SWE-086%2B-%2BContinuous%2BRisk%2BManagement</a:t>
            </a:r>
          </a:p>
          <a:p xmlns:a="http://schemas.openxmlformats.org/drawingml/2006/main">
            <a:r>
              <a:t>Risk assessment, owners, mitigation, triggers and continuing review. Our numeric rubric is a team adaptation.</a:t>
            </a:r>
          </a:p>
          <a:p xmlns:a="http://schemas.openxmlformats.org/drawingml/2006/main">
            <a:r>
              <a:t/>
            </a:r>
          </a:p>
          <a:p xmlns:a="http://schemas.openxmlformats.org/drawingml/2006/main">
            <a:r>
              <a:t>Status and context</a:t>
            </a:r>
          </a:p>
          <a:p xmlns:a="http://schemas.openxmlformats.org/drawingml/2006/main">
            <a:r>
              <a:t>Summary of R1–R3. Mitigation acts before an event; contingency follows its trigger. Missing interviews cannot be replaced with invented records. Classic search is a task fallback while the required AI feature remains under investigation. Stop and revoke affected access after exposure, preserving relevant logs and involving the authorised owner where applicable. Full ratings and reasons appear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[S17] NASA Software Engineering Handbook SWE-086</a:t>
            </a:r>
          </a:p>
          <a:p xmlns:a="http://schemas.openxmlformats.org/drawingml/2006/main">
            <a:r>
              <a:t>https://swehb.nasa.gov/spaces/SWEHBVD/pages/102695470/SWE-086%2B-%2BContinuous%2BRisk%2BManagement</a:t>
            </a:r>
          </a:p>
          <a:p xmlns:a="http://schemas.openxmlformats.org/drawingml/2006/main">
            <a:r>
              <a:t>Risk assessment, owners, mitigation, triggers and continuing review. Our numeric rubric is a team adaptation.</a:t>
            </a:r>
          </a:p>
          <a:p xmlns:a="http://schemas.openxmlformats.org/drawingml/2006/main">
            <a:r>
              <a:t/>
            </a:r>
          </a:p>
          <a:p xmlns:a="http://schemas.openxmlformats.org/drawingml/2006/main">
            <a:r>
              <a:t>Status and context</a:t>
            </a:r>
          </a:p>
          <a:p xmlns:a="http://schemas.openxmlformats.org/drawingml/2006/main">
            <a:r>
              <a:t>Summary of R4–R6. Measure all staff work, including setup, training, review and reconciliation. A cash cap must be agreed before any paid use. A temporary local demonstration does not complete hosted deployment. Changes to required scope need instructor agreement. Targets remain pending until controls have been checked.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Recommendation applies to the academic prototype investigation. KU adoption is not yet established. These are section leads and proposed next actions, not completed evidence collection. The user reports final Phase 2 submission next week; the exact day remains to confirm.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Status and context</a:t>
            </a:r>
          </a:p>
          <a:p xmlns:a="http://schemas.openxmlformats.org/drawingml/2006/main">
            <a:r>
              <a:t>Disclosure follows visible preparation history. Claude supported Sultan’s drafting and workflow. Codex assisted source checking, analysis, document and slide creation, formatting and visuals. The workflow illustration and working brand concept were AI-assisted. Team verification is still required; this statement does not claim all members already reviewed every result. Add any other member tool use after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[S03] KU ISO certificates</a:t>
            </a:r>
          </a:p>
          <a:p xmlns:a="http://schemas.openxmlformats.org/drawingml/2006/main">
            <a:r>
              <a:t>https://www.ku.ac.ae/iso-certificates</a:t>
            </a:r>
          </a:p>
          <a:p xmlns:a="http://schemas.openxmlformats.org/drawingml/2006/main">
            <a:r>
              <a:t>Lists asset management under Facilities Management; supports a proposed owner, not confirmed software ownership.</a:t>
            </a:r>
          </a:p>
          <a:p xmlns:a="http://schemas.openxmlformats.org/drawingml/2006/main">
            <a:r>
              <a:t/>
            </a:r>
          </a:p>
          <a:p xmlns:a="http://schemas.openxmlformats.org/drawingml/2006/main">
            <a:r>
              <a:t>[S04] Rheaply internal reuse</a:t>
            </a:r>
          </a:p>
          <a:p xmlns:a="http://schemas.openxmlformats.org/drawingml/2006/main">
            <a:r>
              <a:t>https://rheaply.com/internal-reuse/</a:t>
            </a:r>
          </a:p>
          <a:p xmlns:a="http://schemas.openxmlformats.org/drawingml/2006/main">
            <a:r>
              <a:t>Vendor-described marketplace, inventory, approvals and impact reporting.</a:t>
            </a:r>
          </a:p>
          <a:p xmlns:a="http://schemas.openxmlformats.org/drawingml/2006/main">
            <a:r>
              <a:t/>
            </a:r>
          </a:p>
          <a:p xmlns:a="http://schemas.openxmlformats.org/drawingml/2006/main">
            <a:r>
              <a:t>[S05] Rheaply AI suggestions</a:t>
            </a:r>
          </a:p>
          <a:p xmlns:a="http://schemas.openxmlformats.org/drawingml/2006/main">
            <a:r>
              <a:t>https://support.rheaply.com/en/articles/7967928-use-ai-powered-suggestions-to-create-and-backfill-listings</a:t>
            </a:r>
          </a:p>
          <a:p xmlns:a="http://schemas.openxmlformats.org/drawingml/2006/main">
            <a:r>
              <a:t>AI-assisted listing details with human review.</a:t>
            </a:r>
          </a:p>
          <a:p xmlns:a="http://schemas.openxmlformats.org/drawingml/2006/main">
            <a:r>
              <a:t/>
            </a:r>
          </a:p>
          <a:p xmlns:a="http://schemas.openxmlformats.org/drawingml/2006/main">
            <a:r>
              <a:t>[S06] Warp It product tour</a:t>
            </a:r>
          </a:p>
          <a:p xmlns:a="http://schemas.openxmlformats.org/drawingml/2006/main">
            <a:r>
              <a:t>https://www.warp-it.co.uk/portal/warpit/tour</a:t>
            </a:r>
          </a:p>
          <a:p xmlns:a="http://schemas.openxmlformats.org/drawingml/2006/main">
            <a:r>
              <a:t>Vendor-described reuse workflow and reports; homepage https://www.warp-it.co.uk/ describes AI photo-based listing.</a:t>
            </a:r>
          </a:p>
          <a:p xmlns:a="http://schemas.openxmlformats.org/drawingml/2006/main">
            <a:r>
              <a:t/>
            </a:r>
          </a:p>
          <a:p xmlns:a="http://schemas.openxmlformats.org/drawingml/2006/main">
            <a:r>
              <a:t>[S07] Snipe-IT product and pricing</a:t>
            </a:r>
          </a:p>
          <a:p xmlns:a="http://schemas.openxmlformats.org/drawingml/2006/main">
            <a:r>
              <a:t>https://snipeitapp.com/product</a:t>
            </a:r>
          </a:p>
          <a:p xmlns:a="http://schemas.openxmlformats.org/drawingml/2006/main">
            <a:r>
              <a:t>Inventory/custody, requests, history, permissions and API. Pricing: https://snipeitapp.com/pricing .</a:t>
            </a:r>
          </a:p>
          <a:p xmlns:a="http://schemas.openxmlformats.org/drawingml/2006/main">
            <a:r>
              <a:t/>
            </a:r>
          </a:p>
          <a:p xmlns:a="http://schemas.openxmlformats.org/drawingml/2006/main">
            <a:r>
              <a:t>[S08] UC Berkeley Rheaply showroom</a:t>
            </a:r>
          </a:p>
          <a:p xmlns:a="http://schemas.openxmlformats.org/drawingml/2006/main">
            <a:r>
              <a:t>https://property.berkeley.edu/surplus/campus/rheaply-online-showroom-inventory</a:t>
            </a:r>
          </a:p>
          <a:p xmlns:a="http://schemas.openxmlformats.org/drawingml/2006/main">
            <a:r>
              <a:t>Institutional use elsewhere supports relevance, not KU demand or savings.</a:t>
            </a:r>
          </a:p>
          <a:p xmlns:a="http://schemas.openxmlformats.org/drawingml/2006/main">
            <a:r>
              <a:t/>
            </a:r>
          </a:p>
          <a:p xmlns:a="http://schemas.openxmlformats.org/drawingml/2006/main">
            <a:r>
              <a:t>Status and context</a:t>
            </a:r>
          </a:p>
          <a:p xmlns:a="http://schemas.openxmlformats.org/drawingml/2006/main">
            <a:r>
              <a:t>Reference appendix. Complete source URLs and claim coverage appear in these notes and on relevant content slides. Sources checked 22 September 2026. Vendor features are advertised capabilities, not independent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[S09] Django overview and authentication</a:t>
            </a:r>
          </a:p>
          <a:p xmlns:a="http://schemas.openxmlformats.org/drawingml/2006/main">
            <a:r>
              <a:t>https://www.djangoproject.com/start/overview/</a:t>
            </a:r>
          </a:p>
          <a:p xmlns:a="http://schemas.openxmlformats.org/drawingml/2006/main">
            <a:r>
              <a:t>Framework facilities; permissions: https://docs.djangoproject.com/en/stable/topics/auth/default/ . Department/item rules still need application code.</a:t>
            </a:r>
          </a:p>
          <a:p xmlns:a="http://schemas.openxmlformats.org/drawingml/2006/main">
            <a:r>
              <a:t/>
            </a:r>
          </a:p>
          <a:p xmlns:a="http://schemas.openxmlformats.org/drawingml/2006/main">
            <a:r>
              <a:t>[S10] PostgreSQL overview</a:t>
            </a:r>
          </a:p>
          <a:p xmlns:a="http://schemas.openxmlformats.org/drawingml/2006/main">
            <a:r>
              <a:t>https://www.postgresql.org/about/</a:t>
            </a:r>
          </a:p>
          <a:p xmlns:a="http://schemas.openxmlformats.org/drawingml/2006/main">
            <a:r>
              <a:t>Relational database candidate. Proposed stack remains untested.</a:t>
            </a:r>
          </a:p>
          <a:p xmlns:a="http://schemas.openxmlformats.org/drawingml/2006/main">
            <a:r>
              <a:t/>
            </a:r>
          </a:p>
          <a:p xmlns:a="http://schemas.openxmlformats.org/drawingml/2006/main">
            <a:r>
              <a:t>[S11] Railway pricing and billing</a:t>
            </a:r>
          </a:p>
          <a:p xmlns:a="http://schemas.openxmlformats.org/drawingml/2006/main">
            <a:r>
              <a:t>https://docs.railway.com/pricing</a:t>
            </a:r>
          </a:p>
          <a:p xmlns:a="http://schemas.openxmlformats.org/drawingml/2006/main">
            <a:r>
              <a:t>Rates and Hobby minimum. Billing: https://docs.railway.com/pricing/understanding-your-bill .</a:t>
            </a:r>
          </a:p>
          <a:p xmlns:a="http://schemas.openxmlformats.org/drawingml/2006/main">
            <a:r>
              <a:t/>
            </a:r>
          </a:p>
          <a:p xmlns:a="http://schemas.openxmlformats.org/drawingml/2006/main">
            <a:r>
              <a:t>[S12] Render free services</a:t>
            </a:r>
          </a:p>
          <a:p xmlns:a="http://schemas.openxmlformats.org/drawingml/2006/main">
            <a:r>
              <a:t>https://render.com/docs/free</a:t>
            </a:r>
          </a:p>
          <a:p xmlns:a="http://schemas.openxmlformats.org/drawingml/2006/main">
            <a:r>
              <a:t>Idle sleep and nonpersistent local files. A lasting upload store is still required.</a:t>
            </a:r>
          </a:p>
          <a:p xmlns:a="http://schemas.openxmlformats.org/drawingml/2006/main">
            <a:r>
              <a:t/>
            </a:r>
          </a:p>
          <a:p xmlns:a="http://schemas.openxmlformats.org/drawingml/2006/main">
            <a:r>
              <a:t>[S13] Neon official plan documentation source</a:t>
            </a:r>
          </a:p>
          <a:p xmlns:a="http://schemas.openxmlformats.org/drawingml/2006/main">
            <a:r>
              <a:t>https://github.com/neondatabase/website/blob/main/content/docs/introduction/plans.md</a:t>
            </a:r>
          </a:p>
          <a:p xmlns:a="http://schemas.openxmlformats.org/drawingml/2006/main">
            <a:r>
              <a:t>Free allowances: 0.5 GB storage, 100 CU-hours and 5 GB public transfer per project/month.</a:t>
            </a:r>
          </a:p>
          <a:p xmlns:a="http://schemas.openxmlformats.org/drawingml/2006/main">
            <a:r>
              <a:t/>
            </a:r>
          </a:p>
          <a:p xmlns:a="http://schemas.openxmlformats.org/drawingml/2006/main">
            <a:r>
              <a:t>[S14] CBUAE reference exchange rates</a:t>
            </a:r>
          </a:p>
          <a:p xmlns:a="http://schemas.openxmlformats.org/drawingml/2006/main">
            <a:r>
              <a:t>https://centralbank.ae/umbraco/Surface/Exchange/GetExchangeRateAllCurrency</a:t>
            </a:r>
          </a:p>
          <a:p xmlns:a="http://schemas.openxmlformats.org/drawingml/2006/main">
            <a:r>
              <a:t>Table updated 21 September 2026: USD 1 = AED 3.6725. Reference rate, not card fees.</a:t>
            </a:r>
          </a:p>
          <a:p xmlns:a="http://schemas.openxmlformats.org/drawingml/2006/main">
            <a:r>
              <a:t/>
            </a:r>
          </a:p>
          <a:p xmlns:a="http://schemas.openxmlformats.org/drawingml/2006/main">
            <a:r>
              <a:t>[S15] Sharaf DG Samsung S3 S33GF monitor listing</a:t>
            </a:r>
          </a:p>
          <a:p xmlns:a="http://schemas.openxmlformats.org/drawingml/2006/main">
            <a:r>
              <a:t>https://uae.sharafdg.com/product/samsung-s3-s33gf-essential-fhd-monitor-24inch-ls24f330eamxue/</a:t>
            </a:r>
          </a:p>
          <a:p xmlns:a="http://schemas.openxmlformats.org/drawingml/2006/main">
            <a:r>
              <a:t>22 September 2026 listing: AED 345 incl. VAT, ENGAGE seller, 24-inch FHD with HDMI. Retail proxy, not KU quote. Delivery excluded.</a:t>
            </a:r>
          </a:p>
          <a:p xmlns:a="http://schemas.openxmlformats.org/drawingml/2006/main">
            <a:r>
              <a:t/>
            </a:r>
          </a:p>
          <a:p xmlns:a="http://schemas.openxmlformats.org/drawingml/2006/main">
            <a:r>
              <a:t>[S16] NHS Measurement for Improvement and Return on Investment</a:t>
            </a:r>
          </a:p>
          <a:p xmlns:a="http://schemas.openxmlformats.org/drawingml/2006/main">
            <a:r>
              <a:t>https://www.england.nhs.uk/improvement-hub/wp-content/uploads/sites/44/2017/11/2010-Measurement-for-Improvement-and-ROI.pdf</a:t>
            </a:r>
          </a:p>
          <a:p xmlns:a="http://schemas.openxmlformats.org/drawingml/2006/main">
            <a:r>
              <a:t>Printed page 26: ROI = net benefits / costs x 100. Project inputs are separate assumptions.</a:t>
            </a:r>
          </a:p>
          <a:p xmlns:a="http://schemas.openxmlformats.org/drawingml/2006/main">
            <a:r>
              <a:t/>
            </a:r>
          </a:p>
          <a:p xmlns:a="http://schemas.openxmlformats.org/drawingml/2006/main">
            <a:r>
              <a:t>Status and context</a:t>
            </a:r>
          </a:p>
          <a:p xmlns:a="http://schemas.openxmlformats.org/drawingml/2006/main">
            <a:r>
              <a:t>Reference appendix. Complete source URLs and claim coverage appear in these notes and on relevant content slides. Prices and documentation checked 22 September 2026. Planning usage and cash allowances remain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22 September 2026</a:t>
            </a:r>
          </a:p>
          <a:p xmlns:a="http://schemas.openxmlformats.org/drawingml/2006/main">
            <a:r>
              <a:t>[S17] NASA Software Engineering Handbook SWE-086</a:t>
            </a:r>
          </a:p>
          <a:p xmlns:a="http://schemas.openxmlformats.org/drawingml/2006/main">
            <a:r>
              <a:t>https://swehb.nasa.gov/spaces/SWEHBVD/pages/102695470/SWE-086%2B-%2BContinuous%2BRisk%2BManagement</a:t>
            </a:r>
          </a:p>
          <a:p xmlns:a="http://schemas.openxmlformats.org/drawingml/2006/main">
            <a:r>
              <a:t>Risk assessment, owners, mitigation, triggers and continuing review. Our numeric rubric is a team adaptation.</a:t>
            </a:r>
          </a:p>
          <a:p xmlns:a="http://schemas.openxmlformats.org/drawingml/2006/main">
            <a:r>
              <a:t/>
            </a:r>
          </a:p>
          <a:p xmlns:a="http://schemas.openxmlformats.org/drawingml/2006/main">
            <a:r>
              <a:t>[S18] NIST IR 8286Ar1</a:t>
            </a:r>
          </a:p>
          <a:p xmlns:a="http://schemas.openxmlformats.org/drawingml/2006/main">
            <a:r>
              <a:t>https://tsapps.nist.gov/publication/get_pdf.cfm?pub_id=933223</a:t>
            </a:r>
          </a:p>
          <a:p xmlns:a="http://schemas.openxmlformats.org/drawingml/2006/main">
            <a:r>
              <a:t>Printed pages 55–56 and 59: probability and monetary impact support quantitative risk exposure. Ordinal scores are not probabilities.</a:t>
            </a:r>
          </a:p>
          <a:p xmlns:a="http://schemas.openxmlformats.org/drawingml/2006/main">
            <a:r>
              <a:t/>
            </a:r>
          </a:p>
          <a:p xmlns:a="http://schemas.openxmlformats.org/drawingml/2006/main">
            <a:r>
              <a:t>[S19] NIST AI RMF Playbook Measure</a:t>
            </a:r>
          </a:p>
          <a:p xmlns:a="http://schemas.openxmlformats.org/drawingml/2006/main">
            <a:r>
              <a:t>https://airc.nist.gov/airmf-resources/playbook/measure/</a:t>
            </a:r>
          </a:p>
          <a:p xmlns:a="http://schemas.openxmlformats.org/drawingml/2006/main">
            <a:r>
              <a:t>Context-specific metrics, limitations and corrective action; no prescribed sample sizes here.</a:t>
            </a:r>
          </a:p>
          <a:p xmlns:a="http://schemas.openxmlformats.org/drawingml/2006/main">
            <a:r>
              <a:t/>
            </a:r>
          </a:p>
          <a:p xmlns:a="http://schemas.openxmlformats.org/drawingml/2006/main">
            <a:r>
              <a:t>[S20] Introduction to Information Retrieval ranked evaluation</a:t>
            </a:r>
          </a:p>
          <a:p xmlns:a="http://schemas.openxmlformats.org/drawingml/2006/main">
            <a:r>
              <a:t>https://nlp.stanford.edu/IR-book/html/htmledition/evaluation-of-ranked-retrieval-results-1.html</a:t>
            </a:r>
          </a:p>
          <a:p xmlns:a="http://schemas.openxmlformats.org/drawingml/2006/main">
            <a:r>
              <a:t>Ranked retrieval evaluation background. Our request-level Hit@3 is a stated operational definition.</a:t>
            </a:r>
          </a:p>
          <a:p xmlns:a="http://schemas.openxmlformats.org/drawingml/2006/main">
            <a:r>
              <a:t/>
            </a:r>
          </a:p>
          <a:p xmlns:a="http://schemas.openxmlformats.org/drawingml/2006/main">
            <a:r>
              <a:t>[S21] scikit-learn zero one loss</a:t>
            </a:r>
          </a:p>
          <a:p xmlns:a="http://schemas.openxmlformats.org/drawingml/2006/main">
            <a:r>
              <a:t>https://scikit-learn.org/stable/modules/generated/sklearn.metrics.zero_one_loss.html</a:t>
            </a:r>
          </a:p>
          <a:p xmlns:a="http://schemas.openxmlformats.org/drawingml/2006/main">
            <a:r>
              <a:t>Normalised zero-one loss is the fraction of misclassifications.</a:t>
            </a:r>
          </a:p>
          <a:p xmlns:a="http://schemas.openxmlformats.org/drawingml/2006/main">
            <a:r>
              <a:t/>
            </a:r>
          </a:p>
          <a:p xmlns:a="http://schemas.openxmlformats.org/drawingml/2006/main">
            <a:r>
              <a:t>[S22] Act on Heat TELOS workflow</a:t>
            </a:r>
          </a:p>
          <a:p xmlns:a="http://schemas.openxmlformats.org/drawingml/2006/main">
            <a:r>
              <a:t>https://actionheat.eu/workflow-step-8</a:t>
            </a:r>
          </a:p>
          <a:p xmlns:a="http://schemas.openxmlformats.org/drawingml/2006/main">
            <a:r>
              <a:t>Technical, economic, legal, operational and scheduling framework; data/AI added separately by course.</a:t>
            </a:r>
          </a:p>
          <a:p xmlns:a="http://schemas.openxmlformats.org/drawingml/2006/main">
            <a:r>
              <a:t/>
            </a:r>
          </a:p>
          <a:p xmlns:a="http://schemas.openxmlformats.org/drawingml/2006/main">
            <a:r>
              <a:t>[S23] Warp It UK pricing</a:t>
            </a:r>
          </a:p>
          <a:p xmlns:a="http://schemas.openxmlformats.org/drawingml/2006/main">
            <a:r>
              <a:t>https://www.warp-it.co.uk/portal/warpit/pricing</a:t>
            </a:r>
          </a:p>
          <a:p xmlns:a="http://schemas.openxmlformats.org/drawingml/2006/main">
            <a:r>
              <a:t>Published UK bands are not a KU quotation; confirm local eligibility and taxes before cost comparison.</a:t>
            </a:r>
          </a:p>
          <a:p xmlns:a="http://schemas.openxmlformats.org/drawingml/2006/main">
            <a:r>
              <a:t/>
            </a:r>
          </a:p>
          <a:p xmlns:a="http://schemas.openxmlformats.org/drawingml/2006/main">
            <a:r>
              <a:t>Status and context</a:t>
            </a:r>
          </a:p>
          <a:p xmlns:a="http://schemas.openxmlformats.org/drawingml/2006/main">
            <a:r>
              <a:t>Reference appendix. Sources support the stated methods. The particular thresholds, risk scales, samples and evaluation targets are project conventions where indicated, not prescribed values from these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0ec89433894a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0bb8d705fc41e8" /><Relationship Type="http://schemas.openxmlformats.org/officeDocument/2006/relationships/slideLayout" Target="/ppt/slideLayouts/slideLayout1.xml" Id="Rca8c50f3fb5e4d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8c50f3fb5e4d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5c113ab8ab443f" /><Relationship Type="http://schemas.openxmlformats.org/officeDocument/2006/relationships/image" Target="/ppt/media/image.png" Id="R88a1a46741984728" /><Relationship Type="http://schemas.openxmlformats.org/officeDocument/2006/relationships/notesSlide" Target="/ppt/notesSlides/notesSlide1.xml" Id="R48ce708c3b554a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cd730dd7024234" /><Relationship Type="http://schemas.openxmlformats.org/officeDocument/2006/relationships/notesSlide" Target="/ppt/notesSlides/notesSlide2.xml" Id="Reb07679bda294c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72335b7655422d" /><Relationship Type="http://schemas.openxmlformats.org/officeDocument/2006/relationships/notesSlide" Target="/ppt/notesSlides/notesSlide3.xml" Id="R447e367ed9f440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355ca344624154" /><Relationship Type="http://schemas.openxmlformats.org/officeDocument/2006/relationships/image" Target="/ppt/media/image2.png" Id="R38a1acd6102d4d9d" /><Relationship Type="http://schemas.openxmlformats.org/officeDocument/2006/relationships/notesSlide" Target="/ppt/notesSlides/notesSlide4.xml" Id="R9df97b6f87b348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6a37e00dfb4b38" /><Relationship Type="http://schemas.openxmlformats.org/officeDocument/2006/relationships/notesSlide" Target="/ppt/notesSlides/notesSlide5.xml" Id="Rf3e5b3df353249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00e838b78a4285" /><Relationship Type="http://schemas.openxmlformats.org/officeDocument/2006/relationships/notesSlide" Target="/ppt/notesSlides/notesSlide6.xml" Id="Rbf6dbcb7f5e64c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d403f7da1e4ee9" /><Relationship Type="http://schemas.openxmlformats.org/officeDocument/2006/relationships/notesSlide" Target="/ppt/notesSlides/notesSlide7.xml" Id="Re21af0c8e0c240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d7544e64544ae0" /><Relationship Type="http://schemas.openxmlformats.org/officeDocument/2006/relationships/notesSlide" Target="/ppt/notesSlides/notesSlide8.xml" Id="Rac25f1ed0b1e4a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8b18919df243b6" /><Relationship Type="http://schemas.openxmlformats.org/officeDocument/2006/relationships/notesSlide" Target="/ppt/notesSlides/notesSlide9.xml" Id="Red620608cb5c4d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309ad4e9534b7f" /><Relationship Type="http://schemas.openxmlformats.org/officeDocument/2006/relationships/notesSlide" Target="/ppt/notesSlides/notesSlide10.xml" Id="R81a5e1e5686b45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f8895e4698464a" /><Relationship Type="http://schemas.openxmlformats.org/officeDocument/2006/relationships/notesSlide" Target="/ppt/notesSlides/notesSlide11.xml" Id="R0c7ad8e6aec544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ea3ea6693845f2" /><Relationship Type="http://schemas.openxmlformats.org/officeDocument/2006/relationships/notesSlide" Target="/ppt/notesSlides/notesSlide12.xml" Id="R57456bc53f5d4e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d7be5ce1054f77" /><Relationship Type="http://schemas.openxmlformats.org/officeDocument/2006/relationships/notesSlide" Target="/ppt/notesSlides/notesSlide13.xml" Id="R62def305c58945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bb1b343a9304f73" /><Relationship Type="http://schemas.openxmlformats.org/officeDocument/2006/relationships/notesSlide" Target="/ppt/notesSlides/notesSlide14.xml" Id="Rdb7d66fe1e134f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53e5324ba4245e9" /><Relationship Type="http://schemas.openxmlformats.org/officeDocument/2006/relationships/notesSlide" Target="/ppt/notesSlides/notesSlide15.xml" Id="R03b41638731a45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b980dece7b454d" /><Relationship Type="http://schemas.openxmlformats.org/officeDocument/2006/relationships/notesSlide" Target="/ppt/notesSlides/notesSlide16.xml" Id="R6681c51f26084d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d7b0f526f04000" /><Relationship Type="http://schemas.openxmlformats.org/officeDocument/2006/relationships/chart" Target="/ppt/slides/charts/chart1.xml" Id="R7016220970ca45e8" /><Relationship Type="http://schemas.openxmlformats.org/officeDocument/2006/relationships/notesSlide" Target="/ppt/notesSlides/notesSlide17.xml" Id="R37ad0107462349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770b2621ab643b1" /><Relationship Type="http://schemas.openxmlformats.org/officeDocument/2006/relationships/notesSlide" Target="/ppt/notesSlides/notesSlide18.xml" Id="R4b03aff6fd284b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cf0adfbd02d442f" /><Relationship Type="http://schemas.openxmlformats.org/officeDocument/2006/relationships/notesSlide" Target="/ppt/notesSlides/notesSlide19.xml" Id="Rebf8234ce94b41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241de5849194510" /><Relationship Type="http://schemas.openxmlformats.org/officeDocument/2006/relationships/chart" Target="/ppt/slides/charts/chart2.xml" Id="R8256548909be45e3" /><Relationship Type="http://schemas.openxmlformats.org/officeDocument/2006/relationships/notesSlide" Target="/ppt/notesSlides/notesSlide20.xml" Id="Raa94121a247d4c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690bdb1400e4750" /><Relationship Type="http://schemas.openxmlformats.org/officeDocument/2006/relationships/notesSlide" Target="/ppt/notesSlides/notesSlide21.xml" Id="R0129803550e14b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6e5ce3b1b1e45b0" /><Relationship Type="http://schemas.openxmlformats.org/officeDocument/2006/relationships/notesSlide" Target="/ppt/notesSlides/notesSlide22.xml" Id="Rc81332627f904c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2c5f4e7dddb4ba7" /><Relationship Type="http://schemas.openxmlformats.org/officeDocument/2006/relationships/notesSlide" Target="/ppt/notesSlides/notesSlide23.xml" Id="R0604af76cecd4f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bd827c1ce664449" /><Relationship Type="http://schemas.openxmlformats.org/officeDocument/2006/relationships/notesSlide" Target="/ppt/notesSlides/notesSlide24.xml" Id="R87e1049ba2b34b3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e2d901ae9f940c4" /><Relationship Type="http://schemas.openxmlformats.org/officeDocument/2006/relationships/notesSlide" Target="/ppt/notesSlides/notesSlide25.xml" Id="R01326cace5ca4e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bdd4d11d19b4411" /><Relationship Type="http://schemas.openxmlformats.org/officeDocument/2006/relationships/notesSlide" Target="/ppt/notesSlides/notesSlide26.xml" Id="R1d9bfa475716408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2581dac2bb04bf9" /><Relationship Type="http://schemas.openxmlformats.org/officeDocument/2006/relationships/notesSlide" Target="/ppt/notesSlides/notesSlide27.xml" Id="R8da265ac36da4ba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50edc4166fb4ec9" /><Relationship Type="http://schemas.openxmlformats.org/officeDocument/2006/relationships/notesSlide" Target="/ppt/notesSlides/notesSlide28.xml" Id="Rb6e09c955ab64f0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bc0fceec72945d0" /><Relationship Type="http://schemas.openxmlformats.org/officeDocument/2006/relationships/notesSlide" Target="/ppt/notesSlides/notesSlide29.xml" Id="Rbe42264bdad8420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386185e0ed14e6a" /><Relationship Type="http://schemas.openxmlformats.org/officeDocument/2006/relationships/notesSlide" Target="/ppt/notesSlides/notesSlide30.xml" Id="Rfbb5b705298048e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Value</c:v>
          </c:tx>
          <c:spPr>
            <a:solidFill xmlns:a="http://schemas.openxmlformats.org/drawingml/2006/main">
              <a:srgbClr val="26746D"/>
            </a:solidFill>
          </c:spPr>
          <c:cat>
            <c:strRef>
              <c:f>'Chart Data'!$A$2:$A$5</c:f>
              <c:strCache>
                <c:ptCount val="4"/>
                <c:pt idx="0">
                  <c:v>Data transfer</c:v>
                </c:pt>
                <c:pt idx="1">
                  <c:v>Volume</c:v>
                </c:pt>
                <c:pt idx="2">
                  <c:v>CPU</c:v>
                </c:pt>
                <c:pt idx="3">
                  <c:v>Memory</c:v>
                </c:pt>
              </c:strCache>
            </c:strRef>
          </c:cat>
          <c:val>
            <c:numRef>
              <c:f>'Chart Data'!$B$2:$B$5</c:f>
              <c:numCache>
                <c:formatCode>0.00</c:formatCode>
                <c:ptCount val="4"/>
                <c:pt idx="0">
                  <c:v>0.05</c:v>
                </c:pt>
                <c:pt idx="1">
                  <c:v>0.15</c:v>
                </c:pt>
                <c:pt idx="2">
                  <c:v>1</c:v>
                </c:pt>
                <c:pt idx="3">
                  <c:v>5</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343C"/>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343C"/>
                </a:solidFill>
                <a:latin typeface="Arial"/>
                <a:ea typeface="Arial"/>
                <a:cs typeface="Arial"/>
              </a:defRPr>
            </a:pPr>
          </a:p>
        </c:txPr>
        <c:crossAx val="48672768"/>
      </c:catAx>
      <c:valAx>
        <c:axId val="48672768"/>
        <c:scaling>
          <c:orientation val="minMax"/>
          <c:max val="6"/>
          <c:min val="0"/>
        </c:scaling>
        <c:delete val="0"/>
        <c:axPos val="b"/>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D9D9D9"/>
            </a:solidFill>
          </a:ln>
        </c:spPr>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crossAx val="48650112"/>
        <c:crossBetween val="between"/>
        <c:majorUnit val="1"/>
      </c:valAx>
      <c:spPr>
        <a:solidFill xmlns:a="http://schemas.openxmlformats.org/drawingml/2006/main">
          <a:srgbClr val="FAFAF7"/>
        </a:solidFill>
        <a:ln xmlns:a="http://schemas.openxmlformats.org/drawingml/2006/main" w="0">
          <a:solidFill>
            <a:srgbClr val="FAFAF7"/>
          </a:solidFill>
        </a:ln>
      </c:spPr>
    </c:plotArea>
    <c:plotVisOnly val="1"/>
  </c:chart>
  <c:spPr>
    <a:solidFill xmlns:a="http://schemas.openxmlformats.org/drawingml/2006/main">
      <a:srgbClr val="FAFAF7"/>
    </a:solidFill>
    <a:ln xmlns:a="http://schemas.openxmlformats.org/drawingml/2006/main" w="0">
      <a:solidFill>
        <a:srgbClr val="FAFAF7"/>
      </a:solid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Gross benefit</c:v>
          </c:tx>
          <c:spPr>
            <a:solidFill xmlns:a="http://schemas.openxmlformats.org/drawingml/2006/main">
              <a:srgbClr val="26746D"/>
            </a:solidFill>
          </c:spPr>
          <c:cat>
            <c:strRef>
              <c:f>'Chart Data'!$A$2:$A$4</c:f>
              <c:strCache>
                <c:ptCount val="3"/>
                <c:pt idx="0">
                  <c:v>0 monitors</c:v>
                </c:pt>
                <c:pt idx="1">
                  <c:v>4 monitors</c:v>
                </c:pt>
                <c:pt idx="2">
                  <c:v>8 monitors</c:v>
                </c:pt>
              </c:strCache>
            </c:strRef>
          </c:cat>
          <c:val>
            <c:numRef>
              <c:f>'Chart Data'!$B$2:$B$4</c:f>
              <c:numCache>
                <c:formatCode>#,##0</c:formatCode>
                <c:ptCount val="3"/>
                <c:pt idx="0">
                  <c:v>0</c:v>
                </c:pt>
                <c:pt idx="1">
                  <c:v>1380</c:v>
                </c:pt>
                <c:pt idx="2">
                  <c:v>2760</c:v>
                </c:pt>
              </c:numCache>
            </c:numRef>
          </c:val>
        </c:ser>
        <c:ser>
          <c:idx val="1"/>
          <c:order val="1"/>
          <c:tx>
            <c:v>Cash cost</c:v>
          </c:tx>
          <c:spPr>
            <a:solidFill xmlns:a="http://schemas.openxmlformats.org/drawingml/2006/main">
              <a:srgbClr val="9A4D40"/>
            </a:solidFill>
          </c:spPr>
          <c:cat>
            <c:strRef>
              <c:f>'Chart Data'!$C$2:$C$4</c:f>
              <c:strCache>
                <c:ptCount val="3"/>
                <c:pt idx="0">
                  <c:v>0 monitors</c:v>
                </c:pt>
                <c:pt idx="1">
                  <c:v>4 monitors</c:v>
                </c:pt>
                <c:pt idx="2">
                  <c:v>8 monitors</c:v>
                </c:pt>
              </c:strCache>
            </c:strRef>
          </c:cat>
          <c:val>
            <c:numRef>
              <c:f>'Chart Data'!$D$2:$D$4</c:f>
              <c:numCache>
                <c:formatCode>#,##0.00</c:formatCode>
                <c:ptCount val="3"/>
                <c:pt idx="0">
                  <c:v>1304.43</c:v>
                </c:pt>
                <c:pt idx="1">
                  <c:v>1404.43</c:v>
                </c:pt>
                <c:pt idx="2">
                  <c:v>1504.43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43C"/>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343C"/>
                </a:solidFill>
                <a:latin typeface="Arial"/>
                <a:ea typeface="Arial"/>
                <a:cs typeface="Arial"/>
              </a:defRPr>
            </a:pPr>
          </a:p>
        </c:txPr>
        <c:crossAx val="48672768"/>
      </c:catAx>
      <c:valAx>
        <c:axId val="48672768"/>
        <c:scaling>
          <c:orientation val="minMax"/>
          <c:max val="3500"/>
          <c:min val="0"/>
        </c:scaling>
        <c:delete val="0"/>
        <c:axPos val="b"/>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43C"/>
                </a:solidFill>
                <a:latin typeface="Arial"/>
                <a:ea typeface="Arial"/>
                <a:cs typeface="Arial"/>
              </a:defRPr>
            </a:pPr>
          </a:p>
        </c:txPr>
        <c:crossAx val="48650112"/>
        <c:crossBetween val="between"/>
        <c:majorUnit val="1000"/>
      </c:valAx>
      <c:spPr>
        <a:solidFill xmlns:a="http://schemas.openxmlformats.org/drawingml/2006/main">
          <a:srgbClr val="FAFAF7"/>
        </a:solidFill>
        <a:ln xmlns:a="http://schemas.openxmlformats.org/drawingml/2006/main" w="0">
          <a:solidFill>
            <a:srgbClr val="FAFAF7"/>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343C"/>
              </a:solidFill>
              <a:latin typeface="Arial"/>
              <a:ea typeface="Arial"/>
              <a:cs typeface="Arial"/>
            </a:defRPr>
          </a:pPr>
        </a:p>
      </c:txPr>
    </c:legend>
    <c:plotVisOnly val="1"/>
  </c:chart>
  <c:spPr>
    <a:solidFill xmlns:a="http://schemas.openxmlformats.org/drawingml/2006/main">
      <a:srgbClr val="FAFAF7"/>
    </a:solidFill>
    <a:ln xmlns:a="http://schemas.openxmlformats.org/drawingml/2006/main" w="0">
      <a:solidFill>
        <a:srgbClr val="FAFAF7"/>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29A20B8-53A4-44F0-A822-6A73816D5B0B}"/>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Phase 2 feasibility study</a:t>
            </a:r>
          </a:p>
        </p:txBody>
      </p:sp>
      <p:sp>
        <p:nvSpPr>
          <p:cNvPr id="2" name="page">
            <a:extLst xmlns:a="http://schemas.openxmlformats.org/drawingml/2006/main">
              <a:ext uri="{FF2B5EF4-FFF2-40B4-BE49-F238E27FC236}">
                <a16:creationId xmlns:a16="http://schemas.microsoft.com/office/drawing/2014/main" id="{DA75F821-6220-4E23-9C03-19FCBD1DD833}"/>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01</a:t>
            </a:r>
          </a:p>
        </p:txBody>
      </p:sp>
      <p:sp>
        <p:nvSpPr>
          <p:cNvPr id="3" name="source">
            <a:extLst xmlns:a="http://schemas.openxmlformats.org/drawingml/2006/main">
              <a:ext uri="{FF2B5EF4-FFF2-40B4-BE49-F238E27FC236}">
                <a16:creationId xmlns:a16="http://schemas.microsoft.com/office/drawing/2014/main" id="{4A946421-46D9-4BEC-8339-ADC888A0E0E1}"/>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8a1a46741984728"/>
          <a:stretch xmlns:a="http://schemas.openxmlformats.org/drawingml/2006/main"/>
        </p:blipFill>
        <p:spPr>
          <a:xfrm xmlns:a="http://schemas.openxmlformats.org/drawingml/2006/main">
            <a:off x="6231664" y="1409700"/>
            <a:ext cx="5281748" cy="2200275"/>
          </a:xfrm>
          <a:prstGeom xmlns:a="http://schemas.openxmlformats.org/drawingml/2006/main" prst="rect">
            <a:avLst/>
          </a:prstGeom>
        </p:spPr>
      </p:pic>
      <p:sp>
        <p:nvSpPr>
          <p:cNvPr id="5" name="cover">
            <a:extLst xmlns:a="http://schemas.openxmlformats.org/drawingml/2006/main">
              <a:ext uri="{FF2B5EF4-FFF2-40B4-BE49-F238E27FC236}">
                <a16:creationId xmlns:a16="http://schemas.microsoft.com/office/drawing/2014/main" id="{65839414-5823-4269-BF4B-F9E45B54A4FE}"/>
              </a:ext>
            </a:extLst>
          </p:cNvPr>
          <p:cNvSpPr>
            <a:spLocks xmlns:a="http://schemas.openxmlformats.org/drawingml/2006/main" noGrp="1"/>
          </p:cNvSpPr>
          <p:nvPr/>
        </p:nvSpPr>
        <p:spPr>
          <a:xfrm xmlns:a="http://schemas.openxmlformats.org/drawingml/2006/main">
            <a:off x="647700" y="1800225"/>
            <a:ext cx="5905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7343C"/>
                </a:solidFill>
                <a:latin typeface="Arial"/>
                <a:ea typeface="Arial"/>
                <a:cs typeface="Arial"/>
              </a:defRPr>
            </a:pPr>
            <a:r>
              <a:rPr sz="4125" b="1">
                <a:solidFill>
                  <a:srgbClr val="17343C"/>
                </a:solidFill>
                <a:latin typeface="Arial"/>
                <a:ea typeface="Arial"/>
                <a:cs typeface="Arial"/>
              </a:rPr>
              <a:t>Campus reuse</a:t>
            </a:r>
          </a:p>
          <a:p xmlns:a="http://schemas.openxmlformats.org/drawingml/2006/main">
            <a:pPr algn="l">
              <a:defRPr sz="4125" b="1">
                <a:solidFill>
                  <a:srgbClr val="17343C"/>
                </a:solidFill>
                <a:latin typeface="Arial"/>
                <a:ea typeface="Arial"/>
                <a:cs typeface="Arial"/>
              </a:defRPr>
            </a:pPr>
            <a:r>
              <a:rPr sz="4125" b="1">
                <a:solidFill>
                  <a:srgbClr val="17343C"/>
                </a:solidFill>
                <a:latin typeface="Arial"/>
                <a:ea typeface="Arial"/>
                <a:cs typeface="Arial"/>
              </a:rPr>
              <a:t>and asset life cycles</a:t>
            </a:r>
          </a:p>
        </p:txBody>
      </p:sp>
      <p:sp>
        <p:nvSpPr>
          <p:cNvPr id="6" name="brand-status">
            <a:extLst xmlns:a="http://schemas.openxmlformats.org/drawingml/2006/main">
              <a:ext uri="{FF2B5EF4-FFF2-40B4-BE49-F238E27FC236}">
                <a16:creationId xmlns:a16="http://schemas.microsoft.com/office/drawing/2014/main" id="{6DE1E3BD-C02B-4331-8F3D-04FD23662D38}"/>
              </a:ext>
            </a:extLst>
          </p:cNvPr>
          <p:cNvSpPr>
            <a:spLocks xmlns:a="http://schemas.openxmlformats.org/drawingml/2006/main" noGrp="1"/>
          </p:cNvSpPr>
          <p:nvPr/>
        </p:nvSpPr>
        <p:spPr>
          <a:xfrm xmlns:a="http://schemas.openxmlformats.org/drawingml/2006/main">
            <a:off x="6467475" y="3686175"/>
            <a:ext cx="507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264"/>
                </a:solidFill>
                <a:latin typeface="Arial"/>
                <a:ea typeface="Arial"/>
                <a:cs typeface="Arial"/>
              </a:defRPr>
            </a:pPr>
            <a:r>
              <a:rPr sz="1650" b="0">
                <a:solidFill>
                  <a:srgbClr val="526264"/>
                </a:solidFill>
                <a:latin typeface="Arial"/>
                <a:ea typeface="Arial"/>
                <a:cs typeface="Arial"/>
              </a:rPr>
              <a:t>Working brand for team confirmation</a:t>
            </a:r>
          </a:p>
        </p:txBody>
      </p:sp>
      <p:sp>
        <p:nvSpPr>
          <p:cNvPr id="7" name="course">
            <a:extLst xmlns:a="http://schemas.openxmlformats.org/drawingml/2006/main">
              <a:ext uri="{FF2B5EF4-FFF2-40B4-BE49-F238E27FC236}">
                <a16:creationId xmlns:a16="http://schemas.microsoft.com/office/drawing/2014/main" id="{4EB7B9E3-D26A-4E5F-A131-985347A680B2}"/>
              </a:ext>
            </a:extLst>
          </p:cNvPr>
          <p:cNvSpPr>
            <a:spLocks xmlns:a="http://schemas.openxmlformats.org/drawingml/2006/main" noGrp="1"/>
          </p:cNvSpPr>
          <p:nvPr/>
        </p:nvSpPr>
        <p:spPr>
          <a:xfrm xmlns:a="http://schemas.openxmlformats.org/drawingml/2006/main">
            <a:off x="647700" y="41148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COSC 336  /  Group 4</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Khalifa University</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22 September 2026</a:t>
            </a:r>
          </a:p>
        </p:txBody>
      </p:sp>
      <p:sp>
        <p:nvSpPr>
          <p:cNvPr id="8" name="team">
            <a:extLst xmlns:a="http://schemas.openxmlformats.org/drawingml/2006/main">
              <a:ext uri="{FF2B5EF4-FFF2-40B4-BE49-F238E27FC236}">
                <a16:creationId xmlns:a16="http://schemas.microsoft.com/office/drawing/2014/main" id="{EA28459B-2D0C-41CD-A0FB-3324DF56A2A7}"/>
              </a:ext>
            </a:extLst>
          </p:cNvPr>
          <p:cNvSpPr>
            <a:spLocks xmlns:a="http://schemas.openxmlformats.org/drawingml/2006/main" noGrp="1"/>
          </p:cNvSpPr>
          <p:nvPr/>
        </p:nvSpPr>
        <p:spPr>
          <a:xfrm xmlns:a="http://schemas.openxmlformats.org/drawingml/2006/main">
            <a:off x="6467475" y="4457700"/>
            <a:ext cx="50768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343C"/>
                </a:solidFill>
                <a:latin typeface="Arial"/>
                <a:ea typeface="Arial"/>
                <a:cs typeface="Arial"/>
              </a:defRPr>
            </a:pPr>
            <a:r>
              <a:rPr sz="1950" b="0">
                <a:solidFill>
                  <a:srgbClr val="17343C"/>
                </a:solidFill>
                <a:latin typeface="Arial"/>
                <a:ea typeface="Arial"/>
                <a:cs typeface="Arial"/>
              </a:rPr>
              <a:t>Sultan Almheiri  100065654</a:t>
            </a:r>
          </a:p>
          <a:p xmlns:a="http://schemas.openxmlformats.org/drawingml/2006/main">
            <a:pPr algn="l">
              <a:defRPr sz="1950" b="0">
                <a:solidFill>
                  <a:srgbClr val="17343C"/>
                </a:solidFill>
                <a:latin typeface="Arial"/>
                <a:ea typeface="Arial"/>
                <a:cs typeface="Arial"/>
              </a:defRPr>
            </a:pPr>
            <a:r>
              <a:rPr sz="1950" b="0">
                <a:solidFill>
                  <a:srgbClr val="17343C"/>
                </a:solidFill>
                <a:latin typeface="Arial"/>
                <a:ea typeface="Arial"/>
                <a:cs typeface="Arial"/>
              </a:rPr>
              <a:t>Zayed Alfadli  100064657</a:t>
            </a:r>
          </a:p>
          <a:p xmlns:a="http://schemas.openxmlformats.org/drawingml/2006/main">
            <a:pPr algn="l">
              <a:defRPr sz="1950" b="0">
                <a:solidFill>
                  <a:srgbClr val="17343C"/>
                </a:solidFill>
                <a:latin typeface="Arial"/>
                <a:ea typeface="Arial"/>
                <a:cs typeface="Arial"/>
              </a:defRPr>
            </a:pPr>
            <a:r>
              <a:rPr sz="1950" b="0">
                <a:solidFill>
                  <a:srgbClr val="17343C"/>
                </a:solidFill>
                <a:latin typeface="Arial"/>
                <a:ea typeface="Arial"/>
                <a:cs typeface="Arial"/>
              </a:rPr>
              <a:t>Ghaith Alhinaai  100066185</a:t>
            </a:r>
          </a:p>
        </p:txBody>
      </p:sp>
      <p:sp>
        <p:nvSpPr>
          <p:cNvPr id="9" name="takeaway">
            <a:extLst xmlns:a="http://schemas.openxmlformats.org/drawingml/2006/main">
              <a:ext uri="{FF2B5EF4-FFF2-40B4-BE49-F238E27FC236}">
                <a16:creationId xmlns:a16="http://schemas.microsoft.com/office/drawing/2014/main" id="{E5632986-A719-4B22-ADD3-211F93392E14}"/>
              </a:ext>
            </a:extLst>
          </p:cNvPr>
          <p:cNvSpPr>
            <a:spLocks xmlns:a="http://schemas.openxmlformats.org/drawingml/2006/main" noGrp="1"/>
          </p:cNvSpPr>
          <p:nvPr/>
        </p:nvSpPr>
        <p:spPr>
          <a:xfrm xmlns:a="http://schemas.openxmlformats.org/drawingml/2006/main">
            <a:off x="647700" y="601980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746D"/>
                </a:solidFill>
                <a:latin typeface="Arial"/>
                <a:ea typeface="Arial"/>
                <a:cs typeface="Arial"/>
              </a:defRPr>
            </a:pPr>
            <a:r>
              <a:rPr sz="1875" b="1">
                <a:solidFill>
                  <a:srgbClr val="26746D"/>
                </a:solidFill>
                <a:latin typeface="Arial"/>
                <a:ea typeface="Arial"/>
                <a:cs typeface="Arial"/>
              </a:rPr>
              <a:t>Expanded draft: evidence gaps and planning assumptions remain visible</a:t>
            </a:r>
          </a:p>
        </p:txBody>
      </p:sp>
    </p:spTree>
    <p:extLst>
      <p:ext uri="{BB962C8B-B14F-4D97-AF65-F5344CB8AC3E}">
        <p14:creationId xmlns:p14="http://schemas.microsoft.com/office/powerpoint/2010/main" val="426890723"/>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13B7E18D-A946-4DC6-A6C8-11D5EE25BE9A}"/>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Our recommendation</a:t>
            </a:r>
          </a:p>
        </p:txBody>
      </p:sp>
      <p:sp>
        <p:nvSpPr>
          <p:cNvPr id="2" name="page">
            <a:extLst xmlns:a="http://schemas.openxmlformats.org/drawingml/2006/main">
              <a:ext uri="{FF2B5EF4-FFF2-40B4-BE49-F238E27FC236}">
                <a16:creationId xmlns:a16="http://schemas.microsoft.com/office/drawing/2014/main" id="{52470C11-D4BB-449E-BE53-0EF58050DB76}"/>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02</a:t>
            </a:r>
          </a:p>
        </p:txBody>
      </p:sp>
      <p:sp>
        <p:nvSpPr>
          <p:cNvPr id="3" name="source">
            <a:extLst xmlns:a="http://schemas.openxmlformats.org/drawingml/2006/main">
              <a:ext uri="{FF2B5EF4-FFF2-40B4-BE49-F238E27FC236}">
                <a16:creationId xmlns:a16="http://schemas.microsoft.com/office/drawing/2014/main" id="{81C58B56-84A2-431A-BDC6-B7761B22A056}"/>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 [S04] [S06]</a:t>
            </a:r>
          </a:p>
        </p:txBody>
      </p:sp>
      <p:sp>
        <p:nvSpPr>
          <p:cNvPr id="4" name="decision">
            <a:extLst xmlns:a="http://schemas.openxmlformats.org/drawingml/2006/main">
              <a:ext uri="{FF2B5EF4-FFF2-40B4-BE49-F238E27FC236}">
                <a16:creationId xmlns:a16="http://schemas.microsoft.com/office/drawing/2014/main" id="{02096AFF-0A0F-45FD-9BB3-0029981719E5}"/>
              </a:ext>
            </a:extLst>
          </p:cNvPr>
          <p:cNvSpPr>
            <a:spLocks xmlns:a="http://schemas.openxmlformats.org/drawingml/2006/main" noGrp="1"/>
          </p:cNvSpPr>
          <p:nvPr/>
        </p:nvSpPr>
        <p:spPr>
          <a:xfrm xmlns:a="http://schemas.openxmlformats.org/drawingml/2006/main">
            <a:off x="647700" y="1733550"/>
            <a:ext cx="108966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26746D"/>
                </a:solidFill>
                <a:latin typeface="Arial"/>
                <a:ea typeface="Arial"/>
                <a:cs typeface="Arial"/>
              </a:defRPr>
            </a:pPr>
            <a:r>
              <a:rPr sz="3675" b="1">
                <a:solidFill>
                  <a:srgbClr val="26746D"/>
                </a:solidFill>
                <a:latin typeface="Arial"/>
                <a:ea typeface="Arial"/>
                <a:cs typeface="Arial"/>
              </a:rPr>
              <a:t>Continue the student prototype</a:t>
            </a:r>
          </a:p>
          <a:p xmlns:a="http://schemas.openxmlformats.org/drawingml/2006/main">
            <a:pPr algn="l">
              <a:defRPr sz="3675" b="1">
                <a:solidFill>
                  <a:srgbClr val="26746D"/>
                </a:solidFill>
                <a:latin typeface="Arial"/>
                <a:ea typeface="Arial"/>
                <a:cs typeface="Arial"/>
              </a:defRPr>
            </a:pPr>
            <a:r>
              <a:rPr sz="3675" b="1">
                <a:solidFill>
                  <a:srgbClr val="26746D"/>
                </a:solidFill>
                <a:latin typeface="Arial"/>
                <a:ea typeface="Arial"/>
                <a:cs typeface="Arial"/>
              </a:rPr>
              <a:t>with clear conditions</a:t>
            </a:r>
          </a:p>
        </p:txBody>
      </p:sp>
      <p:sp>
        <p:nvSpPr>
          <p:cNvPr id="5" name="left-title">
            <a:extLst xmlns:a="http://schemas.openxmlformats.org/drawingml/2006/main">
              <a:ext uri="{FF2B5EF4-FFF2-40B4-BE49-F238E27FC236}">
                <a16:creationId xmlns:a16="http://schemas.microsoft.com/office/drawing/2014/main" id="{B801D7CA-EF0C-44D5-AB1D-D660DAC44426}"/>
              </a:ext>
            </a:extLst>
          </p:cNvPr>
          <p:cNvSpPr>
            <a:spLocks xmlns:a="http://schemas.openxmlformats.org/drawingml/2006/main" noGrp="1"/>
          </p:cNvSpPr>
          <p:nvPr/>
        </p:nvSpPr>
        <p:spPr>
          <a:xfrm xmlns:a="http://schemas.openxmlformats.org/drawingml/2006/main">
            <a:off x="647700" y="33051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What supports this</a:t>
            </a:r>
          </a:p>
        </p:txBody>
      </p:sp>
      <p:sp>
        <p:nvSpPr>
          <p:cNvPr id="6" name="left-body">
            <a:extLst xmlns:a="http://schemas.openxmlformats.org/drawingml/2006/main">
              <a:ext uri="{FF2B5EF4-FFF2-40B4-BE49-F238E27FC236}">
                <a16:creationId xmlns:a16="http://schemas.microsoft.com/office/drawing/2014/main" id="{220D8B0B-5987-48C4-A398-7F3CBF1B8CA9}"/>
              </a:ext>
            </a:extLst>
          </p:cNvPr>
          <p:cNvSpPr>
            <a:spLocks xmlns:a="http://schemas.openxmlformats.org/drawingml/2006/main" noGrp="1"/>
          </p:cNvSpPr>
          <p:nvPr/>
        </p:nvSpPr>
        <p:spPr>
          <a:xfrm xmlns:a="http://schemas.openxmlformats.org/drawingml/2006/main">
            <a:off x="647700" y="3952875"/>
            <a:ext cx="50673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The scope describes a workable type of system. Existing products show similar functions.</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We can investigate the design with synthetic data.</a:t>
            </a:r>
          </a:p>
        </p:txBody>
      </p:sp>
      <p:sp>
        <p:nvSpPr>
          <p:cNvPr id="7" name="right-title">
            <a:extLst xmlns:a="http://schemas.openxmlformats.org/drawingml/2006/main">
              <a:ext uri="{FF2B5EF4-FFF2-40B4-BE49-F238E27FC236}">
                <a16:creationId xmlns:a16="http://schemas.microsoft.com/office/drawing/2014/main" id="{ED366EA3-8C64-433E-BDF5-3DC9CB799736}"/>
              </a:ext>
            </a:extLst>
          </p:cNvPr>
          <p:cNvSpPr>
            <a:spLocks xmlns:a="http://schemas.openxmlformats.org/drawingml/2006/main" noGrp="1"/>
          </p:cNvSpPr>
          <p:nvPr/>
        </p:nvSpPr>
        <p:spPr>
          <a:xfrm xmlns:a="http://schemas.openxmlformats.org/drawingml/2006/main">
            <a:off x="6477000" y="33051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What still needs evidence</a:t>
            </a:r>
          </a:p>
        </p:txBody>
      </p:sp>
      <p:sp>
        <p:nvSpPr>
          <p:cNvPr id="8" name="right-body">
            <a:extLst xmlns:a="http://schemas.openxmlformats.org/drawingml/2006/main">
              <a:ext uri="{FF2B5EF4-FFF2-40B4-BE49-F238E27FC236}">
                <a16:creationId xmlns:a16="http://schemas.microsoft.com/office/drawing/2014/main" id="{7693F2EA-4B8A-46F9-ADEA-C7C62DE99C1E}"/>
              </a:ext>
            </a:extLst>
          </p:cNvPr>
          <p:cNvSpPr>
            <a:spLocks xmlns:a="http://schemas.openxmlformats.org/drawingml/2006/main" noGrp="1"/>
          </p:cNvSpPr>
          <p:nvPr/>
        </p:nvSpPr>
        <p:spPr>
          <a:xfrm xmlns:a="http://schemas.openxmlformats.org/drawingml/2006/main">
            <a:off x="6477000" y="3952875"/>
            <a:ext cx="50673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KU ownership and current workflow.</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Full costs, staff needs, data permission and successful trials.</a:t>
            </a:r>
          </a:p>
        </p:txBody>
      </p:sp>
      <p:sp>
        <p:nvSpPr>
          <p:cNvPr id="9" name="takeaway">
            <a:extLst xmlns:a="http://schemas.openxmlformats.org/drawingml/2006/main">
              <a:ext uri="{FF2B5EF4-FFF2-40B4-BE49-F238E27FC236}">
                <a16:creationId xmlns:a16="http://schemas.microsoft.com/office/drawing/2014/main" id="{B8482F37-66A3-4C54-B78F-ADD10B194C19}"/>
              </a:ext>
            </a:extLst>
          </p:cNvPr>
          <p:cNvSpPr>
            <a:spLocks xmlns:a="http://schemas.openxmlformats.org/drawingml/2006/main" noGrp="1"/>
          </p:cNvSpPr>
          <p:nvPr/>
        </p:nvSpPr>
        <p:spPr>
          <a:xfrm xmlns:a="http://schemas.openxmlformats.org/drawingml/2006/main">
            <a:off x="647700" y="601980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6746D"/>
                </a:solidFill>
                <a:latin typeface="Arial"/>
                <a:ea typeface="Arial"/>
                <a:cs typeface="Arial"/>
              </a:defRPr>
            </a:pPr>
            <a:r>
              <a:rPr sz="1950" b="1">
                <a:solidFill>
                  <a:srgbClr val="26746D"/>
                </a:solidFill>
                <a:latin typeface="Arial"/>
                <a:ea typeface="Arial"/>
                <a:cs typeface="Arial"/>
              </a:rPr>
              <a:t>A real KU rollout needs a separate, evidence-backed decision</a:t>
            </a:r>
          </a:p>
        </p:txBody>
      </p:sp>
    </p:spTree>
    <p:extLst>
      <p:ext uri="{BB962C8B-B14F-4D97-AF65-F5344CB8AC3E}">
        <p14:creationId xmlns:p14="http://schemas.microsoft.com/office/powerpoint/2010/main" val="822605808"/>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2E351FA-F3CE-4FC4-A8DE-A697955BD9A3}"/>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Project scope</a:t>
            </a:r>
          </a:p>
        </p:txBody>
      </p:sp>
      <p:sp>
        <p:nvSpPr>
          <p:cNvPr id="2" name="page">
            <a:extLst xmlns:a="http://schemas.openxmlformats.org/drawingml/2006/main">
              <a:ext uri="{FF2B5EF4-FFF2-40B4-BE49-F238E27FC236}">
                <a16:creationId xmlns:a16="http://schemas.microsoft.com/office/drawing/2014/main" id="{58518A0C-8385-45F9-AC1F-62BAC2B0A844}"/>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03</a:t>
            </a:r>
          </a:p>
        </p:txBody>
      </p:sp>
      <p:sp>
        <p:nvSpPr>
          <p:cNvPr id="3" name="source">
            <a:extLst xmlns:a="http://schemas.openxmlformats.org/drawingml/2006/main">
              <a:ext uri="{FF2B5EF4-FFF2-40B4-BE49-F238E27FC236}">
                <a16:creationId xmlns:a16="http://schemas.microsoft.com/office/drawing/2014/main" id="{9DA34886-0BAE-4C4F-8434-D21692E7143A}"/>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graphicFrame>
        <p:nvGraphicFramePr>
          <p:cNvPr id="9" name=""/>
          <p:cNvGraphicFramePr/>
          <p:nvPr/>
        </p:nvGraphicFramePr>
        <p:xfrm>
          <a:off xmlns:a="http://schemas.openxmlformats.org/drawingml/2006/main" x="647700" y="1504950"/>
          <a:ext xmlns:a="http://schemas.openxmlformats.org/drawingml/2006/main" cx="10896600" cy="4286250"/>
        </p:xfrm>
        <a:graphic xmlns:a="http://schemas.openxmlformats.org/drawingml/2006/main">
          <a:graphicData uri="http://schemas.openxmlformats.org/drawingml/2006/table">
            <a:tbl>
              <a:tblPr firstRow="0" firstCol="0" bandRow="0"/>
              <a:tblGrid>
                <a:gridCol w="2028825"/>
                <a:gridCol w="4619625"/>
                <a:gridCol w="4248150"/>
              </a:tblGrid>
              <a:tr h="523875">
                <a:tc>
                  <a:txBody>
                    <a:bodyPr lIns="123825" tIns="76200" rIns="123825" bIns="76200">
                      <a:noAutofit/>
                    </a:bodyPr>
                    <a:lstStyle/>
                    <a:p>
                      <a:r>
                        <a:rPr sz="1875" b="1">
                          <a:solidFill>
                            <a:srgbClr val="FFFFFF"/>
                          </a:solidFill>
                          <a:latin typeface="Arial"/>
                          <a:ea typeface="Arial"/>
                          <a:cs typeface="Arial"/>
                        </a:rPr>
                        <a:t>Area</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In scope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Out of scope</a:t>
                      </a:r>
                    </a:p>
                  </a:txBody>
                  <a:tcPr marL="91440" marR="91440" marT="45720" marB="45720" anchor="ctr">
                    <a:solidFill>
                      <a:srgbClr val="17343C"/>
                    </a:solidFill>
                  </a:tcPr>
                </a:tc>
              </a:tr>
              <a:tr h="752475">
                <a:tc>
                  <a:txBody>
                    <a:bodyPr lIns="123825" tIns="76200" rIns="123825" bIns="76200">
                      <a:noAutofit/>
                    </a:bodyPr>
                    <a:lstStyle/>
                    <a:p>
                      <a:r>
                        <a:rPr sz="1875" b="0">
                          <a:solidFill>
                            <a:srgbClr val="17343C"/>
                          </a:solidFill>
                          <a:latin typeface="Arial"/>
                          <a:ea typeface="Arial"/>
                          <a:cs typeface="Arial"/>
                        </a:rPr>
                        <a:t>Campus work</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Nine roles, inventory, requests,</a:t>
                      </a:r>
                    </a:p>
                    <a:p>
                      <a:r>
                        <a:rPr sz="1875" b="0">
                          <a:solidFill>
                            <a:srgbClr val="17343C"/>
                          </a:solidFill>
                          <a:latin typeface="Arial"/>
                          <a:ea typeface="Arial"/>
                          <a:cs typeface="Arial"/>
                        </a:rPr>
                        <a:t>search, approvals and custody</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Live KU ERP, finance or</a:t>
                      </a:r>
                    </a:p>
                    <a:p>
                      <a:r>
                        <a:rPr sz="1875" b="0">
                          <a:solidFill>
                            <a:srgbClr val="17343C"/>
                          </a:solidFill>
                          <a:latin typeface="Arial"/>
                          <a:ea typeface="Arial"/>
                          <a:cs typeface="Arial"/>
                        </a:rPr>
                        <a:t>procurement integration</a:t>
                      </a:r>
                    </a:p>
                  </a:txBody>
                  <a:tcPr marL="91440" marR="91440" marT="45720" marB="45720" anchor="ctr">
                    <a:solidFill>
                      <a:srgbClr val="FAFAF7"/>
                    </a:solidFill>
                  </a:tcPr>
                </a:tc>
              </a:tr>
              <a:tr h="752475">
                <a:tc>
                  <a:txBody>
                    <a:bodyPr lIns="123825" tIns="76200" rIns="123825" bIns="76200">
                      <a:noAutofit/>
                    </a:bodyPr>
                    <a:lstStyle/>
                    <a:p>
                      <a:r>
                        <a:rPr sz="1875" b="0">
                          <a:solidFill>
                            <a:srgbClr val="17343C"/>
                          </a:solidFill>
                          <a:latin typeface="Arial"/>
                          <a:ea typeface="Arial"/>
                          <a:cs typeface="Arial"/>
                        </a:rPr>
                        <a:t>Life cycle</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Transfer, maintenance, repair</a:t>
                      </a:r>
                    </a:p>
                    <a:p>
                      <a:r>
                        <a:rPr sz="1875" b="0">
                          <a:solidFill>
                            <a:srgbClr val="17343C"/>
                          </a:solidFill>
                          <a:latin typeface="Arial"/>
                          <a:ea typeface="Arial"/>
                          <a:cs typeface="Arial"/>
                        </a:rPr>
                        <a:t>and retirement records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Vehicle scheduling or</a:t>
                      </a:r>
                    </a:p>
                    <a:p>
                      <a:r>
                        <a:rPr sz="1875" b="0">
                          <a:solidFill>
                            <a:srgbClr val="17343C"/>
                          </a:solidFill>
                          <a:latin typeface="Arial"/>
                          <a:ea typeface="Arial"/>
                          <a:cs typeface="Arial"/>
                        </a:rPr>
                        <a:t>barcode/RFID hardware</a:t>
                      </a:r>
                    </a:p>
                  </a:txBody>
                  <a:tcPr marL="91440" marR="91440" marT="45720" marB="45720" anchor="ctr">
                    <a:solidFill>
                      <a:srgbClr val="F0F4F3"/>
                    </a:solidFill>
                  </a:tcPr>
                </a:tc>
              </a:tr>
              <a:tr h="752475">
                <a:tc>
                  <a:txBody>
                    <a:bodyPr lIns="123825" tIns="76200" rIns="123825" bIns="76200">
                      <a:noAutofit/>
                    </a:bodyPr>
                    <a:lstStyle/>
                    <a:p>
                      <a:r>
                        <a:rPr sz="1875" b="0">
                          <a:solidFill>
                            <a:srgbClr val="17343C"/>
                          </a:solidFill>
                          <a:latin typeface="Arial"/>
                          <a:ea typeface="Arial"/>
                          <a:cs typeface="Arial"/>
                        </a:rPr>
                        <a:t>Reports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Cost records, standard/AI reports</a:t>
                      </a:r>
                    </a:p>
                    <a:p>
                      <a:r>
                        <a:rPr sz="1875" b="0">
                          <a:solidFill>
                            <a:srgbClr val="17343C"/>
                          </a:solidFill>
                          <a:latin typeface="Arial"/>
                          <a:ea typeface="Arial"/>
                          <a:cs typeface="Arial"/>
                        </a:rPr>
                        <a:t>and sustainability indicators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Purchasing and</a:t>
                      </a:r>
                    </a:p>
                    <a:p>
                      <a:r>
                        <a:rPr sz="1875" b="0">
                          <a:solidFill>
                            <a:srgbClr val="17343C"/>
                          </a:solidFill>
                          <a:latin typeface="Arial"/>
                          <a:ea typeface="Arial"/>
                          <a:cs typeface="Arial"/>
                        </a:rPr>
                        <a:t>payment processing</a:t>
                      </a:r>
                    </a:p>
                  </a:txBody>
                  <a:tcPr marL="91440" marR="91440" marT="45720" marB="45720" anchor="ctr">
                    <a:solidFill>
                      <a:srgbClr val="FAFAF7"/>
                    </a:solidFill>
                  </a:tcPr>
                </a:tc>
              </a:tr>
              <a:tr h="752475">
                <a:tc>
                  <a:txBody>
                    <a:bodyPr lIns="123825" tIns="76200" rIns="123825" bIns="76200">
                      <a:noAutofit/>
                    </a:bodyPr>
                    <a:lstStyle/>
                    <a:p>
                      <a:r>
                        <a:rPr sz="1875" b="0">
                          <a:solidFill>
                            <a:srgbClr val="17343C"/>
                          </a:solidFill>
                          <a:latin typeface="Arial"/>
                          <a:ea typeface="Arial"/>
                          <a:cs typeface="Arial"/>
                        </a:rPr>
                        <a:t>AI</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Classification, matching, actions</a:t>
                      </a:r>
                    </a:p>
                    <a:p>
                      <a:r>
                        <a:rPr sz="1875" b="0">
                          <a:solidFill>
                            <a:srgbClr val="17343C"/>
                          </a:solidFill>
                          <a:latin typeface="Arial"/>
                          <a:ea typeface="Arial"/>
                          <a:cs typeface="Arial"/>
                        </a:rPr>
                        <a:t>and assistant, with human review</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Training new models</a:t>
                      </a:r>
                    </a:p>
                    <a:p>
                      <a:r>
                        <a:rPr sz="1875" b="0">
                          <a:solidFill>
                            <a:srgbClr val="17343C"/>
                          </a:solidFill>
                          <a:latin typeface="Arial"/>
                          <a:ea typeface="Arial"/>
                          <a:cs typeface="Arial"/>
                        </a:rPr>
                        <a:t>or autonomous approvals</a:t>
                      </a:r>
                    </a:p>
                  </a:txBody>
                  <a:tcPr marL="91440" marR="91440" marT="45720" marB="45720" anchor="ctr">
                    <a:solidFill>
                      <a:srgbClr val="F0F4F3"/>
                    </a:solidFill>
                  </a:tcPr>
                </a:tc>
              </a:tr>
              <a:tr h="752475">
                <a:tc>
                  <a:txBody>
                    <a:bodyPr lIns="123825" tIns="76200" rIns="123825" bIns="76200">
                      <a:noAutofit/>
                    </a:bodyPr>
                    <a:lstStyle/>
                    <a:p>
                      <a:r>
                        <a:rPr sz="1875" b="0">
                          <a:solidFill>
                            <a:srgbClr val="17343C"/>
                          </a:solidFill>
                          <a:latin typeface="Arial"/>
                          <a:ea typeface="Arial"/>
                          <a:cs typeface="Arial"/>
                        </a:rPr>
                        <a:t>Delivery</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Responsive website, deployment,</a:t>
                      </a:r>
                    </a:p>
                    <a:p>
                      <a:r>
                        <a:rPr sz="1875" b="0">
                          <a:solidFill>
                            <a:srgbClr val="17343C"/>
                          </a:solidFill>
                          <a:latin typeface="Arial"/>
                          <a:ea typeface="Arial"/>
                          <a:cs typeface="Arial"/>
                        </a:rPr>
                        <a:t>setup and restart instructions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Separate native</a:t>
                      </a:r>
                    </a:p>
                    <a:p>
                      <a:r>
                        <a:rPr sz="1875" b="0">
                          <a:solidFill>
                            <a:srgbClr val="17343C"/>
                          </a:solidFill>
                          <a:latin typeface="Arial"/>
                          <a:ea typeface="Arial"/>
                          <a:cs typeface="Arial"/>
                        </a:rPr>
                        <a:t>iPhone/Android apps</a:t>
                      </a:r>
                    </a:p>
                  </a:txBody>
                  <a:tcPr marL="91440" marR="91440" marT="45720" marB="45720" anchor="ctr">
                    <a:solidFill>
                      <a:srgbClr val="FAFAF7"/>
                    </a:solidFill>
                  </a:tcPr>
                </a:tc>
              </a:tr>
            </a:tbl>
          </a:graphicData>
        </a:graphic>
      </p:graphicFrame>
      <p:sp>
        <p:nvSpPr>
          <p:cNvPr id="5" name="takeaway">
            <a:extLst xmlns:a="http://schemas.openxmlformats.org/drawingml/2006/main">
              <a:ext uri="{FF2B5EF4-FFF2-40B4-BE49-F238E27FC236}">
                <a16:creationId xmlns:a16="http://schemas.microsoft.com/office/drawing/2014/main" id="{CE4FEC14-76B9-4609-89ED-52C121B30F64}"/>
              </a:ext>
            </a:extLst>
          </p:cNvPr>
          <p:cNvSpPr>
            <a:spLocks xmlns:a="http://schemas.openxmlformats.org/drawingml/2006/main" noGrp="1"/>
          </p:cNvSpPr>
          <p:nvPr/>
        </p:nvSpPr>
        <p:spPr>
          <a:xfrm xmlns:a="http://schemas.openxmlformats.org/drawingml/2006/main">
            <a:off x="647700" y="603885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746D"/>
                </a:solidFill>
                <a:latin typeface="Arial"/>
                <a:ea typeface="Arial"/>
                <a:cs typeface="Arial"/>
              </a:defRPr>
            </a:pPr>
            <a:r>
              <a:rPr sz="1875" b="1">
                <a:solidFill>
                  <a:srgbClr val="26746D"/>
                </a:solidFill>
                <a:latin typeface="Arial"/>
                <a:ea typeface="Arial"/>
                <a:cs typeface="Arial"/>
              </a:rPr>
              <a:t>The monitor example tests part of this wider semester scope</a:t>
            </a:r>
          </a:p>
        </p:txBody>
      </p:sp>
    </p:spTree>
    <p:extLst>
      <p:ext uri="{BB962C8B-B14F-4D97-AF65-F5344CB8AC3E}">
        <p14:creationId xmlns:p14="http://schemas.microsoft.com/office/powerpoint/2010/main" val="1442795258"/>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34F77F9E-7258-4C36-B0A4-BD2D596FD64E}"/>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One request we can investigate</a:t>
            </a:r>
          </a:p>
        </p:txBody>
      </p:sp>
      <p:sp>
        <p:nvSpPr>
          <p:cNvPr id="2" name="page">
            <a:extLst xmlns:a="http://schemas.openxmlformats.org/drawingml/2006/main">
              <a:ext uri="{FF2B5EF4-FFF2-40B4-BE49-F238E27FC236}">
                <a16:creationId xmlns:a16="http://schemas.microsoft.com/office/drawing/2014/main" id="{990FDD7A-481B-4901-9B68-95147546594E}"/>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04</a:t>
            </a:r>
          </a:p>
        </p:txBody>
      </p:sp>
      <p:sp>
        <p:nvSpPr>
          <p:cNvPr id="3" name="source">
            <a:extLst xmlns:a="http://schemas.openxmlformats.org/drawingml/2006/main">
              <a:ext uri="{FF2B5EF4-FFF2-40B4-BE49-F238E27FC236}">
                <a16:creationId xmlns:a16="http://schemas.microsoft.com/office/drawing/2014/main" id="{2AF52CE2-237D-4663-9A08-6791BEC8C0C1}"/>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a:t>
            </a:r>
          </a:p>
        </p:txBody>
      </p:sp>
      <p:sp>
        <p:nvSpPr>
          <p:cNvPr id="4" name="scenario">
            <a:extLst xmlns:a="http://schemas.openxmlformats.org/drawingml/2006/main">
              <a:ext uri="{FF2B5EF4-FFF2-40B4-BE49-F238E27FC236}">
                <a16:creationId xmlns:a16="http://schemas.microsoft.com/office/drawing/2014/main" id="{522861F8-20CF-4F92-87B4-B362EBF0A315}"/>
              </a:ext>
            </a:extLst>
          </p:cNvPr>
          <p:cNvSpPr>
            <a:spLocks xmlns:a="http://schemas.openxmlformats.org/drawingml/2006/main" noGrp="1"/>
          </p:cNvSpPr>
          <p:nvPr/>
        </p:nvSpPr>
        <p:spPr>
          <a:xfrm xmlns:a="http://schemas.openxmlformats.org/drawingml/2006/main">
            <a:off x="647700" y="142875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746D"/>
                </a:solidFill>
                <a:latin typeface="Arial"/>
                <a:ea typeface="Arial"/>
                <a:cs typeface="Arial"/>
              </a:defRPr>
            </a:pPr>
            <a:r>
              <a:rPr sz="2400" b="1">
                <a:solidFill>
                  <a:srgbClr val="26746D"/>
                </a:solidFill>
                <a:latin typeface="Arial"/>
                <a:ea typeface="Arial"/>
                <a:cs typeface="Arial"/>
              </a:rPr>
              <a:t>A KU staff member needs two suitable working monitors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8a1acd6102d4d9d"/>
          <a:stretch xmlns:a="http://schemas.openxmlformats.org/drawingml/2006/main"/>
        </p:blipFill>
        <p:spPr>
          <a:xfrm xmlns:a="http://schemas.openxmlformats.org/drawingml/2006/main">
            <a:off x="552450" y="2297113"/>
            <a:ext cx="11106150" cy="3702050"/>
          </a:xfrm>
          <a:prstGeom xmlns:a="http://schemas.openxmlformats.org/drawingml/2006/main" prst="rect">
            <a:avLst/>
          </a:prstGeom>
        </p:spPr>
      </p:pic>
      <p:sp>
        <p:nvSpPr>
          <p:cNvPr id="6" name="stage0">
            <a:extLst xmlns:a="http://schemas.openxmlformats.org/drawingml/2006/main">
              <a:ext uri="{FF2B5EF4-FFF2-40B4-BE49-F238E27FC236}">
                <a16:creationId xmlns:a16="http://schemas.microsoft.com/office/drawing/2014/main" id="{37B1ABFA-1FA7-4B44-BCFA-863F69655642}"/>
              </a:ext>
            </a:extLst>
          </p:cNvPr>
          <p:cNvSpPr>
            <a:spLocks xmlns:a="http://schemas.openxmlformats.org/drawingml/2006/main" noGrp="1"/>
          </p:cNvSpPr>
          <p:nvPr/>
        </p:nvSpPr>
        <p:spPr>
          <a:xfrm xmlns:a="http://schemas.openxmlformats.org/drawingml/2006/main">
            <a:off x="647700" y="203835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1  Request</a:t>
            </a:r>
          </a:p>
        </p:txBody>
      </p:sp>
      <p:sp>
        <p:nvSpPr>
          <p:cNvPr id="7" name="stage-detail0">
            <a:extLst xmlns:a="http://schemas.openxmlformats.org/drawingml/2006/main">
              <a:ext uri="{FF2B5EF4-FFF2-40B4-BE49-F238E27FC236}">
                <a16:creationId xmlns:a16="http://schemas.microsoft.com/office/drawing/2014/main" id="{5F208638-4A9A-4CCF-BAAD-406287AE5F13}"/>
              </a:ext>
            </a:extLst>
          </p:cNvPr>
          <p:cNvSpPr>
            <a:spLocks xmlns:a="http://schemas.openxmlformats.org/drawingml/2006/main" noGrp="1"/>
          </p:cNvSpPr>
          <p:nvPr/>
        </p:nvSpPr>
        <p:spPr>
          <a:xfrm xmlns:a="http://schemas.openxmlformats.org/drawingml/2006/main">
            <a:off x="647700" y="5857875"/>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Describe the need</a:t>
            </a:r>
          </a:p>
        </p:txBody>
      </p:sp>
      <p:sp>
        <p:nvSpPr>
          <p:cNvPr id="8" name="stage1">
            <a:extLst xmlns:a="http://schemas.openxmlformats.org/drawingml/2006/main">
              <a:ext uri="{FF2B5EF4-FFF2-40B4-BE49-F238E27FC236}">
                <a16:creationId xmlns:a16="http://schemas.microsoft.com/office/drawing/2014/main" id="{0CA3EF3F-3E15-479C-823A-1F4498D4499D}"/>
              </a:ext>
            </a:extLst>
          </p:cNvPr>
          <p:cNvSpPr>
            <a:spLocks xmlns:a="http://schemas.openxmlformats.org/drawingml/2006/main" noGrp="1"/>
          </p:cNvSpPr>
          <p:nvPr/>
        </p:nvSpPr>
        <p:spPr>
          <a:xfrm xmlns:a="http://schemas.openxmlformats.org/drawingml/2006/main">
            <a:off x="3381375" y="203835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2  Find spares</a:t>
            </a:r>
          </a:p>
        </p:txBody>
      </p:sp>
      <p:sp>
        <p:nvSpPr>
          <p:cNvPr id="9" name="stage-detail1">
            <a:extLst xmlns:a="http://schemas.openxmlformats.org/drawingml/2006/main">
              <a:ext uri="{FF2B5EF4-FFF2-40B4-BE49-F238E27FC236}">
                <a16:creationId xmlns:a16="http://schemas.microsoft.com/office/drawing/2014/main" id="{8D20422E-B507-4335-860E-1D7EC783511F}"/>
              </a:ext>
            </a:extLst>
          </p:cNvPr>
          <p:cNvSpPr>
            <a:spLocks xmlns:a="http://schemas.openxmlformats.org/drawingml/2006/main" noGrp="1"/>
          </p:cNvSpPr>
          <p:nvPr/>
        </p:nvSpPr>
        <p:spPr>
          <a:xfrm xmlns:a="http://schemas.openxmlformats.org/drawingml/2006/main">
            <a:off x="3381375" y="5857875"/>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Check fit and quantity</a:t>
            </a:r>
          </a:p>
        </p:txBody>
      </p:sp>
      <p:sp>
        <p:nvSpPr>
          <p:cNvPr id="10" name="stage2">
            <a:extLst xmlns:a="http://schemas.openxmlformats.org/drawingml/2006/main">
              <a:ext uri="{FF2B5EF4-FFF2-40B4-BE49-F238E27FC236}">
                <a16:creationId xmlns:a16="http://schemas.microsoft.com/office/drawing/2014/main" id="{38872412-22B5-4C85-8AA4-9389C44BEA27}"/>
              </a:ext>
            </a:extLst>
          </p:cNvPr>
          <p:cNvSpPr>
            <a:spLocks xmlns:a="http://schemas.openxmlformats.org/drawingml/2006/main" noGrp="1"/>
          </p:cNvSpPr>
          <p:nvPr/>
        </p:nvSpPr>
        <p:spPr>
          <a:xfrm xmlns:a="http://schemas.openxmlformats.org/drawingml/2006/main">
            <a:off x="6115050" y="203835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3  Approve</a:t>
            </a:r>
          </a:p>
        </p:txBody>
      </p:sp>
      <p:sp>
        <p:nvSpPr>
          <p:cNvPr id="11" name="stage-detail2">
            <a:extLst xmlns:a="http://schemas.openxmlformats.org/drawingml/2006/main">
              <a:ext uri="{FF2B5EF4-FFF2-40B4-BE49-F238E27FC236}">
                <a16:creationId xmlns:a16="http://schemas.microsoft.com/office/drawing/2014/main" id="{FBD656C1-CEFB-4022-839B-0873CAAF3D0E}"/>
              </a:ext>
            </a:extLst>
          </p:cNvPr>
          <p:cNvSpPr>
            <a:spLocks xmlns:a="http://schemas.openxmlformats.org/drawingml/2006/main" noGrp="1"/>
          </p:cNvSpPr>
          <p:nvPr/>
        </p:nvSpPr>
        <p:spPr>
          <a:xfrm xmlns:a="http://schemas.openxmlformats.org/drawingml/2006/main">
            <a:off x="6115050" y="5857875"/>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Releasing and receiving staff</a:t>
            </a:r>
          </a:p>
        </p:txBody>
      </p:sp>
      <p:sp>
        <p:nvSpPr>
          <p:cNvPr id="12" name="stage3">
            <a:extLst xmlns:a="http://schemas.openxmlformats.org/drawingml/2006/main">
              <a:ext uri="{FF2B5EF4-FFF2-40B4-BE49-F238E27FC236}">
                <a16:creationId xmlns:a16="http://schemas.microsoft.com/office/drawing/2014/main" id="{8ED3CC55-59F4-4B41-B55A-8B732105DFD6}"/>
              </a:ext>
            </a:extLst>
          </p:cNvPr>
          <p:cNvSpPr>
            <a:spLocks xmlns:a="http://schemas.openxmlformats.org/drawingml/2006/main" noGrp="1"/>
          </p:cNvSpPr>
          <p:nvPr/>
        </p:nvSpPr>
        <p:spPr>
          <a:xfrm xmlns:a="http://schemas.openxmlformats.org/drawingml/2006/main">
            <a:off x="8848725" y="203835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4  Handover</a:t>
            </a:r>
          </a:p>
        </p:txBody>
      </p:sp>
      <p:sp>
        <p:nvSpPr>
          <p:cNvPr id="13" name="stage-detail3">
            <a:extLst xmlns:a="http://schemas.openxmlformats.org/drawingml/2006/main">
              <a:ext uri="{FF2B5EF4-FFF2-40B4-BE49-F238E27FC236}">
                <a16:creationId xmlns:a16="http://schemas.microsoft.com/office/drawing/2014/main" id="{A26C7139-8040-4ACB-879F-F4D28F318022}"/>
              </a:ext>
            </a:extLst>
          </p:cNvPr>
          <p:cNvSpPr>
            <a:spLocks xmlns:a="http://schemas.openxmlformats.org/drawingml/2006/main" noGrp="1"/>
          </p:cNvSpPr>
          <p:nvPr/>
        </p:nvSpPr>
        <p:spPr>
          <a:xfrm xmlns:a="http://schemas.openxmlformats.org/drawingml/2006/main">
            <a:off x="8848725" y="5857875"/>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Record custody and location</a:t>
            </a:r>
          </a:p>
        </p:txBody>
      </p:sp>
    </p:spTree>
    <p:extLst>
      <p:ext uri="{BB962C8B-B14F-4D97-AF65-F5344CB8AC3E}">
        <p14:creationId xmlns:p14="http://schemas.microsoft.com/office/powerpoint/2010/main" val="630563970"/>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00E8DA4-0038-43FD-9A38-8C97D0666C7B}"/>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Who owns the process and uses it?</a:t>
            </a:r>
          </a:p>
        </p:txBody>
      </p:sp>
      <p:sp>
        <p:nvSpPr>
          <p:cNvPr id="2" name="page">
            <a:extLst xmlns:a="http://schemas.openxmlformats.org/drawingml/2006/main">
              <a:ext uri="{FF2B5EF4-FFF2-40B4-BE49-F238E27FC236}">
                <a16:creationId xmlns:a16="http://schemas.microsoft.com/office/drawing/2014/main" id="{481EA92E-CA51-4507-B71D-B0F62B0D1FE0}"/>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05</a:t>
            </a:r>
          </a:p>
        </p:txBody>
      </p:sp>
      <p:sp>
        <p:nvSpPr>
          <p:cNvPr id="3" name="source">
            <a:extLst xmlns:a="http://schemas.openxmlformats.org/drawingml/2006/main">
              <a:ext uri="{FF2B5EF4-FFF2-40B4-BE49-F238E27FC236}">
                <a16:creationId xmlns:a16="http://schemas.microsoft.com/office/drawing/2014/main" id="{9BDAC4B5-3882-4493-85B5-9C45C13C4C7E}"/>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 [S03]</a:t>
            </a:r>
          </a:p>
        </p:txBody>
      </p:sp>
      <p:sp>
        <p:nvSpPr>
          <p:cNvPr id="4" name="owner">
            <a:extLst xmlns:a="http://schemas.openxmlformats.org/drawingml/2006/main">
              <a:ext uri="{FF2B5EF4-FFF2-40B4-BE49-F238E27FC236}">
                <a16:creationId xmlns:a16="http://schemas.microsoft.com/office/drawing/2014/main" id="{A7D72DF5-249B-4710-BD8D-BBE9590C78A4}"/>
              </a:ext>
            </a:extLst>
          </p:cNvPr>
          <p:cNvSpPr>
            <a:spLocks xmlns:a="http://schemas.openxmlformats.org/drawingml/2006/main" noGrp="1"/>
          </p:cNvSpPr>
          <p:nvPr/>
        </p:nvSpPr>
        <p:spPr>
          <a:xfrm xmlns:a="http://schemas.openxmlformats.org/drawingml/2006/main">
            <a:off x="647700" y="1428750"/>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746D"/>
                </a:solidFill>
                <a:latin typeface="Arial"/>
                <a:ea typeface="Arial"/>
                <a:cs typeface="Arial"/>
              </a:defRPr>
            </a:pPr>
            <a:r>
              <a:rPr sz="2400" b="1">
                <a:solidFill>
                  <a:srgbClr val="26746D"/>
                </a:solidFill>
                <a:latin typeface="Arial"/>
                <a:ea typeface="Arial"/>
                <a:cs typeface="Arial"/>
              </a:rPr>
              <a:t>Proposed functional owner: Facilities Management</a:t>
            </a:r>
          </a:p>
        </p:txBody>
      </p:sp>
      <p:graphicFrame>
        <p:nvGraphicFramePr>
          <p:cNvPr id="11" name=""/>
          <p:cNvGraphicFramePr/>
          <p:nvPr/>
        </p:nvGraphicFramePr>
        <p:xfrm>
          <a:off xmlns:a="http://schemas.openxmlformats.org/drawingml/2006/main" x="647700" y="2047875"/>
          <a:ext xmlns:a="http://schemas.openxmlformats.org/drawingml/2006/main" cx="10896600" cy="3943350"/>
        </p:xfrm>
        <a:graphic xmlns:a="http://schemas.openxmlformats.org/drawingml/2006/main">
          <a:graphicData uri="http://schemas.openxmlformats.org/drawingml/2006/table">
            <a:tbl>
              <a:tblPr firstRow="0" firstCol="0" bandRow="0"/>
              <a:tblGrid>
                <a:gridCol w="2800350"/>
                <a:gridCol w="3895725"/>
                <a:gridCol w="4200525"/>
              </a:tblGrid>
              <a:tr h="542925">
                <a:tc>
                  <a:txBody>
                    <a:bodyPr lIns="123825" tIns="76200" rIns="123825" bIns="76200">
                      <a:noAutofit/>
                    </a:bodyPr>
                    <a:lstStyle/>
                    <a:p>
                      <a:r>
                        <a:rPr sz="1875" b="1">
                          <a:solidFill>
                            <a:srgbClr val="FFFFFF"/>
                          </a:solidFill>
                          <a:latin typeface="Arial"/>
                          <a:ea typeface="Arial"/>
                          <a:cs typeface="Arial"/>
                        </a:rPr>
                        <a:t>Role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Responsibility</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What they need</a:t>
                      </a:r>
                    </a:p>
                  </a:txBody>
                  <a:tcPr marL="91440" marR="91440" marT="45720" marB="45720" anchor="ctr">
                    <a:solidFill>
                      <a:srgbClr val="17343C"/>
                    </a:solidFill>
                  </a:tcPr>
                </a:tc>
              </a:tr>
              <a:tr h="838200">
                <a:tc>
                  <a:txBody>
                    <a:bodyPr lIns="123825" tIns="76200" rIns="123825" bIns="76200">
                      <a:noAutofit/>
                    </a:bodyPr>
                    <a:lstStyle/>
                    <a:p>
                      <a:r>
                        <a:rPr sz="1950" b="0">
                          <a:solidFill>
                            <a:srgbClr val="17343C"/>
                          </a:solidFill>
                          <a:latin typeface="Arial"/>
                          <a:ea typeface="Arial"/>
                          <a:cs typeface="Arial"/>
                        </a:rPr>
                        <a:t>Department representative</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Approve release and receipt</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Clear approval tasks and department controls</a:t>
                      </a:r>
                    </a:p>
                  </a:txBody>
                  <a:tcPr marL="91440" marR="91440" marT="45720" marB="45720" anchor="ctr">
                    <a:solidFill>
                      <a:srgbClr val="FAFAF7"/>
                    </a:solidFill>
                  </a:tcPr>
                </a:tc>
              </a:tr>
              <a:tr h="857250">
                <a:tc>
                  <a:txBody>
                    <a:bodyPr lIns="123825" tIns="76200" rIns="123825" bIns="76200">
                      <a:noAutofit/>
                    </a:bodyPr>
                    <a:lstStyle/>
                    <a:p>
                      <a:r>
                        <a:rPr sz="1950" b="0">
                          <a:solidFill>
                            <a:srgbClr val="17343C"/>
                          </a:solidFill>
                          <a:latin typeface="Arial"/>
                          <a:ea typeface="Arial"/>
                          <a:cs typeface="Arial"/>
                        </a:rPr>
                        <a:t>Asset custodian</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Maintain item records and confirm handover</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Accurate condition, quantity, location and history</a:t>
                      </a:r>
                    </a:p>
                  </a:txBody>
                  <a:tcPr marL="91440" marR="91440" marT="45720" marB="45720" anchor="ctr">
                    <a:solidFill>
                      <a:srgbClr val="F0F4F3"/>
                    </a:solidFill>
                  </a:tcPr>
                </a:tc>
              </a:tr>
              <a:tr h="771525">
                <a:tc>
                  <a:txBody>
                    <a:bodyPr lIns="123825" tIns="76200" rIns="123825" bIns="76200">
                      <a:noAutofit/>
                    </a:bodyPr>
                    <a:lstStyle/>
                    <a:p>
                      <a:r>
                        <a:rPr sz="1950" b="0">
                          <a:solidFill>
                            <a:srgbClr val="17343C"/>
                          </a:solidFill>
                          <a:latin typeface="Arial"/>
                          <a:ea typeface="Arial"/>
                          <a:cs typeface="Arial"/>
                        </a:rPr>
                        <a:t>Requester</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Find items and submit requests</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Suitable results and visible request status</a:t>
                      </a:r>
                    </a:p>
                  </a:txBody>
                  <a:tcPr marL="91440" marR="91440" marT="45720" marB="45720" anchor="ctr">
                    <a:solidFill>
                      <a:srgbClr val="FAFAF7"/>
                    </a:solidFill>
                  </a:tcPr>
                </a:tc>
              </a:tr>
              <a:tr h="933450">
                <a:tc>
                  <a:txBody>
                    <a:bodyPr lIns="123825" tIns="76200" rIns="123825" bIns="76200">
                      <a:noAutofit/>
                    </a:bodyPr>
                    <a:lstStyle/>
                    <a:p>
                      <a:r>
                        <a:rPr sz="1950" b="0">
                          <a:solidFill>
                            <a:srgbClr val="17343C"/>
                          </a:solidFill>
                          <a:latin typeface="Arial"/>
                          <a:ea typeface="Arial"/>
                          <a:cs typeface="Arial"/>
                        </a:rPr>
                        <a:t>Business administrator</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Configure workflows and handle exceptions</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Consistent records and approval routes</a:t>
                      </a:r>
                    </a:p>
                  </a:txBody>
                  <a:tcPr marL="91440" marR="91440" marT="45720" marB="45720" anchor="ctr">
                    <a:solidFill>
                      <a:srgbClr val="F0F4F3"/>
                    </a:solidFill>
                  </a:tcPr>
                </a:tc>
              </a:tr>
            </a:tbl>
          </a:graphicData>
        </a:graphic>
      </p:graphicFrame>
      <p:sp>
        <p:nvSpPr>
          <p:cNvPr id="6" name="takeaway">
            <a:extLst xmlns:a="http://schemas.openxmlformats.org/drawingml/2006/main">
              <a:ext uri="{FF2B5EF4-FFF2-40B4-BE49-F238E27FC236}">
                <a16:creationId xmlns:a16="http://schemas.microsoft.com/office/drawing/2014/main" id="{CBA2CC1D-12F4-46BB-912F-28E3D272B9A5}"/>
              </a:ext>
            </a:extLst>
          </p:cNvPr>
          <p:cNvSpPr>
            <a:spLocks xmlns:a="http://schemas.openxmlformats.org/drawingml/2006/main" noGrp="1"/>
          </p:cNvSpPr>
          <p:nvPr/>
        </p:nvSpPr>
        <p:spPr>
          <a:xfrm xmlns:a="http://schemas.openxmlformats.org/drawingml/2006/main">
            <a:off x="647700" y="61055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746D"/>
                </a:solidFill>
                <a:latin typeface="Arial"/>
                <a:ea typeface="Arial"/>
                <a:cs typeface="Arial"/>
              </a:defRPr>
            </a:pPr>
            <a:r>
              <a:rPr sz="1800" b="1">
                <a:solidFill>
                  <a:srgbClr val="26746D"/>
                </a:solidFill>
                <a:latin typeface="Arial"/>
                <a:ea typeface="Arial"/>
                <a:cs typeface="Arial"/>
              </a:rPr>
              <a:t>KU staff must confirm the owner and approval responsibilities</a:t>
            </a:r>
          </a:p>
        </p:txBody>
      </p:sp>
    </p:spTree>
    <p:extLst>
      <p:ext uri="{BB962C8B-B14F-4D97-AF65-F5344CB8AC3E}">
        <p14:creationId xmlns:p14="http://schemas.microsoft.com/office/powerpoint/2010/main" val="1034223771"/>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A6CEB78-A9AA-4B1D-A680-80D4E3C35328}"/>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Who checks decisions and operates the service?</a:t>
            </a:r>
          </a:p>
        </p:txBody>
      </p:sp>
      <p:sp>
        <p:nvSpPr>
          <p:cNvPr id="2" name="page">
            <a:extLst xmlns:a="http://schemas.openxmlformats.org/drawingml/2006/main">
              <a:ext uri="{FF2B5EF4-FFF2-40B4-BE49-F238E27FC236}">
                <a16:creationId xmlns:a16="http://schemas.microsoft.com/office/drawing/2014/main" id="{258B1766-CE68-48A9-8CEE-582F0230FC39}"/>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06</a:t>
            </a:r>
          </a:p>
        </p:txBody>
      </p:sp>
      <p:sp>
        <p:nvSpPr>
          <p:cNvPr id="3" name="source">
            <a:extLst xmlns:a="http://schemas.openxmlformats.org/drawingml/2006/main">
              <a:ext uri="{FF2B5EF4-FFF2-40B4-BE49-F238E27FC236}">
                <a16:creationId xmlns:a16="http://schemas.microsoft.com/office/drawing/2014/main" id="{BF39967F-7BD4-4BC1-B7AB-66DA400CAA38}"/>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 [S03]</a:t>
            </a:r>
          </a:p>
        </p:txBody>
      </p:sp>
      <p:graphicFrame>
        <p:nvGraphicFramePr>
          <p:cNvPr id="9" name=""/>
          <p:cNvGraphicFramePr/>
          <p:nvPr/>
        </p:nvGraphicFramePr>
        <p:xfrm>
          <a:off xmlns:a="http://schemas.openxmlformats.org/drawingml/2006/main" x="647700" y="1476375"/>
          <a:ext xmlns:a="http://schemas.openxmlformats.org/drawingml/2006/main" cx="10896600" cy="4562475"/>
        </p:xfrm>
        <a:graphic xmlns:a="http://schemas.openxmlformats.org/drawingml/2006/main">
          <a:graphicData uri="http://schemas.openxmlformats.org/drawingml/2006/table">
            <a:tbl>
              <a:tblPr firstRow="0" firstCol="0" bandRow="0"/>
              <a:tblGrid>
                <a:gridCol w="2800350"/>
                <a:gridCol w="3895725"/>
                <a:gridCol w="4200525"/>
              </a:tblGrid>
              <a:tr h="523875">
                <a:tc>
                  <a:txBody>
                    <a:bodyPr lIns="123825" tIns="76200" rIns="123825" bIns="76200">
                      <a:noAutofit/>
                    </a:bodyPr>
                    <a:lstStyle/>
                    <a:p>
                      <a:r>
                        <a:rPr sz="1875" b="1">
                          <a:solidFill>
                            <a:srgbClr val="FFFFFF"/>
                          </a:solidFill>
                          <a:latin typeface="Arial"/>
                          <a:ea typeface="Arial"/>
                          <a:cs typeface="Arial"/>
                        </a:rPr>
                        <a:t>Role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Responsibility</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What they need</a:t>
                      </a:r>
                    </a:p>
                  </a:txBody>
                  <a:tcPr marL="91440" marR="91440" marT="45720" marB="45720" anchor="ctr">
                    <a:solidFill>
                      <a:srgbClr val="17343C"/>
                    </a:solidFill>
                  </a:tcPr>
                </a:tc>
              </a:tr>
              <a:tr h="781050">
                <a:tc>
                  <a:txBody>
                    <a:bodyPr lIns="123825" tIns="76200" rIns="123825" bIns="76200">
                      <a:noAutofit/>
                    </a:bodyPr>
                    <a:lstStyle/>
                    <a:p>
                      <a:r>
                        <a:rPr sz="1875" b="0">
                          <a:solidFill>
                            <a:srgbClr val="17343C"/>
                          </a:solidFill>
                          <a:latin typeface="Arial"/>
                          <a:ea typeface="Arial"/>
                          <a:cs typeface="Arial"/>
                        </a:rPr>
                        <a:t>Procurement officer</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Check reuse and procurement rules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Evidence that reuse is permitted and avoids a purchase</a:t>
                      </a:r>
                    </a:p>
                  </a:txBody>
                  <a:tcPr marL="91440" marR="91440" marT="45720" marB="45720" anchor="ctr">
                    <a:solidFill>
                      <a:srgbClr val="FAFAF7"/>
                    </a:solidFill>
                  </a:tcPr>
                </a:tc>
              </a:tr>
              <a:tr h="742950">
                <a:tc>
                  <a:txBody>
                    <a:bodyPr lIns="123825" tIns="76200" rIns="123825" bIns="76200">
                      <a:noAutofit/>
                    </a:bodyPr>
                    <a:lstStyle/>
                    <a:p>
                      <a:r>
                        <a:rPr sz="1875" b="0">
                          <a:solidFill>
                            <a:srgbClr val="17343C"/>
                          </a:solidFill>
                          <a:latin typeface="Arial"/>
                          <a:ea typeface="Arial"/>
                          <a:cs typeface="Arial"/>
                        </a:rPr>
                        <a:t>Finance officer</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Check values, costs and thresholds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Traceable figures and authorised decisions</a:t>
                      </a:r>
                    </a:p>
                  </a:txBody>
                  <a:tcPr marL="91440" marR="91440" marT="45720" marB="45720" anchor="ctr">
                    <a:solidFill>
                      <a:srgbClr val="F0F4F3"/>
                    </a:solidFill>
                  </a:tcPr>
                </a:tc>
              </a:tr>
              <a:tr h="771525">
                <a:tc>
                  <a:txBody>
                    <a:bodyPr lIns="123825" tIns="76200" rIns="123825" bIns="76200">
                      <a:noAutofit/>
                    </a:bodyPr>
                    <a:lstStyle/>
                    <a:p>
                      <a:r>
                        <a:rPr sz="1875" b="0">
                          <a:solidFill>
                            <a:srgbClr val="17343C"/>
                          </a:solidFill>
                          <a:latin typeface="Arial"/>
                          <a:ea typeface="Arial"/>
                          <a:cs typeface="Arial"/>
                        </a:rPr>
                        <a:t>Maintenance staff</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Inspect, repair and update condition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Work records, costs and safe condition</a:t>
                      </a:r>
                    </a:p>
                  </a:txBody>
                  <a:tcPr marL="91440" marR="91440" marT="45720" marB="45720" anchor="ctr">
                    <a:solidFill>
                      <a:srgbClr val="FAFAF7"/>
                    </a:solidFill>
                  </a:tcPr>
                </a:tc>
              </a:tr>
              <a:tr h="781050">
                <a:tc>
                  <a:txBody>
                    <a:bodyPr lIns="123825" tIns="76200" rIns="123825" bIns="76200">
                      <a:noAutofit/>
                    </a:bodyPr>
                    <a:lstStyle/>
                    <a:p>
                      <a:r>
                        <a:rPr sz="1875" b="0">
                          <a:solidFill>
                            <a:srgbClr val="17343C"/>
                          </a:solidFill>
                          <a:latin typeface="Arial"/>
                          <a:ea typeface="Arial"/>
                          <a:cs typeface="Arial"/>
                        </a:rPr>
                        <a:t>Sustainability officer</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Review actions, factors and indicators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Sourced measures and explicit uncertainty</a:t>
                      </a:r>
                    </a:p>
                  </a:txBody>
                  <a:tcPr marL="91440" marR="91440" marT="45720" marB="45720" anchor="ctr">
                    <a:solidFill>
                      <a:srgbClr val="F0F4F3"/>
                    </a:solidFill>
                  </a:tcPr>
                </a:tc>
              </a:tr>
              <a:tr h="962025">
                <a:tc>
                  <a:txBody>
                    <a:bodyPr lIns="123825" tIns="76200" rIns="123825" bIns="76200">
                      <a:noAutofit/>
                    </a:bodyPr>
                    <a:lstStyle/>
                    <a:p>
                      <a:r>
                        <a:rPr sz="1875" b="0">
                          <a:solidFill>
                            <a:srgbClr val="17343C"/>
                          </a:solidFill>
                          <a:latin typeface="Arial"/>
                          <a:ea typeface="Arial"/>
                          <a:cs typeface="Arial"/>
                        </a:rPr>
                        <a:t>System administrator</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Operate accounts, security and backups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Tested access and recovery; no automatic business approval</a:t>
                      </a:r>
                    </a:p>
                  </a:txBody>
                  <a:tcPr marL="91440" marR="91440" marT="45720" marB="45720" anchor="ctr">
                    <a:solidFill>
                      <a:srgbClr val="FAFAF7"/>
                    </a:solidFill>
                  </a:tcPr>
                </a:tc>
              </a:tr>
            </a:tbl>
          </a:graphicData>
        </a:graphic>
      </p:graphicFrame>
      <p:sp>
        <p:nvSpPr>
          <p:cNvPr id="5" name="takeaway">
            <a:extLst xmlns:a="http://schemas.openxmlformats.org/drawingml/2006/main">
              <a:ext uri="{FF2B5EF4-FFF2-40B4-BE49-F238E27FC236}">
                <a16:creationId xmlns:a16="http://schemas.microsoft.com/office/drawing/2014/main" id="{4804CF34-603B-4057-9D18-1FA44557208D}"/>
              </a:ext>
            </a:extLst>
          </p:cNvPr>
          <p:cNvSpPr>
            <a:spLocks xmlns:a="http://schemas.openxmlformats.org/drawingml/2006/main" noGrp="1"/>
          </p:cNvSpPr>
          <p:nvPr/>
        </p:nvSpPr>
        <p:spPr>
          <a:xfrm xmlns:a="http://schemas.openxmlformats.org/drawingml/2006/main">
            <a:off x="647700" y="604837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746D"/>
                </a:solidFill>
                <a:latin typeface="Arial"/>
                <a:ea typeface="Arial"/>
                <a:cs typeface="Arial"/>
              </a:defRPr>
            </a:pPr>
            <a:r>
              <a:rPr sz="1875" b="1">
                <a:solidFill>
                  <a:srgbClr val="26746D"/>
                </a:solidFill>
                <a:latin typeface="Arial"/>
                <a:ea typeface="Arial"/>
                <a:cs typeface="Arial"/>
              </a:rPr>
              <a:t>IT access does not automatically grant business approval rights</a:t>
            </a:r>
          </a:p>
        </p:txBody>
      </p:sp>
    </p:spTree>
    <p:extLst>
      <p:ext uri="{BB962C8B-B14F-4D97-AF65-F5344CB8AC3E}">
        <p14:creationId xmlns:p14="http://schemas.microsoft.com/office/powerpoint/2010/main" val="1185109692"/>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C834846-B30C-486F-B485-DA5167A8E991}"/>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Three existing systems we researched</a:t>
            </a:r>
          </a:p>
        </p:txBody>
      </p:sp>
      <p:sp>
        <p:nvSpPr>
          <p:cNvPr id="2" name="page">
            <a:extLst xmlns:a="http://schemas.openxmlformats.org/drawingml/2006/main">
              <a:ext uri="{FF2B5EF4-FFF2-40B4-BE49-F238E27FC236}">
                <a16:creationId xmlns:a16="http://schemas.microsoft.com/office/drawing/2014/main" id="{7A53F1DF-FC3E-4635-BB56-6527CF775B0D}"/>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07</a:t>
            </a:r>
          </a:p>
        </p:txBody>
      </p:sp>
      <p:sp>
        <p:nvSpPr>
          <p:cNvPr id="3" name="source">
            <a:extLst xmlns:a="http://schemas.openxmlformats.org/drawingml/2006/main">
              <a:ext uri="{FF2B5EF4-FFF2-40B4-BE49-F238E27FC236}">
                <a16:creationId xmlns:a16="http://schemas.microsoft.com/office/drawing/2014/main" id="{8DD27CD3-EBB9-4817-B07B-E27BBA443EE6}"/>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[S04] [S05] [S06] [S07] [S23]</a:t>
            </a:r>
          </a:p>
        </p:txBody>
      </p:sp>
      <p:graphicFrame>
        <p:nvGraphicFramePr>
          <p:cNvPr id="9" name=""/>
          <p:cNvGraphicFramePr/>
          <p:nvPr/>
        </p:nvGraphicFramePr>
        <p:xfrm>
          <a:off xmlns:a="http://schemas.openxmlformats.org/drawingml/2006/main" x="647700" y="1647825"/>
          <a:ext xmlns:a="http://schemas.openxmlformats.org/drawingml/2006/main" cx="10896600" cy="4191000"/>
        </p:xfrm>
        <a:graphic xmlns:a="http://schemas.openxmlformats.org/drawingml/2006/main">
          <a:graphicData uri="http://schemas.openxmlformats.org/drawingml/2006/table">
            <a:tbl>
              <a:tblPr firstRow="0" firstCol="0" bandRow="0"/>
              <a:tblGrid>
                <a:gridCol w="2076450"/>
                <a:gridCol w="4714875"/>
                <a:gridCol w="4105275"/>
              </a:tblGrid>
              <a:tr h="561975">
                <a:tc>
                  <a:txBody>
                    <a:bodyPr lIns="123825" tIns="76200" rIns="123825" bIns="76200">
                      <a:noAutofit/>
                    </a:bodyPr>
                    <a:lstStyle/>
                    <a:p>
                      <a:r>
                        <a:rPr sz="1875" b="1">
                          <a:solidFill>
                            <a:srgbClr val="FFFFFF"/>
                          </a:solidFill>
                          <a:latin typeface="Arial"/>
                          <a:ea typeface="Arial"/>
                          <a:cs typeface="Arial"/>
                        </a:rPr>
                        <a:t>System</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Documented functions</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What remains to compare</a:t>
                      </a:r>
                    </a:p>
                  </a:txBody>
                  <a:tcPr marL="91440" marR="91440" marT="45720" marB="45720" anchor="ctr">
                    <a:solidFill>
                      <a:srgbClr val="17343C"/>
                    </a:solidFill>
                  </a:tcPr>
                </a:tc>
              </a:tr>
              <a:tr h="1114425">
                <a:tc>
                  <a:txBody>
                    <a:bodyPr lIns="123825" tIns="76200" rIns="123825" bIns="76200">
                      <a:noAutofit/>
                    </a:bodyPr>
                    <a:lstStyle/>
                    <a:p>
                      <a:r>
                        <a:rPr sz="1950" b="0">
                          <a:solidFill>
                            <a:srgbClr val="17343C"/>
                          </a:solidFill>
                          <a:latin typeface="Arial"/>
                          <a:ea typeface="Arial"/>
                          <a:cs typeface="Arial"/>
                        </a:rPr>
                        <a:t>Rheaply</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Reuse marketplace, approvals,</a:t>
                      </a:r>
                    </a:p>
                    <a:p>
                      <a:r>
                        <a:rPr sz="1950" b="0">
                          <a:solidFill>
                            <a:srgbClr val="17343C"/>
                          </a:solidFill>
                          <a:latin typeface="Arial"/>
                          <a:ea typeface="Arial"/>
                          <a:cs typeface="Arial"/>
                        </a:rPr>
                        <a:t>impact reports and AI listing help</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KU workflow fit and full price</a:t>
                      </a:r>
                    </a:p>
                    <a:p>
                      <a:r>
                        <a:rPr sz="1950" b="0">
                          <a:solidFill>
                            <a:srgbClr val="17343C"/>
                          </a:solidFill>
                          <a:latin typeface="Arial"/>
                          <a:ea typeface="Arial"/>
                          <a:cs typeface="Arial"/>
                        </a:rPr>
                        <a:t>Quotation required</a:t>
                      </a:r>
                    </a:p>
                  </a:txBody>
                  <a:tcPr marL="91440" marR="91440" marT="45720" marB="45720" anchor="ctr">
                    <a:solidFill>
                      <a:srgbClr val="FAFAF7"/>
                    </a:solidFill>
                  </a:tcPr>
                </a:tc>
              </a:tr>
              <a:tr h="1114425">
                <a:tc>
                  <a:txBody>
                    <a:bodyPr lIns="123825" tIns="76200" rIns="123825" bIns="76200">
                      <a:noAutofit/>
                    </a:bodyPr>
                    <a:lstStyle/>
                    <a:p>
                      <a:r>
                        <a:rPr sz="1950" b="0">
                          <a:solidFill>
                            <a:srgbClr val="17343C"/>
                          </a:solidFill>
                          <a:latin typeface="Arial"/>
                          <a:ea typeface="Arial"/>
                          <a:cs typeface="Arial"/>
                        </a:rPr>
                        <a:t>Warp It</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Surplus search, claims, approvals,</a:t>
                      </a:r>
                    </a:p>
                    <a:p>
                      <a:r>
                        <a:rPr sz="1950" b="0">
                          <a:solidFill>
                            <a:srgbClr val="17343C"/>
                          </a:solidFill>
                          <a:latin typeface="Arial"/>
                          <a:ea typeface="Arial"/>
                          <a:cs typeface="Arial"/>
                        </a:rPr>
                        <a:t>reports and AI listing help</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UAE eligibility and a KU quote</a:t>
                      </a:r>
                    </a:p>
                    <a:p>
                      <a:r>
                        <a:rPr sz="1950" b="0">
                          <a:solidFill>
                            <a:srgbClr val="17343C"/>
                          </a:solidFill>
                          <a:latin typeface="Arial"/>
                          <a:ea typeface="Arial"/>
                          <a:cs typeface="Arial"/>
                        </a:rPr>
                        <a:t>Published UK price bands</a:t>
                      </a:r>
                    </a:p>
                  </a:txBody>
                  <a:tcPr marL="91440" marR="91440" marT="45720" marB="45720" anchor="ctr">
                    <a:solidFill>
                      <a:srgbClr val="F0F4F3"/>
                    </a:solidFill>
                  </a:tcPr>
                </a:tc>
              </a:tr>
              <a:tr h="1400175">
                <a:tc>
                  <a:txBody>
                    <a:bodyPr lIns="123825" tIns="76200" rIns="123825" bIns="76200">
                      <a:noAutofit/>
                    </a:bodyPr>
                    <a:lstStyle/>
                    <a:p>
                      <a:r>
                        <a:rPr sz="1950" b="0">
                          <a:solidFill>
                            <a:srgbClr val="17343C"/>
                          </a:solidFill>
                          <a:latin typeface="Arial"/>
                          <a:ea typeface="Arial"/>
                          <a:cs typeface="Arial"/>
                        </a:rPr>
                        <a:t>Snipe-IT</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Inventory, requests, custody,</a:t>
                      </a:r>
                    </a:p>
                    <a:p>
                      <a:r>
                        <a:rPr sz="1950" b="0">
                          <a:solidFill>
                            <a:srgbClr val="17343C"/>
                          </a:solidFill>
                          <a:latin typeface="Arial"/>
                          <a:ea typeface="Arial"/>
                          <a:cs typeface="Arial"/>
                        </a:rPr>
                        <a:t>maintenance history and API</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Reuse workflow configuration</a:t>
                      </a:r>
                    </a:p>
                    <a:p>
                      <a:r>
                        <a:rPr sz="1950" b="0">
                          <a:solidFill>
                            <a:srgbClr val="17343C"/>
                          </a:solidFill>
                          <a:latin typeface="Arial"/>
                          <a:ea typeface="Arial"/>
                          <a:cs typeface="Arial"/>
                        </a:rPr>
                        <a:t>Free self-hosted software</a:t>
                      </a:r>
                    </a:p>
                    <a:p>
                      <a:r>
                        <a:rPr sz="1950" b="0">
                          <a:solidFill>
                            <a:srgbClr val="17343C"/>
                          </a:solidFill>
                          <a:latin typeface="Arial"/>
                          <a:ea typeface="Arial"/>
                          <a:cs typeface="Arial"/>
                        </a:rPr>
                        <a:t>USD 39.99/month basic hosting</a:t>
                      </a:r>
                    </a:p>
                  </a:txBody>
                  <a:tcPr marL="91440" marR="91440" marT="45720" marB="45720" anchor="ctr">
                    <a:solidFill>
                      <a:srgbClr val="FAFAF7"/>
                    </a:solidFill>
                  </a:tcPr>
                </a:tc>
              </a:tr>
            </a:tbl>
          </a:graphicData>
        </a:graphic>
      </p:graphicFrame>
      <p:sp>
        <p:nvSpPr>
          <p:cNvPr id="5" name="takeaway">
            <a:extLst xmlns:a="http://schemas.openxmlformats.org/drawingml/2006/main">
              <a:ext uri="{FF2B5EF4-FFF2-40B4-BE49-F238E27FC236}">
                <a16:creationId xmlns:a16="http://schemas.microsoft.com/office/drawing/2014/main" id="{E1265FB0-2444-4BF0-B8C4-3342F192BAB2}"/>
              </a:ext>
            </a:extLst>
          </p:cNvPr>
          <p:cNvSpPr>
            <a:spLocks xmlns:a="http://schemas.openxmlformats.org/drawingml/2006/main" noGrp="1"/>
          </p:cNvSpPr>
          <p:nvPr/>
        </p:nvSpPr>
        <p:spPr>
          <a:xfrm xmlns:a="http://schemas.openxmlformats.org/drawingml/2006/main">
            <a:off x="647700" y="600075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746D"/>
                </a:solidFill>
                <a:latin typeface="Arial"/>
                <a:ea typeface="Arial"/>
                <a:cs typeface="Arial"/>
              </a:defRPr>
            </a:pPr>
            <a:r>
              <a:rPr sz="1800" b="1">
                <a:solidFill>
                  <a:srgbClr val="26746D"/>
                </a:solidFill>
                <a:latin typeface="Arial"/>
                <a:ea typeface="Arial"/>
                <a:cs typeface="Arial"/>
              </a:rPr>
              <a:t>Reuse and AI already exist in the market. Our evaluation must add evidence.</a:t>
            </a:r>
          </a:p>
        </p:txBody>
      </p:sp>
    </p:spTree>
    <p:extLst>
      <p:ext uri="{BB962C8B-B14F-4D97-AF65-F5344CB8AC3E}">
        <p14:creationId xmlns:p14="http://schemas.microsoft.com/office/powerpoint/2010/main" val="2028879878"/>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21ED501-2055-416D-8A92-BFD276443EB5}"/>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The market question is KU’s actual need</a:t>
            </a:r>
          </a:p>
        </p:txBody>
      </p:sp>
      <p:sp>
        <p:nvSpPr>
          <p:cNvPr id="2" name="page">
            <a:extLst xmlns:a="http://schemas.openxmlformats.org/drawingml/2006/main">
              <a:ext uri="{FF2B5EF4-FFF2-40B4-BE49-F238E27FC236}">
                <a16:creationId xmlns:a16="http://schemas.microsoft.com/office/drawing/2014/main" id="{F772D281-5D9F-4804-8471-69CB69B6FDC0}"/>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08</a:t>
            </a:r>
          </a:p>
        </p:txBody>
      </p:sp>
      <p:sp>
        <p:nvSpPr>
          <p:cNvPr id="3" name="source">
            <a:extLst xmlns:a="http://schemas.openxmlformats.org/drawingml/2006/main">
              <a:ext uri="{FF2B5EF4-FFF2-40B4-BE49-F238E27FC236}">
                <a16:creationId xmlns:a16="http://schemas.microsoft.com/office/drawing/2014/main" id="{0B98D005-5F1F-43F5-B01F-46C8F9A31264}"/>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 [S08]</a:t>
            </a:r>
          </a:p>
        </p:txBody>
      </p:sp>
      <p:sp>
        <p:nvSpPr>
          <p:cNvPr id="4" name="left-title">
            <a:extLst xmlns:a="http://schemas.openxmlformats.org/drawingml/2006/main">
              <a:ext uri="{FF2B5EF4-FFF2-40B4-BE49-F238E27FC236}">
                <a16:creationId xmlns:a16="http://schemas.microsoft.com/office/drawing/2014/main" id="{B89E7F92-A37B-4B52-8854-36456D655662}"/>
              </a:ext>
            </a:extLst>
          </p:cNvPr>
          <p:cNvSpPr>
            <a:spLocks xmlns:a="http://schemas.openxmlformats.org/drawingml/2006/main" noGrp="1"/>
          </p:cNvSpPr>
          <p:nvPr/>
        </p:nvSpPr>
        <p:spPr>
          <a:xfrm xmlns:a="http://schemas.openxmlformats.org/drawingml/2006/main">
            <a:off x="647700" y="160972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Evidence we have</a:t>
            </a:r>
          </a:p>
        </p:txBody>
      </p:sp>
      <p:sp>
        <p:nvSpPr>
          <p:cNvPr id="5" name="left-body">
            <a:extLst xmlns:a="http://schemas.openxmlformats.org/drawingml/2006/main">
              <a:ext uri="{FF2B5EF4-FFF2-40B4-BE49-F238E27FC236}">
                <a16:creationId xmlns:a16="http://schemas.microsoft.com/office/drawing/2014/main" id="{21011B6D-895E-46CB-A304-F83CB1E59758}"/>
              </a:ext>
            </a:extLst>
          </p:cNvPr>
          <p:cNvSpPr>
            <a:spLocks xmlns:a="http://schemas.openxmlformats.org/drawingml/2006/main" noGrp="1"/>
          </p:cNvSpPr>
          <p:nvPr/>
        </p:nvSpPr>
        <p:spPr>
          <a:xfrm xmlns:a="http://schemas.openxmlformats.org/drawingml/2006/main">
            <a:off x="647700" y="2257425"/>
            <a:ext cx="50673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Universities use reuse platforms. UC Berkeley documents a Rheaply furniture service.</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This supports relevance elsewhere.</a:t>
            </a:r>
          </a:p>
        </p:txBody>
      </p:sp>
      <p:sp>
        <p:nvSpPr>
          <p:cNvPr id="6" name="right-title">
            <a:extLst xmlns:a="http://schemas.openxmlformats.org/drawingml/2006/main">
              <a:ext uri="{FF2B5EF4-FFF2-40B4-BE49-F238E27FC236}">
                <a16:creationId xmlns:a16="http://schemas.microsoft.com/office/drawing/2014/main" id="{A89D063F-1616-45F9-8D23-1E9E35508EEF}"/>
              </a:ext>
            </a:extLst>
          </p:cNvPr>
          <p:cNvSpPr>
            <a:spLocks xmlns:a="http://schemas.openxmlformats.org/drawingml/2006/main" noGrp="1"/>
          </p:cNvSpPr>
          <p:nvPr/>
        </p:nvSpPr>
        <p:spPr>
          <a:xfrm xmlns:a="http://schemas.openxmlformats.org/drawingml/2006/main">
            <a:off x="6477000" y="160972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Evidence we need at KU</a:t>
            </a:r>
          </a:p>
        </p:txBody>
      </p:sp>
      <p:sp>
        <p:nvSpPr>
          <p:cNvPr id="7" name="right-body">
            <a:extLst xmlns:a="http://schemas.openxmlformats.org/drawingml/2006/main">
              <a:ext uri="{FF2B5EF4-FFF2-40B4-BE49-F238E27FC236}">
                <a16:creationId xmlns:a16="http://schemas.microsoft.com/office/drawing/2014/main" id="{BCF8137D-4C23-42B2-ACC6-0AC1ACD42918}"/>
              </a:ext>
            </a:extLst>
          </p:cNvPr>
          <p:cNvSpPr>
            <a:spLocks xmlns:a="http://schemas.openxmlformats.org/drawingml/2006/main" noGrp="1"/>
          </p:cNvSpPr>
          <p:nvPr/>
        </p:nvSpPr>
        <p:spPr>
          <a:xfrm xmlns:a="http://schemas.openxmlformats.org/drawingml/2006/main">
            <a:off x="6477000" y="2257425"/>
            <a:ext cx="50673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Which system and process exist?</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How many suitable requests and spare items occur?</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Where does work repeat?</a:t>
            </a:r>
          </a:p>
        </p:txBody>
      </p:sp>
      <p:sp>
        <p:nvSpPr>
          <p:cNvPr id="8" name="distinctive">
            <a:extLst xmlns:a="http://schemas.openxmlformats.org/drawingml/2006/main">
              <a:ext uri="{FF2B5EF4-FFF2-40B4-BE49-F238E27FC236}">
                <a16:creationId xmlns:a16="http://schemas.microsoft.com/office/drawing/2014/main" id="{E2E42B94-037F-4889-B16D-9E2BB26EDF70}"/>
              </a:ext>
            </a:extLst>
          </p:cNvPr>
          <p:cNvSpPr>
            <a:spLocks xmlns:a="http://schemas.openxmlformats.org/drawingml/2006/main" noGrp="1"/>
          </p:cNvSpPr>
          <p:nvPr/>
        </p:nvSpPr>
        <p:spPr>
          <a:xfrm xmlns:a="http://schemas.openxmlformats.org/drawingml/2006/main">
            <a:off x="647700" y="491490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746D"/>
                </a:solidFill>
                <a:latin typeface="Arial"/>
                <a:ea typeface="Arial"/>
                <a:cs typeface="Arial"/>
              </a:defRPr>
            </a:pPr>
            <a:r>
              <a:rPr sz="2400" b="1">
                <a:solidFill>
                  <a:srgbClr val="26746D"/>
                </a:solidFill>
                <a:latin typeface="Arial"/>
                <a:ea typeface="Arial"/>
                <a:cs typeface="Arial"/>
              </a:rPr>
              <a:t>Our contribution</a:t>
            </a:r>
          </a:p>
        </p:txBody>
      </p:sp>
      <p:sp>
        <p:nvSpPr>
          <p:cNvPr id="9" name="method">
            <a:extLst xmlns:a="http://schemas.openxmlformats.org/drawingml/2006/main">
              <a:ext uri="{FF2B5EF4-FFF2-40B4-BE49-F238E27FC236}">
                <a16:creationId xmlns:a16="http://schemas.microsoft.com/office/drawing/2014/main" id="{85191D34-3797-4247-80BC-1A6B0C11F5A4}"/>
              </a:ext>
            </a:extLst>
          </p:cNvPr>
          <p:cNvSpPr>
            <a:spLocks xmlns:a="http://schemas.openxmlformats.org/drawingml/2006/main" noGrp="1"/>
          </p:cNvSpPr>
          <p:nvPr/>
        </p:nvSpPr>
        <p:spPr>
          <a:xfrm xmlns:a="http://schemas.openxmlformats.org/drawingml/2006/main">
            <a:off x="647700" y="54673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Compare the same monitor request through KU’s process, our ordinary search</a:t>
            </a:r>
          </a:p>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and AI matching. Count useful results, errors and all checking work.</a:t>
            </a:r>
          </a:p>
        </p:txBody>
      </p:sp>
    </p:spTree>
    <p:extLst>
      <p:ext uri="{BB962C8B-B14F-4D97-AF65-F5344CB8AC3E}">
        <p14:creationId xmlns:p14="http://schemas.microsoft.com/office/powerpoint/2010/main" val="912143375"/>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CFA4ED9-ED40-4975-BE6C-C4F3A729F3A2}"/>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Two technology routes to test</a:t>
            </a:r>
          </a:p>
        </p:txBody>
      </p:sp>
      <p:sp>
        <p:nvSpPr>
          <p:cNvPr id="2" name="page">
            <a:extLst xmlns:a="http://schemas.openxmlformats.org/drawingml/2006/main">
              <a:ext uri="{FF2B5EF4-FFF2-40B4-BE49-F238E27FC236}">
                <a16:creationId xmlns:a16="http://schemas.microsoft.com/office/drawing/2014/main" id="{F9BA4DD6-CBB2-4D8F-AE9F-98EB3B51C045}"/>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09</a:t>
            </a:r>
          </a:p>
        </p:txBody>
      </p:sp>
      <p:sp>
        <p:nvSpPr>
          <p:cNvPr id="3" name="source">
            <a:extLst xmlns:a="http://schemas.openxmlformats.org/drawingml/2006/main">
              <a:ext uri="{FF2B5EF4-FFF2-40B4-BE49-F238E27FC236}">
                <a16:creationId xmlns:a16="http://schemas.microsoft.com/office/drawing/2014/main" id="{7E66B40D-5C16-4D6B-B9FA-986372C8FB3B}"/>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[S09] [S10]</a:t>
            </a:r>
          </a:p>
        </p:txBody>
      </p:sp>
      <p:graphicFrame>
        <p:nvGraphicFramePr>
          <p:cNvPr id="9" name=""/>
          <p:cNvGraphicFramePr/>
          <p:nvPr/>
        </p:nvGraphicFramePr>
        <p:xfrm>
          <a:off xmlns:a="http://schemas.openxmlformats.org/drawingml/2006/main" x="647700" y="1714500"/>
          <a:ext xmlns:a="http://schemas.openxmlformats.org/drawingml/2006/main" cx="10896600" cy="3848100"/>
        </p:xfrm>
        <a:graphic xmlns:a="http://schemas.openxmlformats.org/drawingml/2006/main">
          <a:graphicData uri="http://schemas.openxmlformats.org/drawingml/2006/table">
            <a:tbl>
              <a:tblPr firstRow="0" firstCol="0" bandRow="0"/>
              <a:tblGrid>
                <a:gridCol w="3076575"/>
                <a:gridCol w="3762375"/>
                <a:gridCol w="4057650"/>
              </a:tblGrid>
              <a:tr h="571500">
                <a:tc>
                  <a:txBody>
                    <a:bodyPr lIns="123825" tIns="76200" rIns="123825" bIns="76200">
                      <a:noAutofit/>
                    </a:bodyPr>
                    <a:lstStyle/>
                    <a:p>
                      <a:r>
                        <a:rPr sz="1875" b="1">
                          <a:solidFill>
                            <a:srgbClr val="FFFFFF"/>
                          </a:solidFill>
                          <a:latin typeface="Arial"/>
                          <a:ea typeface="Arial"/>
                          <a:cs typeface="Arial"/>
                        </a:rPr>
                        <a:t>Candidate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Why investigate it</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Checks before choosing</a:t>
                      </a:r>
                    </a:p>
                  </a:txBody>
                  <a:tcPr marL="91440" marR="91440" marT="45720" marB="45720" anchor="ctr">
                    <a:solidFill>
                      <a:srgbClr val="17343C"/>
                    </a:solidFill>
                  </a:tcPr>
                </a:tc>
              </a:tr>
              <a:tr h="1552575">
                <a:tc>
                  <a:txBody>
                    <a:bodyPr lIns="123825" tIns="76200" rIns="123825" bIns="76200">
                      <a:noAutofit/>
                    </a:bodyPr>
                    <a:lstStyle/>
                    <a:p>
                      <a:r>
                        <a:rPr sz="2025" b="0">
                          <a:solidFill>
                            <a:srgbClr val="17343C"/>
                          </a:solidFill>
                          <a:latin typeface="Arial"/>
                          <a:ea typeface="Arial"/>
                          <a:cs typeface="Arial"/>
                        </a:rPr>
                        <a:t>Django + PostgreSQL</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One main web application</a:t>
                      </a:r>
                    </a:p>
                    <a:p>
                      <a:r>
                        <a:rPr sz="2025" b="0">
                          <a:solidFill>
                            <a:srgbClr val="17343C"/>
                          </a:solidFill>
                          <a:latin typeface="Arial"/>
                          <a:ea typeface="Arial"/>
                          <a:cs typeface="Arial"/>
                        </a:rPr>
                        <a:t>Built-in admin and authentication</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Team Python/Django skills</a:t>
                      </a:r>
                    </a:p>
                    <a:p>
                      <a:r>
                        <a:rPr sz="2025" b="0">
                          <a:solidFill>
                            <a:srgbClr val="17343C"/>
                          </a:solidFill>
                          <a:latin typeface="Arial"/>
                          <a:ea typeface="Arial"/>
                          <a:cs typeface="Arial"/>
                        </a:rPr>
                        <a:t>Department permissions</a:t>
                      </a:r>
                    </a:p>
                    <a:p>
                      <a:r>
                        <a:rPr sz="2025" b="0">
                          <a:solidFill>
                            <a:srgbClr val="17343C"/>
                          </a:solidFill>
                          <a:latin typeface="Arial"/>
                          <a:ea typeface="Arial"/>
                          <a:cs typeface="Arial"/>
                        </a:rPr>
                        <a:t>AI/API integration</a:t>
                      </a:r>
                    </a:p>
                  </a:txBody>
                  <a:tcPr marL="91440" marR="91440" marT="45720" marB="45720" anchor="ctr">
                    <a:solidFill>
                      <a:srgbClr val="FAFAF7"/>
                    </a:solidFill>
                  </a:tcPr>
                </a:tc>
              </a:tr>
              <a:tr h="1724025">
                <a:tc>
                  <a:txBody>
                    <a:bodyPr lIns="123825" tIns="76200" rIns="123825" bIns="76200">
                      <a:noAutofit/>
                    </a:bodyPr>
                    <a:lstStyle/>
                    <a:p>
                      <a:r>
                        <a:rPr sz="2025" b="0">
                          <a:solidFill>
                            <a:srgbClr val="17343C"/>
                          </a:solidFill>
                          <a:latin typeface="Arial"/>
                          <a:ea typeface="Arial"/>
                          <a:cs typeface="Arial"/>
                        </a:rPr>
                        <a:t>React + Express + PostgreSQL</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Separate interface and API</a:t>
                      </a:r>
                    </a:p>
                    <a:p>
                      <a:r>
                        <a:rPr sz="2025" b="0">
                          <a:solidFill>
                            <a:srgbClr val="17343C"/>
                          </a:solidFill>
                          <a:latin typeface="Arial"/>
                          <a:ea typeface="Arial"/>
                          <a:cs typeface="Arial"/>
                        </a:rPr>
                        <a:t>JavaScript throughout</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Team React/Node skills</a:t>
                      </a:r>
                    </a:p>
                    <a:p>
                      <a:r>
                        <a:rPr sz="2025" b="0">
                          <a:solidFill>
                            <a:srgbClr val="17343C"/>
                          </a:solidFill>
                          <a:latin typeface="Arial"/>
                          <a:ea typeface="Arial"/>
                          <a:cs typeface="Arial"/>
                        </a:rPr>
                        <a:t>Authentication and API work</a:t>
                      </a:r>
                    </a:p>
                    <a:p>
                      <a:r>
                        <a:rPr sz="2025" b="0">
                          <a:solidFill>
                            <a:srgbClr val="17343C"/>
                          </a:solidFill>
                          <a:latin typeface="Arial"/>
                          <a:ea typeface="Arial"/>
                          <a:cs typeface="Arial"/>
                        </a:rPr>
                        <a:t>Extra integration/deployment steps</a:t>
                      </a:r>
                    </a:p>
                  </a:txBody>
                  <a:tcPr marL="91440" marR="91440" marT="45720" marB="45720" anchor="ctr">
                    <a:solidFill>
                      <a:srgbClr val="F0F4F3"/>
                    </a:solidFill>
                  </a:tcPr>
                </a:tc>
              </a:tr>
            </a:tbl>
          </a:graphicData>
        </a:graphic>
      </p:graphicFrame>
      <p:sp>
        <p:nvSpPr>
          <p:cNvPr id="5" name="takeaway">
            <a:extLst xmlns:a="http://schemas.openxmlformats.org/drawingml/2006/main">
              <a:ext uri="{FF2B5EF4-FFF2-40B4-BE49-F238E27FC236}">
                <a16:creationId xmlns:a16="http://schemas.microsoft.com/office/drawing/2014/main" id="{44DA80E4-36B9-47E7-BFA4-DCBAB379F18D}"/>
              </a:ext>
            </a:extLst>
          </p:cNvPr>
          <p:cNvSpPr>
            <a:spLocks xmlns:a="http://schemas.openxmlformats.org/drawingml/2006/main" noGrp="1"/>
          </p:cNvSpPr>
          <p:nvPr/>
        </p:nvSpPr>
        <p:spPr>
          <a:xfrm xmlns:a="http://schemas.openxmlformats.org/drawingml/2006/main">
            <a:off x="647700" y="59531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746D"/>
                </a:solidFill>
                <a:latin typeface="Arial"/>
                <a:ea typeface="Arial"/>
                <a:cs typeface="Arial"/>
              </a:defRPr>
            </a:pPr>
            <a:r>
              <a:rPr sz="1875" b="1">
                <a:solidFill>
                  <a:srgbClr val="26746D"/>
                </a:solidFill>
                <a:latin typeface="Arial"/>
                <a:ea typeface="Arial"/>
                <a:cs typeface="Arial"/>
              </a:rPr>
              <a:t>Provisional preference: test Django first and review the evidence</a:t>
            </a:r>
          </a:p>
        </p:txBody>
      </p:sp>
    </p:spTree>
    <p:extLst>
      <p:ext uri="{BB962C8B-B14F-4D97-AF65-F5344CB8AC3E}">
        <p14:creationId xmlns:p14="http://schemas.microsoft.com/office/powerpoint/2010/main" val="2002514802"/>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CC219E0-9116-49E3-B6AF-212BB08B02D4}"/>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Hardware, software and skills</a:t>
            </a:r>
          </a:p>
        </p:txBody>
      </p:sp>
      <p:sp>
        <p:nvSpPr>
          <p:cNvPr id="2" name="page">
            <a:extLst xmlns:a="http://schemas.openxmlformats.org/drawingml/2006/main">
              <a:ext uri="{FF2B5EF4-FFF2-40B4-BE49-F238E27FC236}">
                <a16:creationId xmlns:a16="http://schemas.microsoft.com/office/drawing/2014/main" id="{6E92C710-34AA-4C6A-A670-69DF21287FAA}"/>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10</a:t>
            </a:r>
          </a:p>
        </p:txBody>
      </p:sp>
      <p:sp>
        <p:nvSpPr>
          <p:cNvPr id="3" name="source">
            <a:extLst xmlns:a="http://schemas.openxmlformats.org/drawingml/2006/main">
              <a:ext uri="{FF2B5EF4-FFF2-40B4-BE49-F238E27FC236}">
                <a16:creationId xmlns:a16="http://schemas.microsoft.com/office/drawing/2014/main" id="{C8B08B23-6336-437E-B6E1-3D015263FB1B}"/>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[S09] [S10]</a:t>
            </a:r>
          </a:p>
        </p:txBody>
      </p:sp>
      <p:graphicFrame>
        <p:nvGraphicFramePr>
          <p:cNvPr id="9" name=""/>
          <p:cNvGraphicFramePr/>
          <p:nvPr/>
        </p:nvGraphicFramePr>
        <p:xfrm>
          <a:off xmlns:a="http://schemas.openxmlformats.org/drawingml/2006/main" x="647700" y="1695450"/>
          <a:ext xmlns:a="http://schemas.openxmlformats.org/drawingml/2006/main" cx="10896600" cy="3867150"/>
        </p:xfrm>
        <a:graphic xmlns:a="http://schemas.openxmlformats.org/drawingml/2006/main">
          <a:graphicData uri="http://schemas.openxmlformats.org/drawingml/2006/table">
            <a:tbl>
              <a:tblPr firstRow="0" firstCol="0" bandRow="0"/>
              <a:tblGrid>
                <a:gridCol w="2333625"/>
                <a:gridCol w="4276725"/>
                <a:gridCol w="4286250"/>
              </a:tblGrid>
              <a:tr h="561975">
                <a:tc>
                  <a:txBody>
                    <a:bodyPr lIns="123825" tIns="76200" rIns="123825" bIns="76200">
                      <a:noAutofit/>
                    </a:bodyPr>
                    <a:lstStyle/>
                    <a:p>
                      <a:r>
                        <a:rPr sz="1875" b="1">
                          <a:solidFill>
                            <a:srgbClr val="FFFFFF"/>
                          </a:solidFill>
                          <a:latin typeface="Arial"/>
                          <a:ea typeface="Arial"/>
                          <a:cs typeface="Arial"/>
                        </a:rPr>
                        <a:t>Resource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Proposed use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What we must verify</a:t>
                      </a:r>
                    </a:p>
                  </a:txBody>
                  <a:tcPr marL="91440" marR="91440" marT="45720" marB="45720" anchor="ctr">
                    <a:solidFill>
                      <a:srgbClr val="17343C"/>
                    </a:solidFill>
                  </a:tcPr>
                </a:tc>
              </a:tr>
              <a:tr h="1028700">
                <a:tc>
                  <a:txBody>
                    <a:bodyPr lIns="123825" tIns="76200" rIns="123825" bIns="76200">
                      <a:noAutofit/>
                    </a:bodyPr>
                    <a:lstStyle/>
                    <a:p>
                      <a:r>
                        <a:rPr sz="2025" b="0">
                          <a:solidFill>
                            <a:srgbClr val="17343C"/>
                          </a:solidFill>
                          <a:latin typeface="Arial"/>
                          <a:ea typeface="Arial"/>
                          <a:cs typeface="Arial"/>
                        </a:rPr>
                        <a:t>Devices and browser</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Existing laptops or KU lab PCs</a:t>
                      </a:r>
                    </a:p>
                    <a:p>
                      <a:r>
                        <a:rPr sz="2025" b="0">
                          <a:solidFill>
                            <a:srgbClr val="17343C"/>
                          </a:solidFill>
                          <a:latin typeface="Arial"/>
                          <a:ea typeface="Arial"/>
                          <a:cs typeface="Arial"/>
                        </a:rPr>
                        <a:t>Browser-based staff access</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Actual RAM, storage and OS</a:t>
                      </a:r>
                    </a:p>
                    <a:p>
                      <a:r>
                        <a:rPr sz="2025" b="0">
                          <a:solidFill>
                            <a:srgbClr val="17343C"/>
                          </a:solidFill>
                          <a:latin typeface="Arial"/>
                          <a:ea typeface="Arial"/>
                          <a:cs typeface="Arial"/>
                        </a:rPr>
                        <a:t>Network and browser tests</a:t>
                      </a:r>
                    </a:p>
                  </a:txBody>
                  <a:tcPr marL="91440" marR="91440" marT="45720" marB="45720" anchor="ctr">
                    <a:solidFill>
                      <a:srgbClr val="FAFAF7"/>
                    </a:solidFill>
                  </a:tcPr>
                </a:tc>
              </a:tr>
              <a:tr h="1143000">
                <a:tc>
                  <a:txBody>
                    <a:bodyPr lIns="123825" tIns="76200" rIns="123825" bIns="76200">
                      <a:noAutofit/>
                    </a:bodyPr>
                    <a:lstStyle/>
                    <a:p>
                      <a:r>
                        <a:rPr sz="2025" b="0">
                          <a:solidFill>
                            <a:srgbClr val="17343C"/>
                          </a:solidFill>
                          <a:latin typeface="Arial"/>
                          <a:ea typeface="Arial"/>
                          <a:cs typeface="Arial"/>
                        </a:rPr>
                        <a:t>Server and data</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Web app, PostgreSQL, media store</a:t>
                      </a:r>
                    </a:p>
                    <a:p>
                      <a:r>
                        <a:rPr sz="2025" b="0">
                          <a:solidFill>
                            <a:srgbClr val="17343C"/>
                          </a:solidFill>
                          <a:latin typeface="Arial"/>
                          <a:ea typeface="Arial"/>
                          <a:cs typeface="Arial"/>
                        </a:rPr>
                        <a:t>Protected API keys and backups</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Upload persistence, recovery</a:t>
                      </a:r>
                    </a:p>
                    <a:p>
                      <a:r>
                        <a:rPr sz="2025" b="0">
                          <a:solidFill>
                            <a:srgbClr val="17343C"/>
                          </a:solidFill>
                          <a:latin typeface="Arial"/>
                          <a:ea typeface="Arial"/>
                          <a:cs typeface="Arial"/>
                        </a:rPr>
                        <a:t>Access rules and HTTPS</a:t>
                      </a:r>
                    </a:p>
                  </a:txBody>
                  <a:tcPr marL="91440" marR="91440" marT="45720" marB="45720" anchor="ctr">
                    <a:solidFill>
                      <a:srgbClr val="F0F4F3"/>
                    </a:solidFill>
                  </a:tcPr>
                </a:tc>
              </a:tr>
              <a:tr h="1133475">
                <a:tc>
                  <a:txBody>
                    <a:bodyPr lIns="123825" tIns="76200" rIns="123825" bIns="76200">
                      <a:noAutofit/>
                    </a:bodyPr>
                    <a:lstStyle/>
                    <a:p>
                      <a:r>
                        <a:rPr sz="2025" b="0">
                          <a:solidFill>
                            <a:srgbClr val="17343C"/>
                          </a:solidFill>
                          <a:latin typeface="Arial"/>
                          <a:ea typeface="Arial"/>
                          <a:cs typeface="Arial"/>
                        </a:rPr>
                        <a:t>Team skills</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Web/API work, SQL, AI evaluation</a:t>
                      </a:r>
                    </a:p>
                    <a:p>
                      <a:r>
                        <a:rPr sz="2025" b="0">
                          <a:solidFill>
                            <a:srgbClr val="17343C"/>
                          </a:solidFill>
                          <a:latin typeface="Arial"/>
                          <a:ea typeface="Arial"/>
                          <a:cs typeface="Arial"/>
                        </a:rPr>
                        <a:t>Deployment and testing</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Who can do each task</a:t>
                      </a:r>
                    </a:p>
                    <a:p>
                      <a:r>
                        <a:rPr sz="2025" b="0">
                          <a:solidFill>
                            <a:srgbClr val="17343C"/>
                          </a:solidFill>
                          <a:latin typeface="Arial"/>
                          <a:ea typeface="Arial"/>
                          <a:cs typeface="Arial"/>
                        </a:rPr>
                        <a:t>Learning time and support</a:t>
                      </a:r>
                    </a:p>
                  </a:txBody>
                  <a:tcPr marL="91440" marR="91440" marT="45720" marB="45720" anchor="ctr">
                    <a:solidFill>
                      <a:srgbClr val="FAFAF7"/>
                    </a:solidFill>
                  </a:tcPr>
                </a:tc>
              </a:tr>
            </a:tbl>
          </a:graphicData>
        </a:graphic>
      </p:graphicFrame>
      <p:sp>
        <p:nvSpPr>
          <p:cNvPr id="5" name="takeaway">
            <a:extLst xmlns:a="http://schemas.openxmlformats.org/drawingml/2006/main">
              <a:ext uri="{FF2B5EF4-FFF2-40B4-BE49-F238E27FC236}">
                <a16:creationId xmlns:a16="http://schemas.microsoft.com/office/drawing/2014/main" id="{1FF591EF-BA01-47D2-8071-91273D500877}"/>
              </a:ext>
            </a:extLst>
          </p:cNvPr>
          <p:cNvSpPr>
            <a:spLocks xmlns:a="http://schemas.openxmlformats.org/drawingml/2006/main" noGrp="1"/>
          </p:cNvSpPr>
          <p:nvPr/>
        </p:nvSpPr>
        <p:spPr>
          <a:xfrm xmlns:a="http://schemas.openxmlformats.org/drawingml/2006/main">
            <a:off x="647700" y="59912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746D"/>
                </a:solidFill>
                <a:latin typeface="Arial"/>
                <a:ea typeface="Arial"/>
                <a:cs typeface="Arial"/>
              </a:defRPr>
            </a:pPr>
            <a:r>
              <a:rPr sz="1875" b="1">
                <a:solidFill>
                  <a:srgbClr val="26746D"/>
                </a:solidFill>
                <a:latin typeface="Arial"/>
                <a:ea typeface="Arial"/>
                <a:cs typeface="Arial"/>
              </a:rPr>
              <a:t>A local AI model would need a separate hardware and licence check</a:t>
            </a:r>
          </a:p>
        </p:txBody>
      </p:sp>
    </p:spTree>
    <p:extLst>
      <p:ext uri="{BB962C8B-B14F-4D97-AF65-F5344CB8AC3E}">
        <p14:creationId xmlns:p14="http://schemas.microsoft.com/office/powerpoint/2010/main" val="1127045891"/>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1AB93D-744B-442F-A13B-FC8395801152}"/>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Feasibility across six areas</a:t>
            </a:r>
          </a:p>
        </p:txBody>
      </p:sp>
      <p:sp>
        <p:nvSpPr>
          <p:cNvPr id="2" name="page">
            <a:extLst xmlns:a="http://schemas.openxmlformats.org/drawingml/2006/main">
              <a:ext uri="{FF2B5EF4-FFF2-40B4-BE49-F238E27FC236}">
                <a16:creationId xmlns:a16="http://schemas.microsoft.com/office/drawing/2014/main" id="{3217AD77-3EF9-435D-ADA1-88050EB6C437}"/>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11</a:t>
            </a:r>
          </a:p>
        </p:txBody>
      </p:sp>
      <p:sp>
        <p:nvSpPr>
          <p:cNvPr id="3" name="source">
            <a:extLst xmlns:a="http://schemas.openxmlformats.org/drawingml/2006/main">
              <a:ext uri="{FF2B5EF4-FFF2-40B4-BE49-F238E27FC236}">
                <a16:creationId xmlns:a16="http://schemas.microsoft.com/office/drawing/2014/main" id="{40F55E19-189B-4DCD-84A5-095D926015C1}"/>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[S22]</a:t>
            </a:r>
          </a:p>
        </p:txBody>
      </p:sp>
      <p:graphicFrame>
        <p:nvGraphicFramePr>
          <p:cNvPr id="8" name=""/>
          <p:cNvGraphicFramePr/>
          <p:nvPr/>
        </p:nvGraphicFramePr>
        <p:xfrm>
          <a:off xmlns:a="http://schemas.openxmlformats.org/drawingml/2006/main" x="647700" y="1657350"/>
          <a:ext xmlns:a="http://schemas.openxmlformats.org/drawingml/2006/main" cx="10896600" cy="4181475"/>
        </p:xfrm>
        <a:graphic xmlns:a="http://schemas.openxmlformats.org/drawingml/2006/main">
          <a:graphicData uri="http://schemas.openxmlformats.org/drawingml/2006/table">
            <a:tbl>
              <a:tblPr firstRow="0" firstCol="0" bandRow="0"/>
              <a:tblGrid>
                <a:gridCol w="2428875"/>
                <a:gridCol w="3524250"/>
                <a:gridCol w="4943475"/>
              </a:tblGrid>
              <a:tr h="523875">
                <a:tc>
                  <a:txBody>
                    <a:bodyPr lIns="123825" tIns="76200" rIns="123825" bIns="76200">
                      <a:noAutofit/>
                    </a:bodyPr>
                    <a:lstStyle/>
                    <a:p>
                      <a:r>
                        <a:rPr sz="1875" b="1">
                          <a:solidFill>
                            <a:srgbClr val="FFFFFF"/>
                          </a:solidFill>
                          <a:latin typeface="Arial"/>
                          <a:ea typeface="Arial"/>
                          <a:cs typeface="Arial"/>
                        </a:rPr>
                        <a:t>Area</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Current finding</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Condition before a stronger conclusion</a:t>
                      </a:r>
                    </a:p>
                  </a:txBody>
                  <a:tcPr marL="91440" marR="91440" marT="45720" marB="45720" anchor="ctr">
                    <a:solidFill>
                      <a:srgbClr val="17343C"/>
                    </a:solidFill>
                  </a:tcPr>
                </a:tc>
              </a:tr>
              <a:tr h="609600">
                <a:tc>
                  <a:txBody>
                    <a:bodyPr lIns="123825" tIns="76200" rIns="123825" bIns="76200">
                      <a:noAutofit/>
                    </a:bodyPr>
                    <a:lstStyle/>
                    <a:p>
                      <a:r>
                        <a:rPr sz="1950" b="0">
                          <a:solidFill>
                            <a:srgbClr val="17343C"/>
                          </a:solidFill>
                          <a:latin typeface="Arial"/>
                          <a:ea typeface="Arial"/>
                          <a:cs typeface="Arial"/>
                        </a:rPr>
                        <a:t>Technical</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Plausible architecture</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Run a deployment and permission test</a:t>
                      </a:r>
                    </a:p>
                  </a:txBody>
                  <a:tcPr marL="91440" marR="91440" marT="45720" marB="45720" anchor="ctr">
                    <a:solidFill>
                      <a:srgbClr val="FAFAF7"/>
                    </a:solidFill>
                  </a:tcPr>
                </a:tc>
              </a:tr>
              <a:tr h="609600">
                <a:tc>
                  <a:txBody>
                    <a:bodyPr lIns="123825" tIns="76200" rIns="123825" bIns="76200">
                      <a:noAutofit/>
                    </a:bodyPr>
                    <a:lstStyle/>
                    <a:p>
                      <a:r>
                        <a:rPr sz="1950" b="0">
                          <a:solidFill>
                            <a:srgbClr val="17343C"/>
                          </a:solidFill>
                          <a:latin typeface="Arial"/>
                          <a:ea typeface="Arial"/>
                          <a:cs typeface="Arial"/>
                        </a:rPr>
                        <a:t>Economic</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Conditional scenarios only</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Verify demand and total costs</a:t>
                      </a:r>
                    </a:p>
                  </a:txBody>
                  <a:tcPr marL="91440" marR="91440" marT="45720" marB="45720" anchor="ctr">
                    <a:solidFill>
                      <a:srgbClr val="F0F4F3"/>
                    </a:solidFill>
                  </a:tcPr>
                </a:tc>
              </a:tr>
              <a:tr h="609600">
                <a:tc>
                  <a:txBody>
                    <a:bodyPr lIns="123825" tIns="76200" rIns="123825" bIns="76200">
                      <a:noAutofit/>
                    </a:bodyPr>
                    <a:lstStyle/>
                    <a:p>
                      <a:r>
                        <a:rPr sz="1950" b="0">
                          <a:solidFill>
                            <a:srgbClr val="17343C"/>
                          </a:solidFill>
                          <a:latin typeface="Arial"/>
                          <a:ea typeface="Arial"/>
                          <a:cs typeface="Arial"/>
                        </a:rPr>
                        <a:t>Legal and ethical</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Controls identified</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Confirm KU data and approval rules</a:t>
                      </a:r>
                    </a:p>
                  </a:txBody>
                  <a:tcPr marL="91440" marR="91440" marT="45720" marB="45720" anchor="ctr">
                    <a:solidFill>
                      <a:srgbClr val="FAFAF7"/>
                    </a:solidFill>
                  </a:tcPr>
                </a:tc>
              </a:tr>
              <a:tr h="609600">
                <a:tc>
                  <a:txBody>
                    <a:bodyPr lIns="123825" tIns="76200" rIns="123825" bIns="76200">
                      <a:noAutofit/>
                    </a:bodyPr>
                    <a:lstStyle/>
                    <a:p>
                      <a:r>
                        <a:rPr sz="1950" b="0">
                          <a:solidFill>
                            <a:srgbClr val="17343C"/>
                          </a:solidFill>
                          <a:latin typeface="Arial"/>
                          <a:ea typeface="Arial"/>
                          <a:cs typeface="Arial"/>
                        </a:rPr>
                        <a:t>Operational</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Workflow proposed</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Interview staff and check duplicate work</a:t>
                      </a:r>
                    </a:p>
                  </a:txBody>
                  <a:tcPr marL="91440" marR="91440" marT="45720" marB="45720" anchor="ctr">
                    <a:solidFill>
                      <a:srgbClr val="F0F4F3"/>
                    </a:solidFill>
                  </a:tcPr>
                </a:tc>
              </a:tr>
              <a:tr h="609600">
                <a:tc>
                  <a:txBody>
                    <a:bodyPr lIns="123825" tIns="76200" rIns="123825" bIns="76200">
                      <a:noAutofit/>
                    </a:bodyPr>
                    <a:lstStyle/>
                    <a:p>
                      <a:r>
                        <a:rPr sz="1950" b="0">
                          <a:solidFill>
                            <a:srgbClr val="17343C"/>
                          </a:solidFill>
                          <a:latin typeface="Arial"/>
                          <a:ea typeface="Arial"/>
                          <a:cs typeface="Arial"/>
                        </a:rPr>
                        <a:t>Schedule</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Capacity could be tight</a:t>
                      </a:r>
                    </a:p>
                  </a:txBody>
                  <a:tcPr marL="91440" marR="91440" marT="45720" marB="45720" anchor="ctr">
                    <a:solidFill>
                      <a:srgbClr val="FAFAF7"/>
                    </a:solidFill>
                  </a:tcPr>
                </a:tc>
                <a:tc>
                  <a:txBody>
                    <a:bodyPr lIns="123825" tIns="76200" rIns="123825" bIns="76200">
                      <a:noAutofit/>
                    </a:bodyPr>
                    <a:lstStyle/>
                    <a:p>
                      <a:r>
                        <a:rPr sz="1950" b="0">
                          <a:solidFill>
                            <a:srgbClr val="17343C"/>
                          </a:solidFill>
                          <a:latin typeface="Arial"/>
                          <a:ea typeface="Arial"/>
                          <a:cs typeface="Arial"/>
                        </a:rPr>
                        <a:t>Confirm hours, dates and dependencies</a:t>
                      </a:r>
                    </a:p>
                  </a:txBody>
                  <a:tcPr marL="91440" marR="91440" marT="45720" marB="45720" anchor="ctr">
                    <a:solidFill>
                      <a:srgbClr val="FAFAF7"/>
                    </a:solidFill>
                  </a:tcPr>
                </a:tc>
              </a:tr>
              <a:tr h="609600">
                <a:tc>
                  <a:txBody>
                    <a:bodyPr lIns="123825" tIns="76200" rIns="123825" bIns="76200">
                      <a:noAutofit/>
                    </a:bodyPr>
                    <a:lstStyle/>
                    <a:p>
                      <a:r>
                        <a:rPr sz="1950" b="0">
                          <a:solidFill>
                            <a:srgbClr val="17343C"/>
                          </a:solidFill>
                          <a:latin typeface="Arial"/>
                          <a:ea typeface="Arial"/>
                          <a:cs typeface="Arial"/>
                        </a:rPr>
                        <a:t>Data and AI</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Synthetic trial is possible</a:t>
                      </a:r>
                    </a:p>
                  </a:txBody>
                  <a:tcPr marL="91440" marR="91440" marT="45720" marB="45720" anchor="ctr">
                    <a:solidFill>
                      <a:srgbClr val="F0F4F3"/>
                    </a:solidFill>
                  </a:tcPr>
                </a:tc>
                <a:tc>
                  <a:txBody>
                    <a:bodyPr lIns="123825" tIns="76200" rIns="123825" bIns="76200">
                      <a:noAutofit/>
                    </a:bodyPr>
                    <a:lstStyle/>
                    <a:p>
                      <a:r>
                        <a:rPr sz="1950" b="0">
                          <a:solidFill>
                            <a:srgbClr val="17343C"/>
                          </a:solidFill>
                          <a:latin typeface="Arial"/>
                          <a:ea typeface="Arial"/>
                          <a:cs typeface="Arial"/>
                        </a:rPr>
                        <a:t>Check labels, errors, review and fallback</a:t>
                      </a:r>
                    </a:p>
                  </a:txBody>
                  <a:tcPr marL="91440" marR="91440" marT="45720" marB="45720" anchor="ctr">
                    <a:solidFill>
                      <a:srgbClr val="F0F4F3"/>
                    </a:solidFill>
                  </a:tcPr>
                </a:tc>
              </a:tr>
            </a:tbl>
          </a:graphicData>
        </a:graphic>
      </p:graphicFrame>
    </p:spTree>
    <p:extLst>
      <p:ext uri="{BB962C8B-B14F-4D97-AF65-F5344CB8AC3E}">
        <p14:creationId xmlns:p14="http://schemas.microsoft.com/office/powerpoint/2010/main" val="1279046383"/>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FD7D57C0-2034-4907-864E-C48DC6394ED2}"/>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The data must support the decision</a:t>
            </a:r>
          </a:p>
        </p:txBody>
      </p:sp>
      <p:sp>
        <p:nvSpPr>
          <p:cNvPr id="2" name="page">
            <a:extLst xmlns:a="http://schemas.openxmlformats.org/drawingml/2006/main">
              <a:ext uri="{FF2B5EF4-FFF2-40B4-BE49-F238E27FC236}">
                <a16:creationId xmlns:a16="http://schemas.microsoft.com/office/drawing/2014/main" id="{2F7D6959-925D-4976-8484-EEA465BF6346}"/>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12</a:t>
            </a:r>
          </a:p>
        </p:txBody>
      </p:sp>
      <p:sp>
        <p:nvSpPr>
          <p:cNvPr id="3" name="source">
            <a:extLst xmlns:a="http://schemas.openxmlformats.org/drawingml/2006/main">
              <a:ext uri="{FF2B5EF4-FFF2-40B4-BE49-F238E27FC236}">
                <a16:creationId xmlns:a16="http://schemas.microsoft.com/office/drawing/2014/main" id="{6104AAAC-B3E9-4D28-9616-44597E364796}"/>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 [S19]</a:t>
            </a:r>
          </a:p>
        </p:txBody>
      </p:sp>
      <p:sp>
        <p:nvSpPr>
          <p:cNvPr id="4" name="left-title">
            <a:extLst xmlns:a="http://schemas.openxmlformats.org/drawingml/2006/main">
              <a:ext uri="{FF2B5EF4-FFF2-40B4-BE49-F238E27FC236}">
                <a16:creationId xmlns:a16="http://schemas.microsoft.com/office/drawing/2014/main" id="{65EF750D-A19A-4841-AA9A-F850973FB818}"/>
              </a:ext>
            </a:extLst>
          </p:cNvPr>
          <p:cNvSpPr>
            <a:spLocks xmlns:a="http://schemas.openxmlformats.org/drawingml/2006/main" noGrp="1"/>
          </p:cNvSpPr>
          <p:nvPr/>
        </p:nvSpPr>
        <p:spPr>
          <a:xfrm xmlns:a="http://schemas.openxmlformats.org/drawingml/2006/main">
            <a:off x="647700" y="1638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Minimum records</a:t>
            </a:r>
          </a:p>
        </p:txBody>
      </p:sp>
      <p:sp>
        <p:nvSpPr>
          <p:cNvPr id="5" name="left-body">
            <a:extLst xmlns:a="http://schemas.openxmlformats.org/drawingml/2006/main">
              <a:ext uri="{FF2B5EF4-FFF2-40B4-BE49-F238E27FC236}">
                <a16:creationId xmlns:a16="http://schemas.microsoft.com/office/drawing/2014/main" id="{1A80E2FA-62C3-4543-9F69-F93DA0D03CBF}"/>
              </a:ext>
            </a:extLst>
          </p:cNvPr>
          <p:cNvSpPr>
            <a:spLocks xmlns:a="http://schemas.openxmlformats.org/drawingml/2006/main" noGrp="1"/>
          </p:cNvSpPr>
          <p:nvPr/>
        </p:nvSpPr>
        <p:spPr>
          <a:xfrm xmlns:a="http://schemas.openxmlformats.org/drawingml/2006/main">
            <a:off x="647700" y="2286000"/>
            <a:ext cx="50673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Assets: ID, condition, quantity, location, connector and availability.</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Requests: purpose, specifications, date and authorised requester.</a:t>
            </a:r>
          </a:p>
        </p:txBody>
      </p:sp>
      <p:sp>
        <p:nvSpPr>
          <p:cNvPr id="6" name="right-title">
            <a:extLst xmlns:a="http://schemas.openxmlformats.org/drawingml/2006/main">
              <a:ext uri="{FF2B5EF4-FFF2-40B4-BE49-F238E27FC236}">
                <a16:creationId xmlns:a16="http://schemas.microsoft.com/office/drawing/2014/main" id="{8F9105FE-7294-4379-B7FF-8FF92331CDE3}"/>
              </a:ext>
            </a:extLst>
          </p:cNvPr>
          <p:cNvSpPr>
            <a:spLocks xmlns:a="http://schemas.openxmlformats.org/drawingml/2006/main" noGrp="1"/>
          </p:cNvSpPr>
          <p:nvPr/>
        </p:nvSpPr>
        <p:spPr>
          <a:xfrm xmlns:a="http://schemas.openxmlformats.org/drawingml/2006/main">
            <a:off x="6477000" y="1638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Quality and access checks</a:t>
            </a:r>
          </a:p>
        </p:txBody>
      </p:sp>
      <p:sp>
        <p:nvSpPr>
          <p:cNvPr id="7" name="right-body">
            <a:extLst xmlns:a="http://schemas.openxmlformats.org/drawingml/2006/main">
              <a:ext uri="{FF2B5EF4-FFF2-40B4-BE49-F238E27FC236}">
                <a16:creationId xmlns:a16="http://schemas.microsoft.com/office/drawing/2014/main" id="{459B75AE-ECC6-443A-B490-E35F5C8971BC}"/>
              </a:ext>
            </a:extLst>
          </p:cNvPr>
          <p:cNvSpPr>
            <a:spLocks xmlns:a="http://schemas.openxmlformats.org/drawingml/2006/main" noGrp="1"/>
          </p:cNvSpPr>
          <p:nvPr/>
        </p:nvSpPr>
        <p:spPr>
          <a:xfrm xmlns:a="http://schemas.openxmlformats.org/drawingml/2006/main">
            <a:off x="6477000" y="2286000"/>
            <a:ext cx="50673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Find missing fields and duplicates. Check stock and condition.</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Keep permissions with every search and AI request.</a:t>
            </a:r>
          </a:p>
        </p:txBody>
      </p:sp>
      <p:sp>
        <p:nvSpPr>
          <p:cNvPr id="8" name="dataset">
            <a:extLst xmlns:a="http://schemas.openxmlformats.org/drawingml/2006/main">
              <a:ext uri="{FF2B5EF4-FFF2-40B4-BE49-F238E27FC236}">
                <a16:creationId xmlns:a16="http://schemas.microsoft.com/office/drawing/2014/main" id="{D834B17D-37DD-478E-8527-776A72B74847}"/>
              </a:ext>
            </a:extLst>
          </p:cNvPr>
          <p:cNvSpPr>
            <a:spLocks xmlns:a="http://schemas.openxmlformats.org/drawingml/2006/main" noGrp="1"/>
          </p:cNvSpPr>
          <p:nvPr/>
        </p:nvSpPr>
        <p:spPr>
          <a:xfrm xmlns:a="http://schemas.openxmlformats.org/drawingml/2006/main">
            <a:off x="647700" y="5219700"/>
            <a:ext cx="1089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746D"/>
                </a:solidFill>
                <a:latin typeface="Arial"/>
                <a:ea typeface="Arial"/>
                <a:cs typeface="Arial"/>
              </a:defRPr>
            </a:pPr>
            <a:r>
              <a:rPr sz="2400" b="1">
                <a:solidFill>
                  <a:srgbClr val="26746D"/>
                </a:solidFill>
                <a:latin typeface="Arial"/>
                <a:ea typeface="Arial"/>
                <a:cs typeface="Arial"/>
              </a:rPr>
              <a:t>Planned test data: 500 assets, 10 departments, 50 requests</a:t>
            </a:r>
          </a:p>
        </p:txBody>
      </p:sp>
      <p:sp>
        <p:nvSpPr>
          <p:cNvPr id="9" name="synthetic">
            <a:extLst xmlns:a="http://schemas.openxmlformats.org/drawingml/2006/main">
              <a:ext uri="{FF2B5EF4-FFF2-40B4-BE49-F238E27FC236}">
                <a16:creationId xmlns:a16="http://schemas.microsoft.com/office/drawing/2014/main" id="{5EBBD889-CA7E-44AC-9B3E-9AC0D39EB869}"/>
              </a:ext>
            </a:extLst>
          </p:cNvPr>
          <p:cNvSpPr>
            <a:spLocks xmlns:a="http://schemas.openxmlformats.org/drawingml/2006/main" noGrp="1"/>
          </p:cNvSpPr>
          <p:nvPr/>
        </p:nvSpPr>
        <p:spPr>
          <a:xfrm xmlns:a="http://schemas.openxmlformats.org/drawingml/2006/main">
            <a:off x="647700" y="5857875"/>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264"/>
                </a:solidFill>
                <a:latin typeface="Arial"/>
                <a:ea typeface="Arial"/>
                <a:cs typeface="Arial"/>
              </a:defRPr>
            </a:pPr>
            <a:r>
              <a:rPr sz="1950" b="0">
                <a:solidFill>
                  <a:srgbClr val="526264"/>
                </a:solidFill>
                <a:latin typeface="Arial"/>
                <a:ea typeface="Arial"/>
                <a:cs typeface="Arial"/>
              </a:rPr>
              <a:t>Synthetic data for the prototype. KU data access remains unconfirmed.</a:t>
            </a:r>
          </a:p>
        </p:txBody>
      </p:sp>
    </p:spTree>
    <p:extLst>
      <p:ext uri="{BB962C8B-B14F-4D97-AF65-F5344CB8AC3E}">
        <p14:creationId xmlns:p14="http://schemas.microsoft.com/office/powerpoint/2010/main" val="1512636329"/>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19A61A3-1B9E-4C2D-8402-3B4069F57EF7}"/>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How we will judge the AI</a:t>
            </a:r>
          </a:p>
        </p:txBody>
      </p:sp>
      <p:sp>
        <p:nvSpPr>
          <p:cNvPr id="2" name="page">
            <a:extLst xmlns:a="http://schemas.openxmlformats.org/drawingml/2006/main">
              <a:ext uri="{FF2B5EF4-FFF2-40B4-BE49-F238E27FC236}">
                <a16:creationId xmlns:a16="http://schemas.microsoft.com/office/drawing/2014/main" id="{4766EFCC-3870-4919-8422-D7D59D94D2B5}"/>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13</a:t>
            </a:r>
          </a:p>
        </p:txBody>
      </p:sp>
      <p:sp>
        <p:nvSpPr>
          <p:cNvPr id="3" name="source">
            <a:extLst xmlns:a="http://schemas.openxmlformats.org/drawingml/2006/main">
              <a:ext uri="{FF2B5EF4-FFF2-40B4-BE49-F238E27FC236}">
                <a16:creationId xmlns:a16="http://schemas.microsoft.com/office/drawing/2014/main" id="{190CA3A5-3C8E-4574-BCB1-714253DE6C26}"/>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 [S19] [S20] [S21]</a:t>
            </a:r>
          </a:p>
        </p:txBody>
      </p:sp>
      <p:sp>
        <p:nvSpPr>
          <p:cNvPr id="4" name="hit">
            <a:extLst xmlns:a="http://schemas.openxmlformats.org/drawingml/2006/main">
              <a:ext uri="{FF2B5EF4-FFF2-40B4-BE49-F238E27FC236}">
                <a16:creationId xmlns:a16="http://schemas.microsoft.com/office/drawing/2014/main" id="{BCB5CF07-B85C-48FF-B8E3-3C1BDA12CC05}"/>
              </a:ext>
            </a:extLst>
          </p:cNvPr>
          <p:cNvSpPr>
            <a:spLocks xmlns:a="http://schemas.openxmlformats.org/drawingml/2006/main" noGrp="1"/>
          </p:cNvSpPr>
          <p:nvPr/>
        </p:nvSpPr>
        <p:spPr>
          <a:xfrm xmlns:a="http://schemas.openxmlformats.org/drawingml/2006/main">
            <a:off x="647700" y="1609725"/>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Hit@3 (%) = 100 × successful top-3 requests / tested requests</a:t>
            </a:r>
          </a:p>
        </p:txBody>
      </p:sp>
      <p:sp>
        <p:nvSpPr>
          <p:cNvPr id="5" name="loss">
            <a:extLst xmlns:a="http://schemas.openxmlformats.org/drawingml/2006/main">
              <a:ext uri="{FF2B5EF4-FFF2-40B4-BE49-F238E27FC236}">
                <a16:creationId xmlns:a16="http://schemas.microsoft.com/office/drawing/2014/main" id="{569FACF8-9E6C-4A38-866B-0A944BF57EC5}"/>
              </a:ext>
            </a:extLst>
          </p:cNvPr>
          <p:cNvSpPr>
            <a:spLocks xmlns:a="http://schemas.openxmlformats.org/drawingml/2006/main" noGrp="1"/>
          </p:cNvSpPr>
          <p:nvPr/>
        </p:nvSpPr>
        <p:spPr>
          <a:xfrm xmlns:a="http://schemas.openxmlformats.org/drawingml/2006/main">
            <a:off x="647700" y="2324100"/>
            <a:ext cx="10896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Classification loss = incorrect category predictions / tested assets</a:t>
            </a:r>
          </a:p>
        </p:txBody>
      </p:sp>
      <p:graphicFrame>
        <p:nvGraphicFramePr>
          <p:cNvPr id="12" name=""/>
          <p:cNvGraphicFramePr/>
          <p:nvPr/>
        </p:nvGraphicFramePr>
        <p:xfrm>
          <a:off xmlns:a="http://schemas.openxmlformats.org/drawingml/2006/main" x="647700" y="3152775"/>
          <a:ext xmlns:a="http://schemas.openxmlformats.org/drawingml/2006/main" cx="10896600" cy="3124200"/>
        </p:xfrm>
        <a:graphic xmlns:a="http://schemas.openxmlformats.org/drawingml/2006/main">
          <a:graphicData uri="http://schemas.openxmlformats.org/drawingml/2006/table">
            <a:tbl>
              <a:tblPr firstRow="0" firstCol="0" bandRow="0"/>
              <a:tblGrid>
                <a:gridCol w="5324475"/>
                <a:gridCol w="5572125"/>
              </a:tblGrid>
              <a:tr h="514350">
                <a:tc>
                  <a:txBody>
                    <a:bodyPr lIns="123825" tIns="76200" rIns="123825" bIns="76200">
                      <a:noAutofit/>
                    </a:bodyPr>
                    <a:lstStyle/>
                    <a:p>
                      <a:r>
                        <a:rPr sz="1875" b="1">
                          <a:solidFill>
                            <a:srgbClr val="FFFFFF"/>
                          </a:solidFill>
                          <a:latin typeface="Arial"/>
                          <a:ea typeface="Arial"/>
                          <a:cs typeface="Arial"/>
                        </a:rPr>
                        <a:t>Proposed target [S02]</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What it checks</a:t>
                      </a:r>
                    </a:p>
                  </a:txBody>
                  <a:tcPr marL="91440" marR="91440" marT="45720" marB="45720" anchor="ctr">
                    <a:solidFill>
                      <a:srgbClr val="17343C"/>
                    </a:solidFill>
                  </a:tcPr>
                </a:tc>
              </a:tr>
              <a:tr h="590550">
                <a:tc>
                  <a:txBody>
                    <a:bodyPr lIns="123825" tIns="76200" rIns="123825" bIns="76200">
                      <a:noAutofit/>
                    </a:bodyPr>
                    <a:lstStyle/>
                    <a:p>
                      <a:r>
                        <a:rPr sz="1875" b="0">
                          <a:solidFill>
                            <a:srgbClr val="17343C"/>
                          </a:solidFill>
                          <a:latin typeface="Arial"/>
                          <a:ea typeface="Arial"/>
                          <a:cs typeface="Arial"/>
                        </a:rPr>
                        <a:t>At least 16 of 20 requests succeed</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A useful eligible match appears in the top three</a:t>
                      </a:r>
                    </a:p>
                  </a:txBody>
                  <a:tcPr marL="91440" marR="91440" marT="45720" marB="45720" anchor="ctr">
                    <a:solidFill>
                      <a:srgbClr val="FAFAF7"/>
                    </a:solidFill>
                  </a:tcPr>
                </a:tc>
              </a:tr>
              <a:tr h="685800">
                <a:tc>
                  <a:txBody>
                    <a:bodyPr lIns="123825" tIns="76200" rIns="123825" bIns="76200">
                      <a:noAutofit/>
                    </a:bodyPr>
                    <a:lstStyle/>
                    <a:p>
                      <a:r>
                        <a:rPr sz="1875" b="0">
                          <a:solidFill>
                            <a:srgbClr val="17343C"/>
                          </a:solidFill>
                          <a:latin typeface="Arial"/>
                          <a:ea typeface="Arial"/>
                          <a:cs typeface="Arial"/>
                        </a:rPr>
                        <a:t>AI succeeds on at least 2 more requests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Added value over ordinary search on the same cases</a:t>
                      </a:r>
                    </a:p>
                  </a:txBody>
                  <a:tcPr marL="91440" marR="91440" marT="45720" marB="45720" anchor="ctr">
                    <a:solidFill>
                      <a:srgbClr val="F0F4F3"/>
                    </a:solidFill>
                  </a:tcPr>
                </a:tc>
              </a:tr>
              <a:tr h="714375">
                <a:tc>
                  <a:txBody>
                    <a:bodyPr lIns="123825" tIns="76200" rIns="123825" bIns="76200">
                      <a:noAutofit/>
                    </a:bodyPr>
                    <a:lstStyle/>
                    <a:p>
                      <a:r>
                        <a:rPr sz="1875" b="0">
                          <a:solidFill>
                            <a:srgbClr val="17343C"/>
                          </a:solidFill>
                          <a:latin typeface="Arial"/>
                          <a:ea typeface="Arial"/>
                          <a:cs typeface="Arial"/>
                        </a:rPr>
                        <a:t>Zero ineligible actionable recommendations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Permissions, compatibility, quantity and availability</a:t>
                      </a:r>
                    </a:p>
                  </a:txBody>
                  <a:tcPr marL="91440" marR="91440" marT="45720" marB="45720" anchor="ctr">
                    <a:solidFill>
                      <a:srgbClr val="FAFAF7"/>
                    </a:solidFill>
                  </a:tcPr>
                </a:tc>
              </a:tr>
              <a:tr h="619125">
                <a:tc>
                  <a:txBody>
                    <a:bodyPr lIns="123825" tIns="76200" rIns="123825" bIns="76200">
                      <a:noAutofit/>
                    </a:bodyPr>
                    <a:lstStyle/>
                    <a:p>
                      <a:r>
                        <a:rPr sz="1875" b="0">
                          <a:solidFill>
                            <a:srgbClr val="17343C"/>
                          </a:solidFill>
                          <a:latin typeface="Arial"/>
                          <a:ea typeface="Arial"/>
                          <a:cs typeface="Arial"/>
                        </a:rPr>
                        <a:t>At least 16 of 20 categories correct</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At most 4/20 = 0.20 classification loss</a:t>
                      </a:r>
                    </a:p>
                  </a:txBody>
                  <a:tcPr marL="91440" marR="91440" marT="45720" marB="45720" anchor="ctr">
                    <a:solidFill>
                      <a:srgbClr val="F0F4F3"/>
                    </a:solidFill>
                  </a:tcPr>
                </a:tc>
              </a:tr>
            </a:tbl>
          </a:graphicData>
        </a:graphic>
      </p:graphicFrame>
    </p:spTree>
    <p:extLst>
      <p:ext uri="{BB962C8B-B14F-4D97-AF65-F5344CB8AC3E}">
        <p14:creationId xmlns:p14="http://schemas.microsoft.com/office/powerpoint/2010/main" val="848607560"/>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1D7BF875-77A1-4DCC-A366-1DC00D53C76A}"/>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Two interviews and a fair workload comparison</a:t>
            </a:r>
          </a:p>
        </p:txBody>
      </p:sp>
      <p:sp>
        <p:nvSpPr>
          <p:cNvPr id="2" name="page">
            <a:extLst xmlns:a="http://schemas.openxmlformats.org/drawingml/2006/main">
              <a:ext uri="{FF2B5EF4-FFF2-40B4-BE49-F238E27FC236}">
                <a16:creationId xmlns:a16="http://schemas.microsoft.com/office/drawing/2014/main" id="{BD5DDFDE-51F6-48A6-B23C-8AE76EEB130A}"/>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14</a:t>
            </a:r>
          </a:p>
        </p:txBody>
      </p:sp>
      <p:sp>
        <p:nvSpPr>
          <p:cNvPr id="3" name="source">
            <a:extLst xmlns:a="http://schemas.openxmlformats.org/drawingml/2006/main">
              <a:ext uri="{FF2B5EF4-FFF2-40B4-BE49-F238E27FC236}">
                <a16:creationId xmlns:a16="http://schemas.microsoft.com/office/drawing/2014/main" id="{1CCF0A45-C0ED-4A60-8ECA-BC1908EC063D}"/>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sp>
        <p:nvSpPr>
          <p:cNvPr id="4" name="left-title">
            <a:extLst xmlns:a="http://schemas.openxmlformats.org/drawingml/2006/main">
              <a:ext uri="{FF2B5EF4-FFF2-40B4-BE49-F238E27FC236}">
                <a16:creationId xmlns:a16="http://schemas.microsoft.com/office/drawing/2014/main" id="{41F5A86E-9D1F-4613-A9BA-3D9E45751B13}"/>
              </a:ext>
            </a:extLst>
          </p:cNvPr>
          <p:cNvSpPr>
            <a:spLocks xmlns:a="http://schemas.openxmlformats.org/drawingml/2006/main" noGrp="1"/>
          </p:cNvSpPr>
          <p:nvPr/>
        </p:nvSpPr>
        <p:spPr>
          <a:xfrm xmlns:a="http://schemas.openxmlformats.org/drawingml/2006/main">
            <a:off x="647700" y="164782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Interview 1</a:t>
            </a:r>
          </a:p>
        </p:txBody>
      </p:sp>
      <p:sp>
        <p:nvSpPr>
          <p:cNvPr id="5" name="left-body">
            <a:extLst xmlns:a="http://schemas.openxmlformats.org/drawingml/2006/main">
              <a:ext uri="{FF2B5EF4-FFF2-40B4-BE49-F238E27FC236}">
                <a16:creationId xmlns:a16="http://schemas.microsoft.com/office/drawing/2014/main" id="{D6882D9D-A9F8-4627-B2F9-EE267B0D64A6}"/>
              </a:ext>
            </a:extLst>
          </p:cNvPr>
          <p:cNvSpPr>
            <a:spLocks xmlns:a="http://schemas.openxmlformats.org/drawingml/2006/main" noGrp="1"/>
          </p:cNvSpPr>
          <p:nvPr/>
        </p:nvSpPr>
        <p:spPr>
          <a:xfrm xmlns:a="http://schemas.openxmlformats.org/drawingml/2006/main">
            <a:off x="647700" y="2295525"/>
            <a:ext cx="50673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An asset custodian or Facilities/IT staff member.</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Confirm records, approvals, ownership and exceptions.</a:t>
            </a:r>
          </a:p>
        </p:txBody>
      </p:sp>
      <p:sp>
        <p:nvSpPr>
          <p:cNvPr id="6" name="right-title">
            <a:extLst xmlns:a="http://schemas.openxmlformats.org/drawingml/2006/main">
              <a:ext uri="{FF2B5EF4-FFF2-40B4-BE49-F238E27FC236}">
                <a16:creationId xmlns:a16="http://schemas.microsoft.com/office/drawing/2014/main" id="{60E47B71-3F5D-4B83-ADCC-9BD85D30D7C1}"/>
              </a:ext>
            </a:extLst>
          </p:cNvPr>
          <p:cNvSpPr>
            <a:spLocks xmlns:a="http://schemas.openxmlformats.org/drawingml/2006/main" noGrp="1"/>
          </p:cNvSpPr>
          <p:nvPr/>
        </p:nvSpPr>
        <p:spPr>
          <a:xfrm xmlns:a="http://schemas.openxmlformats.org/drawingml/2006/main">
            <a:off x="6477000" y="164782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Interview 2</a:t>
            </a:r>
          </a:p>
        </p:txBody>
      </p:sp>
      <p:sp>
        <p:nvSpPr>
          <p:cNvPr id="7" name="right-body">
            <a:extLst xmlns:a="http://schemas.openxmlformats.org/drawingml/2006/main">
              <a:ext uri="{FF2B5EF4-FFF2-40B4-BE49-F238E27FC236}">
                <a16:creationId xmlns:a16="http://schemas.microsoft.com/office/drawing/2014/main" id="{DFB452E9-F400-412E-9002-C784C914CC59}"/>
              </a:ext>
            </a:extLst>
          </p:cNvPr>
          <p:cNvSpPr>
            <a:spLocks xmlns:a="http://schemas.openxmlformats.org/drawingml/2006/main" noGrp="1"/>
          </p:cNvSpPr>
          <p:nvPr/>
        </p:nvSpPr>
        <p:spPr>
          <a:xfrm xmlns:a="http://schemas.openxmlformats.org/drawingml/2006/main">
            <a:off x="6477000" y="2295525"/>
            <a:ext cx="50673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A requester or department representative.</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Confirm search, waiting, repeated entry and acceptance.</a:t>
            </a:r>
          </a:p>
        </p:txBody>
      </p:sp>
      <p:sp>
        <p:nvSpPr>
          <p:cNvPr id="8" name="pending">
            <a:extLst xmlns:a="http://schemas.openxmlformats.org/drawingml/2006/main">
              <a:ext uri="{FF2B5EF4-FFF2-40B4-BE49-F238E27FC236}">
                <a16:creationId xmlns:a16="http://schemas.microsoft.com/office/drawing/2014/main" id="{966D303C-4F70-4708-9751-A06261C7B060}"/>
              </a:ext>
            </a:extLst>
          </p:cNvPr>
          <p:cNvSpPr>
            <a:spLocks xmlns:a="http://schemas.openxmlformats.org/drawingml/2006/main" noGrp="1"/>
          </p:cNvSpPr>
          <p:nvPr/>
        </p:nvSpPr>
        <p:spPr>
          <a:xfrm xmlns:a="http://schemas.openxmlformats.org/drawingml/2006/main">
            <a:off x="647700" y="4876800"/>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746D"/>
                </a:solidFill>
                <a:latin typeface="Arial"/>
                <a:ea typeface="Arial"/>
                <a:cs typeface="Arial"/>
              </a:defRPr>
            </a:pPr>
            <a:r>
              <a:rPr sz="2400" b="1">
                <a:solidFill>
                  <a:srgbClr val="26746D"/>
                </a:solidFill>
                <a:latin typeface="Arial"/>
                <a:ea typeface="Arial"/>
                <a:cs typeface="Arial"/>
              </a:rPr>
              <a:t>Status: both interviews still pending</a:t>
            </a:r>
          </a:p>
        </p:txBody>
      </p:sp>
      <p:sp>
        <p:nvSpPr>
          <p:cNvPr id="9" name="count">
            <a:extLst xmlns:a="http://schemas.openxmlformats.org/drawingml/2006/main">
              <a:ext uri="{FF2B5EF4-FFF2-40B4-BE49-F238E27FC236}">
                <a16:creationId xmlns:a16="http://schemas.microsoft.com/office/drawing/2014/main" id="{2F068AF5-B0E8-4880-94AC-124216485575}"/>
              </a:ext>
            </a:extLst>
          </p:cNvPr>
          <p:cNvSpPr>
            <a:spLocks xmlns:a="http://schemas.openxmlformats.org/drawingml/2006/main" noGrp="1"/>
          </p:cNvSpPr>
          <p:nvPr/>
        </p:nvSpPr>
        <p:spPr>
          <a:xfrm xmlns:a="http://schemas.openxmlformats.org/drawingml/2006/main">
            <a:off x="647700" y="55530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Measure active minutes across every role, including AI review and corrections.</a:t>
            </a:r>
          </a:p>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Record waiting separately. Released staff time does not automatically save cash.</a:t>
            </a:r>
          </a:p>
        </p:txBody>
      </p:sp>
    </p:spTree>
    <p:extLst>
      <p:ext uri="{BB962C8B-B14F-4D97-AF65-F5344CB8AC3E}">
        <p14:creationId xmlns:p14="http://schemas.microsoft.com/office/powerpoint/2010/main" val="2083391272"/>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1E4B2A8-6A96-422D-8189-A9A515CC98D8}"/>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Rules, privacy and safe decisions</a:t>
            </a:r>
          </a:p>
        </p:txBody>
      </p:sp>
      <p:sp>
        <p:nvSpPr>
          <p:cNvPr id="2" name="page">
            <a:extLst xmlns:a="http://schemas.openxmlformats.org/drawingml/2006/main">
              <a:ext uri="{FF2B5EF4-FFF2-40B4-BE49-F238E27FC236}">
                <a16:creationId xmlns:a16="http://schemas.microsoft.com/office/drawing/2014/main" id="{9DC4E3BA-B97E-4A24-90A6-829D211ED525}"/>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15</a:t>
            </a:r>
          </a:p>
        </p:txBody>
      </p:sp>
      <p:sp>
        <p:nvSpPr>
          <p:cNvPr id="3" name="source">
            <a:extLst xmlns:a="http://schemas.openxmlformats.org/drawingml/2006/main">
              <a:ext uri="{FF2B5EF4-FFF2-40B4-BE49-F238E27FC236}">
                <a16:creationId xmlns:a16="http://schemas.microsoft.com/office/drawing/2014/main" id="{CF1ED870-68AF-46EB-A07E-6A0282B0403A}"/>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graphicFrame>
        <p:nvGraphicFramePr>
          <p:cNvPr id="9" name=""/>
          <p:cNvGraphicFramePr/>
          <p:nvPr/>
        </p:nvGraphicFramePr>
        <p:xfrm>
          <a:off xmlns:a="http://schemas.openxmlformats.org/drawingml/2006/main" x="647700" y="1676400"/>
          <a:ext xmlns:a="http://schemas.openxmlformats.org/drawingml/2006/main" cx="10896600" cy="4114800"/>
        </p:xfrm>
        <a:graphic xmlns:a="http://schemas.openxmlformats.org/drawingml/2006/main">
          <a:graphicData uri="http://schemas.openxmlformats.org/drawingml/2006/table">
            <a:tbl>
              <a:tblPr firstRow="0" firstCol="0" bandRow="0"/>
              <a:tblGrid>
                <a:gridCol w="3457575"/>
                <a:gridCol w="3905250"/>
                <a:gridCol w="3533775"/>
              </a:tblGrid>
              <a:tr h="552450">
                <a:tc>
                  <a:txBody>
                    <a:bodyPr lIns="123825" tIns="76200" rIns="123825" bIns="76200">
                      <a:noAutofit/>
                    </a:bodyPr>
                    <a:lstStyle/>
                    <a:p>
                      <a:r>
                        <a:rPr sz="1875" b="1">
                          <a:solidFill>
                            <a:srgbClr val="FFFFFF"/>
                          </a:solidFill>
                          <a:latin typeface="Arial"/>
                          <a:ea typeface="Arial"/>
                          <a:cs typeface="Arial"/>
                        </a:rPr>
                        <a:t>Question</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Proposed control</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Still to confirm</a:t>
                      </a:r>
                    </a:p>
                  </a:txBody>
                  <a:tcPr marL="91440" marR="91440" marT="45720" marB="45720" anchor="ctr">
                    <a:solidFill>
                      <a:srgbClr val="17343C"/>
                    </a:solidFill>
                  </a:tcPr>
                </a:tc>
              </a:tr>
              <a:tr h="1019175">
                <a:tc>
                  <a:txBody>
                    <a:bodyPr lIns="123825" tIns="76200" rIns="123825" bIns="76200">
                      <a:noAutofit/>
                    </a:bodyPr>
                    <a:lstStyle/>
                    <a:p>
                      <a:r>
                        <a:rPr sz="2025" b="0">
                          <a:solidFill>
                            <a:srgbClr val="17343C"/>
                          </a:solidFill>
                          <a:latin typeface="Arial"/>
                          <a:ea typeface="Arial"/>
                          <a:cs typeface="Arial"/>
                        </a:rPr>
                        <a:t>Who can see or change records?</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Roles and department checks</a:t>
                      </a:r>
                    </a:p>
                    <a:p>
                      <a:r>
                        <a:rPr sz="2025" b="0">
                          <a:solidFill>
                            <a:srgbClr val="17343C"/>
                          </a:solidFill>
                          <a:latin typeface="Arial"/>
                          <a:ea typeface="Arial"/>
                          <a:cs typeface="Arial"/>
                        </a:rPr>
                        <a:t>Audit controlled changes</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Actual KU authorisations</a:t>
                      </a:r>
                    </a:p>
                  </a:txBody>
                  <a:tcPr marL="91440" marR="91440" marT="45720" marB="45720" anchor="ctr">
                    <a:solidFill>
                      <a:srgbClr val="FAFAF7"/>
                    </a:solidFill>
                  </a:tcPr>
                </a:tc>
              </a:tr>
              <a:tr h="1257300">
                <a:tc>
                  <a:txBody>
                    <a:bodyPr lIns="123825" tIns="76200" rIns="123825" bIns="76200">
                      <a:noAutofit/>
                    </a:bodyPr>
                    <a:lstStyle/>
                    <a:p>
                      <a:r>
                        <a:rPr sz="2025" b="0">
                          <a:solidFill>
                            <a:srgbClr val="17343C"/>
                          </a:solidFill>
                          <a:latin typeface="Arial"/>
                          <a:ea typeface="Arial"/>
                          <a:cs typeface="Arial"/>
                        </a:rPr>
                        <a:t>What can leave the system?</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Synthetic data first</a:t>
                      </a:r>
                    </a:p>
                    <a:p>
                      <a:r>
                        <a:rPr sz="2025" b="0">
                          <a:solidFill>
                            <a:srgbClr val="17343C"/>
                          </a:solidFill>
                          <a:latin typeface="Arial"/>
                          <a:ea typeface="Arial"/>
                          <a:cs typeface="Arial"/>
                        </a:rPr>
                        <a:t>Minimal AI inputs and protected keys</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Provider terms, data location</a:t>
                      </a:r>
                    </a:p>
                    <a:p>
                      <a:r>
                        <a:rPr sz="2025" b="0">
                          <a:solidFill>
                            <a:srgbClr val="17343C"/>
                          </a:solidFill>
                          <a:latin typeface="Arial"/>
                          <a:ea typeface="Arial"/>
                          <a:cs typeface="Arial"/>
                        </a:rPr>
                        <a:t>and approved data routes</a:t>
                      </a:r>
                    </a:p>
                  </a:txBody>
                  <a:tcPr marL="91440" marR="91440" marT="45720" marB="45720" anchor="ctr">
                    <a:solidFill>
                      <a:srgbClr val="F0F4F3"/>
                    </a:solidFill>
                  </a:tcPr>
                </a:tc>
              </a:tr>
              <a:tr h="1285875">
                <a:tc>
                  <a:txBody>
                    <a:bodyPr lIns="123825" tIns="76200" rIns="123825" bIns="76200">
                      <a:noAutofit/>
                    </a:bodyPr>
                    <a:lstStyle/>
                    <a:p>
                      <a:r>
                        <a:rPr sz="2025" b="0">
                          <a:solidFill>
                            <a:srgbClr val="17343C"/>
                          </a:solidFill>
                          <a:latin typeface="Arial"/>
                          <a:ea typeface="Arial"/>
                          <a:cs typeface="Arial"/>
                        </a:rPr>
                        <a:t>Who can approve a transfer or disposal?</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Authorised staff decide</a:t>
                      </a:r>
                    </a:p>
                    <a:p>
                      <a:r>
                        <a:rPr sz="2025" b="0">
                          <a:solidFill>
                            <a:srgbClr val="17343C"/>
                          </a:solidFill>
                          <a:latin typeface="Arial"/>
                          <a:ea typeface="Arial"/>
                          <a:cs typeface="Arial"/>
                        </a:rPr>
                        <a:t>AI only recommends</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Financial thresholds, safety</a:t>
                      </a:r>
                    </a:p>
                    <a:p>
                      <a:r>
                        <a:rPr sz="2025" b="0">
                          <a:solidFill>
                            <a:srgbClr val="17343C"/>
                          </a:solidFill>
                          <a:latin typeface="Arial"/>
                          <a:ea typeface="Arial"/>
                          <a:cs typeface="Arial"/>
                        </a:rPr>
                        <a:t>and university policy</a:t>
                      </a:r>
                    </a:p>
                  </a:txBody>
                  <a:tcPr marL="91440" marR="91440" marT="45720" marB="45720" anchor="ctr">
                    <a:solidFill>
                      <a:srgbClr val="FAFAF7"/>
                    </a:solidFill>
                  </a:tcPr>
                </a:tc>
              </a:tr>
            </a:tbl>
          </a:graphicData>
        </a:graphic>
      </p:graphicFrame>
      <p:sp>
        <p:nvSpPr>
          <p:cNvPr id="5" name="takeaway">
            <a:extLst xmlns:a="http://schemas.openxmlformats.org/drawingml/2006/main">
              <a:ext uri="{FF2B5EF4-FFF2-40B4-BE49-F238E27FC236}">
                <a16:creationId xmlns:a16="http://schemas.microsoft.com/office/drawing/2014/main" id="{CB418457-99D9-4C86-AC6A-12551EC37766}"/>
              </a:ext>
            </a:extLst>
          </p:cNvPr>
          <p:cNvSpPr>
            <a:spLocks xmlns:a="http://schemas.openxmlformats.org/drawingml/2006/main" noGrp="1"/>
          </p:cNvSpPr>
          <p:nvPr/>
        </p:nvSpPr>
        <p:spPr>
          <a:xfrm xmlns:a="http://schemas.openxmlformats.org/drawingml/2006/main">
            <a:off x="647700" y="6096000"/>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746D"/>
                </a:solidFill>
                <a:latin typeface="Arial"/>
                <a:ea typeface="Arial"/>
                <a:cs typeface="Arial"/>
              </a:defRPr>
            </a:pPr>
            <a:r>
              <a:rPr sz="1800" b="1">
                <a:solidFill>
                  <a:srgbClr val="26746D"/>
                </a:solidFill>
                <a:latin typeface="Arial"/>
                <a:ea typeface="Arial"/>
                <a:cs typeface="Arial"/>
              </a:rPr>
              <a:t>A classroom prototype does not establish permission for a live KU service</a:t>
            </a:r>
          </a:p>
        </p:txBody>
      </p:sp>
    </p:spTree>
    <p:extLst>
      <p:ext uri="{BB962C8B-B14F-4D97-AF65-F5344CB8AC3E}">
        <p14:creationId xmlns:p14="http://schemas.microsoft.com/office/powerpoint/2010/main" val="714849223"/>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E760326E-44DA-4289-AAC8-3969EFB8529C}"/>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Two different cost plans</a:t>
            </a:r>
          </a:p>
        </p:txBody>
      </p:sp>
      <p:sp>
        <p:nvSpPr>
          <p:cNvPr id="2" name="page">
            <a:extLst xmlns:a="http://schemas.openxmlformats.org/drawingml/2006/main">
              <a:ext uri="{FF2B5EF4-FFF2-40B4-BE49-F238E27FC236}">
                <a16:creationId xmlns:a16="http://schemas.microsoft.com/office/drawing/2014/main" id="{4201C2B4-38DA-4271-A049-DA3136525A63}"/>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16</a:t>
            </a:r>
          </a:p>
        </p:txBody>
      </p:sp>
      <p:sp>
        <p:nvSpPr>
          <p:cNvPr id="3" name="source">
            <a:extLst xmlns:a="http://schemas.openxmlformats.org/drawingml/2006/main">
              <a:ext uri="{FF2B5EF4-FFF2-40B4-BE49-F238E27FC236}">
                <a16:creationId xmlns:a16="http://schemas.microsoft.com/office/drawing/2014/main" id="{9E883895-5F74-43FC-A1F5-004083BF91B2}"/>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 [S11] [S12] [S13]</a:t>
            </a:r>
          </a:p>
        </p:txBody>
      </p:sp>
      <p:sp>
        <p:nvSpPr>
          <p:cNvPr id="4" name="left-title">
            <a:extLst xmlns:a="http://schemas.openxmlformats.org/drawingml/2006/main">
              <a:ext uri="{FF2B5EF4-FFF2-40B4-BE49-F238E27FC236}">
                <a16:creationId xmlns:a16="http://schemas.microsoft.com/office/drawing/2014/main" id="{ED11A842-96F1-41C6-A2E4-2EF8B7FB7DD1}"/>
              </a:ext>
            </a:extLst>
          </p:cNvPr>
          <p:cNvSpPr>
            <a:spLocks xmlns:a="http://schemas.openxmlformats.org/drawingml/2006/main" noGrp="1"/>
          </p:cNvSpPr>
          <p:nvPr/>
        </p:nvSpPr>
        <p:spPr>
          <a:xfrm xmlns:a="http://schemas.openxmlformats.org/drawingml/2006/main">
            <a:off x="647700" y="17430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Student prototype plan</a:t>
            </a:r>
          </a:p>
        </p:txBody>
      </p:sp>
      <p:sp>
        <p:nvSpPr>
          <p:cNvPr id="5" name="left-body">
            <a:extLst xmlns:a="http://schemas.openxmlformats.org/drawingml/2006/main">
              <a:ext uri="{FF2B5EF4-FFF2-40B4-BE49-F238E27FC236}">
                <a16:creationId xmlns:a16="http://schemas.microsoft.com/office/drawing/2014/main" id="{25AA3CC7-2E3B-4038-A33E-06978848B7AE}"/>
              </a:ext>
            </a:extLst>
          </p:cNvPr>
          <p:cNvSpPr>
            <a:spLocks xmlns:a="http://schemas.openxmlformats.org/drawingml/2006/main" noGrp="1"/>
          </p:cNvSpPr>
          <p:nvPr/>
        </p:nvSpPr>
        <p:spPr>
          <a:xfrm xmlns:a="http://schemas.openxmlformats.org/drawingml/2006/main">
            <a:off x="647700" y="2390775"/>
            <a:ext cx="50673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Use existing laptops/lab resources, open-source software and permitted free tiers.</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Render + Neon is a candidate to test.</a:t>
            </a:r>
          </a:p>
        </p:txBody>
      </p:sp>
      <p:sp>
        <p:nvSpPr>
          <p:cNvPr id="6" name="right-title">
            <a:extLst xmlns:a="http://schemas.openxmlformats.org/drawingml/2006/main">
              <a:ext uri="{FF2B5EF4-FFF2-40B4-BE49-F238E27FC236}">
                <a16:creationId xmlns:a16="http://schemas.microsoft.com/office/drawing/2014/main" id="{51DC5934-09F5-49F1-8AC8-EDE6226658FD}"/>
              </a:ext>
            </a:extLst>
          </p:cNvPr>
          <p:cNvSpPr>
            <a:spLocks xmlns:a="http://schemas.openxmlformats.org/drawingml/2006/main" noGrp="1"/>
          </p:cNvSpPr>
          <p:nvPr/>
        </p:nvSpPr>
        <p:spPr>
          <a:xfrm xmlns:a="http://schemas.openxmlformats.org/drawingml/2006/main">
            <a:off x="6477000" y="17430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Optional paid scenario</a:t>
            </a:r>
          </a:p>
        </p:txBody>
      </p:sp>
      <p:sp>
        <p:nvSpPr>
          <p:cNvPr id="7" name="right-body">
            <a:extLst xmlns:a="http://schemas.openxmlformats.org/drawingml/2006/main">
              <a:ext uri="{FF2B5EF4-FFF2-40B4-BE49-F238E27FC236}">
                <a16:creationId xmlns:a16="http://schemas.microsoft.com/office/drawing/2014/main" id="{8AFB36A3-9432-4502-B7E2-494131FC843C}"/>
              </a:ext>
            </a:extLst>
          </p:cNvPr>
          <p:cNvSpPr>
            <a:spLocks xmlns:a="http://schemas.openxmlformats.org/drawingml/2006/main" noGrp="1"/>
          </p:cNvSpPr>
          <p:nvPr/>
        </p:nvSpPr>
        <p:spPr>
          <a:xfrm xmlns:a="http://schemas.openxmlformats.org/drawingml/2006/main">
            <a:off x="6477000" y="2390775"/>
            <a:ext cx="50673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Use priced hosting plus explicit allowances for AI, files and setup.</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This is a comparison case. No spending is approved.</a:t>
            </a:r>
          </a:p>
        </p:txBody>
      </p:sp>
      <p:sp>
        <p:nvSpPr>
          <p:cNvPr id="8" name="limits">
            <a:extLst xmlns:a="http://schemas.openxmlformats.org/drawingml/2006/main">
              <a:ext uri="{FF2B5EF4-FFF2-40B4-BE49-F238E27FC236}">
                <a16:creationId xmlns:a16="http://schemas.microsoft.com/office/drawing/2014/main" id="{9B33DC12-3C45-4259-82F7-D92CFC4F58A1}"/>
              </a:ext>
            </a:extLst>
          </p:cNvPr>
          <p:cNvSpPr>
            <a:spLocks xmlns:a="http://schemas.openxmlformats.org/drawingml/2006/main" noGrp="1"/>
          </p:cNvSpPr>
          <p:nvPr/>
        </p:nvSpPr>
        <p:spPr>
          <a:xfrm xmlns:a="http://schemas.openxmlformats.org/drawingml/2006/main">
            <a:off x="647700" y="523875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Free hosting still has limits</a:t>
            </a:r>
          </a:p>
        </p:txBody>
      </p:sp>
      <p:sp>
        <p:nvSpPr>
          <p:cNvPr id="9" name="storage">
            <a:extLst xmlns:a="http://schemas.openxmlformats.org/drawingml/2006/main">
              <a:ext uri="{FF2B5EF4-FFF2-40B4-BE49-F238E27FC236}">
                <a16:creationId xmlns:a16="http://schemas.microsoft.com/office/drawing/2014/main" id="{E3CFCFA2-44E4-44A5-8496-60681D49A4C6}"/>
              </a:ext>
            </a:extLst>
          </p:cNvPr>
          <p:cNvSpPr>
            <a:spLocks xmlns:a="http://schemas.openxmlformats.org/drawingml/2006/main" noGrp="1"/>
          </p:cNvSpPr>
          <p:nvPr/>
        </p:nvSpPr>
        <p:spPr>
          <a:xfrm xmlns:a="http://schemas.openxmlformats.org/drawingml/2006/main">
            <a:off x="647700" y="58769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Check idle sleep, database limits, durable uploads, backups and AI allowances.</a:t>
            </a:r>
          </a:p>
        </p:txBody>
      </p:sp>
    </p:spTree>
    <p:extLst>
      <p:ext uri="{BB962C8B-B14F-4D97-AF65-F5344CB8AC3E}">
        <p14:creationId xmlns:p14="http://schemas.microsoft.com/office/powerpoint/2010/main" val="624790597"/>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56BCABD-275C-4C40-901F-C0D32A278557}"/>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Optional hosting example: USD 6.20/month</a:t>
            </a:r>
          </a:p>
        </p:txBody>
      </p:sp>
      <p:sp>
        <p:nvSpPr>
          <p:cNvPr id="2" name="page">
            <a:extLst xmlns:a="http://schemas.openxmlformats.org/drawingml/2006/main">
              <a:ext uri="{FF2B5EF4-FFF2-40B4-BE49-F238E27FC236}">
                <a16:creationId xmlns:a16="http://schemas.microsoft.com/office/drawing/2014/main" id="{AA27EDDF-CC16-40A9-A9C5-2CD229C48212}"/>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17</a:t>
            </a:r>
          </a:p>
        </p:txBody>
      </p:sp>
      <p:sp>
        <p:nvSpPr>
          <p:cNvPr id="3" name="source">
            <a:extLst xmlns:a="http://schemas.openxmlformats.org/drawingml/2006/main">
              <a:ext uri="{FF2B5EF4-FFF2-40B4-BE49-F238E27FC236}">
                <a16:creationId xmlns:a16="http://schemas.microsoft.com/office/drawing/2014/main" id="{2D67B11F-3CEB-4F9C-9B93-19C2EF4F97CC}"/>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[S11] [S14]</a:t>
            </a:r>
          </a:p>
        </p:txBody>
      </p:sp>
      <p:sp>
        <p:nvSpPr>
          <p:cNvPr id="4" name="host-number">
            <a:extLst xmlns:a="http://schemas.openxmlformats.org/drawingml/2006/main">
              <a:ext uri="{FF2B5EF4-FFF2-40B4-BE49-F238E27FC236}">
                <a16:creationId xmlns:a16="http://schemas.microsoft.com/office/drawing/2014/main" id="{B9D2976B-8E41-436C-A19A-F1D8679CDD51}"/>
              </a:ext>
            </a:extLst>
          </p:cNvPr>
          <p:cNvSpPr>
            <a:spLocks xmlns:a="http://schemas.openxmlformats.org/drawingml/2006/main" noGrp="1"/>
          </p:cNvSpPr>
          <p:nvPr/>
        </p:nvSpPr>
        <p:spPr>
          <a:xfrm xmlns:a="http://schemas.openxmlformats.org/drawingml/2006/main">
            <a:off x="647700" y="1952625"/>
            <a:ext cx="3562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17343C"/>
                </a:solidFill>
                <a:latin typeface="Arial"/>
                <a:ea typeface="Arial"/>
                <a:cs typeface="Arial"/>
              </a:defRPr>
            </a:pPr>
            <a:r>
              <a:rPr sz="4875" b="1">
                <a:solidFill>
                  <a:srgbClr val="17343C"/>
                </a:solidFill>
                <a:latin typeface="Arial"/>
                <a:ea typeface="Arial"/>
                <a:cs typeface="Arial"/>
              </a:rPr>
              <a:t>USD 6.20</a:t>
            </a:r>
          </a:p>
        </p:txBody>
      </p:sp>
      <p:sp>
        <p:nvSpPr>
          <p:cNvPr id="5" name="host-year">
            <a:extLst xmlns:a="http://schemas.openxmlformats.org/drawingml/2006/main">
              <a:ext uri="{FF2B5EF4-FFF2-40B4-BE49-F238E27FC236}">
                <a16:creationId xmlns:a16="http://schemas.microsoft.com/office/drawing/2014/main" id="{DC2FC7B1-0A79-46FE-9529-F7EACDD1D139}"/>
              </a:ext>
            </a:extLst>
          </p:cNvPr>
          <p:cNvSpPr>
            <a:spLocks xmlns:a="http://schemas.openxmlformats.org/drawingml/2006/main" noGrp="1"/>
          </p:cNvSpPr>
          <p:nvPr/>
        </p:nvSpPr>
        <p:spPr>
          <a:xfrm xmlns:a="http://schemas.openxmlformats.org/drawingml/2006/main">
            <a:off x="647700" y="3057525"/>
            <a:ext cx="3514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746D"/>
                </a:solidFill>
                <a:latin typeface="Arial"/>
                <a:ea typeface="Arial"/>
                <a:cs typeface="Arial"/>
              </a:defRPr>
            </a:pPr>
            <a:r>
              <a:rPr sz="2250" b="1">
                <a:solidFill>
                  <a:srgbClr val="26746D"/>
                </a:solidFill>
                <a:latin typeface="Arial"/>
                <a:ea typeface="Arial"/>
                <a:cs typeface="Arial"/>
              </a:rPr>
              <a:t>AED 273.23 / year</a:t>
            </a:r>
          </a:p>
        </p:txBody>
      </p:sp>
      <p:sp>
        <p:nvSpPr>
          <p:cNvPr id="6" name="host-assumed">
            <a:extLst xmlns:a="http://schemas.openxmlformats.org/drawingml/2006/main">
              <a:ext uri="{FF2B5EF4-FFF2-40B4-BE49-F238E27FC236}">
                <a16:creationId xmlns:a16="http://schemas.microsoft.com/office/drawing/2014/main" id="{458BF122-CB04-46A0-9664-3B6A66EFB4A3}"/>
              </a:ext>
            </a:extLst>
          </p:cNvPr>
          <p:cNvSpPr>
            <a:spLocks xmlns:a="http://schemas.openxmlformats.org/drawingml/2006/main" noGrp="1"/>
          </p:cNvSpPr>
          <p:nvPr/>
        </p:nvSpPr>
        <p:spPr>
          <a:xfrm xmlns:a="http://schemas.openxmlformats.org/drawingml/2006/main">
            <a:off x="647700" y="3914775"/>
            <a:ext cx="34575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Assumed combined use</a:t>
            </a:r>
          </a:p>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0.5 GB RAM</a:t>
            </a:r>
          </a:p>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0.05 vCPU</a:t>
            </a:r>
          </a:p>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1 GB stored</a:t>
            </a:r>
          </a:p>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1 GB/month sent</a:t>
            </a:r>
          </a:p>
        </p:txBody>
      </p:sp>
      <p:graphicFrame>
        <p:nvGraphicFramePr>
          <p:cNvPr id="15" name="Chart"/>
          <p:cNvGraphicFramePr/>
          <p:nvPr/>
        </p:nvGraphicFramePr>
        <p:xfrm>
          <a:off xmlns:a="http://schemas.openxmlformats.org/drawingml/2006/main" x="4333875" y="1724025"/>
          <a:ext xmlns:a="http://schemas.openxmlformats.org/drawingml/2006/main" cx="7210425" cy="4010025"/>
        </p:xfrm>
        <a:graphic xmlns:a="http://schemas.openxmlformats.org/drawingml/2006/main">
          <a:graphicData uri="http://schemas.openxmlformats.org/drawingml/2006/chart">
            <c:chart xmlns:r="http://schemas.openxmlformats.org/officeDocument/2006/relationships" xmlns:c="http://schemas.openxmlformats.org/drawingml/2006/chart" r:id="R7016220970ca45e8"/>
          </a:graphicData>
        </a:graphic>
      </p:graphicFrame>
      <p:sp>
        <p:nvSpPr>
          <p:cNvPr id="8" name="takeaway">
            <a:extLst xmlns:a="http://schemas.openxmlformats.org/drawingml/2006/main">
              <a:ext uri="{FF2B5EF4-FFF2-40B4-BE49-F238E27FC236}">
                <a16:creationId xmlns:a16="http://schemas.microsoft.com/office/drawing/2014/main" id="{A36C1ACD-AB02-4966-9981-D6C68E071244}"/>
              </a:ext>
            </a:extLst>
          </p:cNvPr>
          <p:cNvSpPr>
            <a:spLocks xmlns:a="http://schemas.openxmlformats.org/drawingml/2006/main" noGrp="1"/>
          </p:cNvSpPr>
          <p:nvPr/>
        </p:nvSpPr>
        <p:spPr>
          <a:xfrm xmlns:a="http://schemas.openxmlformats.org/drawingml/2006/main">
            <a:off x="647700" y="61055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746D"/>
                </a:solidFill>
                <a:latin typeface="Arial"/>
                <a:ea typeface="Arial"/>
                <a:cs typeface="Arial"/>
              </a:defRPr>
            </a:pPr>
            <a:r>
              <a:rPr sz="1725" b="1">
                <a:solidFill>
                  <a:srgbClr val="26746D"/>
                </a:solidFill>
                <a:latin typeface="Arial"/>
                <a:ea typeface="Arial"/>
                <a:cs typeface="Arial"/>
              </a:rPr>
              <a:t>AF02–05 usage assumptions. USD 1 = AED 3.6725 [S14]. Other costs follow.</a:t>
            </a:r>
          </a:p>
        </p:txBody>
      </p:sp>
    </p:spTree>
    <p:extLst>
      <p:ext uri="{BB962C8B-B14F-4D97-AF65-F5344CB8AC3E}">
        <p14:creationId xmlns:p14="http://schemas.microsoft.com/office/powerpoint/2010/main" val="914765476"/>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7A486D7-6125-4206-B2CD-72E705CA113C}"/>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One-year cash scenario before handling</a:t>
            </a:r>
          </a:p>
        </p:txBody>
      </p:sp>
      <p:sp>
        <p:nvSpPr>
          <p:cNvPr id="2" name="page">
            <a:extLst xmlns:a="http://schemas.openxmlformats.org/drawingml/2006/main">
              <a:ext uri="{FF2B5EF4-FFF2-40B4-BE49-F238E27FC236}">
                <a16:creationId xmlns:a16="http://schemas.microsoft.com/office/drawing/2014/main" id="{3EE33366-66AD-430C-B920-3C6A75552ADC}"/>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18</a:t>
            </a:r>
          </a:p>
        </p:txBody>
      </p:sp>
      <p:sp>
        <p:nvSpPr>
          <p:cNvPr id="3" name="source">
            <a:extLst xmlns:a="http://schemas.openxmlformats.org/drawingml/2006/main">
              <a:ext uri="{FF2B5EF4-FFF2-40B4-BE49-F238E27FC236}">
                <a16:creationId xmlns:a16="http://schemas.microsoft.com/office/drawing/2014/main" id="{81AF18A3-01B0-4C87-A847-94FB9AD7E9D1}"/>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[S11] [S14]</a:t>
            </a:r>
          </a:p>
        </p:txBody>
      </p:sp>
      <p:graphicFrame>
        <p:nvGraphicFramePr>
          <p:cNvPr id="9" name=""/>
          <p:cNvGraphicFramePr/>
          <p:nvPr/>
        </p:nvGraphicFramePr>
        <p:xfrm>
          <a:off xmlns:a="http://schemas.openxmlformats.org/drawingml/2006/main" x="647700" y="1514475"/>
          <a:ext xmlns:a="http://schemas.openxmlformats.org/drawingml/2006/main" cx="10896600" cy="4791075"/>
        </p:xfrm>
        <a:graphic xmlns:a="http://schemas.openxmlformats.org/drawingml/2006/main">
          <a:graphicData uri="http://schemas.openxmlformats.org/drawingml/2006/table">
            <a:tbl>
              <a:tblPr firstRow="0" firstCol="0" bandRow="0"/>
              <a:tblGrid>
                <a:gridCol w="3448050"/>
                <a:gridCol w="5314950"/>
                <a:gridCol w="2133600"/>
              </a:tblGrid>
              <a:tr h="523875">
                <a:tc>
                  <a:txBody>
                    <a:bodyPr lIns="123825" tIns="76200" rIns="123825" bIns="76200">
                      <a:noAutofit/>
                    </a:bodyPr>
                    <a:lstStyle/>
                    <a:p>
                      <a:r>
                        <a:rPr sz="1875" b="1">
                          <a:solidFill>
                            <a:srgbClr val="FFFFFF"/>
                          </a:solidFill>
                          <a:latin typeface="Arial"/>
                          <a:ea typeface="Arial"/>
                          <a:cs typeface="Arial"/>
                        </a:rPr>
                        <a:t>Cash item</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Input and evidence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AED / year</a:t>
                      </a:r>
                    </a:p>
                  </a:txBody>
                  <a:tcPr marL="91440" marR="91440" marT="45720" marB="45720" anchor="ctr">
                    <a:solidFill>
                      <a:srgbClr val="17343C"/>
                    </a:solidFill>
                  </a:tcPr>
                </a:tc>
              </a:tr>
              <a:tr h="742950">
                <a:tc>
                  <a:txBody>
                    <a:bodyPr lIns="123825" tIns="76200" rIns="123825" bIns="76200">
                      <a:noAutofit/>
                    </a:bodyPr>
                    <a:lstStyle/>
                    <a:p>
                      <a:r>
                        <a:rPr sz="1800" b="0">
                          <a:solidFill>
                            <a:srgbClr val="17343C"/>
                          </a:solidFill>
                          <a:latin typeface="Arial"/>
                          <a:ea typeface="Arial"/>
                          <a:cs typeface="Arial"/>
                        </a:rPr>
                        <a:t>Hosting usage example</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0.5 GB RAM; 0.05 vCPU; 1 GB volume/egress</a:t>
                      </a:r>
                    </a:p>
                    <a:p>
                      <a:r>
                        <a:rPr sz="1800" b="0">
                          <a:solidFill>
                            <a:srgbClr val="17343C"/>
                          </a:solidFill>
                          <a:latin typeface="Arial"/>
                          <a:ea typeface="Arial"/>
                          <a:cs typeface="Arial"/>
                        </a:rPr>
                        <a:t>S11, S14; AF02–05</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273.23</a:t>
                      </a:r>
                    </a:p>
                  </a:txBody>
                  <a:tcPr marL="91440" marR="91440" marT="45720" marB="45720" anchor="ctr">
                    <a:solidFill>
                      <a:srgbClr val="FAFAF7"/>
                    </a:solidFill>
                  </a:tcPr>
                </a:tc>
              </a:tr>
              <a:tr h="666750">
                <a:tc>
                  <a:txBody>
                    <a:bodyPr lIns="123825" tIns="76200" rIns="123825" bIns="76200">
                      <a:noAutofit/>
                    </a:bodyPr>
                    <a:lstStyle/>
                    <a:p>
                      <a:r>
                        <a:rPr sz="1800" b="0">
                          <a:solidFill>
                            <a:srgbClr val="17343C"/>
                          </a:solidFill>
                          <a:latin typeface="Arial"/>
                          <a:ea typeface="Arial"/>
                          <a:cs typeface="Arial"/>
                        </a:rPr>
                        <a:t>AI spending allowance</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USD 10/month cap</a:t>
                      </a:r>
                    </a:p>
                    <a:p>
                      <a:r>
                        <a:rPr sz="1800" b="0">
                          <a:solidFill>
                            <a:srgbClr val="17343C"/>
                          </a:solidFill>
                          <a:latin typeface="Arial"/>
                          <a:ea typeface="Arial"/>
                          <a:cs typeface="Arial"/>
                        </a:rPr>
                        <a:t>AF07; S14</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440.70</a:t>
                      </a:r>
                    </a:p>
                  </a:txBody>
                  <a:tcPr marL="91440" marR="91440" marT="45720" marB="45720" anchor="ctr">
                    <a:solidFill>
                      <a:srgbClr val="F0F4F3"/>
                    </a:solidFill>
                  </a:tcPr>
                </a:tc>
              </a:tr>
              <a:tr h="666750">
                <a:tc>
                  <a:txBody>
                    <a:bodyPr lIns="123825" tIns="76200" rIns="123825" bIns="76200">
                      <a:noAutofit/>
                    </a:bodyPr>
                    <a:lstStyle/>
                    <a:p>
                      <a:r>
                        <a:rPr sz="1800" b="0">
                          <a:solidFill>
                            <a:srgbClr val="17343C"/>
                          </a:solidFill>
                          <a:latin typeface="Arial"/>
                          <a:ea typeface="Arial"/>
                          <a:cs typeface="Arial"/>
                        </a:rPr>
                        <a:t>Files and backup allowance</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USD 5/month cap</a:t>
                      </a:r>
                    </a:p>
                    <a:p>
                      <a:r>
                        <a:rPr sz="1800" b="0">
                          <a:solidFill>
                            <a:srgbClr val="17343C"/>
                          </a:solidFill>
                          <a:latin typeface="Arial"/>
                          <a:ea typeface="Arial"/>
                          <a:cs typeface="Arial"/>
                        </a:rPr>
                        <a:t>AF08; S14</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220.35</a:t>
                      </a:r>
                    </a:p>
                  </a:txBody>
                  <a:tcPr marL="91440" marR="91440" marT="45720" marB="45720" anchor="ctr">
                    <a:solidFill>
                      <a:srgbClr val="FAFAF7"/>
                    </a:solidFill>
                  </a:tcPr>
                </a:tc>
              </a:tr>
              <a:tr h="619125">
                <a:tc>
                  <a:txBody>
                    <a:bodyPr lIns="123825" tIns="76200" rIns="123825" bIns="76200">
                      <a:noAutofit/>
                    </a:bodyPr>
                    <a:lstStyle/>
                    <a:p>
                      <a:r>
                        <a:rPr sz="1800" b="0">
                          <a:solidFill>
                            <a:srgbClr val="17343C"/>
                          </a:solidFill>
                          <a:latin typeface="Arial"/>
                          <a:ea typeface="Arial"/>
                          <a:cs typeface="Arial"/>
                        </a:rPr>
                        <a:t>Setup cash allowance</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One-off, excludes labour</a:t>
                      </a:r>
                    </a:p>
                    <a:p>
                      <a:r>
                        <a:rPr sz="1800" b="0">
                          <a:solidFill>
                            <a:srgbClr val="17343C"/>
                          </a:solidFill>
                          <a:latin typeface="Arial"/>
                          <a:ea typeface="Arial"/>
                          <a:cs typeface="Arial"/>
                        </a:rPr>
                        <a:t>AF09</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200.00</a:t>
                      </a:r>
                    </a:p>
                  </a:txBody>
                  <a:tcPr marL="91440" marR="91440" marT="45720" marB="45720" anchor="ctr">
                    <a:solidFill>
                      <a:srgbClr val="F0F4F3"/>
                    </a:solidFill>
                  </a:tcPr>
                </a:tc>
              </a:tr>
              <a:tr h="495300">
                <a:tc>
                  <a:txBody>
                    <a:bodyPr lIns="123825" tIns="76200" rIns="123825" bIns="76200">
                      <a:noAutofit/>
                    </a:bodyPr>
                    <a:lstStyle/>
                    <a:p>
                      <a:r>
                        <a:rPr sz="1800" b="0">
                          <a:solidFill>
                            <a:srgbClr val="17343C"/>
                          </a:solidFill>
                          <a:latin typeface="Arial"/>
                          <a:ea typeface="Arial"/>
                          <a:cs typeface="Arial"/>
                        </a:rPr>
                        <a:t>Subtotal</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Before reserve</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1,134.28</a:t>
                      </a:r>
                    </a:p>
                  </a:txBody>
                  <a:tcPr marL="91440" marR="91440" marT="45720" marB="45720" anchor="ctr">
                    <a:solidFill>
                      <a:srgbClr val="FAFAF7"/>
                    </a:solidFill>
                  </a:tcPr>
                </a:tc>
              </a:tr>
              <a:tr h="523875">
                <a:tc>
                  <a:txBody>
                    <a:bodyPr lIns="123825" tIns="76200" rIns="123825" bIns="76200">
                      <a:noAutofit/>
                    </a:bodyPr>
                    <a:lstStyle/>
                    <a:p>
                      <a:r>
                        <a:rPr sz="1800" b="0">
                          <a:solidFill>
                            <a:srgbClr val="17343C"/>
                          </a:solidFill>
                          <a:latin typeface="Arial"/>
                          <a:ea typeface="Arial"/>
                          <a:cs typeface="Arial"/>
                        </a:rPr>
                        <a:t>15% cash reserve</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AF10 planning assumption</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170.14</a:t>
                      </a:r>
                    </a:p>
                  </a:txBody>
                  <a:tcPr marL="91440" marR="91440" marT="45720" marB="45720" anchor="ctr">
                    <a:solidFill>
                      <a:srgbClr val="F0F4F3"/>
                    </a:solidFill>
                  </a:tcPr>
                </a:tc>
              </a:tr>
              <a:tr h="552450">
                <a:tc>
                  <a:txBody>
                    <a:bodyPr lIns="123825" tIns="76200" rIns="123825" bIns="76200">
                      <a:noAutofit/>
                    </a:bodyPr>
                    <a:lstStyle/>
                    <a:p>
                      <a:r>
                        <a:rPr sz="1800" b="0">
                          <a:solidFill>
                            <a:srgbClr val="17343C"/>
                          </a:solidFill>
                          <a:latin typeface="Arial"/>
                          <a:ea typeface="Arial"/>
                          <a:cs typeface="Arial"/>
                        </a:rPr>
                        <a:t>Fixed scenario cost</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Subtotal + reserve</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1,304.43</a:t>
                      </a:r>
                    </a:p>
                  </a:txBody>
                  <a:tcPr marL="91440" marR="91440" marT="45720" marB="45720" anchor="ctr">
                    <a:solidFill>
                      <a:srgbClr val="FAFAF7"/>
                    </a:solidFill>
                  </a:tcPr>
                </a:tc>
              </a:tr>
            </a:tbl>
          </a:graphicData>
        </a:graphic>
      </p:graphicFrame>
      <p:sp>
        <p:nvSpPr>
          <p:cNvPr id="5" name="rounding">
            <a:extLst xmlns:a="http://schemas.openxmlformats.org/drawingml/2006/main">
              <a:ext uri="{FF2B5EF4-FFF2-40B4-BE49-F238E27FC236}">
                <a16:creationId xmlns:a16="http://schemas.microsoft.com/office/drawing/2014/main" id="{6A04BDCB-6291-436B-9743-E65C7B73DAC6}"/>
              </a:ext>
            </a:extLst>
          </p:cNvPr>
          <p:cNvSpPr>
            <a:spLocks xmlns:a="http://schemas.openxmlformats.org/drawingml/2006/main" noGrp="1"/>
          </p:cNvSpPr>
          <p:nvPr/>
        </p:nvSpPr>
        <p:spPr>
          <a:xfrm xmlns:a="http://schemas.openxmlformats.org/drawingml/2006/main">
            <a:off x="2562225" y="6496050"/>
            <a:ext cx="695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Totals use unrounded values. AF labels identify assumptions.</a:t>
            </a:r>
          </a:p>
        </p:txBody>
      </p:sp>
    </p:spTree>
    <p:extLst>
      <p:ext uri="{BB962C8B-B14F-4D97-AF65-F5344CB8AC3E}">
        <p14:creationId xmlns:p14="http://schemas.microsoft.com/office/powerpoint/2010/main" val="662882664"/>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EE1FF3F-51DD-478D-BAB1-4E554F375B7D}"/>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A conditional benefit we can calculate</a:t>
            </a:r>
          </a:p>
        </p:txBody>
      </p:sp>
      <p:sp>
        <p:nvSpPr>
          <p:cNvPr id="2" name="page">
            <a:extLst xmlns:a="http://schemas.openxmlformats.org/drawingml/2006/main">
              <a:ext uri="{FF2B5EF4-FFF2-40B4-BE49-F238E27FC236}">
                <a16:creationId xmlns:a16="http://schemas.microsoft.com/office/drawing/2014/main" id="{30D3A72A-CDB5-4F2B-9ED6-1229EC341906}"/>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19</a:t>
            </a:r>
          </a:p>
        </p:txBody>
      </p:sp>
      <p:sp>
        <p:nvSpPr>
          <p:cNvPr id="3" name="source">
            <a:extLst xmlns:a="http://schemas.openxmlformats.org/drawingml/2006/main">
              <a:ext uri="{FF2B5EF4-FFF2-40B4-BE49-F238E27FC236}">
                <a16:creationId xmlns:a16="http://schemas.microsoft.com/office/drawing/2014/main" id="{10069C1C-05DD-4EBB-93FE-89C31749696E}"/>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[S15] [S16]</a:t>
            </a:r>
          </a:p>
        </p:txBody>
      </p:sp>
      <p:sp>
        <p:nvSpPr>
          <p:cNvPr id="4" name="benefit">
            <a:extLst xmlns:a="http://schemas.openxmlformats.org/drawingml/2006/main">
              <a:ext uri="{FF2B5EF4-FFF2-40B4-BE49-F238E27FC236}">
                <a16:creationId xmlns:a16="http://schemas.microsoft.com/office/drawing/2014/main" id="{633A8FCE-D124-49F1-B5F6-FC8C33E09CD9}"/>
              </a:ext>
            </a:extLst>
          </p:cNvPr>
          <p:cNvSpPr>
            <a:spLocks xmlns:a="http://schemas.openxmlformats.org/drawingml/2006/main" noGrp="1"/>
          </p:cNvSpPr>
          <p:nvPr/>
        </p:nvSpPr>
        <p:spPr>
          <a:xfrm xmlns:a="http://schemas.openxmlformats.org/drawingml/2006/main">
            <a:off x="647700" y="172402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26746D"/>
                </a:solidFill>
                <a:latin typeface="Arial"/>
                <a:ea typeface="Arial"/>
                <a:cs typeface="Arial"/>
              </a:defRPr>
            </a:pPr>
            <a:r>
              <a:rPr sz="3825" b="1">
                <a:solidFill>
                  <a:srgbClr val="26746D"/>
                </a:solidFill>
                <a:latin typeface="Arial"/>
                <a:ea typeface="Arial"/>
                <a:cs typeface="Arial"/>
              </a:rPr>
              <a:t>2 monitors × AED 345 = AED 690</a:t>
            </a:r>
          </a:p>
        </p:txBody>
      </p:sp>
      <p:sp>
        <p:nvSpPr>
          <p:cNvPr id="5" name="gross">
            <a:extLst xmlns:a="http://schemas.openxmlformats.org/drawingml/2006/main">
              <a:ext uri="{FF2B5EF4-FFF2-40B4-BE49-F238E27FC236}">
                <a16:creationId xmlns:a16="http://schemas.microsoft.com/office/drawing/2014/main" id="{EC1EDEFF-C7E1-471E-BB19-57B49F6C2946}"/>
              </a:ext>
            </a:extLst>
          </p:cNvPr>
          <p:cNvSpPr>
            <a:spLocks xmlns:a="http://schemas.openxmlformats.org/drawingml/2006/main" noGrp="1"/>
          </p:cNvSpPr>
          <p:nvPr/>
        </p:nvSpPr>
        <p:spPr>
          <a:xfrm xmlns:a="http://schemas.openxmlformats.org/drawingml/2006/main">
            <a:off x="647700" y="2686050"/>
            <a:ext cx="10896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Gross avoided purchase value for this assumed request [AF06, S15]</a:t>
            </a:r>
          </a:p>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Retail price proxy, not a KU quote.</a:t>
            </a:r>
          </a:p>
        </p:txBody>
      </p:sp>
      <p:sp>
        <p:nvSpPr>
          <p:cNvPr id="6" name="conditions">
            <a:extLst xmlns:a="http://schemas.openxmlformats.org/drawingml/2006/main">
              <a:ext uri="{FF2B5EF4-FFF2-40B4-BE49-F238E27FC236}">
                <a16:creationId xmlns:a16="http://schemas.microsoft.com/office/drawing/2014/main" id="{BE2BE75E-CEC3-4666-B1F7-E0324DE90489}"/>
              </a:ext>
            </a:extLst>
          </p:cNvPr>
          <p:cNvSpPr>
            <a:spLocks xmlns:a="http://schemas.openxmlformats.org/drawingml/2006/main" noGrp="1"/>
          </p:cNvSpPr>
          <p:nvPr/>
        </p:nvSpPr>
        <p:spPr>
          <a:xfrm xmlns:a="http://schemas.openxmlformats.org/drawingml/2006/main">
            <a:off x="647700" y="349567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43C"/>
                </a:solidFill>
                <a:latin typeface="Arial"/>
                <a:ea typeface="Arial"/>
                <a:cs typeface="Arial"/>
              </a:defRPr>
            </a:pPr>
            <a:r>
              <a:rPr sz="2325" b="0">
                <a:solidFill>
                  <a:srgbClr val="17343C"/>
                </a:solidFill>
                <a:latin typeface="Arial"/>
                <a:ea typeface="Arial"/>
                <a:cs typeface="Arial"/>
              </a:rPr>
              <a:t>This applies only when suitable reuse prevents purchases that would</a:t>
            </a:r>
          </a:p>
          <a:p xmlns:a="http://schemas.openxmlformats.org/drawingml/2006/main">
            <a:pPr algn="l">
              <a:defRPr sz="2325" b="0">
                <a:solidFill>
                  <a:srgbClr val="17343C"/>
                </a:solidFill>
                <a:latin typeface="Arial"/>
                <a:ea typeface="Arial"/>
                <a:cs typeface="Arial"/>
              </a:defRPr>
            </a:pPr>
            <a:r>
              <a:rPr sz="2325" b="0">
                <a:solidFill>
                  <a:srgbClr val="17343C"/>
                </a:solidFill>
                <a:latin typeface="Arial"/>
                <a:ea typeface="Arial"/>
                <a:cs typeface="Arial"/>
              </a:rPr>
              <a:t>otherwise happen. Reuse must be additional to the current process.</a:t>
            </a:r>
          </a:p>
        </p:txBody>
      </p:sp>
      <p:sp>
        <p:nvSpPr>
          <p:cNvPr id="7" name="roi">
            <a:extLst xmlns:a="http://schemas.openxmlformats.org/drawingml/2006/main">
              <a:ext uri="{FF2B5EF4-FFF2-40B4-BE49-F238E27FC236}">
                <a16:creationId xmlns:a16="http://schemas.microsoft.com/office/drawing/2014/main" id="{79C31BC1-6A01-4FEC-B329-7ADACAA5FBA4}"/>
              </a:ext>
            </a:extLst>
          </p:cNvPr>
          <p:cNvSpPr>
            <a:spLocks xmlns:a="http://schemas.openxmlformats.org/drawingml/2006/main" noGrp="1"/>
          </p:cNvSpPr>
          <p:nvPr/>
        </p:nvSpPr>
        <p:spPr>
          <a:xfrm xmlns:a="http://schemas.openxmlformats.org/drawingml/2006/main">
            <a:off x="647700" y="4772025"/>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343C"/>
                </a:solidFill>
                <a:latin typeface="Arial"/>
                <a:ea typeface="Arial"/>
                <a:cs typeface="Arial"/>
              </a:defRPr>
            </a:pPr>
            <a:r>
              <a:rPr sz="2925" b="1">
                <a:solidFill>
                  <a:srgbClr val="17343C"/>
                </a:solidFill>
                <a:latin typeface="Arial"/>
                <a:ea typeface="Arial"/>
                <a:cs typeface="Arial"/>
              </a:rPr>
              <a:t>ROI = (benefit − cost) / cost × 100</a:t>
            </a:r>
          </a:p>
        </p:txBody>
      </p:sp>
      <p:sp>
        <p:nvSpPr>
          <p:cNvPr id="8" name="limits">
            <a:extLst xmlns:a="http://schemas.openxmlformats.org/drawingml/2006/main">
              <a:ext uri="{FF2B5EF4-FFF2-40B4-BE49-F238E27FC236}">
                <a16:creationId xmlns:a16="http://schemas.microsoft.com/office/drawing/2014/main" id="{FCE6EA9C-8720-4D58-8921-3DDEA8F88213}"/>
              </a:ext>
            </a:extLst>
          </p:cNvPr>
          <p:cNvSpPr>
            <a:spLocks xmlns:a="http://schemas.openxmlformats.org/drawingml/2006/main" noGrp="1"/>
          </p:cNvSpPr>
          <p:nvPr/>
        </p:nvSpPr>
        <p:spPr>
          <a:xfrm xmlns:a="http://schemas.openxmlformats.org/drawingml/2006/main">
            <a:off x="647700" y="5591175"/>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264"/>
                </a:solidFill>
                <a:latin typeface="Arial"/>
                <a:ea typeface="Arial"/>
                <a:cs typeface="Arial"/>
              </a:defRPr>
            </a:pPr>
            <a:r>
              <a:rPr sz="2025" b="0">
                <a:solidFill>
                  <a:srgbClr val="526264"/>
                </a:solidFill>
                <a:latin typeface="Arial"/>
                <a:ea typeface="Arial"/>
                <a:cs typeface="Arial"/>
              </a:rPr>
              <a:t>ROI method [S16]. The next slide shows a partial cash scenario.</a:t>
            </a:r>
          </a:p>
          <a:p xmlns:a="http://schemas.openxmlformats.org/drawingml/2006/main">
            <a:pPr algn="l">
              <a:defRPr sz="2025" b="0">
                <a:solidFill>
                  <a:srgbClr val="526264"/>
                </a:solidFill>
                <a:latin typeface="Arial"/>
                <a:ea typeface="Arial"/>
                <a:cs typeface="Arial"/>
              </a:defRPr>
            </a:pPr>
            <a:r>
              <a:rPr sz="2025" b="0">
                <a:solidFill>
                  <a:srgbClr val="526264"/>
                </a:solidFill>
                <a:latin typeface="Arial"/>
                <a:ea typeface="Arial"/>
                <a:cs typeface="Arial"/>
              </a:rPr>
              <a:t>Development labour, staff support and full KU costs remain unpriced.</a:t>
            </a:r>
          </a:p>
        </p:txBody>
      </p:sp>
    </p:spTree>
    <p:extLst>
      <p:ext uri="{BB962C8B-B14F-4D97-AF65-F5344CB8AC3E}">
        <p14:creationId xmlns:p14="http://schemas.microsoft.com/office/powerpoint/2010/main" val="1460043403"/>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1F5879F4-CAFD-4D9C-BC96-8826B2936E15}"/>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Annual cash outcome changes with actual reuse</a:t>
            </a:r>
          </a:p>
        </p:txBody>
      </p:sp>
      <p:sp>
        <p:nvSpPr>
          <p:cNvPr id="2" name="page">
            <a:extLst xmlns:a="http://schemas.openxmlformats.org/drawingml/2006/main">
              <a:ext uri="{FF2B5EF4-FFF2-40B4-BE49-F238E27FC236}">
                <a16:creationId xmlns:a16="http://schemas.microsoft.com/office/drawing/2014/main" id="{928672D1-526E-4C88-82A2-4909DF942D2C}"/>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20</a:t>
            </a:r>
          </a:p>
        </p:txBody>
      </p:sp>
      <p:sp>
        <p:nvSpPr>
          <p:cNvPr id="3" name="source">
            <a:extLst xmlns:a="http://schemas.openxmlformats.org/drawingml/2006/main">
              <a:ext uri="{FF2B5EF4-FFF2-40B4-BE49-F238E27FC236}">
                <a16:creationId xmlns:a16="http://schemas.microsoft.com/office/drawing/2014/main" id="{13BE01B8-2D6A-4DDF-9E3A-8D88C2B8FCCA}"/>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[S11] [S14] [S15] [S16]</a:t>
            </a:r>
          </a:p>
        </p:txBody>
      </p:sp>
      <p:sp>
        <p:nvSpPr>
          <p:cNvPr id="4" name="chart-label">
            <a:extLst xmlns:a="http://schemas.openxmlformats.org/drawingml/2006/main">
              <a:ext uri="{FF2B5EF4-FFF2-40B4-BE49-F238E27FC236}">
                <a16:creationId xmlns:a16="http://schemas.microsoft.com/office/drawing/2014/main" id="{A80073D8-8E7A-466A-B271-DF050472B111}"/>
              </a:ext>
            </a:extLst>
          </p:cNvPr>
          <p:cNvSpPr>
            <a:spLocks xmlns:a="http://schemas.openxmlformats.org/drawingml/2006/main" noGrp="1"/>
          </p:cNvSpPr>
          <p:nvPr/>
        </p:nvSpPr>
        <p:spPr>
          <a:xfrm xmlns:a="http://schemas.openxmlformats.org/drawingml/2006/main">
            <a:off x="647700" y="1485900"/>
            <a:ext cx="1089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746D"/>
                </a:solidFill>
                <a:latin typeface="Arial"/>
                <a:ea typeface="Arial"/>
                <a:cs typeface="Arial"/>
              </a:defRPr>
            </a:pPr>
            <a:r>
              <a:rPr sz="2175" b="1">
                <a:solidFill>
                  <a:srgbClr val="26746D"/>
                </a:solidFill>
                <a:latin typeface="Arial"/>
                <a:ea typeface="Arial"/>
                <a:cs typeface="Arial"/>
              </a:rPr>
              <a:t>Gross benefit and total cash cost, AED per year</a:t>
            </a:r>
          </a:p>
        </p:txBody>
      </p:sp>
      <p:graphicFrame>
        <p:nvGraphicFramePr>
          <p:cNvPr id="14" name="Chart"/>
          <p:cNvGraphicFramePr/>
          <p:nvPr/>
        </p:nvGraphicFramePr>
        <p:xfrm>
          <a:off xmlns:a="http://schemas.openxmlformats.org/drawingml/2006/main" x="647700" y="2009775"/>
          <a:ext xmlns:a="http://schemas.openxmlformats.org/drawingml/2006/main" cx="7810500" cy="3686175"/>
        </p:xfrm>
        <a:graphic xmlns:a="http://schemas.openxmlformats.org/drawingml/2006/main">
          <a:graphicData uri="http://schemas.openxmlformats.org/drawingml/2006/chart">
            <c:chart xmlns:r="http://schemas.openxmlformats.org/officeDocument/2006/relationships" xmlns:c="http://schemas.openxmlformats.org/drawingml/2006/chart" r:id="R8256548909be45e3"/>
          </a:graphicData>
        </a:graphic>
      </p:graphicFrame>
      <p:sp>
        <p:nvSpPr>
          <p:cNvPr id="6" name="roi-label">
            <a:extLst xmlns:a="http://schemas.openxmlformats.org/drawingml/2006/main">
              <a:ext uri="{FF2B5EF4-FFF2-40B4-BE49-F238E27FC236}">
                <a16:creationId xmlns:a16="http://schemas.microsoft.com/office/drawing/2014/main" id="{0BCBC88B-2106-43A1-888B-E76B8E7770BA}"/>
              </a:ext>
            </a:extLst>
          </p:cNvPr>
          <p:cNvSpPr>
            <a:spLocks xmlns:a="http://schemas.openxmlformats.org/drawingml/2006/main" noGrp="1"/>
          </p:cNvSpPr>
          <p:nvPr/>
        </p:nvSpPr>
        <p:spPr>
          <a:xfrm xmlns:a="http://schemas.openxmlformats.org/drawingml/2006/main">
            <a:off x="8858250" y="2105025"/>
            <a:ext cx="268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Net result / cash ROI</a:t>
            </a:r>
          </a:p>
        </p:txBody>
      </p:sp>
      <p:sp>
        <p:nvSpPr>
          <p:cNvPr id="7" name="roi-values">
            <a:extLst xmlns:a="http://schemas.openxmlformats.org/drawingml/2006/main">
              <a:ext uri="{FF2B5EF4-FFF2-40B4-BE49-F238E27FC236}">
                <a16:creationId xmlns:a16="http://schemas.microsoft.com/office/drawing/2014/main" id="{707D8781-5978-4427-B7FC-459682BEA29F}"/>
              </a:ext>
            </a:extLst>
          </p:cNvPr>
          <p:cNvSpPr>
            <a:spLocks xmlns:a="http://schemas.openxmlformats.org/drawingml/2006/main" noGrp="1"/>
          </p:cNvSpPr>
          <p:nvPr/>
        </p:nvSpPr>
        <p:spPr>
          <a:xfrm xmlns:a="http://schemas.openxmlformats.org/drawingml/2006/main">
            <a:off x="8858250" y="2981325"/>
            <a:ext cx="2686050" cy="1895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343C"/>
                </a:solidFill>
                <a:latin typeface="Arial"/>
                <a:ea typeface="Arial"/>
                <a:cs typeface="Arial"/>
              </a:defRPr>
            </a:pPr>
            <a:r>
              <a:rPr sz="1800" b="0">
                <a:solidFill>
                  <a:srgbClr val="17343C"/>
                </a:solidFill>
                <a:latin typeface="Arial"/>
                <a:ea typeface="Arial"/>
                <a:cs typeface="Arial"/>
              </a:rPr>
              <a:t>0: AED −1,304.43 / −100%</a:t>
            </a:r>
          </a:p>
          <a:p xmlns:a="http://schemas.openxmlformats.org/drawingml/2006/main">
            <a:r>
              <a:t/>
            </a:r>
          </a:p>
          <a:p xmlns:a="http://schemas.openxmlformats.org/drawingml/2006/main">
            <a:pPr algn="l">
              <a:defRPr sz="1800" b="0">
                <a:solidFill>
                  <a:srgbClr val="17343C"/>
                </a:solidFill>
                <a:latin typeface="Arial"/>
                <a:ea typeface="Arial"/>
                <a:cs typeface="Arial"/>
              </a:defRPr>
            </a:pPr>
            <a:r>
              <a:rPr sz="1800" b="0">
                <a:solidFill>
                  <a:srgbClr val="17343C"/>
                </a:solidFill>
                <a:latin typeface="Arial"/>
                <a:ea typeface="Arial"/>
                <a:cs typeface="Arial"/>
              </a:rPr>
              <a:t>4: AED −24.43 / −1.74%</a:t>
            </a:r>
          </a:p>
          <a:p xmlns:a="http://schemas.openxmlformats.org/drawingml/2006/main">
            <a:r>
              <a:t/>
            </a:r>
          </a:p>
          <a:p xmlns:a="http://schemas.openxmlformats.org/drawingml/2006/main">
            <a:pPr algn="l">
              <a:defRPr sz="1800" b="0">
                <a:solidFill>
                  <a:srgbClr val="17343C"/>
                </a:solidFill>
                <a:latin typeface="Arial"/>
                <a:ea typeface="Arial"/>
                <a:cs typeface="Arial"/>
              </a:defRPr>
            </a:pPr>
            <a:r>
              <a:rPr sz="1800" b="0">
                <a:solidFill>
                  <a:srgbClr val="17343C"/>
                </a:solidFill>
                <a:latin typeface="Arial"/>
                <a:ea typeface="Arial"/>
                <a:cs typeface="Arial"/>
              </a:rPr>
              <a:t>8: AED 1,255.57 / 83.46%</a:t>
            </a:r>
          </a:p>
        </p:txBody>
      </p:sp>
      <p:sp>
        <p:nvSpPr>
          <p:cNvPr id="8" name="break-even">
            <a:extLst xmlns:a="http://schemas.openxmlformats.org/drawingml/2006/main">
              <a:ext uri="{FF2B5EF4-FFF2-40B4-BE49-F238E27FC236}">
                <a16:creationId xmlns:a16="http://schemas.microsoft.com/office/drawing/2014/main" id="{A91A139A-6E61-4DBD-8FFF-62AB3DEC4910}"/>
              </a:ext>
            </a:extLst>
          </p:cNvPr>
          <p:cNvSpPr>
            <a:spLocks xmlns:a="http://schemas.openxmlformats.org/drawingml/2006/main" noGrp="1"/>
          </p:cNvSpPr>
          <p:nvPr/>
        </p:nvSpPr>
        <p:spPr>
          <a:xfrm xmlns:a="http://schemas.openxmlformats.org/drawingml/2006/main">
            <a:off x="8858250" y="5114925"/>
            <a:ext cx="2686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26746D"/>
                </a:solidFill>
                <a:latin typeface="Arial"/>
                <a:ea typeface="Arial"/>
                <a:cs typeface="Arial"/>
              </a:defRPr>
            </a:pPr>
            <a:r>
              <a:rPr sz="1725" b="1">
                <a:solidFill>
                  <a:srgbClr val="26746D"/>
                </a:solidFill>
                <a:latin typeface="Arial"/>
                <a:ea typeface="Arial"/>
                <a:cs typeface="Arial"/>
              </a:rPr>
              <a:t>Break-even: 5 monitors</a:t>
            </a:r>
          </a:p>
          <a:p xmlns:a="http://schemas.openxmlformats.org/drawingml/2006/main">
            <a:pPr algn="l">
              <a:defRPr sz="1725" b="1">
                <a:solidFill>
                  <a:srgbClr val="26746D"/>
                </a:solidFill>
                <a:latin typeface="Arial"/>
                <a:ea typeface="Arial"/>
                <a:cs typeface="Arial"/>
              </a:defRPr>
            </a:pPr>
            <a:r>
              <a:rPr sz="1725" b="1">
                <a:solidFill>
                  <a:srgbClr val="26746D"/>
                </a:solidFill>
                <a:latin typeface="Arial"/>
                <a:ea typeface="Arial"/>
                <a:cs typeface="Arial"/>
              </a:rPr>
              <a:t>under these assumptions</a:t>
            </a:r>
          </a:p>
        </p:txBody>
      </p:sp>
      <p:sp>
        <p:nvSpPr>
          <p:cNvPr id="9" name="sensitivity-note">
            <a:extLst xmlns:a="http://schemas.openxmlformats.org/drawingml/2006/main">
              <a:ext uri="{FF2B5EF4-FFF2-40B4-BE49-F238E27FC236}">
                <a16:creationId xmlns:a16="http://schemas.microsoft.com/office/drawing/2014/main" id="{0431A73E-024A-4AAD-95A4-DE48757B31A8}"/>
              </a:ext>
            </a:extLst>
          </p:cNvPr>
          <p:cNvSpPr>
            <a:spLocks xmlns:a="http://schemas.openxmlformats.org/drawingml/2006/main" noGrp="1"/>
          </p:cNvSpPr>
          <p:nvPr/>
        </p:nvSpPr>
        <p:spPr>
          <a:xfrm xmlns:a="http://schemas.openxmlformats.org/drawingml/2006/main">
            <a:off x="647700" y="5915025"/>
            <a:ext cx="1089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AF12 scenarios, not a forecast. Includes AED 25 handling per monitor [AF11].</a:t>
            </a:r>
          </a:p>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Excludes development labour, support time and other unpriced costs.</a:t>
            </a:r>
          </a:p>
        </p:txBody>
      </p:sp>
    </p:spTree>
    <p:extLst>
      <p:ext uri="{BB962C8B-B14F-4D97-AF65-F5344CB8AC3E}">
        <p14:creationId xmlns:p14="http://schemas.microsoft.com/office/powerpoint/2010/main" val="1989664523"/>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ADD405B-3886-4BDA-AC09-D69CA81B6538}"/>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The schedule needs a capacity check</a:t>
            </a:r>
          </a:p>
        </p:txBody>
      </p:sp>
      <p:sp>
        <p:nvSpPr>
          <p:cNvPr id="2" name="page">
            <a:extLst xmlns:a="http://schemas.openxmlformats.org/drawingml/2006/main">
              <a:ext uri="{FF2B5EF4-FFF2-40B4-BE49-F238E27FC236}">
                <a16:creationId xmlns:a16="http://schemas.microsoft.com/office/drawing/2014/main" id="{071773D1-FD3D-43DA-93F0-98799FC6B2BB}"/>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21</a:t>
            </a:r>
          </a:p>
        </p:txBody>
      </p:sp>
      <p:sp>
        <p:nvSpPr>
          <p:cNvPr id="3" name="source">
            <a:extLst xmlns:a="http://schemas.openxmlformats.org/drawingml/2006/main">
              <a:ext uri="{FF2B5EF4-FFF2-40B4-BE49-F238E27FC236}">
                <a16:creationId xmlns:a16="http://schemas.microsoft.com/office/drawing/2014/main" id="{01A7CC57-E1BA-484E-A5F5-B538A42F9349}"/>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graphicFrame>
        <p:nvGraphicFramePr>
          <p:cNvPr id="11" name=""/>
          <p:cNvGraphicFramePr/>
          <p:nvPr/>
        </p:nvGraphicFramePr>
        <p:xfrm>
          <a:off xmlns:a="http://schemas.openxmlformats.org/drawingml/2006/main" x="647700" y="1457325"/>
          <a:ext xmlns:a="http://schemas.openxmlformats.org/drawingml/2006/main" cx="10896600" cy="4124325"/>
        </p:xfrm>
        <a:graphic xmlns:a="http://schemas.openxmlformats.org/drawingml/2006/main">
          <a:graphicData uri="http://schemas.openxmlformats.org/drawingml/2006/table">
            <a:tbl>
              <a:tblPr firstRow="0" firstCol="0" bandRow="0"/>
              <a:tblGrid>
                <a:gridCol w="5895975"/>
                <a:gridCol w="2838450"/>
                <a:gridCol w="2162175"/>
              </a:tblGrid>
              <a:tr h="504825">
                <a:tc>
                  <a:txBody>
                    <a:bodyPr lIns="123825" tIns="76200" rIns="123825" bIns="76200">
                      <a:noAutofit/>
                    </a:bodyPr>
                    <a:lstStyle/>
                    <a:p>
                      <a:r>
                        <a:rPr sz="1875" b="1">
                          <a:solidFill>
                            <a:srgbClr val="FFFFFF"/>
                          </a:solidFill>
                          <a:latin typeface="Arial"/>
                          <a:ea typeface="Arial"/>
                          <a:cs typeface="Arial"/>
                        </a:rPr>
                        <a:t>Work remaining</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Owner</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Hours, low–high</a:t>
                      </a:r>
                    </a:p>
                  </a:txBody>
                  <a:tcPr marL="91440" marR="91440" marT="45720" marB="45720" anchor="ctr">
                    <a:solidFill>
                      <a:srgbClr val="17343C"/>
                    </a:solidFill>
                  </a:tcPr>
                </a:tc>
              </a:tr>
              <a:tr h="533400">
                <a:tc>
                  <a:txBody>
                    <a:bodyPr lIns="123825" tIns="76200" rIns="123825" bIns="76200">
                      <a:noAutofit/>
                    </a:bodyPr>
                    <a:lstStyle/>
                    <a:p>
                      <a:r>
                        <a:rPr sz="1875" b="0">
                          <a:solidFill>
                            <a:srgbClr val="17343C"/>
                          </a:solidFill>
                          <a:latin typeface="Arial"/>
                          <a:ea typeface="Arial"/>
                          <a:cs typeface="Arial"/>
                        </a:rPr>
                        <a:t>Requirements and design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Zayed with all</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20–28</a:t>
                      </a:r>
                    </a:p>
                  </a:txBody>
                  <a:tcPr marL="91440" marR="91440" marT="45720" marB="45720" anchor="ctr">
                    <a:solidFill>
                      <a:srgbClr val="FAFAF7"/>
                    </a:solidFill>
                  </a:tcPr>
                </a:tc>
              </a:tr>
              <a:tr h="619125">
                <a:tc>
                  <a:txBody>
                    <a:bodyPr lIns="123825" tIns="76200" rIns="123825" bIns="76200">
                      <a:noAutofit/>
                    </a:bodyPr>
                    <a:lstStyle/>
                    <a:p>
                      <a:r>
                        <a:rPr sz="1875" b="0">
                          <a:solidFill>
                            <a:srgbClr val="17343C"/>
                          </a:solidFill>
                          <a:latin typeface="Arial"/>
                          <a:ea typeface="Arial"/>
                          <a:cs typeface="Arial"/>
                        </a:rPr>
                        <a:t>Core inventory and approval workflows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Sultan</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36–48</a:t>
                      </a:r>
                    </a:p>
                  </a:txBody>
                  <a:tcPr marL="91440" marR="91440" marT="45720" marB="45720" anchor="ctr">
                    <a:solidFill>
                      <a:srgbClr val="F0F4F3"/>
                    </a:solidFill>
                  </a:tcPr>
                </a:tc>
              </a:tr>
              <a:tr h="619125">
                <a:tc>
                  <a:txBody>
                    <a:bodyPr lIns="123825" tIns="76200" rIns="123825" bIns="76200">
                      <a:noAutofit/>
                    </a:bodyPr>
                    <a:lstStyle/>
                    <a:p>
                      <a:r>
                        <a:rPr sz="1875" b="0">
                          <a:solidFill>
                            <a:srgbClr val="17343C"/>
                          </a:solidFill>
                          <a:latin typeface="Arial"/>
                          <a:ea typeface="Arial"/>
                          <a:cs typeface="Arial"/>
                        </a:rPr>
                        <a:t>Maintenance, life cycle and reports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Sultan and Zayed</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24–32</a:t>
                      </a:r>
                    </a:p>
                  </a:txBody>
                  <a:tcPr marL="91440" marR="91440" marT="45720" marB="45720" anchor="ctr">
                    <a:solidFill>
                      <a:srgbClr val="FAFAF7"/>
                    </a:solidFill>
                  </a:tcPr>
                </a:tc>
              </a:tr>
              <a:tr h="609600">
                <a:tc>
                  <a:txBody>
                    <a:bodyPr lIns="123825" tIns="76200" rIns="123825" bIns="76200">
                      <a:noAutofit/>
                    </a:bodyPr>
                    <a:lstStyle/>
                    <a:p>
                      <a:r>
                        <a:rPr sz="1875" b="0">
                          <a:solidFill>
                            <a:srgbClr val="17343C"/>
                          </a:solidFill>
                          <a:latin typeface="Arial"/>
                          <a:ea typeface="Arial"/>
                          <a:cs typeface="Arial"/>
                        </a:rPr>
                        <a:t>AI functions and evaluation</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Ghaith</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30–44</a:t>
                      </a:r>
                    </a:p>
                  </a:txBody>
                  <a:tcPr marL="91440" marR="91440" marT="45720" marB="45720" anchor="ctr">
                    <a:solidFill>
                      <a:srgbClr val="F0F4F3"/>
                    </a:solidFill>
                  </a:tcPr>
                </a:tc>
              </a:tr>
              <a:tr h="619125">
                <a:tc>
                  <a:txBody>
                    <a:bodyPr lIns="123825" tIns="76200" rIns="123825" bIns="76200">
                      <a:noAutofit/>
                    </a:bodyPr>
                    <a:lstStyle/>
                    <a:p>
                      <a:r>
                        <a:rPr sz="1875" b="0">
                          <a:solidFill>
                            <a:srgbClr val="17343C"/>
                          </a:solidFill>
                          <a:latin typeface="Arial"/>
                          <a:ea typeface="Arial"/>
                          <a:cs typeface="Arial"/>
                        </a:rPr>
                        <a:t>Deployment, uploads and security</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Ghaith and Sultan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16–24</a:t>
                      </a:r>
                    </a:p>
                  </a:txBody>
                  <a:tcPr marL="91440" marR="91440" marT="45720" marB="45720" anchor="ctr">
                    <a:solidFill>
                      <a:srgbClr val="FAFAF7"/>
                    </a:solidFill>
                  </a:tcPr>
                </a:tc>
              </a:tr>
              <a:tr h="619125">
                <a:tc>
                  <a:txBody>
                    <a:bodyPr lIns="123825" tIns="76200" rIns="123825" bIns="76200">
                      <a:noAutofit/>
                    </a:bodyPr>
                    <a:lstStyle/>
                    <a:p>
                      <a:r>
                        <a:rPr sz="1875" b="0">
                          <a:solidFill>
                            <a:srgbClr val="17343C"/>
                          </a:solidFill>
                          <a:latin typeface="Arial"/>
                          <a:ea typeface="Arial"/>
                          <a:cs typeface="Arial"/>
                        </a:rPr>
                        <a:t>Tests, integration and documentation</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All</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24–34</a:t>
                      </a:r>
                    </a:p>
                  </a:txBody>
                  <a:tcPr marL="91440" marR="91440" marT="45720" marB="45720" anchor="ctr">
                    <a:solidFill>
                      <a:srgbClr val="F0F4F3"/>
                    </a:solidFill>
                  </a:tcPr>
                </a:tc>
              </a:tr>
            </a:tbl>
          </a:graphicData>
        </a:graphic>
      </p:graphicFrame>
      <p:sp>
        <p:nvSpPr>
          <p:cNvPr id="5" name="hours">
            <a:extLst xmlns:a="http://schemas.openxmlformats.org/drawingml/2006/main">
              <a:ext uri="{FF2B5EF4-FFF2-40B4-BE49-F238E27FC236}">
                <a16:creationId xmlns:a16="http://schemas.microsoft.com/office/drawing/2014/main" id="{98884B45-E767-43E1-BEB7-4028C1270D6A}"/>
              </a:ext>
            </a:extLst>
          </p:cNvPr>
          <p:cNvSpPr>
            <a:spLocks xmlns:a="http://schemas.openxmlformats.org/drawingml/2006/main" noGrp="1"/>
          </p:cNvSpPr>
          <p:nvPr/>
        </p:nvSpPr>
        <p:spPr>
          <a:xfrm xmlns:a="http://schemas.openxmlformats.org/drawingml/2006/main">
            <a:off x="647700" y="5743575"/>
            <a:ext cx="701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746D"/>
                </a:solidFill>
                <a:latin typeface="Arial"/>
                <a:ea typeface="Arial"/>
                <a:cs typeface="Arial"/>
              </a:defRPr>
            </a:pPr>
            <a:r>
              <a:rPr sz="2175" b="1">
                <a:solidFill>
                  <a:srgbClr val="26746D"/>
                </a:solidFill>
                <a:latin typeface="Arial"/>
                <a:ea typeface="Arial"/>
                <a:cs typeface="Arial"/>
              </a:rPr>
              <a:t>150–210 h + 15% reserve = 172.5–241.5 h</a:t>
            </a:r>
          </a:p>
        </p:txBody>
      </p:sp>
      <p:sp>
        <p:nvSpPr>
          <p:cNvPr id="6" name="capacity">
            <a:extLst xmlns:a="http://schemas.openxmlformats.org/drawingml/2006/main">
              <a:ext uri="{FF2B5EF4-FFF2-40B4-BE49-F238E27FC236}">
                <a16:creationId xmlns:a16="http://schemas.microsoft.com/office/drawing/2014/main" id="{9A84AD35-E0BA-4DE9-AE14-63ACF189F68E}"/>
              </a:ext>
            </a:extLst>
          </p:cNvPr>
          <p:cNvSpPr>
            <a:spLocks xmlns:a="http://schemas.openxmlformats.org/drawingml/2006/main" noGrp="1"/>
          </p:cNvSpPr>
          <p:nvPr/>
        </p:nvSpPr>
        <p:spPr>
          <a:xfrm xmlns:a="http://schemas.openxmlformats.org/drawingml/2006/main">
            <a:off x="7905750" y="5762625"/>
            <a:ext cx="3638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43C"/>
                </a:solidFill>
                <a:latin typeface="Arial"/>
                <a:ea typeface="Arial"/>
                <a:cs typeface="Arial"/>
              </a:defRPr>
            </a:pPr>
            <a:r>
              <a:rPr sz="1875" b="1">
                <a:solidFill>
                  <a:srgbClr val="17343C"/>
                </a:solidFill>
                <a:latin typeface="Arial"/>
                <a:ea typeface="Arial"/>
                <a:cs typeface="Arial"/>
              </a:rPr>
              <a:t>Capacity case: 192 h [AS01]</a:t>
            </a:r>
          </a:p>
        </p:txBody>
      </p:sp>
      <p:sp>
        <p:nvSpPr>
          <p:cNvPr id="7" name="capacity-inputs">
            <a:extLst xmlns:a="http://schemas.openxmlformats.org/drawingml/2006/main">
              <a:ext uri="{FF2B5EF4-FFF2-40B4-BE49-F238E27FC236}">
                <a16:creationId xmlns:a16="http://schemas.microsoft.com/office/drawing/2014/main" id="{6473D8CE-D934-4902-90DD-51386F696840}"/>
              </a:ext>
            </a:extLst>
          </p:cNvPr>
          <p:cNvSpPr>
            <a:spLocks xmlns:a="http://schemas.openxmlformats.org/drawingml/2006/main" noGrp="1"/>
          </p:cNvSpPr>
          <p:nvPr/>
        </p:nvSpPr>
        <p:spPr>
          <a:xfrm xmlns:a="http://schemas.openxmlformats.org/drawingml/2006/main">
            <a:off x="647700" y="6200775"/>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264"/>
                </a:solidFill>
                <a:latin typeface="Arial"/>
                <a:ea typeface="Arial"/>
                <a:cs typeface="Arial"/>
              </a:defRPr>
            </a:pPr>
            <a:r>
              <a:rPr sz="1575" b="0">
                <a:solidFill>
                  <a:srgbClr val="526264"/>
                </a:solidFill>
                <a:latin typeface="Arial"/>
                <a:ea typeface="Arial"/>
                <a:cs typeface="Arial"/>
              </a:rPr>
              <a:t>AS01: 8 weeks × 3 members × 8 h/week. AS02: effort ranges need owner review.</a:t>
            </a:r>
          </a:p>
        </p:txBody>
      </p:sp>
    </p:spTree>
    <p:extLst>
      <p:ext uri="{BB962C8B-B14F-4D97-AF65-F5344CB8AC3E}">
        <p14:creationId xmlns:p14="http://schemas.microsoft.com/office/powerpoint/2010/main" val="1784170134"/>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C3F0190F-7208-4484-BB50-1467FF87ED2E}"/>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How we score risks</a:t>
            </a:r>
          </a:p>
        </p:txBody>
      </p:sp>
      <p:sp>
        <p:nvSpPr>
          <p:cNvPr id="2" name="page">
            <a:extLst xmlns:a="http://schemas.openxmlformats.org/drawingml/2006/main">
              <a:ext uri="{FF2B5EF4-FFF2-40B4-BE49-F238E27FC236}">
                <a16:creationId xmlns:a16="http://schemas.microsoft.com/office/drawing/2014/main" id="{F964406F-6386-4867-B242-C85A7E0A683A}"/>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22</a:t>
            </a:r>
          </a:p>
        </p:txBody>
      </p:sp>
      <p:sp>
        <p:nvSpPr>
          <p:cNvPr id="3" name="source">
            <a:extLst xmlns:a="http://schemas.openxmlformats.org/drawingml/2006/main">
              <a:ext uri="{FF2B5EF4-FFF2-40B4-BE49-F238E27FC236}">
                <a16:creationId xmlns:a16="http://schemas.microsoft.com/office/drawing/2014/main" id="{3147C383-1ABA-4CDA-8DED-CFA6BFAB46FC}"/>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[S17] [S18]</a:t>
            </a:r>
          </a:p>
        </p:txBody>
      </p:sp>
      <p:sp>
        <p:nvSpPr>
          <p:cNvPr id="4" name="risk-formula">
            <a:extLst xmlns:a="http://schemas.openxmlformats.org/drawingml/2006/main">
              <a:ext uri="{FF2B5EF4-FFF2-40B4-BE49-F238E27FC236}">
                <a16:creationId xmlns:a16="http://schemas.microsoft.com/office/drawing/2014/main" id="{A4B07262-BA74-44DE-8D8B-46F7E7E23E5F}"/>
              </a:ext>
            </a:extLst>
          </p:cNvPr>
          <p:cNvSpPr>
            <a:spLocks xmlns:a="http://schemas.openxmlformats.org/drawingml/2006/main" noGrp="1"/>
          </p:cNvSpPr>
          <p:nvPr/>
        </p:nvSpPr>
        <p:spPr>
          <a:xfrm xmlns:a="http://schemas.openxmlformats.org/drawingml/2006/main">
            <a:off x="647700" y="1400175"/>
            <a:ext cx="1089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746D"/>
                </a:solidFill>
                <a:latin typeface="Arial"/>
                <a:ea typeface="Arial"/>
                <a:cs typeface="Arial"/>
              </a:defRPr>
            </a:pPr>
            <a:r>
              <a:rPr sz="2400" b="1">
                <a:solidFill>
                  <a:srgbClr val="26746D"/>
                </a:solidFill>
                <a:latin typeface="Arial"/>
                <a:ea typeface="Arial"/>
                <a:cs typeface="Arial"/>
              </a:rPr>
              <a:t>Priority score = likelihood (1–5) × impact (1–5)</a:t>
            </a:r>
          </a:p>
        </p:txBody>
      </p:sp>
      <p:sp>
        <p:nvSpPr>
          <p:cNvPr id="5" name="risk-bands">
            <a:extLst xmlns:a="http://schemas.openxmlformats.org/drawingml/2006/main">
              <a:ext uri="{FF2B5EF4-FFF2-40B4-BE49-F238E27FC236}">
                <a16:creationId xmlns:a16="http://schemas.microsoft.com/office/drawing/2014/main" id="{9696D44D-E533-47BF-87B8-C0F443894E89}"/>
              </a:ext>
            </a:extLst>
          </p:cNvPr>
          <p:cNvSpPr>
            <a:spLocks xmlns:a="http://schemas.openxmlformats.org/drawingml/2006/main" noGrp="1"/>
          </p:cNvSpPr>
          <p:nvPr/>
        </p:nvSpPr>
        <p:spPr>
          <a:xfrm xmlns:a="http://schemas.openxmlformats.org/drawingml/2006/main">
            <a:off x="647700" y="1981200"/>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Bands: 1–4 low, 5–9 medium, 10–16 high, 17–25 critical</a:t>
            </a:r>
          </a:p>
        </p:txBody>
      </p:sp>
      <p:graphicFrame>
        <p:nvGraphicFramePr>
          <p:cNvPr id="14" name=""/>
          <p:cNvGraphicFramePr/>
          <p:nvPr/>
        </p:nvGraphicFramePr>
        <p:xfrm>
          <a:off xmlns:a="http://schemas.openxmlformats.org/drawingml/2006/main" x="647700" y="2324100"/>
          <a:ext xmlns:a="http://schemas.openxmlformats.org/drawingml/2006/main" cx="10896600" cy="2819400"/>
        </p:xfrm>
        <a:graphic xmlns:a="http://schemas.openxmlformats.org/drawingml/2006/main">
          <a:graphicData uri="http://schemas.openxmlformats.org/drawingml/2006/table">
            <a:tbl>
              <a:tblPr firstRow="0" firstCol="0" bandRow="0"/>
              <a:tblGrid>
                <a:gridCol w="3105150"/>
                <a:gridCol w="1552575"/>
                <a:gridCol w="1552575"/>
                <a:gridCol w="1562100"/>
                <a:gridCol w="1562100"/>
                <a:gridCol w="1562100"/>
              </a:tblGrid>
              <a:tr h="485775">
                <a:tc>
                  <a:txBody>
                    <a:bodyPr lIns="123825" tIns="76200" rIns="123825" bIns="76200">
                      <a:noAutofit/>
                    </a:bodyPr>
                    <a:lstStyle/>
                    <a:p>
                      <a:r>
                        <a:rPr sz="1875" b="1">
                          <a:solidFill>
                            <a:srgbClr val="FFFFFF"/>
                          </a:solidFill>
                          <a:latin typeface="Arial"/>
                          <a:ea typeface="Arial"/>
                          <a:cs typeface="Arial"/>
                        </a:rPr>
                        <a:t>Likelihood / impact</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1</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2</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3</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4</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5</a:t>
                      </a:r>
                    </a:p>
                  </a:txBody>
                  <a:tcPr marL="91440" marR="91440" marT="45720" marB="45720" anchor="ctr">
                    <a:solidFill>
                      <a:srgbClr val="17343C"/>
                    </a:solidFill>
                  </a:tcPr>
                </a:tc>
              </a:tr>
              <a:tr h="466725">
                <a:tc>
                  <a:txBody>
                    <a:bodyPr lIns="123825" tIns="76200" rIns="123825" bIns="76200">
                      <a:noAutofit/>
                    </a:bodyPr>
                    <a:lstStyle/>
                    <a:p>
                      <a:r>
                        <a:rPr sz="2025" b="0">
                          <a:solidFill>
                            <a:srgbClr val="17343C"/>
                          </a:solidFill>
                          <a:latin typeface="Arial"/>
                          <a:ea typeface="Arial"/>
                          <a:cs typeface="Arial"/>
                        </a:rPr>
                        <a:t>5</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5</a:t>
                      </a:r>
                    </a:p>
                  </a:txBody>
                  <a:tcPr marL="91440" marR="91440" marT="45720" marB="45720" anchor="ctr">
                    <a:solidFill>
                      <a:srgbClr val="F3EDCA"/>
                    </a:solidFill>
                  </a:tcPr>
                </a:tc>
                <a:tc>
                  <a:txBody>
                    <a:bodyPr lIns="123825" tIns="76200" rIns="123825" bIns="76200">
                      <a:noAutofit/>
                    </a:bodyPr>
                    <a:lstStyle/>
                    <a:p>
                      <a:r>
                        <a:rPr sz="2025" b="0">
                          <a:solidFill>
                            <a:srgbClr val="17343C"/>
                          </a:solidFill>
                          <a:latin typeface="Arial"/>
                          <a:ea typeface="Arial"/>
                          <a:cs typeface="Arial"/>
                        </a:rPr>
                        <a:t>10</a:t>
                      </a:r>
                    </a:p>
                  </a:txBody>
                  <a:tcPr marL="91440" marR="91440" marT="45720" marB="45720" anchor="ctr">
                    <a:solidFill>
                      <a:srgbClr val="F3D6BD"/>
                    </a:solidFill>
                  </a:tcPr>
                </a:tc>
                <a:tc>
                  <a:txBody>
                    <a:bodyPr lIns="123825" tIns="76200" rIns="123825" bIns="76200">
                      <a:noAutofit/>
                    </a:bodyPr>
                    <a:lstStyle/>
                    <a:p>
                      <a:r>
                        <a:rPr sz="2025" b="0">
                          <a:solidFill>
                            <a:srgbClr val="17343C"/>
                          </a:solidFill>
                          <a:latin typeface="Arial"/>
                          <a:ea typeface="Arial"/>
                          <a:cs typeface="Arial"/>
                        </a:rPr>
                        <a:t>15</a:t>
                      </a:r>
                    </a:p>
                  </a:txBody>
                  <a:tcPr marL="91440" marR="91440" marT="45720" marB="45720" anchor="ctr">
                    <a:solidFill>
                      <a:srgbClr val="F3D6BD"/>
                    </a:solidFill>
                  </a:tcPr>
                </a:tc>
                <a:tc>
                  <a:txBody>
                    <a:bodyPr lIns="123825" tIns="76200" rIns="123825" bIns="76200">
                      <a:noAutofit/>
                    </a:bodyPr>
                    <a:lstStyle/>
                    <a:p>
                      <a:r>
                        <a:rPr sz="2025" b="0">
                          <a:solidFill>
                            <a:srgbClr val="17343C"/>
                          </a:solidFill>
                          <a:latin typeface="Arial"/>
                          <a:ea typeface="Arial"/>
                          <a:cs typeface="Arial"/>
                        </a:rPr>
                        <a:t>20</a:t>
                      </a:r>
                    </a:p>
                  </a:txBody>
                  <a:tcPr marL="91440" marR="91440" marT="45720" marB="45720" anchor="ctr">
                    <a:solidFill>
                      <a:srgbClr val="E5B5A8"/>
                    </a:solidFill>
                  </a:tcPr>
                </a:tc>
                <a:tc>
                  <a:txBody>
                    <a:bodyPr lIns="123825" tIns="76200" rIns="123825" bIns="76200">
                      <a:noAutofit/>
                    </a:bodyPr>
                    <a:lstStyle/>
                    <a:p>
                      <a:r>
                        <a:rPr sz="2025" b="0">
                          <a:solidFill>
                            <a:srgbClr val="17343C"/>
                          </a:solidFill>
                          <a:latin typeface="Arial"/>
                          <a:ea typeface="Arial"/>
                          <a:cs typeface="Arial"/>
                        </a:rPr>
                        <a:t>25</a:t>
                      </a:r>
                    </a:p>
                  </a:txBody>
                  <a:tcPr marL="91440" marR="91440" marT="45720" marB="45720" anchor="ctr">
                    <a:solidFill>
                      <a:srgbClr val="E5B5A8"/>
                    </a:solidFill>
                  </a:tcPr>
                </a:tc>
              </a:tr>
              <a:tr h="466725">
                <a:tc>
                  <a:txBody>
                    <a:bodyPr lIns="123825" tIns="76200" rIns="123825" bIns="76200">
                      <a:noAutofit/>
                    </a:bodyPr>
                    <a:lstStyle/>
                    <a:p>
                      <a:r>
                        <a:rPr sz="2025" b="0">
                          <a:solidFill>
                            <a:srgbClr val="17343C"/>
                          </a:solidFill>
                          <a:latin typeface="Arial"/>
                          <a:ea typeface="Arial"/>
                          <a:cs typeface="Arial"/>
                        </a:rPr>
                        <a:t>4</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4</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8</a:t>
                      </a:r>
                    </a:p>
                  </a:txBody>
                  <a:tcPr marL="91440" marR="91440" marT="45720" marB="45720" anchor="ctr">
                    <a:solidFill>
                      <a:srgbClr val="F3EDCA"/>
                    </a:solidFill>
                  </a:tcPr>
                </a:tc>
                <a:tc>
                  <a:txBody>
                    <a:bodyPr lIns="123825" tIns="76200" rIns="123825" bIns="76200">
                      <a:noAutofit/>
                    </a:bodyPr>
                    <a:lstStyle/>
                    <a:p>
                      <a:r>
                        <a:rPr sz="2025" b="0">
                          <a:solidFill>
                            <a:srgbClr val="17343C"/>
                          </a:solidFill>
                          <a:latin typeface="Arial"/>
                          <a:ea typeface="Arial"/>
                          <a:cs typeface="Arial"/>
                        </a:rPr>
                        <a:t>12</a:t>
                      </a:r>
                    </a:p>
                  </a:txBody>
                  <a:tcPr marL="91440" marR="91440" marT="45720" marB="45720" anchor="ctr">
                    <a:solidFill>
                      <a:srgbClr val="F3D6BD"/>
                    </a:solidFill>
                  </a:tcPr>
                </a:tc>
                <a:tc>
                  <a:txBody>
                    <a:bodyPr lIns="123825" tIns="76200" rIns="123825" bIns="76200">
                      <a:noAutofit/>
                    </a:bodyPr>
                    <a:lstStyle/>
                    <a:p>
                      <a:r>
                        <a:rPr sz="2025" b="0">
                          <a:solidFill>
                            <a:srgbClr val="17343C"/>
                          </a:solidFill>
                          <a:latin typeface="Arial"/>
                          <a:ea typeface="Arial"/>
                          <a:cs typeface="Arial"/>
                        </a:rPr>
                        <a:t>16</a:t>
                      </a:r>
                    </a:p>
                  </a:txBody>
                  <a:tcPr marL="91440" marR="91440" marT="45720" marB="45720" anchor="ctr">
                    <a:solidFill>
                      <a:srgbClr val="F3D6BD"/>
                    </a:solidFill>
                  </a:tcPr>
                </a:tc>
                <a:tc>
                  <a:txBody>
                    <a:bodyPr lIns="123825" tIns="76200" rIns="123825" bIns="76200">
                      <a:noAutofit/>
                    </a:bodyPr>
                    <a:lstStyle/>
                    <a:p>
                      <a:r>
                        <a:rPr sz="2025" b="0">
                          <a:solidFill>
                            <a:srgbClr val="17343C"/>
                          </a:solidFill>
                          <a:latin typeface="Arial"/>
                          <a:ea typeface="Arial"/>
                          <a:cs typeface="Arial"/>
                        </a:rPr>
                        <a:t>20</a:t>
                      </a:r>
                    </a:p>
                  </a:txBody>
                  <a:tcPr marL="91440" marR="91440" marT="45720" marB="45720" anchor="ctr">
                    <a:solidFill>
                      <a:srgbClr val="E5B5A8"/>
                    </a:solidFill>
                  </a:tcPr>
                </a:tc>
              </a:tr>
              <a:tr h="466725">
                <a:tc>
                  <a:txBody>
                    <a:bodyPr lIns="123825" tIns="76200" rIns="123825" bIns="76200">
                      <a:noAutofit/>
                    </a:bodyPr>
                    <a:lstStyle/>
                    <a:p>
                      <a:r>
                        <a:rPr sz="2025" b="0">
                          <a:solidFill>
                            <a:srgbClr val="17343C"/>
                          </a:solidFill>
                          <a:latin typeface="Arial"/>
                          <a:ea typeface="Arial"/>
                          <a:cs typeface="Arial"/>
                        </a:rPr>
                        <a:t>3</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3</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6</a:t>
                      </a:r>
                    </a:p>
                  </a:txBody>
                  <a:tcPr marL="91440" marR="91440" marT="45720" marB="45720" anchor="ctr">
                    <a:solidFill>
                      <a:srgbClr val="F3EDCA"/>
                    </a:solidFill>
                  </a:tcPr>
                </a:tc>
                <a:tc>
                  <a:txBody>
                    <a:bodyPr lIns="123825" tIns="76200" rIns="123825" bIns="76200">
                      <a:noAutofit/>
                    </a:bodyPr>
                    <a:lstStyle/>
                    <a:p>
                      <a:r>
                        <a:rPr sz="2025" b="0">
                          <a:solidFill>
                            <a:srgbClr val="17343C"/>
                          </a:solidFill>
                          <a:latin typeface="Arial"/>
                          <a:ea typeface="Arial"/>
                          <a:cs typeface="Arial"/>
                        </a:rPr>
                        <a:t>9</a:t>
                      </a:r>
                    </a:p>
                  </a:txBody>
                  <a:tcPr marL="91440" marR="91440" marT="45720" marB="45720" anchor="ctr">
                    <a:solidFill>
                      <a:srgbClr val="F3EDCA"/>
                    </a:solidFill>
                  </a:tcPr>
                </a:tc>
                <a:tc>
                  <a:txBody>
                    <a:bodyPr lIns="123825" tIns="76200" rIns="123825" bIns="76200">
                      <a:noAutofit/>
                    </a:bodyPr>
                    <a:lstStyle/>
                    <a:p>
                      <a:r>
                        <a:rPr sz="2025" b="0">
                          <a:solidFill>
                            <a:srgbClr val="17343C"/>
                          </a:solidFill>
                          <a:latin typeface="Arial"/>
                          <a:ea typeface="Arial"/>
                          <a:cs typeface="Arial"/>
                        </a:rPr>
                        <a:t>12</a:t>
                      </a:r>
                    </a:p>
                  </a:txBody>
                  <a:tcPr marL="91440" marR="91440" marT="45720" marB="45720" anchor="ctr">
                    <a:solidFill>
                      <a:srgbClr val="F3D6BD"/>
                    </a:solidFill>
                  </a:tcPr>
                </a:tc>
                <a:tc>
                  <a:txBody>
                    <a:bodyPr lIns="123825" tIns="76200" rIns="123825" bIns="76200">
                      <a:noAutofit/>
                    </a:bodyPr>
                    <a:lstStyle/>
                    <a:p>
                      <a:r>
                        <a:rPr sz="2025" b="0">
                          <a:solidFill>
                            <a:srgbClr val="17343C"/>
                          </a:solidFill>
                          <a:latin typeface="Arial"/>
                          <a:ea typeface="Arial"/>
                          <a:cs typeface="Arial"/>
                        </a:rPr>
                        <a:t>15</a:t>
                      </a:r>
                    </a:p>
                  </a:txBody>
                  <a:tcPr marL="91440" marR="91440" marT="45720" marB="45720" anchor="ctr">
                    <a:solidFill>
                      <a:srgbClr val="F3D6BD"/>
                    </a:solidFill>
                  </a:tcPr>
                </a:tc>
              </a:tr>
              <a:tr h="466725">
                <a:tc>
                  <a:txBody>
                    <a:bodyPr lIns="123825" tIns="76200" rIns="123825" bIns="76200">
                      <a:noAutofit/>
                    </a:bodyPr>
                    <a:lstStyle/>
                    <a:p>
                      <a:r>
                        <a:rPr sz="2025" b="0">
                          <a:solidFill>
                            <a:srgbClr val="17343C"/>
                          </a:solidFill>
                          <a:latin typeface="Arial"/>
                          <a:ea typeface="Arial"/>
                          <a:cs typeface="Arial"/>
                        </a:rPr>
                        <a:t>2</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2</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4</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6</a:t>
                      </a:r>
                    </a:p>
                  </a:txBody>
                  <a:tcPr marL="91440" marR="91440" marT="45720" marB="45720" anchor="ctr">
                    <a:solidFill>
                      <a:srgbClr val="F3EDCA"/>
                    </a:solidFill>
                  </a:tcPr>
                </a:tc>
                <a:tc>
                  <a:txBody>
                    <a:bodyPr lIns="123825" tIns="76200" rIns="123825" bIns="76200">
                      <a:noAutofit/>
                    </a:bodyPr>
                    <a:lstStyle/>
                    <a:p>
                      <a:r>
                        <a:rPr sz="2025" b="0">
                          <a:solidFill>
                            <a:srgbClr val="17343C"/>
                          </a:solidFill>
                          <a:latin typeface="Arial"/>
                          <a:ea typeface="Arial"/>
                          <a:cs typeface="Arial"/>
                        </a:rPr>
                        <a:t>8</a:t>
                      </a:r>
                    </a:p>
                  </a:txBody>
                  <a:tcPr marL="91440" marR="91440" marT="45720" marB="45720" anchor="ctr">
                    <a:solidFill>
                      <a:srgbClr val="F3EDCA"/>
                    </a:solidFill>
                  </a:tcPr>
                </a:tc>
                <a:tc>
                  <a:txBody>
                    <a:bodyPr lIns="123825" tIns="76200" rIns="123825" bIns="76200">
                      <a:noAutofit/>
                    </a:bodyPr>
                    <a:lstStyle/>
                    <a:p>
                      <a:r>
                        <a:rPr sz="2025" b="0">
                          <a:solidFill>
                            <a:srgbClr val="17343C"/>
                          </a:solidFill>
                          <a:latin typeface="Arial"/>
                          <a:ea typeface="Arial"/>
                          <a:cs typeface="Arial"/>
                        </a:rPr>
                        <a:t>10</a:t>
                      </a:r>
                    </a:p>
                  </a:txBody>
                  <a:tcPr marL="91440" marR="91440" marT="45720" marB="45720" anchor="ctr">
                    <a:solidFill>
                      <a:srgbClr val="F3D6BD"/>
                    </a:solidFill>
                  </a:tcPr>
                </a:tc>
              </a:tr>
              <a:tr h="466725">
                <a:tc>
                  <a:txBody>
                    <a:bodyPr lIns="123825" tIns="76200" rIns="123825" bIns="76200">
                      <a:noAutofit/>
                    </a:bodyPr>
                    <a:lstStyle/>
                    <a:p>
                      <a:r>
                        <a:rPr sz="2025" b="0">
                          <a:solidFill>
                            <a:srgbClr val="17343C"/>
                          </a:solidFill>
                          <a:latin typeface="Arial"/>
                          <a:ea typeface="Arial"/>
                          <a:cs typeface="Arial"/>
                        </a:rPr>
                        <a:t>1</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1</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2</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3</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4</a:t>
                      </a:r>
                    </a:p>
                  </a:txBody>
                  <a:tcPr marL="91440" marR="91440" marT="45720" marB="45720" anchor="ctr">
                    <a:solidFill>
                      <a:srgbClr val="DEEDE6"/>
                    </a:solidFill>
                  </a:tcPr>
                </a:tc>
                <a:tc>
                  <a:txBody>
                    <a:bodyPr lIns="123825" tIns="76200" rIns="123825" bIns="76200">
                      <a:noAutofit/>
                    </a:bodyPr>
                    <a:lstStyle/>
                    <a:p>
                      <a:r>
                        <a:rPr sz="2025" b="0">
                          <a:solidFill>
                            <a:srgbClr val="17343C"/>
                          </a:solidFill>
                          <a:latin typeface="Arial"/>
                          <a:ea typeface="Arial"/>
                          <a:cs typeface="Arial"/>
                        </a:rPr>
                        <a:t>5</a:t>
                      </a:r>
                    </a:p>
                  </a:txBody>
                  <a:tcPr marL="91440" marR="91440" marT="45720" marB="45720" anchor="ctr">
                    <a:solidFill>
                      <a:srgbClr val="F3EDCA"/>
                    </a:solidFill>
                  </a:tcPr>
                </a:tc>
              </a:tr>
            </a:tbl>
          </a:graphicData>
        </a:graphic>
      </p:graphicFrame>
      <p:sp>
        <p:nvSpPr>
          <p:cNvPr id="7" name="risk-anchors">
            <a:extLst xmlns:a="http://schemas.openxmlformats.org/drawingml/2006/main">
              <a:ext uri="{FF2B5EF4-FFF2-40B4-BE49-F238E27FC236}">
                <a16:creationId xmlns:a16="http://schemas.microsoft.com/office/drawing/2014/main" id="{40E04597-BC00-4036-A840-BB4C59D78CBD}"/>
              </a:ext>
            </a:extLst>
          </p:cNvPr>
          <p:cNvSpPr>
            <a:spLocks xmlns:a="http://schemas.openxmlformats.org/drawingml/2006/main" noGrp="1"/>
          </p:cNvSpPr>
          <p:nvPr/>
        </p:nvSpPr>
        <p:spPr>
          <a:xfrm xmlns:a="http://schemas.openxmlformats.org/drawingml/2006/main">
            <a:off x="647700" y="5353050"/>
            <a:ext cx="1089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343C"/>
                </a:solidFill>
                <a:latin typeface="Arial"/>
                <a:ea typeface="Arial"/>
                <a:cs typeface="Arial"/>
              </a:defRPr>
            </a:pPr>
            <a:r>
              <a:rPr sz="1875" b="0">
                <a:solidFill>
                  <a:srgbClr val="17343C"/>
                </a:solidFill>
                <a:latin typeface="Arial"/>
                <a:ea typeface="Arial"/>
                <a:cs typeface="Arial"/>
              </a:rPr>
              <a:t>Likelihood: 1 unlikely with proven controls, 3 plausible, 5 almost certain</a:t>
            </a:r>
          </a:p>
          <a:p xmlns:a="http://schemas.openxmlformats.org/drawingml/2006/main">
            <a:pPr algn="l">
              <a:defRPr sz="1875" b="0">
                <a:solidFill>
                  <a:srgbClr val="17343C"/>
                </a:solidFill>
                <a:latin typeface="Arial"/>
                <a:ea typeface="Arial"/>
                <a:cs typeface="Arial"/>
              </a:defRPr>
            </a:pPr>
            <a:r>
              <a:rPr sz="1875" b="0">
                <a:solidFill>
                  <a:srgbClr val="17343C"/>
                </a:solidFill>
                <a:latin typeface="Arial"/>
                <a:ea typeface="Arial"/>
                <a:cs typeface="Arial"/>
              </a:rPr>
              <a:t>Impact: 1 &lt;2 h, 3 =2–3 days, 5 &gt;7 days, missed deadline or data breach</a:t>
            </a:r>
          </a:p>
        </p:txBody>
      </p:sp>
      <p:sp>
        <p:nvSpPr>
          <p:cNvPr id="8" name="risk-caution">
            <a:extLst xmlns:a="http://schemas.openxmlformats.org/drawingml/2006/main">
              <a:ext uri="{FF2B5EF4-FFF2-40B4-BE49-F238E27FC236}">
                <a16:creationId xmlns:a16="http://schemas.microsoft.com/office/drawing/2014/main" id="{B6A9A93B-21DD-4ABB-8871-46C004F26419}"/>
              </a:ext>
            </a:extLst>
          </p:cNvPr>
          <p:cNvSpPr>
            <a:spLocks xmlns:a="http://schemas.openxmlformats.org/drawingml/2006/main" noGrp="1"/>
          </p:cNvSpPr>
          <p:nvPr/>
        </p:nvSpPr>
        <p:spPr>
          <a:xfrm xmlns:a="http://schemas.openxmlformats.org/drawingml/2006/main">
            <a:off x="647700" y="6191250"/>
            <a:ext cx="1089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264"/>
                </a:solidFill>
                <a:latin typeface="Arial"/>
                <a:ea typeface="Arial"/>
                <a:cs typeface="Arial"/>
              </a:defRPr>
            </a:pPr>
            <a:r>
              <a:rPr sz="1650" b="0">
                <a:solidFill>
                  <a:srgbClr val="526264"/>
                </a:solidFill>
                <a:latin typeface="Arial"/>
                <a:ea typeface="Arial"/>
                <a:cs typeface="Arial"/>
              </a:rPr>
              <a:t>Team-defined scoring bands. Scores rank attention; they are not percentages or cash loss.</a:t>
            </a:r>
          </a:p>
        </p:txBody>
      </p:sp>
    </p:spTree>
    <p:extLst>
      <p:ext uri="{BB962C8B-B14F-4D97-AF65-F5344CB8AC3E}">
        <p14:creationId xmlns:p14="http://schemas.microsoft.com/office/powerpoint/2010/main" val="1700422130"/>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53FD8F9-F0DA-4CAC-BD27-F593841F0803}"/>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Initial risk ratings</a:t>
            </a:r>
          </a:p>
        </p:txBody>
      </p:sp>
      <p:sp>
        <p:nvSpPr>
          <p:cNvPr id="2" name="page">
            <a:extLst xmlns:a="http://schemas.openxmlformats.org/drawingml/2006/main">
              <a:ext uri="{FF2B5EF4-FFF2-40B4-BE49-F238E27FC236}">
                <a16:creationId xmlns:a16="http://schemas.microsoft.com/office/drawing/2014/main" id="{DA1A0724-531F-46EC-9F9A-70153DFA8298}"/>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23</a:t>
            </a:r>
          </a:p>
        </p:txBody>
      </p:sp>
      <p:sp>
        <p:nvSpPr>
          <p:cNvPr id="3" name="source">
            <a:extLst xmlns:a="http://schemas.openxmlformats.org/drawingml/2006/main">
              <a:ext uri="{FF2B5EF4-FFF2-40B4-BE49-F238E27FC236}">
                <a16:creationId xmlns:a16="http://schemas.microsoft.com/office/drawing/2014/main" id="{4ACAA786-D2CE-4AB7-82FD-AD84BA81038A}"/>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[S17] [S18]</a:t>
            </a:r>
          </a:p>
        </p:txBody>
      </p:sp>
      <p:graphicFrame>
        <p:nvGraphicFramePr>
          <p:cNvPr id="9" name=""/>
          <p:cNvGraphicFramePr/>
          <p:nvPr/>
        </p:nvGraphicFramePr>
        <p:xfrm>
          <a:off xmlns:a="http://schemas.openxmlformats.org/drawingml/2006/main" x="647700" y="1476375"/>
          <a:ext xmlns:a="http://schemas.openxmlformats.org/drawingml/2006/main" cx="10896600" cy="4238625"/>
        </p:xfrm>
        <a:graphic xmlns:a="http://schemas.openxmlformats.org/drawingml/2006/main">
          <a:graphicData uri="http://schemas.openxmlformats.org/drawingml/2006/table">
            <a:tbl>
              <a:tblPr firstRow="0" firstCol="0" bandRow="0"/>
              <a:tblGrid>
                <a:gridCol w="5410200"/>
                <a:gridCol w="1133475"/>
                <a:gridCol w="895350"/>
                <a:gridCol w="1343025"/>
                <a:gridCol w="2114550"/>
              </a:tblGrid>
              <a:tr h="523875">
                <a:tc>
                  <a:txBody>
                    <a:bodyPr lIns="123825" tIns="76200" rIns="123825" bIns="76200">
                      <a:noAutofit/>
                    </a:bodyPr>
                    <a:lstStyle/>
                    <a:p>
                      <a:r>
                        <a:rPr sz="1875" b="1">
                          <a:solidFill>
                            <a:srgbClr val="FFFFFF"/>
                          </a:solidFill>
                          <a:latin typeface="Arial"/>
                          <a:ea typeface="Arial"/>
                          <a:cs typeface="Arial"/>
                        </a:rPr>
                        <a:t>Risk</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L × I</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Score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Owner</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Target score</a:t>
                      </a:r>
                    </a:p>
                  </a:txBody>
                  <a:tcPr marL="91440" marR="91440" marT="45720" marB="45720" anchor="ctr">
                    <a:solidFill>
                      <a:srgbClr val="17343C"/>
                    </a:solidFill>
                  </a:tcPr>
                </a:tc>
              </a:tr>
              <a:tr h="619125">
                <a:tc>
                  <a:txBody>
                    <a:bodyPr lIns="123825" tIns="76200" rIns="123825" bIns="76200">
                      <a:noAutofit/>
                    </a:bodyPr>
                    <a:lstStyle/>
                    <a:p>
                      <a:r>
                        <a:rPr sz="1800" b="0">
                          <a:solidFill>
                            <a:srgbClr val="17343C"/>
                          </a:solidFill>
                          <a:latin typeface="Arial"/>
                          <a:ea typeface="Arial"/>
                          <a:cs typeface="Arial"/>
                        </a:rPr>
                        <a:t>R1  KU baseline and access unconfirmed</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4 × 4</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16</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Zayed</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2 × 4 = 8</a:t>
                      </a:r>
                    </a:p>
                  </a:txBody>
                  <a:tcPr marL="91440" marR="91440" marT="45720" marB="45720" anchor="ctr">
                    <a:solidFill>
                      <a:srgbClr val="FAFAF7"/>
                    </a:solidFill>
                  </a:tcPr>
                </a:tc>
              </a:tr>
              <a:tr h="619125">
                <a:tc>
                  <a:txBody>
                    <a:bodyPr lIns="123825" tIns="76200" rIns="123825" bIns="76200">
                      <a:noAutofit/>
                    </a:bodyPr>
                    <a:lstStyle/>
                    <a:p>
                      <a:r>
                        <a:rPr sz="1800" b="0">
                          <a:solidFill>
                            <a:srgbClr val="17343C"/>
                          </a:solidFill>
                          <a:latin typeface="Arial"/>
                          <a:ea typeface="Arial"/>
                          <a:cs typeface="Arial"/>
                        </a:rPr>
                        <a:t>R2  AI recommends unsuitable items</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3 × 4</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12</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Ghaith</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2 × 4 = 8</a:t>
                      </a:r>
                    </a:p>
                  </a:txBody>
                  <a:tcPr marL="91440" marR="91440" marT="45720" marB="45720" anchor="ctr">
                    <a:solidFill>
                      <a:srgbClr val="F0F4F3"/>
                    </a:solidFill>
                  </a:tcPr>
                </a:tc>
              </a:tr>
              <a:tr h="619125">
                <a:tc>
                  <a:txBody>
                    <a:bodyPr lIns="123825" tIns="76200" rIns="123825" bIns="76200">
                      <a:noAutofit/>
                    </a:bodyPr>
                    <a:lstStyle/>
                    <a:p>
                      <a:r>
                        <a:rPr sz="1800" b="0">
                          <a:solidFill>
                            <a:srgbClr val="17343C"/>
                          </a:solidFill>
                          <a:latin typeface="Arial"/>
                          <a:ea typeface="Arial"/>
                          <a:cs typeface="Arial"/>
                        </a:rPr>
                        <a:t>R3  Restricted data or credentials exposed</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3 × 5</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15</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Ghaith</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1 × 5 = 5</a:t>
                      </a:r>
                    </a:p>
                  </a:txBody>
                  <a:tcPr marL="91440" marR="91440" marT="45720" marB="45720" anchor="ctr">
                    <a:solidFill>
                      <a:srgbClr val="FAFAF7"/>
                    </a:solidFill>
                  </a:tcPr>
                </a:tc>
              </a:tr>
              <a:tr h="619125">
                <a:tc>
                  <a:txBody>
                    <a:bodyPr lIns="123825" tIns="76200" rIns="123825" bIns="76200">
                      <a:noAutofit/>
                    </a:bodyPr>
                    <a:lstStyle/>
                    <a:p>
                      <a:r>
                        <a:rPr sz="1800" b="0">
                          <a:solidFill>
                            <a:srgbClr val="17343C"/>
                          </a:solidFill>
                          <a:latin typeface="Arial"/>
                          <a:ea typeface="Arial"/>
                          <a:cs typeface="Arial"/>
                        </a:rPr>
                        <a:t>R4  Duplicate work removes the benefit</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3 × 4</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12</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Zayed</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2 × 4 = 8</a:t>
                      </a:r>
                    </a:p>
                  </a:txBody>
                  <a:tcPr marL="91440" marR="91440" marT="45720" marB="45720" anchor="ctr">
                    <a:solidFill>
                      <a:srgbClr val="F0F4F3"/>
                    </a:solidFill>
                  </a:tcPr>
                </a:tc>
              </a:tr>
              <a:tr h="619125">
                <a:tc>
                  <a:txBody>
                    <a:bodyPr lIns="123825" tIns="76200" rIns="123825" bIns="76200">
                      <a:noAutofit/>
                    </a:bodyPr>
                    <a:lstStyle/>
                    <a:p>
                      <a:r>
                        <a:rPr sz="1800" b="0">
                          <a:solidFill>
                            <a:srgbClr val="17343C"/>
                          </a:solidFill>
                          <a:latin typeface="Arial"/>
                          <a:ea typeface="Arial"/>
                          <a:cs typeface="Arial"/>
                        </a:rPr>
                        <a:t>R5  Hosting or AI limits interrupt work</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3 × 3</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9</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Sultan</a:t>
                      </a:r>
                    </a:p>
                  </a:txBody>
                  <a:tcPr marL="91440" marR="91440" marT="45720" marB="45720" anchor="ctr">
                    <a:solidFill>
                      <a:srgbClr val="FAFAF7"/>
                    </a:solidFill>
                  </a:tcPr>
                </a:tc>
                <a:tc>
                  <a:txBody>
                    <a:bodyPr lIns="123825" tIns="76200" rIns="123825" bIns="76200">
                      <a:noAutofit/>
                    </a:bodyPr>
                    <a:lstStyle/>
                    <a:p>
                      <a:r>
                        <a:rPr sz="1800" b="0">
                          <a:solidFill>
                            <a:srgbClr val="17343C"/>
                          </a:solidFill>
                          <a:latin typeface="Arial"/>
                          <a:ea typeface="Arial"/>
                          <a:cs typeface="Arial"/>
                        </a:rPr>
                        <a:t>2 × 2 = 4</a:t>
                      </a:r>
                    </a:p>
                  </a:txBody>
                  <a:tcPr marL="91440" marR="91440" marT="45720" marB="45720" anchor="ctr">
                    <a:solidFill>
                      <a:srgbClr val="FAFAF7"/>
                    </a:solidFill>
                  </a:tcPr>
                </a:tc>
              </a:tr>
              <a:tr h="619125">
                <a:tc>
                  <a:txBody>
                    <a:bodyPr lIns="123825" tIns="76200" rIns="123825" bIns="76200">
                      <a:noAutofit/>
                    </a:bodyPr>
                    <a:lstStyle/>
                    <a:p>
                      <a:r>
                        <a:rPr sz="1800" b="0">
                          <a:solidFill>
                            <a:srgbClr val="17343C"/>
                          </a:solidFill>
                          <a:latin typeface="Arial"/>
                          <a:ea typeface="Arial"/>
                          <a:cs typeface="Arial"/>
                        </a:rPr>
                        <a:t>R6  Work exceeds available time</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3 × 5</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15</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Sultan</a:t>
                      </a:r>
                    </a:p>
                  </a:txBody>
                  <a:tcPr marL="91440" marR="91440" marT="45720" marB="45720" anchor="ctr">
                    <a:solidFill>
                      <a:srgbClr val="F0F4F3"/>
                    </a:solidFill>
                  </a:tcPr>
                </a:tc>
                <a:tc>
                  <a:txBody>
                    <a:bodyPr lIns="123825" tIns="76200" rIns="123825" bIns="76200">
                      <a:noAutofit/>
                    </a:bodyPr>
                    <a:lstStyle/>
                    <a:p>
                      <a:r>
                        <a:rPr sz="1800" b="0">
                          <a:solidFill>
                            <a:srgbClr val="17343C"/>
                          </a:solidFill>
                          <a:latin typeface="Arial"/>
                          <a:ea typeface="Arial"/>
                          <a:cs typeface="Arial"/>
                        </a:rPr>
                        <a:t>2 × 5 = 10</a:t>
                      </a:r>
                    </a:p>
                  </a:txBody>
                  <a:tcPr marL="91440" marR="91440" marT="45720" marB="45720" anchor="ctr">
                    <a:solidFill>
                      <a:srgbClr val="F0F4F3"/>
                    </a:solidFill>
                  </a:tcPr>
                </a:tc>
              </a:tr>
            </a:tbl>
          </a:graphicData>
        </a:graphic>
      </p:graphicFrame>
      <p:sp>
        <p:nvSpPr>
          <p:cNvPr id="5" name="risk-note">
            <a:extLst xmlns:a="http://schemas.openxmlformats.org/drawingml/2006/main">
              <a:ext uri="{FF2B5EF4-FFF2-40B4-BE49-F238E27FC236}">
                <a16:creationId xmlns:a16="http://schemas.microsoft.com/office/drawing/2014/main" id="{CF85ED1A-C5CC-463F-B6E3-8006AF0914E4}"/>
              </a:ext>
            </a:extLst>
          </p:cNvPr>
          <p:cNvSpPr>
            <a:spLocks xmlns:a="http://schemas.openxmlformats.org/drawingml/2006/main" noGrp="1"/>
          </p:cNvSpPr>
          <p:nvPr/>
        </p:nvSpPr>
        <p:spPr>
          <a:xfrm xmlns:a="http://schemas.openxmlformats.org/drawingml/2006/main">
            <a:off x="647700" y="5895975"/>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Ratings reflect unverified access, untested controls and uncertain capacity.</a:t>
            </a:r>
          </a:p>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Targets only apply after the control works. Review every impact-5 risk explicitly.</a:t>
            </a:r>
          </a:p>
        </p:txBody>
      </p:sp>
    </p:spTree>
    <p:extLst>
      <p:ext uri="{BB962C8B-B14F-4D97-AF65-F5344CB8AC3E}">
        <p14:creationId xmlns:p14="http://schemas.microsoft.com/office/powerpoint/2010/main" val="437547561"/>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77EA39-7163-4AEC-A199-7FE3574F2652}"/>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Risk responses: data, AI and access</a:t>
            </a:r>
          </a:p>
        </p:txBody>
      </p:sp>
      <p:sp>
        <p:nvSpPr>
          <p:cNvPr id="2" name="page">
            <a:extLst xmlns:a="http://schemas.openxmlformats.org/drawingml/2006/main">
              <a:ext uri="{FF2B5EF4-FFF2-40B4-BE49-F238E27FC236}">
                <a16:creationId xmlns:a16="http://schemas.microsoft.com/office/drawing/2014/main" id="{6C520283-B389-4E54-B898-9FE33251CD67}"/>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Ghaith  /  24</a:t>
            </a:r>
          </a:p>
        </p:txBody>
      </p:sp>
      <p:sp>
        <p:nvSpPr>
          <p:cNvPr id="3" name="source">
            <a:extLst xmlns:a="http://schemas.openxmlformats.org/drawingml/2006/main">
              <a:ext uri="{FF2B5EF4-FFF2-40B4-BE49-F238E27FC236}">
                <a16:creationId xmlns:a16="http://schemas.microsoft.com/office/drawing/2014/main" id="{8A5B51B7-1DDF-4D96-9C0A-B2DEC8273A67}"/>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[S17]</a:t>
            </a:r>
          </a:p>
        </p:txBody>
      </p:sp>
      <p:graphicFrame>
        <p:nvGraphicFramePr>
          <p:cNvPr id="8" name=""/>
          <p:cNvGraphicFramePr/>
          <p:nvPr/>
        </p:nvGraphicFramePr>
        <p:xfrm>
          <a:off xmlns:a="http://schemas.openxmlformats.org/drawingml/2006/main" x="647700" y="1628775"/>
          <a:ext xmlns:a="http://schemas.openxmlformats.org/drawingml/2006/main" cx="10896600" cy="4457700"/>
        </p:xfrm>
        <a:graphic xmlns:a="http://schemas.openxmlformats.org/drawingml/2006/main">
          <a:graphicData uri="http://schemas.openxmlformats.org/drawingml/2006/table">
            <a:tbl>
              <a:tblPr firstRow="0" firstCol="0" bandRow="0"/>
              <a:tblGrid>
                <a:gridCol w="2381250"/>
                <a:gridCol w="4162425"/>
                <a:gridCol w="4352925"/>
              </a:tblGrid>
              <a:tr h="561975">
                <a:tc>
                  <a:txBody>
                    <a:bodyPr lIns="123825" tIns="76200" rIns="123825" bIns="76200">
                      <a:noAutofit/>
                    </a:bodyPr>
                    <a:lstStyle/>
                    <a:p>
                      <a:r>
                        <a:rPr sz="1875" b="1">
                          <a:solidFill>
                            <a:srgbClr val="FFFFFF"/>
                          </a:solidFill>
                          <a:latin typeface="Arial"/>
                          <a:ea typeface="Arial"/>
                          <a:cs typeface="Arial"/>
                        </a:rPr>
                        <a:t>Risk / owner</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Mitigation before the event</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Trigger and contingency</a:t>
                      </a:r>
                    </a:p>
                  </a:txBody>
                  <a:tcPr marL="91440" marR="91440" marT="45720" marB="45720" anchor="ctr">
                    <a:solidFill>
                      <a:srgbClr val="17343C"/>
                    </a:solidFill>
                  </a:tcPr>
                </a:tc>
              </a:tr>
              <a:tr h="1257300">
                <a:tc>
                  <a:txBody>
                    <a:bodyPr lIns="123825" tIns="76200" rIns="123825" bIns="76200">
                      <a:noAutofit/>
                    </a:bodyPr>
                    <a:lstStyle/>
                    <a:p>
                      <a:r>
                        <a:rPr sz="1875" b="0">
                          <a:solidFill>
                            <a:srgbClr val="17343C"/>
                          </a:solidFill>
                          <a:latin typeface="Arial"/>
                          <a:ea typeface="Arial"/>
                          <a:cs typeface="Arial"/>
                        </a:rPr>
                        <a:t>R1  KU evidence</a:t>
                      </a:r>
                    </a:p>
                    <a:p>
                      <a:r>
                        <a:rPr sz="1875" b="0">
                          <a:solidFill>
                            <a:srgbClr val="17343C"/>
                          </a:solidFill>
                          <a:latin typeface="Arial"/>
                          <a:ea typeface="Arial"/>
                          <a:cs typeface="Arial"/>
                        </a:rPr>
                        <a:t>Zayed</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Arrange two interviews and a</a:t>
                      </a:r>
                    </a:p>
                    <a:p>
                      <a:r>
                        <a:rPr sz="1875" b="0">
                          <a:solidFill>
                            <a:srgbClr val="17343C"/>
                          </a:solidFill>
                          <a:latin typeface="Arial"/>
                          <a:ea typeface="Arial"/>
                          <a:cs typeface="Arial"/>
                        </a:rPr>
                        <a:t>permitted sample. Record the</a:t>
                      </a:r>
                    </a:p>
                    <a:p>
                      <a:r>
                        <a:rPr sz="1875" b="0">
                          <a:solidFill>
                            <a:srgbClr val="17343C"/>
                          </a:solidFill>
                          <a:latin typeface="Arial"/>
                          <a:ea typeface="Arial"/>
                          <a:cs typeface="Arial"/>
                        </a:rPr>
                        <a:t>current workflow.</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No baseline by evidence cut-off:</a:t>
                      </a:r>
                    </a:p>
                    <a:p>
                      <a:r>
                        <a:rPr sz="1875" b="0">
                          <a:solidFill>
                            <a:srgbClr val="17343C"/>
                          </a:solidFill>
                          <a:latin typeface="Arial"/>
                          <a:ea typeface="Arial"/>
                          <a:cs typeface="Arial"/>
                        </a:rPr>
                        <a:t>use labelled synthetic cases and</a:t>
                      </a:r>
                    </a:p>
                    <a:p>
                      <a:r>
                        <a:rPr sz="1875" b="0">
                          <a:solidFill>
                            <a:srgbClr val="17343C"/>
                          </a:solidFill>
                          <a:latin typeface="Arial"/>
                          <a:ea typeface="Arial"/>
                          <a:cs typeface="Arial"/>
                        </a:rPr>
                        <a:t>state KU benefit is unverified.</a:t>
                      </a:r>
                    </a:p>
                  </a:txBody>
                  <a:tcPr marL="91440" marR="91440" marT="45720" marB="45720" anchor="ctr">
                    <a:solidFill>
                      <a:srgbClr val="FAFAF7"/>
                    </a:solidFill>
                  </a:tcPr>
                </a:tc>
              </a:tr>
              <a:tr h="1257300">
                <a:tc>
                  <a:txBody>
                    <a:bodyPr lIns="123825" tIns="76200" rIns="123825" bIns="76200">
                      <a:noAutofit/>
                    </a:bodyPr>
                    <a:lstStyle/>
                    <a:p>
                      <a:r>
                        <a:rPr sz="1875" b="0">
                          <a:solidFill>
                            <a:srgbClr val="17343C"/>
                          </a:solidFill>
                          <a:latin typeface="Arial"/>
                          <a:ea typeface="Arial"/>
                          <a:cs typeface="Arial"/>
                        </a:rPr>
                        <a:t>R2  AI suitability</a:t>
                      </a:r>
                    </a:p>
                    <a:p>
                      <a:r>
                        <a:rPr sz="1875" b="0">
                          <a:solidFill>
                            <a:srgbClr val="17343C"/>
                          </a:solidFill>
                          <a:latin typeface="Arial"/>
                          <a:ea typeface="Arial"/>
                          <a:cs typeface="Arial"/>
                        </a:rPr>
                        <a:t>Ghaith</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Filter eligible items first.</a:t>
                      </a:r>
                    </a:p>
                    <a:p>
                      <a:r>
                        <a:rPr sz="1875" b="0">
                          <a:solidFill>
                            <a:srgbClr val="17343C"/>
                          </a:solidFill>
                          <a:latin typeface="Arial"/>
                          <a:ea typeface="Arial"/>
                          <a:cs typeface="Arial"/>
                        </a:rPr>
                        <a:t>Freeze labels and check results.</a:t>
                      </a:r>
                    </a:p>
                    <a:p>
                      <a:r>
                        <a:rPr sz="1875" b="0">
                          <a:solidFill>
                            <a:srgbClr val="17343C"/>
                          </a:solidFill>
                          <a:latin typeface="Arial"/>
                          <a:ea typeface="Arial"/>
                          <a:cs typeface="Arial"/>
                        </a:rPr>
                        <a:t>Keep staff review.</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Ineligible result or missed target:</a:t>
                      </a:r>
                    </a:p>
                    <a:p>
                      <a:r>
                        <a:rPr sz="1875" b="0">
                          <a:solidFill>
                            <a:srgbClr val="17343C"/>
                          </a:solidFill>
                          <a:latin typeface="Arial"/>
                          <a:ea typeface="Arial"/>
                          <a:cs typeface="Arial"/>
                        </a:rPr>
                        <a:t>use classic search, investigate</a:t>
                      </a:r>
                    </a:p>
                    <a:p>
                      <a:r>
                        <a:rPr sz="1875" b="0">
                          <a:solidFill>
                            <a:srgbClr val="17343C"/>
                          </a:solidFill>
                          <a:latin typeface="Arial"/>
                          <a:ea typeface="Arial"/>
                          <a:cs typeface="Arial"/>
                        </a:rPr>
                        <a:t>and retest AI.</a:t>
                      </a:r>
                    </a:p>
                  </a:txBody>
                  <a:tcPr marL="91440" marR="91440" marT="45720" marB="45720" anchor="ctr">
                    <a:solidFill>
                      <a:srgbClr val="F0F4F3"/>
                    </a:solidFill>
                  </a:tcPr>
                </a:tc>
              </a:tr>
              <a:tr h="1381125">
                <a:tc>
                  <a:txBody>
                    <a:bodyPr lIns="123825" tIns="76200" rIns="123825" bIns="76200">
                      <a:noAutofit/>
                    </a:bodyPr>
                    <a:lstStyle/>
                    <a:p>
                      <a:r>
                        <a:rPr sz="1875" b="0">
                          <a:solidFill>
                            <a:srgbClr val="17343C"/>
                          </a:solidFill>
                          <a:latin typeface="Arial"/>
                          <a:ea typeface="Arial"/>
                          <a:cs typeface="Arial"/>
                        </a:rPr>
                        <a:t>R3  Data exposure</a:t>
                      </a:r>
                    </a:p>
                    <a:p>
                      <a:r>
                        <a:rPr sz="1875" b="0">
                          <a:solidFill>
                            <a:srgbClr val="17343C"/>
                          </a:solidFill>
                          <a:latin typeface="Arial"/>
                          <a:ea typeface="Arial"/>
                          <a:cs typeface="Arial"/>
                        </a:rPr>
                        <a:t>Ghaith</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Use synthetic data and minimal</a:t>
                      </a:r>
                    </a:p>
                    <a:p>
                      <a:r>
                        <a:rPr sz="1875" b="0">
                          <a:solidFill>
                            <a:srgbClr val="17343C"/>
                          </a:solidFill>
                          <a:latin typeface="Arial"/>
                          <a:ea typeface="Arial"/>
                          <a:cs typeface="Arial"/>
                        </a:rPr>
                        <a:t>fields. Protect secrets and</a:t>
                      </a:r>
                    </a:p>
                    <a:p>
                      <a:r>
                        <a:rPr sz="1875" b="0">
                          <a:solidFill>
                            <a:srgbClr val="17343C"/>
                          </a:solidFill>
                          <a:latin typeface="Arial"/>
                          <a:ea typeface="Arial"/>
                          <a:cs typeface="Arial"/>
                        </a:rPr>
                        <a:t>test permissions.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Unauthorised access or key leak:</a:t>
                      </a:r>
                    </a:p>
                    <a:p>
                      <a:r>
                        <a:rPr sz="1875" b="0">
                          <a:solidFill>
                            <a:srgbClr val="17343C"/>
                          </a:solidFill>
                          <a:latin typeface="Arial"/>
                          <a:ea typeface="Arial"/>
                          <a:cs typeface="Arial"/>
                        </a:rPr>
                        <a:t>stop the route, revoke access</a:t>
                      </a:r>
                    </a:p>
                    <a:p>
                      <a:r>
                        <a:rPr sz="1875" b="0">
                          <a:solidFill>
                            <a:srgbClr val="17343C"/>
                          </a:solidFill>
                          <a:latin typeface="Arial"/>
                          <a:ea typeface="Arial"/>
                          <a:cs typeface="Arial"/>
                        </a:rPr>
                        <a:t>and involve the authorised owner.</a:t>
                      </a:r>
                    </a:p>
                  </a:txBody>
                  <a:tcPr marL="91440" marR="91440" marT="45720" marB="45720" anchor="ctr">
                    <a:solidFill>
                      <a:srgbClr val="FAFAF7"/>
                    </a:solidFill>
                  </a:tcPr>
                </a:tc>
              </a:tr>
            </a:tbl>
          </a:graphicData>
        </a:graphic>
      </p:graphicFrame>
    </p:spTree>
    <p:extLst>
      <p:ext uri="{BB962C8B-B14F-4D97-AF65-F5344CB8AC3E}">
        <p14:creationId xmlns:p14="http://schemas.microsoft.com/office/powerpoint/2010/main" val="312703195"/>
      </p:ext>
    </p:extLst>
  </p:cSld>
</p:sld>
</file>

<file path=ppt/slides/slide2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694AE1-49D4-4BD9-850C-A78F7E85091E}"/>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Risk responses: work, hosting and time</a:t>
            </a:r>
          </a:p>
        </p:txBody>
      </p:sp>
      <p:sp>
        <p:nvSpPr>
          <p:cNvPr id="2" name="page">
            <a:extLst xmlns:a="http://schemas.openxmlformats.org/drawingml/2006/main">
              <a:ext uri="{FF2B5EF4-FFF2-40B4-BE49-F238E27FC236}">
                <a16:creationId xmlns:a16="http://schemas.microsoft.com/office/drawing/2014/main" id="{40552072-22B3-469B-8D4A-DE9F29988D6D}"/>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25</a:t>
            </a:r>
          </a:p>
        </p:txBody>
      </p:sp>
      <p:sp>
        <p:nvSpPr>
          <p:cNvPr id="3" name="source">
            <a:extLst xmlns:a="http://schemas.openxmlformats.org/drawingml/2006/main">
              <a:ext uri="{FF2B5EF4-FFF2-40B4-BE49-F238E27FC236}">
                <a16:creationId xmlns:a16="http://schemas.microsoft.com/office/drawing/2014/main" id="{9EC9FCE8-B3F7-4C36-9B67-73ACDDE34277}"/>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[S17]</a:t>
            </a:r>
          </a:p>
        </p:txBody>
      </p:sp>
      <p:graphicFrame>
        <p:nvGraphicFramePr>
          <p:cNvPr id="8" name=""/>
          <p:cNvGraphicFramePr/>
          <p:nvPr/>
        </p:nvGraphicFramePr>
        <p:xfrm>
          <a:off xmlns:a="http://schemas.openxmlformats.org/drawingml/2006/main" x="647700" y="1571625"/>
          <a:ext xmlns:a="http://schemas.openxmlformats.org/drawingml/2006/main" cx="10896600" cy="4581525"/>
        </p:xfrm>
        <a:graphic xmlns:a="http://schemas.openxmlformats.org/drawingml/2006/main">
          <a:graphicData uri="http://schemas.openxmlformats.org/drawingml/2006/table">
            <a:tbl>
              <a:tblPr firstRow="0" firstCol="0" bandRow="0"/>
              <a:tblGrid>
                <a:gridCol w="2381250"/>
                <a:gridCol w="4162425"/>
                <a:gridCol w="4352925"/>
              </a:tblGrid>
              <a:tr h="561975">
                <a:tc>
                  <a:txBody>
                    <a:bodyPr lIns="123825" tIns="76200" rIns="123825" bIns="76200">
                      <a:noAutofit/>
                    </a:bodyPr>
                    <a:lstStyle/>
                    <a:p>
                      <a:r>
                        <a:rPr sz="1875" b="1">
                          <a:solidFill>
                            <a:srgbClr val="FFFFFF"/>
                          </a:solidFill>
                          <a:latin typeface="Arial"/>
                          <a:ea typeface="Arial"/>
                          <a:cs typeface="Arial"/>
                        </a:rPr>
                        <a:t>Risk / owner</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Mitigation before the event</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Trigger and contingency</a:t>
                      </a:r>
                    </a:p>
                  </a:txBody>
                  <a:tcPr marL="91440" marR="91440" marT="45720" marB="45720" anchor="ctr">
                    <a:solidFill>
                      <a:srgbClr val="17343C"/>
                    </a:solidFill>
                  </a:tcPr>
                </a:tc>
              </a:tr>
              <a:tr h="1381125">
                <a:tc>
                  <a:txBody>
                    <a:bodyPr lIns="123825" tIns="76200" rIns="123825" bIns="76200">
                      <a:noAutofit/>
                    </a:bodyPr>
                    <a:lstStyle/>
                    <a:p>
                      <a:r>
                        <a:rPr sz="1875" b="0">
                          <a:solidFill>
                            <a:srgbClr val="17343C"/>
                          </a:solidFill>
                          <a:latin typeface="Arial"/>
                          <a:ea typeface="Arial"/>
                          <a:cs typeface="Arial"/>
                        </a:rPr>
                        <a:t>R4  Extra work</a:t>
                      </a:r>
                    </a:p>
                    <a:p>
                      <a:r>
                        <a:rPr sz="1875" b="0">
                          <a:solidFill>
                            <a:srgbClr val="17343C"/>
                          </a:solidFill>
                          <a:latin typeface="Arial"/>
                          <a:ea typeface="Arial"/>
                          <a:cs typeface="Arial"/>
                        </a:rPr>
                        <a:t>Zayed</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Count the whole task, including</a:t>
                      </a:r>
                    </a:p>
                    <a:p>
                      <a:r>
                        <a:rPr sz="1875" b="0">
                          <a:solidFill>
                            <a:srgbClr val="17343C"/>
                          </a:solidFill>
                          <a:latin typeface="Arial"/>
                          <a:ea typeface="Arial"/>
                          <a:cs typeface="Arial"/>
                        </a:rPr>
                        <a:t>review, handover and</a:t>
                      </a:r>
                    </a:p>
                    <a:p>
                      <a:r>
                        <a:rPr sz="1875" b="0">
                          <a:solidFill>
                            <a:srgbClr val="17343C"/>
                          </a:solidFill>
                          <a:latin typeface="Arial"/>
                          <a:ea typeface="Arial"/>
                          <a:cs typeface="Arial"/>
                        </a:rPr>
                        <a:t>record reconciliation.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No effort benefit or staff reject it:</a:t>
                      </a:r>
                    </a:p>
                    <a:p>
                      <a:r>
                        <a:rPr sz="1875" b="0">
                          <a:solidFill>
                            <a:srgbClr val="17343C"/>
                          </a:solidFill>
                          <a:latin typeface="Arial"/>
                          <a:ea typeface="Arial"/>
                          <a:cs typeface="Arial"/>
                        </a:rPr>
                        <a:t>redesign around verified work</a:t>
                      </a:r>
                    </a:p>
                    <a:p>
                      <a:r>
                        <a:rPr sz="1875" b="0">
                          <a:solidFill>
                            <a:srgbClr val="17343C"/>
                          </a:solidFill>
                          <a:latin typeface="Arial"/>
                          <a:ea typeface="Arial"/>
                          <a:cs typeface="Arial"/>
                        </a:rPr>
                        <a:t>or reconsider an existing tool.</a:t>
                      </a:r>
                    </a:p>
                  </a:txBody>
                  <a:tcPr marL="91440" marR="91440" marT="45720" marB="45720" anchor="ctr">
                    <a:solidFill>
                      <a:srgbClr val="FAFAF7"/>
                    </a:solidFill>
                  </a:tcPr>
                </a:tc>
              </a:tr>
              <a:tr h="1381125">
                <a:tc>
                  <a:txBody>
                    <a:bodyPr lIns="123825" tIns="76200" rIns="123825" bIns="76200">
                      <a:noAutofit/>
                    </a:bodyPr>
                    <a:lstStyle/>
                    <a:p>
                      <a:r>
                        <a:rPr sz="1875" b="0">
                          <a:solidFill>
                            <a:srgbClr val="17343C"/>
                          </a:solidFill>
                          <a:latin typeface="Arial"/>
                          <a:ea typeface="Arial"/>
                          <a:cs typeface="Arial"/>
                        </a:rPr>
                        <a:t>R5  Service limits</a:t>
                      </a:r>
                    </a:p>
                    <a:p>
                      <a:r>
                        <a:rPr sz="1875" b="0">
                          <a:solidFill>
                            <a:srgbClr val="17343C"/>
                          </a:solidFill>
                          <a:latin typeface="Arial"/>
                          <a:ea typeface="Arial"/>
                          <a:cs typeface="Arial"/>
                        </a:rPr>
                        <a:t>Sultan</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Agree a cap. Measure usage.</a:t>
                      </a:r>
                    </a:p>
                    <a:p>
                      <a:r>
                        <a:rPr sz="1875" b="0">
                          <a:solidFill>
                            <a:srgbClr val="17343C"/>
                          </a:solidFill>
                          <a:latin typeface="Arial"/>
                          <a:ea typeface="Arial"/>
                          <a:cs typeface="Arial"/>
                        </a:rPr>
                        <a:t>Test storage, backup and</a:t>
                      </a:r>
                    </a:p>
                    <a:p>
                      <a:r>
                        <a:rPr sz="1875" b="0">
                          <a:solidFill>
                            <a:srgbClr val="17343C"/>
                          </a:solidFill>
                          <a:latin typeface="Arial"/>
                          <a:ea typeface="Arial"/>
                          <a:cs typeface="Arial"/>
                        </a:rPr>
                        <a:t>AI fallback.</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Failed service or cap exceeded:</a:t>
                      </a:r>
                    </a:p>
                    <a:p>
                      <a:r>
                        <a:rPr sz="1875" b="0">
                          <a:solidFill>
                            <a:srgbClr val="17343C"/>
                          </a:solidFill>
                          <a:latin typeface="Arial"/>
                          <a:ea typeface="Arial"/>
                          <a:cs typeface="Arial"/>
                        </a:rPr>
                        <a:t>recover or move to a tested option.</a:t>
                      </a:r>
                    </a:p>
                    <a:p>
                      <a:r>
                        <a:rPr sz="1875" b="0">
                          <a:solidFill>
                            <a:srgbClr val="17343C"/>
                          </a:solidFill>
                          <a:latin typeface="Arial"/>
                          <a:ea typeface="Arial"/>
                          <a:cs typeface="Arial"/>
                        </a:rPr>
                        <a:t>Local demo is only temporary.</a:t>
                      </a:r>
                    </a:p>
                  </a:txBody>
                  <a:tcPr marL="91440" marR="91440" marT="45720" marB="45720" anchor="ctr">
                    <a:solidFill>
                      <a:srgbClr val="F0F4F3"/>
                    </a:solidFill>
                  </a:tcPr>
                </a:tc>
              </a:tr>
              <a:tr h="1257300">
                <a:tc>
                  <a:txBody>
                    <a:bodyPr lIns="123825" tIns="76200" rIns="123825" bIns="76200">
                      <a:noAutofit/>
                    </a:bodyPr>
                    <a:lstStyle/>
                    <a:p>
                      <a:r>
                        <a:rPr sz="1875" b="0">
                          <a:solidFill>
                            <a:srgbClr val="17343C"/>
                          </a:solidFill>
                          <a:latin typeface="Arial"/>
                          <a:ea typeface="Arial"/>
                          <a:cs typeface="Arial"/>
                        </a:rPr>
                        <a:t>R6  Time shortage</a:t>
                      </a:r>
                    </a:p>
                    <a:p>
                      <a:r>
                        <a:rPr sz="1875" b="0">
                          <a:solidFill>
                            <a:srgbClr val="17343C"/>
                          </a:solidFill>
                          <a:latin typeface="Arial"/>
                          <a:ea typeface="Arial"/>
                          <a:cs typeface="Arial"/>
                        </a:rPr>
                        <a:t>Sultan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Confirm member hours and</a:t>
                      </a:r>
                    </a:p>
                    <a:p>
                      <a:r>
                        <a:rPr sz="1875" b="0">
                          <a:solidFill>
                            <a:srgbClr val="17343C"/>
                          </a:solidFill>
                          <a:latin typeface="Arial"/>
                          <a:ea typeface="Arial"/>
                          <a:cs typeface="Arial"/>
                        </a:rPr>
                        <a:t>dependencies. Integrate early</a:t>
                      </a:r>
                    </a:p>
                    <a:p>
                      <a:r>
                        <a:rPr sz="1875" b="0">
                          <a:solidFill>
                            <a:srgbClr val="17343C"/>
                          </a:solidFill>
                          <a:latin typeface="Arial"/>
                          <a:ea typeface="Arial"/>
                          <a:cs typeface="Arial"/>
                        </a:rPr>
                        <a:t>and review weekly.</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Work exceeds capacity:</a:t>
                      </a:r>
                    </a:p>
                    <a:p>
                      <a:r>
                        <a:rPr sz="1875" b="0">
                          <a:solidFill>
                            <a:srgbClr val="17343C"/>
                          </a:solidFill>
                          <a:latin typeface="Arial"/>
                          <a:ea typeface="Arial"/>
                          <a:cs typeface="Arial"/>
                        </a:rPr>
                        <a:t>redistribute and discuss any</a:t>
                      </a:r>
                    </a:p>
                    <a:p>
                      <a:r>
                        <a:rPr sz="1875" b="0">
                          <a:solidFill>
                            <a:srgbClr val="17343C"/>
                          </a:solidFill>
                          <a:latin typeface="Arial"/>
                          <a:ea typeface="Arial"/>
                          <a:cs typeface="Arial"/>
                        </a:rPr>
                        <a:t>scope change with the instructor.</a:t>
                      </a:r>
                    </a:p>
                  </a:txBody>
                  <a:tcPr marL="91440" marR="91440" marT="45720" marB="45720" anchor="ctr">
                    <a:solidFill>
                      <a:srgbClr val="FAFAF7"/>
                    </a:solidFill>
                  </a:tcPr>
                </a:tc>
              </a:tr>
            </a:tbl>
          </a:graphicData>
        </a:graphic>
      </p:graphicFrame>
    </p:spTree>
    <p:extLst>
      <p:ext uri="{BB962C8B-B14F-4D97-AF65-F5344CB8AC3E}">
        <p14:creationId xmlns:p14="http://schemas.microsoft.com/office/powerpoint/2010/main" val="865635445"/>
      </p:ext>
    </p:extLst>
  </p:cSld>
</p:sld>
</file>

<file path=ppt/slides/slide2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63EFFE2-F86F-42F3-BEC0-C4F773417282}"/>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Our decision and next actions</a:t>
            </a:r>
          </a:p>
        </p:txBody>
      </p:sp>
      <p:sp>
        <p:nvSpPr>
          <p:cNvPr id="2" name="page">
            <a:extLst xmlns:a="http://schemas.openxmlformats.org/drawingml/2006/main">
              <a:ext uri="{FF2B5EF4-FFF2-40B4-BE49-F238E27FC236}">
                <a16:creationId xmlns:a16="http://schemas.microsoft.com/office/drawing/2014/main" id="{8AFE41E9-345B-4706-BF6B-E7A3098C0D99}"/>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Sultan  /  26</a:t>
            </a:r>
          </a:p>
        </p:txBody>
      </p:sp>
      <p:sp>
        <p:nvSpPr>
          <p:cNvPr id="3" name="source">
            <a:extLst xmlns:a="http://schemas.openxmlformats.org/drawingml/2006/main">
              <a:ext uri="{FF2B5EF4-FFF2-40B4-BE49-F238E27FC236}">
                <a16:creationId xmlns:a16="http://schemas.microsoft.com/office/drawing/2014/main" id="{900AF13A-D9DA-4CD9-8251-D7F15A86056D}"/>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sp>
        <p:nvSpPr>
          <p:cNvPr id="4" name="final-decision">
            <a:extLst xmlns:a="http://schemas.openxmlformats.org/drawingml/2006/main">
              <a:ext uri="{FF2B5EF4-FFF2-40B4-BE49-F238E27FC236}">
                <a16:creationId xmlns:a16="http://schemas.microsoft.com/office/drawing/2014/main" id="{5C1D45BD-F86A-4BE9-BAC4-80881C5E93CD}"/>
              </a:ext>
            </a:extLst>
          </p:cNvPr>
          <p:cNvSpPr>
            <a:spLocks xmlns:a="http://schemas.openxmlformats.org/drawingml/2006/main" noGrp="1"/>
          </p:cNvSpPr>
          <p:nvPr/>
        </p:nvSpPr>
        <p:spPr>
          <a:xfrm xmlns:a="http://schemas.openxmlformats.org/drawingml/2006/main">
            <a:off x="647700" y="1457325"/>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6746D"/>
                </a:solidFill>
                <a:latin typeface="Arial"/>
                <a:ea typeface="Arial"/>
                <a:cs typeface="Arial"/>
              </a:defRPr>
            </a:pPr>
            <a:r>
              <a:rPr sz="2775" b="1">
                <a:solidFill>
                  <a:srgbClr val="26746D"/>
                </a:solidFill>
                <a:latin typeface="Arial"/>
                <a:ea typeface="Arial"/>
                <a:cs typeface="Arial"/>
              </a:rPr>
              <a:t>Proceed with the academic prototype investigation</a:t>
            </a:r>
          </a:p>
        </p:txBody>
      </p:sp>
      <p:graphicFrame>
        <p:nvGraphicFramePr>
          <p:cNvPr id="11" name=""/>
          <p:cNvGraphicFramePr/>
          <p:nvPr/>
        </p:nvGraphicFramePr>
        <p:xfrm>
          <a:off xmlns:a="http://schemas.openxmlformats.org/drawingml/2006/main" x="647700" y="2400300"/>
          <a:ext xmlns:a="http://schemas.openxmlformats.org/drawingml/2006/main" cx="10896600" cy="3105150"/>
        </p:xfrm>
        <a:graphic xmlns:a="http://schemas.openxmlformats.org/drawingml/2006/main">
          <a:graphicData uri="http://schemas.openxmlformats.org/drawingml/2006/table">
            <a:tbl>
              <a:tblPr firstRow="0" firstCol="0" bandRow="0"/>
              <a:tblGrid>
                <a:gridCol w="2295525"/>
                <a:gridCol w="8601075"/>
              </a:tblGrid>
              <a:tr h="533400">
                <a:tc>
                  <a:txBody>
                    <a:bodyPr lIns="123825" tIns="76200" rIns="123825" bIns="76200">
                      <a:noAutofit/>
                    </a:bodyPr>
                    <a:lstStyle/>
                    <a:p>
                      <a:r>
                        <a:rPr sz="1875" b="1">
                          <a:solidFill>
                            <a:srgbClr val="FFFFFF"/>
                          </a:solidFill>
                          <a:latin typeface="Arial"/>
                          <a:ea typeface="Arial"/>
                          <a:cs typeface="Arial"/>
                        </a:rPr>
                        <a:t>Lead</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Evidence to complete</a:t>
                      </a:r>
                    </a:p>
                  </a:txBody>
                  <a:tcPr marL="91440" marR="91440" marT="45720" marB="45720" anchor="ctr">
                    <a:solidFill>
                      <a:srgbClr val="17343C"/>
                    </a:solidFill>
                  </a:tcPr>
                </a:tc>
              </a:tr>
              <a:tr h="857250">
                <a:tc>
                  <a:txBody>
                    <a:bodyPr lIns="123825" tIns="76200" rIns="123825" bIns="76200">
                      <a:noAutofit/>
                    </a:bodyPr>
                    <a:lstStyle/>
                    <a:p>
                      <a:r>
                        <a:rPr sz="2100" b="0">
                          <a:solidFill>
                            <a:srgbClr val="17343C"/>
                          </a:solidFill>
                          <a:latin typeface="Arial"/>
                          <a:ea typeface="Arial"/>
                          <a:cs typeface="Arial"/>
                        </a:rPr>
                        <a:t>Zayed</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Two interviews, KU baseline, market fit and policy/owner confirmation</a:t>
                      </a:r>
                    </a:p>
                  </a:txBody>
                  <a:tcPr marL="91440" marR="91440" marT="45720" marB="45720" anchor="ctr">
                    <a:solidFill>
                      <a:srgbClr val="FAFAF7"/>
                    </a:solidFill>
                  </a:tcPr>
                </a:tc>
              </a:tr>
              <a:tr h="857250">
                <a:tc>
                  <a:txBody>
                    <a:bodyPr lIns="123825" tIns="76200" rIns="123825" bIns="76200">
                      <a:noAutofit/>
                    </a:bodyPr>
                    <a:lstStyle/>
                    <a:p>
                      <a:r>
                        <a:rPr sz="2100" b="0">
                          <a:solidFill>
                            <a:srgbClr val="17343C"/>
                          </a:solidFill>
                          <a:latin typeface="Arial"/>
                          <a:ea typeface="Arial"/>
                          <a:cs typeface="Arial"/>
                        </a:rPr>
                        <a:t>Ghaith</a:t>
                      </a:r>
                    </a:p>
                  </a:txBody>
                  <a:tcPr marL="91440" marR="91440" marT="45720" marB="45720" anchor="ctr">
                    <a:solidFill>
                      <a:srgbClr val="F0F4F3"/>
                    </a:solidFill>
                  </a:tcPr>
                </a:tc>
                <a:tc>
                  <a:txBody>
                    <a:bodyPr lIns="123825" tIns="76200" rIns="123825" bIns="76200">
                      <a:noAutofit/>
                    </a:bodyPr>
                    <a:lstStyle/>
                    <a:p>
                      <a:r>
                        <a:rPr sz="2100" b="0">
                          <a:solidFill>
                            <a:srgbClr val="17343C"/>
                          </a:solidFill>
                          <a:latin typeface="Arial"/>
                          <a:ea typeface="Arial"/>
                          <a:cs typeface="Arial"/>
                        </a:rPr>
                        <a:t>Technology checks, data/AI trial and access/fallback tests</a:t>
                      </a:r>
                    </a:p>
                  </a:txBody>
                  <a:tcPr marL="91440" marR="91440" marT="45720" marB="45720" anchor="ctr">
                    <a:solidFill>
                      <a:srgbClr val="F0F4F3"/>
                    </a:solidFill>
                  </a:tcPr>
                </a:tc>
              </a:tr>
              <a:tr h="857250">
                <a:tc>
                  <a:txBody>
                    <a:bodyPr lIns="123825" tIns="76200" rIns="123825" bIns="76200">
                      <a:noAutofit/>
                    </a:bodyPr>
                    <a:lstStyle/>
                    <a:p>
                      <a:r>
                        <a:rPr sz="2100" b="0">
                          <a:solidFill>
                            <a:srgbClr val="17343C"/>
                          </a:solidFill>
                          <a:latin typeface="Arial"/>
                          <a:ea typeface="Arial"/>
                          <a:cs typeface="Arial"/>
                        </a:rPr>
                        <a:t>Sultan</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Full costs, benefit assumptions, capacity and risk review</a:t>
                      </a:r>
                    </a:p>
                  </a:txBody>
                  <a:tcPr marL="91440" marR="91440" marT="45720" marB="45720" anchor="ctr">
                    <a:solidFill>
                      <a:srgbClr val="FAFAF7"/>
                    </a:solidFill>
                  </a:tcPr>
                </a:tc>
              </a:tr>
            </a:tbl>
          </a:graphicData>
        </a:graphic>
      </p:graphicFrame>
      <p:sp>
        <p:nvSpPr>
          <p:cNvPr id="6" name="adoption">
            <a:extLst xmlns:a="http://schemas.openxmlformats.org/drawingml/2006/main">
              <a:ext uri="{FF2B5EF4-FFF2-40B4-BE49-F238E27FC236}">
                <a16:creationId xmlns:a16="http://schemas.microsoft.com/office/drawing/2014/main" id="{3869BA60-392E-41D7-9BC0-0B309A68AAF9}"/>
              </a:ext>
            </a:extLst>
          </p:cNvPr>
          <p:cNvSpPr>
            <a:spLocks xmlns:a="http://schemas.openxmlformats.org/drawingml/2006/main" noGrp="1"/>
          </p:cNvSpPr>
          <p:nvPr/>
        </p:nvSpPr>
        <p:spPr>
          <a:xfrm xmlns:a="http://schemas.openxmlformats.org/drawingml/2006/main">
            <a:off x="647700" y="5924550"/>
            <a:ext cx="1089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343C"/>
                </a:solidFill>
                <a:latin typeface="Arial"/>
                <a:ea typeface="Arial"/>
                <a:cs typeface="Arial"/>
              </a:defRPr>
            </a:pPr>
            <a:r>
              <a:rPr sz="2175" b="1">
                <a:solidFill>
                  <a:srgbClr val="17343C"/>
                </a:solidFill>
                <a:latin typeface="Arial"/>
                <a:ea typeface="Arial"/>
                <a:cs typeface="Arial"/>
              </a:rPr>
              <a:t>KU adoption remains undecided until these findings support it.</a:t>
            </a:r>
          </a:p>
        </p:txBody>
      </p:sp>
    </p:spTree>
    <p:extLst>
      <p:ext uri="{BB962C8B-B14F-4D97-AF65-F5344CB8AC3E}">
        <p14:creationId xmlns:p14="http://schemas.microsoft.com/office/powerpoint/2010/main" val="1472253165"/>
      </p:ext>
    </p:extLst>
  </p:cSld>
</p:sld>
</file>

<file path=ppt/slides/slide2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4BC48CC5-608A-4E3D-858F-CA4220312495}"/>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Document quality and AI use</a:t>
            </a:r>
          </a:p>
        </p:txBody>
      </p:sp>
      <p:sp>
        <p:nvSpPr>
          <p:cNvPr id="2" name="page">
            <a:extLst xmlns:a="http://schemas.openxmlformats.org/drawingml/2006/main">
              <a:ext uri="{FF2B5EF4-FFF2-40B4-BE49-F238E27FC236}">
                <a16:creationId xmlns:a16="http://schemas.microsoft.com/office/drawing/2014/main" id="{8DF8DCF8-C886-4BB3-BC8B-B9DA76416520}"/>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Zayed  /  27</a:t>
            </a:r>
          </a:p>
        </p:txBody>
      </p:sp>
      <p:sp>
        <p:nvSpPr>
          <p:cNvPr id="3" name="source">
            <a:extLst xmlns:a="http://schemas.openxmlformats.org/drawingml/2006/main">
              <a:ext uri="{FF2B5EF4-FFF2-40B4-BE49-F238E27FC236}">
                <a16:creationId xmlns:a16="http://schemas.microsoft.com/office/drawing/2014/main" id="{F0051C08-9787-45D7-8846-7C83DD14EA4C}"/>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sp>
        <p:nvSpPr>
          <p:cNvPr id="4" name="left-title">
            <a:extLst xmlns:a="http://schemas.openxmlformats.org/drawingml/2006/main">
              <a:ext uri="{FF2B5EF4-FFF2-40B4-BE49-F238E27FC236}">
                <a16:creationId xmlns:a16="http://schemas.microsoft.com/office/drawing/2014/main" id="{2843154F-759E-4AAB-8222-359047E98FC5}"/>
              </a:ext>
            </a:extLst>
          </p:cNvPr>
          <p:cNvSpPr>
            <a:spLocks xmlns:a="http://schemas.openxmlformats.org/drawingml/2006/main" noGrp="1"/>
          </p:cNvSpPr>
          <p:nvPr/>
        </p:nvSpPr>
        <p:spPr>
          <a:xfrm xmlns:a="http://schemas.openxmlformats.org/drawingml/2006/main">
            <a:off x="647700" y="17430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Quality checks</a:t>
            </a:r>
          </a:p>
        </p:txBody>
      </p:sp>
      <p:sp>
        <p:nvSpPr>
          <p:cNvPr id="5" name="left-body">
            <a:extLst xmlns:a="http://schemas.openxmlformats.org/drawingml/2006/main">
              <a:ext uri="{FF2B5EF4-FFF2-40B4-BE49-F238E27FC236}">
                <a16:creationId xmlns:a16="http://schemas.microsoft.com/office/drawing/2014/main" id="{54975162-693F-4CDF-9600-B82749011F0F}"/>
              </a:ext>
            </a:extLst>
          </p:cNvPr>
          <p:cNvSpPr>
            <a:spLocks xmlns:a="http://schemas.openxmlformats.org/drawingml/2006/main" noGrp="1"/>
          </p:cNvSpPr>
          <p:nvPr/>
        </p:nvSpPr>
        <p:spPr>
          <a:xfrm xmlns:a="http://schemas.openxmlformats.org/drawingml/2006/main">
            <a:off x="647700" y="2390775"/>
            <a:ext cx="506730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Use one scope, set of names and source register.</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Match every figure in Word, charts and slides. Label assumptions and pending evidence.</a:t>
            </a:r>
          </a:p>
        </p:txBody>
      </p:sp>
      <p:sp>
        <p:nvSpPr>
          <p:cNvPr id="6" name="right-title">
            <a:extLst xmlns:a="http://schemas.openxmlformats.org/drawingml/2006/main">
              <a:ext uri="{FF2B5EF4-FFF2-40B4-BE49-F238E27FC236}">
                <a16:creationId xmlns:a16="http://schemas.microsoft.com/office/drawing/2014/main" id="{20EF0487-91B5-450C-BB16-3096EFF39000}"/>
              </a:ext>
            </a:extLst>
          </p:cNvPr>
          <p:cNvSpPr>
            <a:spLocks xmlns:a="http://schemas.openxmlformats.org/drawingml/2006/main" noGrp="1"/>
          </p:cNvSpPr>
          <p:nvPr/>
        </p:nvSpPr>
        <p:spPr>
          <a:xfrm xmlns:a="http://schemas.openxmlformats.org/drawingml/2006/main">
            <a:off x="6477000" y="17430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AI assistance</a:t>
            </a:r>
          </a:p>
        </p:txBody>
      </p:sp>
      <p:sp>
        <p:nvSpPr>
          <p:cNvPr id="7" name="right-body">
            <a:extLst xmlns:a="http://schemas.openxmlformats.org/drawingml/2006/main">
              <a:ext uri="{FF2B5EF4-FFF2-40B4-BE49-F238E27FC236}">
                <a16:creationId xmlns:a16="http://schemas.microsoft.com/office/drawing/2014/main" id="{36FDABBD-140A-459D-B38F-A104839904EB}"/>
              </a:ext>
            </a:extLst>
          </p:cNvPr>
          <p:cNvSpPr>
            <a:spLocks xmlns:a="http://schemas.openxmlformats.org/drawingml/2006/main" noGrp="1"/>
          </p:cNvSpPr>
          <p:nvPr/>
        </p:nvSpPr>
        <p:spPr>
          <a:xfrm xmlns:a="http://schemas.openxmlformats.org/drawingml/2006/main">
            <a:off x="6477000" y="2390775"/>
            <a:ext cx="5067300" cy="3133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Claude and Codex assisted drafting, research, calculations, formatting and visuals.</a:t>
            </a:r>
          </a:p>
          <a:p xmlns:a="http://schemas.openxmlformats.org/drawingml/2006/main">
            <a:r>
              <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The team must verify the work and explain it.</a:t>
            </a:r>
          </a:p>
        </p:txBody>
      </p:sp>
      <p:sp>
        <p:nvSpPr>
          <p:cNvPr id="8" name="takeaway">
            <a:extLst xmlns:a="http://schemas.openxmlformats.org/drawingml/2006/main">
              <a:ext uri="{FF2B5EF4-FFF2-40B4-BE49-F238E27FC236}">
                <a16:creationId xmlns:a16="http://schemas.microsoft.com/office/drawing/2014/main" id="{2FCE1217-2E2F-48E5-B07F-BEABCB8FE432}"/>
              </a:ext>
            </a:extLst>
          </p:cNvPr>
          <p:cNvSpPr>
            <a:spLocks xmlns:a="http://schemas.openxmlformats.org/drawingml/2006/main" noGrp="1"/>
          </p:cNvSpPr>
          <p:nvPr/>
        </p:nvSpPr>
        <p:spPr>
          <a:xfrm xmlns:a="http://schemas.openxmlformats.org/drawingml/2006/main">
            <a:off x="647700" y="5991225"/>
            <a:ext cx="1089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6746D"/>
                </a:solidFill>
                <a:latin typeface="Arial"/>
                <a:ea typeface="Arial"/>
                <a:cs typeface="Arial"/>
              </a:defRPr>
            </a:pPr>
            <a:r>
              <a:rPr sz="1950" b="1">
                <a:solidFill>
                  <a:srgbClr val="26746D"/>
                </a:solidFill>
                <a:latin typeface="Arial"/>
                <a:ea typeface="Arial"/>
                <a:cs typeface="Arial"/>
              </a:rPr>
              <a:t>AI text and visuals do not replace interviews, measurements or evidence</a:t>
            </a:r>
          </a:p>
        </p:txBody>
      </p:sp>
    </p:spTree>
    <p:extLst>
      <p:ext uri="{BB962C8B-B14F-4D97-AF65-F5344CB8AC3E}">
        <p14:creationId xmlns:p14="http://schemas.microsoft.com/office/powerpoint/2010/main" val="859924909"/>
      </p:ext>
    </p:extLst>
  </p:cSld>
</p:sld>
</file>

<file path=ppt/slides/slide2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1B98FE-287B-4872-93FB-27BCC821A836}"/>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References 1 of 3</a:t>
            </a:r>
          </a:p>
        </p:txBody>
      </p:sp>
      <p:sp>
        <p:nvSpPr>
          <p:cNvPr id="2" name="page">
            <a:extLst xmlns:a="http://schemas.openxmlformats.org/drawingml/2006/main">
              <a:ext uri="{FF2B5EF4-FFF2-40B4-BE49-F238E27FC236}">
                <a16:creationId xmlns:a16="http://schemas.microsoft.com/office/drawing/2014/main" id="{D2A8B891-F854-4E79-AA52-94FCE404E013}"/>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Team  /  28</a:t>
            </a:r>
          </a:p>
        </p:txBody>
      </p:sp>
      <p:sp>
        <p:nvSpPr>
          <p:cNvPr id="3" name="source">
            <a:extLst xmlns:a="http://schemas.openxmlformats.org/drawingml/2006/main">
              <a:ext uri="{FF2B5EF4-FFF2-40B4-BE49-F238E27FC236}">
                <a16:creationId xmlns:a16="http://schemas.microsoft.com/office/drawing/2014/main" id="{C80FD90B-A1AA-4C9E-A73D-C73422CC2DFE}"/>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 [S03] [S04] [S05] [S06] [S07] [S08]</a:t>
            </a:r>
          </a:p>
        </p:txBody>
      </p:sp>
      <p:graphicFrame>
        <p:nvGraphicFramePr>
          <p:cNvPr id="9" name=""/>
          <p:cNvGraphicFramePr/>
          <p:nvPr/>
        </p:nvGraphicFramePr>
        <p:xfrm>
          <a:off xmlns:a="http://schemas.openxmlformats.org/drawingml/2006/main" x="647700" y="1447800"/>
          <a:ext xmlns:a="http://schemas.openxmlformats.org/drawingml/2006/main" cx="10896600" cy="4619625"/>
        </p:xfrm>
        <a:graphic xmlns:a="http://schemas.openxmlformats.org/drawingml/2006/main">
          <a:graphicData uri="http://schemas.openxmlformats.org/drawingml/2006/table">
            <a:tbl>
              <a:tblPr firstRow="0" firstCol="0" bandRow="0"/>
              <a:tblGrid>
                <a:gridCol w="971550"/>
                <a:gridCol w="6219825"/>
                <a:gridCol w="3705225"/>
              </a:tblGrid>
              <a:tr h="504825">
                <a:tc>
                  <a:txBody>
                    <a:bodyPr lIns="123825" tIns="76200" rIns="123825" bIns="76200">
                      <a:noAutofit/>
                    </a:bodyPr>
                    <a:lstStyle/>
                    <a:p>
                      <a:r>
                        <a:rPr sz="1875" b="1">
                          <a:solidFill>
                            <a:srgbClr val="FFFFFF"/>
                          </a:solidFill>
                          <a:latin typeface="Arial"/>
                          <a:ea typeface="Arial"/>
                          <a:cs typeface="Arial"/>
                        </a:rPr>
                        <a:t>ID</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Source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Location</a:t>
                      </a:r>
                    </a:p>
                  </a:txBody>
                  <a:tcPr marL="91440" marR="91440" marT="45720" marB="45720" anchor="ctr">
                    <a:solidFill>
                      <a:srgbClr val="17343C"/>
                    </a:solidFill>
                  </a:tcPr>
                </a:tc>
              </a:tr>
              <a:tr h="514350">
                <a:tc>
                  <a:txBody>
                    <a:bodyPr lIns="123825" tIns="76200" rIns="123825" bIns="76200">
                      <a:noAutofit/>
                    </a:bodyPr>
                    <a:lstStyle/>
                    <a:p>
                      <a:r>
                        <a:rPr sz="1875" b="0">
                          <a:solidFill>
                            <a:srgbClr val="17343C"/>
                          </a:solidFill>
                          <a:latin typeface="Arial"/>
                          <a:ea typeface="Arial"/>
                          <a:cs typeface="Arial"/>
                        </a:rPr>
                        <a:t>S01</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Course description, page 7</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github.com</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S02</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Group 4 scope and success criteria</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github.com</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S03</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KU ISO certificates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ku.ac.ae</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S04</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Rheaply internal reuse</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rheaply.com</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S05</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Rheaply AI suggestions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support.rheaply.com</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S06</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Warp It product tour</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warp-it.co.uk</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S07</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Snipe-IT product and pricing</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snipeitapp.com</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S08</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UC Berkeley Rheaply showroom</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property.berkeley.edu</a:t>
                      </a:r>
                    </a:p>
                  </a:txBody>
                  <a:tcPr marL="91440" marR="91440" marT="45720" marB="45720" anchor="ctr">
                    <a:solidFill>
                      <a:srgbClr val="F0F4F3"/>
                    </a:solidFill>
                  </a:tcPr>
                </a:tc>
              </a:tr>
            </a:tbl>
          </a:graphicData>
        </a:graphic>
      </p:graphicFrame>
      <p:sp>
        <p:nvSpPr>
          <p:cNvPr id="5" name="ref-details">
            <a:extLst xmlns:a="http://schemas.openxmlformats.org/drawingml/2006/main">
              <a:ext uri="{FF2B5EF4-FFF2-40B4-BE49-F238E27FC236}">
                <a16:creationId xmlns:a16="http://schemas.microsoft.com/office/drawing/2014/main" id="{2363B72D-1600-4910-9A2C-DB9E1A1F92A2}"/>
              </a:ext>
            </a:extLst>
          </p:cNvPr>
          <p:cNvSpPr>
            <a:spLocks xmlns:a="http://schemas.openxmlformats.org/drawingml/2006/main" noGrp="1"/>
          </p:cNvSpPr>
          <p:nvPr/>
        </p:nvSpPr>
        <p:spPr>
          <a:xfrm xmlns:a="http://schemas.openxmlformats.org/drawingml/2006/main">
            <a:off x="647700" y="6124575"/>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Accessed 22 September 2026. Full links and claim coverage are in slide notes.</a:t>
            </a:r>
          </a:p>
        </p:txBody>
      </p:sp>
    </p:spTree>
    <p:extLst>
      <p:ext uri="{BB962C8B-B14F-4D97-AF65-F5344CB8AC3E}">
        <p14:creationId xmlns:p14="http://schemas.microsoft.com/office/powerpoint/2010/main" val="1826671119"/>
      </p:ext>
    </p:extLst>
  </p:cSld>
</p:sld>
</file>

<file path=ppt/slides/slide2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C116253-BB57-478D-8239-369F630907B0}"/>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References 2 of 3</a:t>
            </a:r>
          </a:p>
        </p:txBody>
      </p:sp>
      <p:sp>
        <p:nvSpPr>
          <p:cNvPr id="2" name="page">
            <a:extLst xmlns:a="http://schemas.openxmlformats.org/drawingml/2006/main">
              <a:ext uri="{FF2B5EF4-FFF2-40B4-BE49-F238E27FC236}">
                <a16:creationId xmlns:a16="http://schemas.microsoft.com/office/drawing/2014/main" id="{E7DB612E-E6C8-4CAB-A7F0-55FCB0DF5351}"/>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Team  /  29</a:t>
            </a:r>
          </a:p>
        </p:txBody>
      </p:sp>
      <p:sp>
        <p:nvSpPr>
          <p:cNvPr id="3" name="source">
            <a:extLst xmlns:a="http://schemas.openxmlformats.org/drawingml/2006/main">
              <a:ext uri="{FF2B5EF4-FFF2-40B4-BE49-F238E27FC236}">
                <a16:creationId xmlns:a16="http://schemas.microsoft.com/office/drawing/2014/main" id="{C8AB7785-6694-47C2-BD54-2825CBC56FB4}"/>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[S09] [S10] [S11] [S12] [S13] [S14] [S15] [S16]</a:t>
            </a:r>
          </a:p>
        </p:txBody>
      </p:sp>
      <p:graphicFrame>
        <p:nvGraphicFramePr>
          <p:cNvPr id="9" name=""/>
          <p:cNvGraphicFramePr/>
          <p:nvPr/>
        </p:nvGraphicFramePr>
        <p:xfrm>
          <a:off xmlns:a="http://schemas.openxmlformats.org/drawingml/2006/main" x="647700" y="1447800"/>
          <a:ext xmlns:a="http://schemas.openxmlformats.org/drawingml/2006/main" cx="10896600" cy="4619625"/>
        </p:xfrm>
        <a:graphic xmlns:a="http://schemas.openxmlformats.org/drawingml/2006/main">
          <a:graphicData uri="http://schemas.openxmlformats.org/drawingml/2006/table">
            <a:tbl>
              <a:tblPr firstRow="0" firstCol="0" bandRow="0"/>
              <a:tblGrid>
                <a:gridCol w="971550"/>
                <a:gridCol w="6219825"/>
                <a:gridCol w="3705225"/>
              </a:tblGrid>
              <a:tr h="504825">
                <a:tc>
                  <a:txBody>
                    <a:bodyPr lIns="123825" tIns="76200" rIns="123825" bIns="76200">
                      <a:noAutofit/>
                    </a:bodyPr>
                    <a:lstStyle/>
                    <a:p>
                      <a:r>
                        <a:rPr sz="1875" b="1">
                          <a:solidFill>
                            <a:srgbClr val="FFFFFF"/>
                          </a:solidFill>
                          <a:latin typeface="Arial"/>
                          <a:ea typeface="Arial"/>
                          <a:cs typeface="Arial"/>
                        </a:rPr>
                        <a:t>ID</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Source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Location</a:t>
                      </a:r>
                    </a:p>
                  </a:txBody>
                  <a:tcPr marL="91440" marR="91440" marT="45720" marB="45720" anchor="ctr">
                    <a:solidFill>
                      <a:srgbClr val="17343C"/>
                    </a:solidFill>
                  </a:tcPr>
                </a:tc>
              </a:tr>
              <a:tr h="514350">
                <a:tc>
                  <a:txBody>
                    <a:bodyPr lIns="123825" tIns="76200" rIns="123825" bIns="76200">
                      <a:noAutofit/>
                    </a:bodyPr>
                    <a:lstStyle/>
                    <a:p>
                      <a:r>
                        <a:rPr sz="1875" b="0">
                          <a:solidFill>
                            <a:srgbClr val="17343C"/>
                          </a:solidFill>
                          <a:latin typeface="Arial"/>
                          <a:ea typeface="Arial"/>
                          <a:cs typeface="Arial"/>
                        </a:rPr>
                        <a:t>S09</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Django framework and login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djangoproject.com</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S10</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PostgreSQL overview</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postgresql.org</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S11</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Railway pricing and billing</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docs.railway.com</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S12</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Render free services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render.com</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S13</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Neon official free-plan documentation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github.com</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S14</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CBUAE reference exchange rates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centralbank.ae</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S15</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Sharaf DG Samsung monitor listing</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uae.sharafdg.com</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S16</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NHS measurement and ROI, page 26</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england.nhs.uk</a:t>
                      </a:r>
                    </a:p>
                  </a:txBody>
                  <a:tcPr marL="91440" marR="91440" marT="45720" marB="45720" anchor="ctr">
                    <a:solidFill>
                      <a:srgbClr val="F0F4F3"/>
                    </a:solidFill>
                  </a:tcPr>
                </a:tc>
              </a:tr>
            </a:tbl>
          </a:graphicData>
        </a:graphic>
      </p:graphicFrame>
      <p:sp>
        <p:nvSpPr>
          <p:cNvPr id="5" name="ref-details">
            <a:extLst xmlns:a="http://schemas.openxmlformats.org/drawingml/2006/main">
              <a:ext uri="{FF2B5EF4-FFF2-40B4-BE49-F238E27FC236}">
                <a16:creationId xmlns:a16="http://schemas.microsoft.com/office/drawing/2014/main" id="{261E06FC-A293-4539-B8EC-65270AB4C738}"/>
              </a:ext>
            </a:extLst>
          </p:cNvPr>
          <p:cNvSpPr>
            <a:spLocks xmlns:a="http://schemas.openxmlformats.org/drawingml/2006/main" noGrp="1"/>
          </p:cNvSpPr>
          <p:nvPr/>
        </p:nvSpPr>
        <p:spPr>
          <a:xfrm xmlns:a="http://schemas.openxmlformats.org/drawingml/2006/main">
            <a:off x="647700" y="6124575"/>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Accessed 22 September 2026. Full links and claim coverage are in slide notes.</a:t>
            </a:r>
          </a:p>
        </p:txBody>
      </p:sp>
    </p:spTree>
    <p:extLst>
      <p:ext uri="{BB962C8B-B14F-4D97-AF65-F5344CB8AC3E}">
        <p14:creationId xmlns:p14="http://schemas.microsoft.com/office/powerpoint/2010/main" val="1818095207"/>
      </p:ext>
    </p:extLst>
  </p:cSld>
</p:sld>
</file>

<file path=ppt/slides/slide3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F8D76BE-4A25-441E-A3BB-B8656B704282}"/>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References 3 of 3</a:t>
            </a:r>
          </a:p>
        </p:txBody>
      </p:sp>
      <p:sp>
        <p:nvSpPr>
          <p:cNvPr id="2" name="page">
            <a:extLst xmlns:a="http://schemas.openxmlformats.org/drawingml/2006/main">
              <a:ext uri="{FF2B5EF4-FFF2-40B4-BE49-F238E27FC236}">
                <a16:creationId xmlns:a16="http://schemas.microsoft.com/office/drawing/2014/main" id="{2BD57585-B18F-47DB-A73C-543A5A9DB3D7}"/>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Team  /  30</a:t>
            </a:r>
          </a:p>
        </p:txBody>
      </p:sp>
      <p:sp>
        <p:nvSpPr>
          <p:cNvPr id="3" name="source">
            <a:extLst xmlns:a="http://schemas.openxmlformats.org/drawingml/2006/main">
              <a:ext uri="{FF2B5EF4-FFF2-40B4-BE49-F238E27FC236}">
                <a16:creationId xmlns:a16="http://schemas.microsoft.com/office/drawing/2014/main" id="{28F451C7-2AC4-4A6A-AD7E-D5DCEF01C7A4}"/>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[S17] [S18] [S19] [S20] [S21] [S22] [S23]</a:t>
            </a:r>
          </a:p>
        </p:txBody>
      </p:sp>
      <p:graphicFrame>
        <p:nvGraphicFramePr>
          <p:cNvPr id="9" name=""/>
          <p:cNvGraphicFramePr/>
          <p:nvPr/>
        </p:nvGraphicFramePr>
        <p:xfrm>
          <a:off xmlns:a="http://schemas.openxmlformats.org/drawingml/2006/main" x="647700" y="1447800"/>
          <a:ext xmlns:a="http://schemas.openxmlformats.org/drawingml/2006/main" cx="10896600" cy="4105275"/>
        </p:xfrm>
        <a:graphic xmlns:a="http://schemas.openxmlformats.org/drawingml/2006/main">
          <a:graphicData uri="http://schemas.openxmlformats.org/drawingml/2006/table">
            <a:tbl>
              <a:tblPr firstRow="0" firstCol="0" bandRow="0"/>
              <a:tblGrid>
                <a:gridCol w="971550"/>
                <a:gridCol w="6219825"/>
                <a:gridCol w="3705225"/>
              </a:tblGrid>
              <a:tr h="504825">
                <a:tc>
                  <a:txBody>
                    <a:bodyPr lIns="123825" tIns="76200" rIns="123825" bIns="76200">
                      <a:noAutofit/>
                    </a:bodyPr>
                    <a:lstStyle/>
                    <a:p>
                      <a:r>
                        <a:rPr sz="1875" b="1">
                          <a:solidFill>
                            <a:srgbClr val="FFFFFF"/>
                          </a:solidFill>
                          <a:latin typeface="Arial"/>
                          <a:ea typeface="Arial"/>
                          <a:cs typeface="Arial"/>
                        </a:rPr>
                        <a:t>ID</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Source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Location</a:t>
                      </a:r>
                    </a:p>
                  </a:txBody>
                  <a:tcPr marL="91440" marR="91440" marT="45720" marB="45720" anchor="ctr">
                    <a:solidFill>
                      <a:srgbClr val="17343C"/>
                    </a:solidFill>
                  </a:tcPr>
                </a:tc>
              </a:tr>
              <a:tr h="514350">
                <a:tc>
                  <a:txBody>
                    <a:bodyPr lIns="123825" tIns="76200" rIns="123825" bIns="76200">
                      <a:noAutofit/>
                    </a:bodyPr>
                    <a:lstStyle/>
                    <a:p>
                      <a:r>
                        <a:rPr sz="1875" b="0">
                          <a:solidFill>
                            <a:srgbClr val="17343C"/>
                          </a:solidFill>
                          <a:latin typeface="Arial"/>
                          <a:ea typeface="Arial"/>
                          <a:cs typeface="Arial"/>
                        </a:rPr>
                        <a:t>S17</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NASA SWE-086 risk management</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swehb.nasa.gov</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S18</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NIST IR 8286Ar1 risk analysis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tsapps.nist.gov</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S19</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NIST AI RMF Playbook: Measure</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airc.nist.gov</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S20</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Stanford ranked retrieval evaluation</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nlp.stanford.edu</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S21</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scikit-learn zero-one loss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scikit-learn.org</a:t>
                      </a:r>
                    </a:p>
                  </a:txBody>
                  <a:tcPr marL="91440" marR="91440" marT="45720" marB="45720" anchor="ctr">
                    <a:solidFill>
                      <a:srgbClr val="FAFAF7"/>
                    </a:solidFill>
                  </a:tcPr>
                </a:tc>
              </a:tr>
              <a:tr h="514350">
                <a:tc>
                  <a:txBody>
                    <a:bodyPr lIns="123825" tIns="76200" rIns="123825" bIns="76200">
                      <a:noAutofit/>
                    </a:bodyPr>
                    <a:lstStyle/>
                    <a:p>
                      <a:r>
                        <a:rPr sz="1875" b="0">
                          <a:solidFill>
                            <a:srgbClr val="17343C"/>
                          </a:solidFill>
                          <a:latin typeface="Arial"/>
                          <a:ea typeface="Arial"/>
                          <a:cs typeface="Arial"/>
                        </a:rPr>
                        <a:t>S22</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Act on Heat TELOS workflow</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actionheat.eu</a:t>
                      </a:r>
                    </a:p>
                  </a:txBody>
                  <a:tcPr marL="91440" marR="91440" marT="45720" marB="45720" anchor="ctr">
                    <a:solidFill>
                      <a:srgbClr val="F0F4F3"/>
                    </a:solidFill>
                  </a:tcPr>
                </a:tc>
              </a:tr>
              <a:tr h="514350">
                <a:tc>
                  <a:txBody>
                    <a:bodyPr lIns="123825" tIns="76200" rIns="123825" bIns="76200">
                      <a:noAutofit/>
                    </a:bodyPr>
                    <a:lstStyle/>
                    <a:p>
                      <a:r>
                        <a:rPr sz="1875" b="0">
                          <a:solidFill>
                            <a:srgbClr val="17343C"/>
                          </a:solidFill>
                          <a:latin typeface="Arial"/>
                          <a:ea typeface="Arial"/>
                          <a:cs typeface="Arial"/>
                        </a:rPr>
                        <a:t>S23</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Warp It UK pricing</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warp-it.co.uk</a:t>
                      </a:r>
                    </a:p>
                  </a:txBody>
                  <a:tcPr marL="91440" marR="91440" marT="45720" marB="45720" anchor="ctr">
                    <a:solidFill>
                      <a:srgbClr val="FAFAF7"/>
                    </a:solidFill>
                  </a:tcPr>
                </a:tc>
              </a:tr>
            </a:tbl>
          </a:graphicData>
        </a:graphic>
      </p:graphicFrame>
      <p:sp>
        <p:nvSpPr>
          <p:cNvPr id="5" name="ref-details">
            <a:extLst xmlns:a="http://schemas.openxmlformats.org/drawingml/2006/main">
              <a:ext uri="{FF2B5EF4-FFF2-40B4-BE49-F238E27FC236}">
                <a16:creationId xmlns:a16="http://schemas.microsoft.com/office/drawing/2014/main" id="{8812C545-91DA-44C6-832B-CBA95EEB262F}"/>
              </a:ext>
            </a:extLst>
          </p:cNvPr>
          <p:cNvSpPr>
            <a:spLocks xmlns:a="http://schemas.openxmlformats.org/drawingml/2006/main" noGrp="1"/>
          </p:cNvSpPr>
          <p:nvPr/>
        </p:nvSpPr>
        <p:spPr>
          <a:xfrm xmlns:a="http://schemas.openxmlformats.org/drawingml/2006/main">
            <a:off x="647700" y="6124575"/>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Accessed 22 September 2026. Full links and claim coverage are in slide notes.</a:t>
            </a:r>
          </a:p>
        </p:txBody>
      </p:sp>
    </p:spTree>
    <p:extLst>
      <p:ext uri="{BB962C8B-B14F-4D97-AF65-F5344CB8AC3E}">
        <p14:creationId xmlns:p14="http://schemas.microsoft.com/office/powerpoint/2010/main" val="780864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2026-09-22T12:08:12.5210000Z</dcterms:created>
  <dcterms:modified xsi:type="dcterms:W3CDTF">2026-09-22T12:08:12.5210000Z</dcterms:modified>
</coreProperties>
</file>