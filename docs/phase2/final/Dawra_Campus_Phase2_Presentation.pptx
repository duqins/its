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slides/charts/chart1.xml" ContentType="application/vnd.openxmlformats-officedocument.drawingml.chart+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slides/charts/chart2.xml" ContentType="application/vnd.openxmlformats-officedocument.drawingml.chart+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05083e268f7459a" /><Relationship Type="http://schemas.openxmlformats.org/officeDocument/2006/relationships/extended-properties" Target="/docProps/app.xml" Id="R32a1017236ee4274" /><Relationship Type="http://schemas.openxmlformats.org/officeDocument/2006/relationships/officeDocument" Target="/ppt/presentation.xml" Id="R3235b84cdb2b484a" /></Relationships>
</file>

<file path=ppt/presentation.xml><?xml version="1.0" encoding="utf-8"?>
<p:presentation xmlns:p="http://schemas.openxmlformats.org/presentationml/2006/main">
  <p:sldMasterIdLst>
    <p:sldMasterId xmlns:r="http://schemas.openxmlformats.org/officeDocument/2006/relationships" id="2147483648" r:id="R0b6d44989386450a"/>
  </p:sldMasterIdLst>
  <p:notesMasterIdLst>
    <p:notesMasterId xmlns:r="http://schemas.openxmlformats.org/officeDocument/2006/relationships" r:id="Ra27479795f894d85"/>
  </p:notesMasterIdLst>
  <p:sldIdLst>
    <p:sldId xmlns:r="http://schemas.openxmlformats.org/officeDocument/2006/relationships" id="256" r:id="R431f21b6314a4d92"/>
    <p:sldId xmlns:r="http://schemas.openxmlformats.org/officeDocument/2006/relationships" id="257" r:id="R0edfb085704241fe"/>
    <p:sldId xmlns:r="http://schemas.openxmlformats.org/officeDocument/2006/relationships" id="258" r:id="Rb9fbe41f3e124b57"/>
    <p:sldId xmlns:r="http://schemas.openxmlformats.org/officeDocument/2006/relationships" id="259" r:id="Ra7d5010b030d48c8"/>
    <p:sldId xmlns:r="http://schemas.openxmlformats.org/officeDocument/2006/relationships" id="260" r:id="Rf63edacdeb39489a"/>
    <p:sldId xmlns:r="http://schemas.openxmlformats.org/officeDocument/2006/relationships" id="261" r:id="Rd9f220f672b14de7"/>
    <p:sldId xmlns:r="http://schemas.openxmlformats.org/officeDocument/2006/relationships" id="262" r:id="R5190d87089254001"/>
    <p:sldId xmlns:r="http://schemas.openxmlformats.org/officeDocument/2006/relationships" id="263" r:id="R52dec2b00f8f46d6"/>
    <p:sldId xmlns:r="http://schemas.openxmlformats.org/officeDocument/2006/relationships" id="264" r:id="Rd6d9c02969e34022"/>
    <p:sldId xmlns:r="http://schemas.openxmlformats.org/officeDocument/2006/relationships" id="265" r:id="R2a3b9d7e6c2546ca"/>
    <p:sldId xmlns:r="http://schemas.openxmlformats.org/officeDocument/2006/relationships" id="266" r:id="Rcb3fbb9867b54a1f"/>
    <p:sldId xmlns:r="http://schemas.openxmlformats.org/officeDocument/2006/relationships" id="267" r:id="R070f655302614a22"/>
    <p:sldId xmlns:r="http://schemas.openxmlformats.org/officeDocument/2006/relationships" id="268" r:id="R298b04460ece408c"/>
    <p:sldId xmlns:r="http://schemas.openxmlformats.org/officeDocument/2006/relationships" id="269" r:id="R91099d5dad014943"/>
    <p:sldId xmlns:r="http://schemas.openxmlformats.org/officeDocument/2006/relationships" id="270" r:id="R9cf515619b3f41b8"/>
    <p:sldId xmlns:r="http://schemas.openxmlformats.org/officeDocument/2006/relationships" id="271" r:id="R9328c4d83c764439"/>
    <p:sldId xmlns:r="http://schemas.openxmlformats.org/officeDocument/2006/relationships" id="272" r:id="Reea3dbf6502f4b11"/>
    <p:sldId xmlns:r="http://schemas.openxmlformats.org/officeDocument/2006/relationships" id="273" r:id="Reb81fcd141e64b78"/>
    <p:sldId xmlns:r="http://schemas.openxmlformats.org/officeDocument/2006/relationships" id="274" r:id="R0c789afa95e84a33"/>
    <p:sldId xmlns:r="http://schemas.openxmlformats.org/officeDocument/2006/relationships" id="275" r:id="R6f6f17c681d4458c"/>
    <p:sldId xmlns:r="http://schemas.openxmlformats.org/officeDocument/2006/relationships" id="276" r:id="Ra40d6cf2adef4222"/>
    <p:sldId xmlns:r="http://schemas.openxmlformats.org/officeDocument/2006/relationships" id="277" r:id="R98182069897d4419"/>
    <p:sldId xmlns:r="http://schemas.openxmlformats.org/officeDocument/2006/relationships" id="278" r:id="R95c7e6dfd22344bf"/>
    <p:sldId xmlns:r="http://schemas.openxmlformats.org/officeDocument/2006/relationships" id="279" r:id="R8b14991a2559468b"/>
    <p:sldId xmlns:r="http://schemas.openxmlformats.org/officeDocument/2006/relationships" id="280" r:id="R64813a021fc7459b"/>
    <p:sldId xmlns:r="http://schemas.openxmlformats.org/officeDocument/2006/relationships" id="281" r:id="R2989c9f224844eed"/>
    <p:sldId xmlns:r="http://schemas.openxmlformats.org/officeDocument/2006/relationships" id="282" r:id="R5eb3a8029e2e4c13"/>
    <p:sldId xmlns:r="http://schemas.openxmlformats.org/officeDocument/2006/relationships" id="283" r:id="Rc6d15a22ca0a46c8"/>
    <p:sldId xmlns:r="http://schemas.openxmlformats.org/officeDocument/2006/relationships" id="284" r:id="R9856a6080c1349ca"/>
    <p:sldId xmlns:r="http://schemas.openxmlformats.org/officeDocument/2006/relationships" id="285" r:id="Rb9ebf9ffe7cc45e6"/>
    <p:sldId xmlns:r="http://schemas.openxmlformats.org/officeDocument/2006/relationships" id="286" r:id="R69922f88e4634b13"/>
    <p:sldId xmlns:r="http://schemas.openxmlformats.org/officeDocument/2006/relationships" id="287" r:id="R70c49318e3f24d53"/>
    <p:sldId xmlns:r="http://schemas.openxmlformats.org/officeDocument/2006/relationships" id="288" r:id="Rcef491d5eaf845d3"/>
    <p:sldId xmlns:r="http://schemas.openxmlformats.org/officeDocument/2006/relationships" id="289" r:id="R1af42d516ea04bea"/>
    <p:sldId xmlns:r="http://schemas.openxmlformats.org/officeDocument/2006/relationships" id="290" r:id="R3197389abc614896"/>
    <p:sldId xmlns:r="http://schemas.openxmlformats.org/officeDocument/2006/relationships" id="291" r:id="Rbf046a7efd874dc2"/>
    <p:sldId xmlns:r="http://schemas.openxmlformats.org/officeDocument/2006/relationships" id="292" r:id="R2dbc329b0e59419d"/>
    <p:sldId xmlns:r="http://schemas.openxmlformats.org/officeDocument/2006/relationships" id="293" r:id="R1f3b0b78c4e748c4"/>
    <p:sldId xmlns:r="http://schemas.openxmlformats.org/officeDocument/2006/relationships" id="294" r:id="R8ebf69a34540461e"/>
    <p:sldId xmlns:r="http://schemas.openxmlformats.org/officeDocument/2006/relationships" id="295" r:id="Rba3bde90884b4520"/>
    <p:sldId xmlns:r="http://schemas.openxmlformats.org/officeDocument/2006/relationships" id="296" r:id="Ra6b69ee6c70346a9"/>
    <p:sldId xmlns:r="http://schemas.openxmlformats.org/officeDocument/2006/relationships" id="297" r:id="R3e7b486945364971"/>
    <p:sldId xmlns:r="http://schemas.openxmlformats.org/officeDocument/2006/relationships" id="298" r:id="Rce45a4191a5d4f5c"/>
    <p:sldId xmlns:r="http://schemas.openxmlformats.org/officeDocument/2006/relationships" id="299" r:id="Rfa93a2fa397d4b27"/>
    <p:sldId xmlns:r="http://schemas.openxmlformats.org/officeDocument/2006/relationships" id="300" r:id="R377871ece9464599"/>
    <p:sldId xmlns:r="http://schemas.openxmlformats.org/officeDocument/2006/relationships" id="301" r:id="Rc8a443472dda4f31"/>
    <p:sldId xmlns:r="http://schemas.openxmlformats.org/officeDocument/2006/relationships" id="302" r:id="Re74e0dbd233140db"/>
    <p:sldId xmlns:r="http://schemas.openxmlformats.org/officeDocument/2006/relationships" id="303" r:id="Rd8c78ae450494838"/>
    <p:sldId xmlns:r="http://schemas.openxmlformats.org/officeDocument/2006/relationships" id="304" r:id="R5b75d0468a7b4ccc"/>
    <p:sldId xmlns:r="http://schemas.openxmlformats.org/officeDocument/2006/relationships" id="305" r:id="R9875d3f3623d468f"/>
    <p:sldId xmlns:r="http://schemas.openxmlformats.org/officeDocument/2006/relationships" id="306" r:id="R9d16a873764644e0"/>
    <p:sldId xmlns:r="http://schemas.openxmlformats.org/officeDocument/2006/relationships" id="307" r:id="R1fe3407829ed4a1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3b1f381667d421c" /><Relationship Type="http://schemas.openxmlformats.org/officeDocument/2006/relationships/slideMaster" Target="/ppt/slideMasters/slideMaster1.xml" Id="R0b6d44989386450a" /><Relationship Type="http://schemas.openxmlformats.org/officeDocument/2006/relationships/notesMaster" Target="/ppt/notesMasters/notesMaster1.xml" Id="Ra27479795f894d85" /><Relationship Type="http://schemas.openxmlformats.org/officeDocument/2006/relationships/presProps" Target="/ppt/presProps.xml" Id="R4367d5b62b794a5a" /><Relationship Type="http://schemas.openxmlformats.org/officeDocument/2006/relationships/tableStyles" Target="/ppt/tableStyles.xml" Id="Rc91209eb158b4846" /><Relationship Type="http://schemas.openxmlformats.org/officeDocument/2006/relationships/slide" Target="/ppt/slides/slide1.xml" Id="R431f21b6314a4d92" /><Relationship Type="http://schemas.openxmlformats.org/officeDocument/2006/relationships/slide" Target="/ppt/slides/slide2.xml" Id="R0edfb085704241fe" /><Relationship Type="http://schemas.openxmlformats.org/officeDocument/2006/relationships/slide" Target="/ppt/slides/slide3.xml" Id="Rb9fbe41f3e124b57" /><Relationship Type="http://schemas.openxmlformats.org/officeDocument/2006/relationships/slide" Target="/ppt/slides/slide4.xml" Id="Ra7d5010b030d48c8" /><Relationship Type="http://schemas.openxmlformats.org/officeDocument/2006/relationships/slide" Target="/ppt/slides/slide5.xml" Id="Rf63edacdeb39489a" /><Relationship Type="http://schemas.openxmlformats.org/officeDocument/2006/relationships/slide" Target="/ppt/slides/slide6.xml" Id="Rd9f220f672b14de7" /><Relationship Type="http://schemas.openxmlformats.org/officeDocument/2006/relationships/slide" Target="/ppt/slides/slide7.xml" Id="R5190d87089254001" /><Relationship Type="http://schemas.openxmlformats.org/officeDocument/2006/relationships/slide" Target="/ppt/slides/slide8.xml" Id="R52dec2b00f8f46d6" /><Relationship Type="http://schemas.openxmlformats.org/officeDocument/2006/relationships/slide" Target="/ppt/slides/slide9.xml" Id="Rd6d9c02969e34022" /><Relationship Type="http://schemas.openxmlformats.org/officeDocument/2006/relationships/slide" Target="/ppt/slides/slide10.xml" Id="R2a3b9d7e6c2546ca" /><Relationship Type="http://schemas.openxmlformats.org/officeDocument/2006/relationships/slide" Target="/ppt/slides/slide11.xml" Id="Rcb3fbb9867b54a1f" /><Relationship Type="http://schemas.openxmlformats.org/officeDocument/2006/relationships/slide" Target="/ppt/slides/slide12.xml" Id="R070f655302614a22" /><Relationship Type="http://schemas.openxmlformats.org/officeDocument/2006/relationships/slide" Target="/ppt/slides/slide13.xml" Id="R298b04460ece408c" /><Relationship Type="http://schemas.openxmlformats.org/officeDocument/2006/relationships/slide" Target="/ppt/slides/slide14.xml" Id="R91099d5dad014943" /><Relationship Type="http://schemas.openxmlformats.org/officeDocument/2006/relationships/slide" Target="/ppt/slides/slide15.xml" Id="R9cf515619b3f41b8" /><Relationship Type="http://schemas.openxmlformats.org/officeDocument/2006/relationships/slide" Target="/ppt/slides/slide16.xml" Id="R9328c4d83c764439" /><Relationship Type="http://schemas.openxmlformats.org/officeDocument/2006/relationships/slide" Target="/ppt/slides/slide17.xml" Id="Reea3dbf6502f4b11" /><Relationship Type="http://schemas.openxmlformats.org/officeDocument/2006/relationships/slide" Target="/ppt/slides/slide18.xml" Id="Reb81fcd141e64b78" /><Relationship Type="http://schemas.openxmlformats.org/officeDocument/2006/relationships/slide" Target="/ppt/slides/slide19.xml" Id="R0c789afa95e84a33" /><Relationship Type="http://schemas.openxmlformats.org/officeDocument/2006/relationships/slide" Target="/ppt/slides/slide20.xml" Id="R6f6f17c681d4458c" /><Relationship Type="http://schemas.openxmlformats.org/officeDocument/2006/relationships/slide" Target="/ppt/slides/slide21.xml" Id="Ra40d6cf2adef4222" /><Relationship Type="http://schemas.openxmlformats.org/officeDocument/2006/relationships/slide" Target="/ppt/slides/slide22.xml" Id="R98182069897d4419" /><Relationship Type="http://schemas.openxmlformats.org/officeDocument/2006/relationships/slide" Target="/ppt/slides/slide23.xml" Id="R95c7e6dfd22344bf" /><Relationship Type="http://schemas.openxmlformats.org/officeDocument/2006/relationships/slide" Target="/ppt/slides/slide24.xml" Id="R8b14991a2559468b" /><Relationship Type="http://schemas.openxmlformats.org/officeDocument/2006/relationships/slide" Target="/ppt/slides/slide25.xml" Id="R64813a021fc7459b" /><Relationship Type="http://schemas.openxmlformats.org/officeDocument/2006/relationships/slide" Target="/ppt/slides/slide26.xml" Id="R2989c9f224844eed" /><Relationship Type="http://schemas.openxmlformats.org/officeDocument/2006/relationships/slide" Target="/ppt/slides/slide27.xml" Id="R5eb3a8029e2e4c13" /><Relationship Type="http://schemas.openxmlformats.org/officeDocument/2006/relationships/slide" Target="/ppt/slides/slide28.xml" Id="Rc6d15a22ca0a46c8" /><Relationship Type="http://schemas.openxmlformats.org/officeDocument/2006/relationships/slide" Target="/ppt/slides/slide29.xml" Id="R9856a6080c1349ca" /><Relationship Type="http://schemas.openxmlformats.org/officeDocument/2006/relationships/slide" Target="/ppt/slides/slide30.xml" Id="Rb9ebf9ffe7cc45e6" /><Relationship Type="http://schemas.openxmlformats.org/officeDocument/2006/relationships/slide" Target="/ppt/slides/slide31.xml" Id="R69922f88e4634b13" /><Relationship Type="http://schemas.openxmlformats.org/officeDocument/2006/relationships/slide" Target="/ppt/slides/slide32.xml" Id="R70c49318e3f24d53" /><Relationship Type="http://schemas.openxmlformats.org/officeDocument/2006/relationships/slide" Target="/ppt/slides/slide33.xml" Id="Rcef491d5eaf845d3" /><Relationship Type="http://schemas.openxmlformats.org/officeDocument/2006/relationships/slide" Target="/ppt/slides/slide34.xml" Id="R1af42d516ea04bea" /><Relationship Type="http://schemas.openxmlformats.org/officeDocument/2006/relationships/slide" Target="/ppt/slides/slide35.xml" Id="R3197389abc614896" /><Relationship Type="http://schemas.openxmlformats.org/officeDocument/2006/relationships/slide" Target="/ppt/slides/slide36.xml" Id="Rbf046a7efd874dc2" /><Relationship Type="http://schemas.openxmlformats.org/officeDocument/2006/relationships/slide" Target="/ppt/slides/slide37.xml" Id="R2dbc329b0e59419d" /><Relationship Type="http://schemas.openxmlformats.org/officeDocument/2006/relationships/slide" Target="/ppt/slides/slide38.xml" Id="R1f3b0b78c4e748c4" /><Relationship Type="http://schemas.openxmlformats.org/officeDocument/2006/relationships/slide" Target="/ppt/slides/slide39.xml" Id="R8ebf69a34540461e" /><Relationship Type="http://schemas.openxmlformats.org/officeDocument/2006/relationships/slide" Target="/ppt/slides/slide40.xml" Id="Rba3bde90884b4520" /><Relationship Type="http://schemas.openxmlformats.org/officeDocument/2006/relationships/slide" Target="/ppt/slides/slide41.xml" Id="Ra6b69ee6c70346a9" /><Relationship Type="http://schemas.openxmlformats.org/officeDocument/2006/relationships/slide" Target="/ppt/slides/slide42.xml" Id="R3e7b486945364971" /><Relationship Type="http://schemas.openxmlformats.org/officeDocument/2006/relationships/slide" Target="/ppt/slides/slide43.xml" Id="Rce45a4191a5d4f5c" /><Relationship Type="http://schemas.openxmlformats.org/officeDocument/2006/relationships/slide" Target="/ppt/slides/slide44.xml" Id="Rfa93a2fa397d4b27" /><Relationship Type="http://schemas.openxmlformats.org/officeDocument/2006/relationships/slide" Target="/ppt/slides/slide45.xml" Id="R377871ece9464599" /><Relationship Type="http://schemas.openxmlformats.org/officeDocument/2006/relationships/slide" Target="/ppt/slides/slide46.xml" Id="Rc8a443472dda4f31" /><Relationship Type="http://schemas.openxmlformats.org/officeDocument/2006/relationships/slide" Target="/ppt/slides/slide47.xml" Id="Re74e0dbd233140db" /><Relationship Type="http://schemas.openxmlformats.org/officeDocument/2006/relationships/slide" Target="/ppt/slides/slide48.xml" Id="Rd8c78ae450494838" /><Relationship Type="http://schemas.openxmlformats.org/officeDocument/2006/relationships/slide" Target="/ppt/slides/slide49.xml" Id="R5b75d0468a7b4ccc" /><Relationship Type="http://schemas.openxmlformats.org/officeDocument/2006/relationships/slide" Target="/ppt/slides/slide50.xml" Id="R9875d3f3623d468f" /><Relationship Type="http://schemas.openxmlformats.org/officeDocument/2006/relationships/slide" Target="/ppt/slides/slide51.xml" Id="R9d16a873764644e0" /><Relationship Type="http://schemas.openxmlformats.org/officeDocument/2006/relationships/slide" Target="/ppt/slides/slide52.xml" Id="R1fe3407829ed4a1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242b606146b41f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846469e65b44b80" /><Relationship Type="http://schemas.openxmlformats.org/officeDocument/2006/relationships/notesMaster" Target="/ppt/notesMasters/notesMaster1.xml" Id="R44e7ac7dbe814961" /></Relationships>
</file>

<file path=ppt/notesSlides/_rels/notesSlide2.xml.rels>&#65279;<?xml version="1.0" encoding="utf-8"?><Relationships xmlns="http://schemas.openxmlformats.org/package/2006/relationships"><Relationship Type="http://schemas.openxmlformats.org/officeDocument/2006/relationships/slide" Target="/ppt/slides/slide2.xml" Id="R26f9a1c0134148da" /><Relationship Type="http://schemas.openxmlformats.org/officeDocument/2006/relationships/notesMaster" Target="/ppt/notesMasters/notesMaster1.xml" Id="Rd31dac567abd4ae3" /></Relationships>
</file>

<file path=ppt/notesSlides/_rels/notesSlide3.xml.rels>&#65279;<?xml version="1.0" encoding="utf-8"?><Relationships xmlns="http://schemas.openxmlformats.org/package/2006/relationships"><Relationship Type="http://schemas.openxmlformats.org/officeDocument/2006/relationships/slide" Target="/ppt/slides/slide3.xml" Id="R7cdd241c161c4d0e" /><Relationship Type="http://schemas.openxmlformats.org/officeDocument/2006/relationships/notesMaster" Target="/ppt/notesMasters/notesMaster1.xml" Id="Rca3fd4a6fa8e475b" /></Relationships>
</file>

<file path=ppt/notesSlides/_rels/notesSlide4.xml.rels>&#65279;<?xml version="1.0" encoding="utf-8"?><Relationships xmlns="http://schemas.openxmlformats.org/package/2006/relationships"><Relationship Type="http://schemas.openxmlformats.org/officeDocument/2006/relationships/slide" Target="/ppt/slides/slide4.xml" Id="Re66a805ed3fc4b86" /><Relationship Type="http://schemas.openxmlformats.org/officeDocument/2006/relationships/notesMaster" Target="/ppt/notesMasters/notesMaster1.xml" Id="R1a0182493a7840a5" /></Relationships>
</file>

<file path=ppt/notesSlides/_rels/notesSlide5.xml.rels>&#65279;<?xml version="1.0" encoding="utf-8"?><Relationships xmlns="http://schemas.openxmlformats.org/package/2006/relationships"><Relationship Type="http://schemas.openxmlformats.org/officeDocument/2006/relationships/slide" Target="/ppt/slides/slide5.xml" Id="R8461864cfa0d4423" /><Relationship Type="http://schemas.openxmlformats.org/officeDocument/2006/relationships/notesMaster" Target="/ppt/notesMasters/notesMaster1.xml" Id="Ra20188405c5547c3" /></Relationships>
</file>

<file path=ppt/notesSlides/_rels/notesSlide6.xml.rels>&#65279;<?xml version="1.0" encoding="utf-8"?><Relationships xmlns="http://schemas.openxmlformats.org/package/2006/relationships"><Relationship Type="http://schemas.openxmlformats.org/officeDocument/2006/relationships/slide" Target="/ppt/slides/slide6.xml" Id="Rc5cd294a2d83483c" /><Relationship Type="http://schemas.openxmlformats.org/officeDocument/2006/relationships/notesMaster" Target="/ppt/notesMasters/notesMaster1.xml" Id="Rff2fbc0693ae479b" /></Relationships>
</file>

<file path=ppt/notesSlides/_rels/notesSlide7.xml.rels>&#65279;<?xml version="1.0" encoding="utf-8"?><Relationships xmlns="http://schemas.openxmlformats.org/package/2006/relationships"><Relationship Type="http://schemas.openxmlformats.org/officeDocument/2006/relationships/slide" Target="/ppt/slides/slide7.xml" Id="R7957dbcf2d744dc3" /><Relationship Type="http://schemas.openxmlformats.org/officeDocument/2006/relationships/notesMaster" Target="/ppt/notesMasters/notesMaster1.xml" Id="R758121a4f8724170" /></Relationships>
</file>

<file path=ppt/notesSlides/_rels/notesSlide8.xml.rels>&#65279;<?xml version="1.0" encoding="utf-8"?><Relationships xmlns="http://schemas.openxmlformats.org/package/2006/relationships"><Relationship Type="http://schemas.openxmlformats.org/officeDocument/2006/relationships/slide" Target="/ppt/slides/slide8.xml" Id="Rf9601ff18d0e4953" /><Relationship Type="http://schemas.openxmlformats.org/officeDocument/2006/relationships/notesMaster" Target="/ppt/notesMasters/notesMaster1.xml" Id="R2c818813305e48a5" /></Relationships>
</file>

<file path=ppt/notesSlides/_rels/notesSlide9.xml.rels>&#65279;<?xml version="1.0" encoding="utf-8"?><Relationships xmlns="http://schemas.openxmlformats.org/package/2006/relationships"><Relationship Type="http://schemas.openxmlformats.org/officeDocument/2006/relationships/slide" Target="/ppt/slides/slide9.xml" Id="Rd823ba0632e9493d" /><Relationship Type="http://schemas.openxmlformats.org/officeDocument/2006/relationships/notesMaster" Target="/ppt/notesMasters/notesMaster1.xml" Id="R5699bae4adc144b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761485e698b4fab" /><Relationship Type="http://schemas.openxmlformats.org/officeDocument/2006/relationships/notesMaster" Target="/ppt/notesMasters/notesMaster1.xml" Id="Re799635fdcfc4de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10a0ddbda0b4c6b" /><Relationship Type="http://schemas.openxmlformats.org/officeDocument/2006/relationships/notesMaster" Target="/ppt/notesMasters/notesMaster1.xml" Id="Rd9ced8e85d9143d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0534c85792e4847" /><Relationship Type="http://schemas.openxmlformats.org/officeDocument/2006/relationships/notesMaster" Target="/ppt/notesMasters/notesMaster1.xml" Id="Rac85c668116b48e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8dead68c41e4b1f" /><Relationship Type="http://schemas.openxmlformats.org/officeDocument/2006/relationships/notesMaster" Target="/ppt/notesMasters/notesMaster1.xml" Id="R44901df241ad4db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5e4f279a2b24d86" /><Relationship Type="http://schemas.openxmlformats.org/officeDocument/2006/relationships/notesMaster" Target="/ppt/notesMasters/notesMaster1.xml" Id="R259e255e441849e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341fff63ba24cac" /><Relationship Type="http://schemas.openxmlformats.org/officeDocument/2006/relationships/notesMaster" Target="/ppt/notesMasters/notesMaster1.xml" Id="R398b3430cf4d46a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41c21a2eb5142ee" /><Relationship Type="http://schemas.openxmlformats.org/officeDocument/2006/relationships/notesMaster" Target="/ppt/notesMasters/notesMaster1.xml" Id="R86987d769acd438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4b4bc3083f0421c" /><Relationship Type="http://schemas.openxmlformats.org/officeDocument/2006/relationships/notesMaster" Target="/ppt/notesMasters/notesMaster1.xml" Id="R29abf3af78264f8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89f3051a0744781" /><Relationship Type="http://schemas.openxmlformats.org/officeDocument/2006/relationships/notesMaster" Target="/ppt/notesMasters/notesMaster1.xml" Id="Rd2de1842b830486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406988fec8a44a5" /><Relationship Type="http://schemas.openxmlformats.org/officeDocument/2006/relationships/notesMaster" Target="/ppt/notesMasters/notesMaster1.xml" Id="Re0d0e0aecc4d4c8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8a737ea7c744bb4" /><Relationship Type="http://schemas.openxmlformats.org/officeDocument/2006/relationships/notesMaster" Target="/ppt/notesMasters/notesMaster1.xml" Id="Rb14a17c1c7824bf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8a03ccca5dc4b6c" /><Relationship Type="http://schemas.openxmlformats.org/officeDocument/2006/relationships/notesMaster" Target="/ppt/notesMasters/notesMaster1.xml" Id="R40aa70d6383c491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c5e1d91880540bc" /><Relationship Type="http://schemas.openxmlformats.org/officeDocument/2006/relationships/notesMaster" Target="/ppt/notesMasters/notesMaster1.xml" Id="Rfac72c1648264a5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0b8a1ede04c4528" /><Relationship Type="http://schemas.openxmlformats.org/officeDocument/2006/relationships/notesMaster" Target="/ppt/notesMasters/notesMaster1.xml" Id="R8d6e0b23a2fc4f2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30a7e9d00d54229" /><Relationship Type="http://schemas.openxmlformats.org/officeDocument/2006/relationships/notesMaster" Target="/ppt/notesMasters/notesMaster1.xml" Id="Rfd689bd729ac4a9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e99419ce5594467" /><Relationship Type="http://schemas.openxmlformats.org/officeDocument/2006/relationships/notesMaster" Target="/ppt/notesMasters/notesMaster1.xml" Id="R26cf740cf1b0432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d03e786529b43e2" /><Relationship Type="http://schemas.openxmlformats.org/officeDocument/2006/relationships/notesMaster" Target="/ppt/notesMasters/notesMaster1.xml" Id="R4dd691fa6a844de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406e1e3eed1438e" /><Relationship Type="http://schemas.openxmlformats.org/officeDocument/2006/relationships/notesMaster" Target="/ppt/notesMasters/notesMaster1.xml" Id="R77fbab241760443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c0e6ba11ba24164" /><Relationship Type="http://schemas.openxmlformats.org/officeDocument/2006/relationships/notesMaster" Target="/ppt/notesMasters/notesMaster1.xml" Id="Rf842c6f7afad442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66c6d5307de4c3e" /><Relationship Type="http://schemas.openxmlformats.org/officeDocument/2006/relationships/notesMaster" Target="/ppt/notesMasters/notesMaster1.xml" Id="Rc52f0fdfe7f641d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8a00addd5e44ac1" /><Relationship Type="http://schemas.openxmlformats.org/officeDocument/2006/relationships/notesMaster" Target="/ppt/notesMasters/notesMaster1.xml" Id="R633421d66f73490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166137f3cc249d7" /><Relationship Type="http://schemas.openxmlformats.org/officeDocument/2006/relationships/notesMaster" Target="/ppt/notesMasters/notesMaster1.xml" Id="Rdbb819796f3b43c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878e94ff8f84e0b" /><Relationship Type="http://schemas.openxmlformats.org/officeDocument/2006/relationships/notesMaster" Target="/ppt/notesMasters/notesMaster1.xml" Id="Re1721e12d1a34d2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a59e87325524b78" /><Relationship Type="http://schemas.openxmlformats.org/officeDocument/2006/relationships/notesMaster" Target="/ppt/notesMasters/notesMaster1.xml" Id="R3d70bf7cd47847b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cd2dbc31be44555" /><Relationship Type="http://schemas.openxmlformats.org/officeDocument/2006/relationships/notesMaster" Target="/ppt/notesMasters/notesMaster1.xml" Id="R19910593fa2f428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e6816c0ab61411f" /><Relationship Type="http://schemas.openxmlformats.org/officeDocument/2006/relationships/notesMaster" Target="/ppt/notesMasters/notesMaster1.xml" Id="R41082bb3be53479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e2fa297e79542d1" /><Relationship Type="http://schemas.openxmlformats.org/officeDocument/2006/relationships/notesMaster" Target="/ppt/notesMasters/notesMaster1.xml" Id="R953f3f23aaed4ff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b52de7bf8984964" /><Relationship Type="http://schemas.openxmlformats.org/officeDocument/2006/relationships/notesMaster" Target="/ppt/notesMasters/notesMaster1.xml" Id="R996fa76ef26844c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db5b4a56ea84c62" /><Relationship Type="http://schemas.openxmlformats.org/officeDocument/2006/relationships/notesMaster" Target="/ppt/notesMasters/notesMaster1.xml" Id="Rb7f4f8513c7c432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ecde4defd8e418e" /><Relationship Type="http://schemas.openxmlformats.org/officeDocument/2006/relationships/notesMaster" Target="/ppt/notesMasters/notesMaster1.xml" Id="R6bd2c574d526408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ff894fe67fd4a2c" /><Relationship Type="http://schemas.openxmlformats.org/officeDocument/2006/relationships/notesMaster" Target="/ppt/notesMasters/notesMaster1.xml" Id="R78e73c4648dd459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dad5a49726c435d" /><Relationship Type="http://schemas.openxmlformats.org/officeDocument/2006/relationships/notesMaster" Target="/ppt/notesMasters/notesMaster1.xml" Id="R59422f082ef34e1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0fad91f3c2784ad4" /><Relationship Type="http://schemas.openxmlformats.org/officeDocument/2006/relationships/notesMaster" Target="/ppt/notesMasters/notesMaster1.xml" Id="Ra9578ccbe9154eb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28f331a4a0044b27" /><Relationship Type="http://schemas.openxmlformats.org/officeDocument/2006/relationships/notesMaster" Target="/ppt/notesMasters/notesMaster1.xml" Id="R3cfb2ab4bc25447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45a076bc47848c9" /><Relationship Type="http://schemas.openxmlformats.org/officeDocument/2006/relationships/notesMaster" Target="/ppt/notesMasters/notesMaster1.xml" Id="R35a34c4d43224b4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8a41fa84a9c4d3d" /><Relationship Type="http://schemas.openxmlformats.org/officeDocument/2006/relationships/notesMaster" Target="/ppt/notesMasters/notesMaster1.xml" Id="Rb2019dd64302461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6495bc75cf244a6" /><Relationship Type="http://schemas.openxmlformats.org/officeDocument/2006/relationships/notesMaster" Target="/ppt/notesMasters/notesMaster1.xml" Id="Rfe02d2068859425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c2b44e0b0ad4f0f" /><Relationship Type="http://schemas.openxmlformats.org/officeDocument/2006/relationships/notesMaster" Target="/ppt/notesMasters/notesMaster1.xml" Id="R4879c81f90c64f5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4e725e4f07845f4" /><Relationship Type="http://schemas.openxmlformats.org/officeDocument/2006/relationships/notesMaster" Target="/ppt/notesMasters/notesMaster1.xml" Id="R45f3e1b7b68444e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1b900f1fb5d4b77" /><Relationship Type="http://schemas.openxmlformats.org/officeDocument/2006/relationships/notesMaster" Target="/ppt/notesMasters/notesMaster1.xml" Id="R7ebc5f7b29fc407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7445066e02f403f" /><Relationship Type="http://schemas.openxmlformats.org/officeDocument/2006/relationships/notesMaster" Target="/ppt/notesMasters/notesMaster1.xml" Id="R10cf56a9420249b9"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60025fae47b74695" /><Relationship Type="http://schemas.openxmlformats.org/officeDocument/2006/relationships/notesMaster" Target="/ppt/notesMasters/notesMaster1.xml" Id="Rdd1eaee58ea9483e"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c0c189095cd4bcb" /><Relationship Type="http://schemas.openxmlformats.org/officeDocument/2006/relationships/notesMaster" Target="/ppt/notesMasters/notesMaster1.xml" Id="Rb61c2c628fd0432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Evidence context</a:t>
            </a:r>
          </a:p>
          <a:p xmlns:a="http://schemas.openxmlformats.org/drawingml/2006/main">
            <a:r>
              <a:t>Final submission presentation aligned with the 33-page report of 29 September 2026. Includes desk research, planning scenarios and two completed AI role-play interviews. No real KU employees participated in those simulations. The current KU workflow, technical trial outcomes and realised savings remain unverified. Dawra Campus is the student project brand. The AI-assisted logo is not official KU branding.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[S04] Rheaply internal reuse</a:t>
            </a:r>
          </a:p>
          <a:p xmlns:a="http://schemas.openxmlformats.org/drawingml/2006/main">
            <a:r>
              <a:t>https://rheaply.com/internal-reuse/</a:t>
            </a:r>
          </a:p>
          <a:p xmlns:a="http://schemas.openxmlformats.org/drawingml/2006/main">
            <a:r>
              <a:t>Vendor-described marketplace, inventory, approvals and impact reporting.</a:t>
            </a:r>
          </a:p>
          <a:p xmlns:a="http://schemas.openxmlformats.org/drawingml/2006/main">
            <a:r>
              <a:t/>
            </a:r>
          </a:p>
          <a:p xmlns:a="http://schemas.openxmlformats.org/drawingml/2006/main">
            <a:r>
              <a:t>[S06] Warp It product tour</a:t>
            </a:r>
          </a:p>
          <a:p xmlns:a="http://schemas.openxmlformats.org/drawingml/2006/main">
            <a:r>
              <a:t>https://www.warp-it.co.uk/portal/warpit/tour</a:t>
            </a:r>
          </a:p>
          <a:p xmlns:a="http://schemas.openxmlformats.org/drawingml/2006/main">
            <a:r>
              <a:t>Vendor-described reuse workflow and reports. Homepage https://www.warp-it.co.uk/ describes AI photo-based listing.</a:t>
            </a:r>
          </a:p>
          <a:p xmlns:a="http://schemas.openxmlformats.org/drawingml/2006/main">
            <a:r>
              <a:t/>
            </a:r>
          </a:p>
          <a:p xmlns:a="http://schemas.openxmlformats.org/drawingml/2006/main">
            <a:r>
              <a:t>Evidence context</a:t>
            </a:r>
          </a:p>
          <a:p xmlns:a="http://schemas.openxmlformats.org/drawingml/2006/main">
            <a:r>
              <a:t>A conditional recommendation for a semester prototype, separate from institutional adoption. Economic and operational benefits remain unproven.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Evidence context</a:t>
            </a:r>
          </a:p>
          <a:p xmlns:a="http://schemas.openxmlformats.org/drawingml/2006/main">
            <a:r>
              <a:t>Semester scope summary. Hosted deployment remains included. Monitor transfer is one test case within the wider scope. Live integrations are simulated. Records of collection/delivery stay included although physical logistics are excluded.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Evidence context</a:t>
            </a:r>
          </a:p>
          <a:p xmlns:a="http://schemas.openxmlformats.org/drawingml/2006/main">
            <a:r>
              <a:t>Illustrative monitor example. It is not a completed KU request. Suitability includes function, connector, condition, quantity, availability, date and permission. Two-sided release/receipt approvals plus policy-required finance/procurement approval remain. Generated illustration already existed. It represents a proposed workflow.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[S03] KU ISO certificates</a:t>
            </a:r>
          </a:p>
          <a:p xmlns:a="http://schemas.openxmlformats.org/drawingml/2006/main">
            <a:r>
              <a:t>https://www.ku.ac.ae/iso-certificates</a:t>
            </a:r>
          </a:p>
          <a:p xmlns:a="http://schemas.openxmlformats.org/drawingml/2006/main">
            <a:r>
              <a:t>Lists asset management under Facilities Management. Supports a proposed owner, not confirmed software ownership.</a:t>
            </a:r>
          </a:p>
          <a:p xmlns:a="http://schemas.openxmlformats.org/drawingml/2006/main">
            <a:r>
              <a:t/>
            </a:r>
          </a:p>
          <a:p xmlns:a="http://schemas.openxmlformats.org/drawingml/2006/main">
            <a:r>
              <a:t>Evidence context</a:t>
            </a:r>
          </a:p>
          <a:p xmlns:a="http://schemas.openxmlformats.org/drawingml/2006/main">
            <a:r>
              <a:t>KU lists ISO 55001 Asset Management under Facilities Management. Proposed functional ownership remains unconfirmed. This is a proposed mapping of four of nine course-defined system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[S03] KU ISO certificates</a:t>
            </a:r>
          </a:p>
          <a:p xmlns:a="http://schemas.openxmlformats.org/drawingml/2006/main">
            <a:r>
              <a:t>https://www.ku.ac.ae/iso-certificates</a:t>
            </a:r>
          </a:p>
          <a:p xmlns:a="http://schemas.openxmlformats.org/drawingml/2006/main">
            <a:r>
              <a:t>Lists asset management under Facilities Management. Supports a proposed owner, not confirmed software ownership.</a:t>
            </a:r>
          </a:p>
          <a:p xmlns:a="http://schemas.openxmlformats.org/drawingml/2006/main">
            <a:r>
              <a:t/>
            </a:r>
          </a:p>
          <a:p xmlns:a="http://schemas.openxmlformats.org/drawingml/2006/main">
            <a:r>
              <a:t>Evidence context</a:t>
            </a:r>
          </a:p>
          <a:p xmlns:a="http://schemas.openxmlformats.org/drawingml/2006/main">
            <a:r>
              <a:t>Remaining five of nine course-defined system roles. Lab instructors act as academic client. The three students develop the prototype. Staff roles do not establish actual KU appointments. Business administration authorises roles and system administration implements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[S04] Rheaply internal reuse</a:t>
            </a:r>
          </a:p>
          <a:p xmlns:a="http://schemas.openxmlformats.org/drawingml/2006/main">
            <a:r>
              <a:t>https://rheaply.com/internal-reuse/</a:t>
            </a:r>
          </a:p>
          <a:p xmlns:a="http://schemas.openxmlformats.org/drawingml/2006/main">
            <a:r>
              <a:t>Vendor-described marketplace, inventory, approvals and impact reporting.</a:t>
            </a:r>
          </a:p>
          <a:p xmlns:a="http://schemas.openxmlformats.org/drawingml/2006/main">
            <a:r>
              <a:t/>
            </a:r>
          </a:p>
          <a:p xmlns:a="http://schemas.openxmlformats.org/drawingml/2006/main">
            <a:r>
              <a:t>[S05] Rheaply AI suggestions</a:t>
            </a:r>
          </a:p>
          <a:p xmlns:a="http://schemas.openxmlformats.org/drawingml/2006/main">
            <a:r>
              <a:t>https://support.rheaply.com/en/articles/7967928-use-ai-powered-suggestions-to-create-and-backfill-listings</a:t>
            </a:r>
          </a:p>
          <a:p xmlns:a="http://schemas.openxmlformats.org/drawingml/2006/main">
            <a:r>
              <a:t>AI-assisted listing details with human review.</a:t>
            </a:r>
          </a:p>
          <a:p xmlns:a="http://schemas.openxmlformats.org/drawingml/2006/main">
            <a:r>
              <a:t/>
            </a:r>
          </a:p>
          <a:p xmlns:a="http://schemas.openxmlformats.org/drawingml/2006/main">
            <a:r>
              <a:t>[S06] Warp It product tour</a:t>
            </a:r>
          </a:p>
          <a:p xmlns:a="http://schemas.openxmlformats.org/drawingml/2006/main">
            <a:r>
              <a:t>https://www.warp-it.co.uk/portal/warpit/tour</a:t>
            </a:r>
          </a:p>
          <a:p xmlns:a="http://schemas.openxmlformats.org/drawingml/2006/main">
            <a:r>
              <a:t>Vendor-described reuse workflow and reports. Homepage https://www.warp-it.co.uk/ describes AI photo-based listing.</a:t>
            </a:r>
          </a:p>
          <a:p xmlns:a="http://schemas.openxmlformats.org/drawingml/2006/main">
            <a:r>
              <a:t/>
            </a:r>
          </a:p>
          <a:p xmlns:a="http://schemas.openxmlformats.org/drawingml/2006/main">
            <a:r>
              <a:t>[S07] Snipe-IT product and pricing</a:t>
            </a:r>
          </a:p>
          <a:p xmlns:a="http://schemas.openxmlformats.org/drawingml/2006/main">
            <a:r>
              <a:t>https://snipeitapp.com/product</a:t>
            </a:r>
          </a:p>
          <a:p xmlns:a="http://schemas.openxmlformats.org/drawingml/2006/main">
            <a:r>
              <a:t>Inventory/custody, requests, history, permissions and API. Pricing: https://snipeitapp.com/pricing .</a:t>
            </a:r>
          </a:p>
          <a:p xmlns:a="http://schemas.openxmlformats.org/drawingml/2006/main">
            <a:r>
              <a:t/>
            </a:r>
          </a:p>
          <a:p xmlns:a="http://schemas.openxmlformats.org/drawingml/2006/main">
            <a:r>
              <a:t>[S23] Warp It UK pricing</a:t>
            </a:r>
          </a:p>
          <a:p xmlns:a="http://schemas.openxmlformats.org/drawingml/2006/main">
            <a:r>
              <a:t>https://www.warp-it.co.uk/portal/warpit/pricing</a:t>
            </a:r>
          </a:p>
          <a:p xmlns:a="http://schemas.openxmlformats.org/drawingml/2006/main">
            <a:r>
              <a:t>Published UK bands are not a KU quotation. Confirm local eligibility and taxes before cost comparison.</a:t>
            </a:r>
          </a:p>
          <a:p xmlns:a="http://schemas.openxmlformats.org/drawingml/2006/main">
            <a:r>
              <a:t/>
            </a:r>
          </a:p>
          <a:p xmlns:a="http://schemas.openxmlformats.org/drawingml/2006/main">
            <a:r>
              <a:t>Evidence context</a:t>
            </a:r>
          </a:p>
          <a:p xmlns:a="http://schemas.openxmlformats.org/drawingml/2006/main">
            <a:r>
              <a:t>Official vendor documentation was checked 22 September 2026. These are advertised capabilities, not product tests. Snipe-IT price is USD39.99 monthly or USD399.99 annually. Warp It listed UK employee bands exclude VAT and are not KU quotations. A feature not documented in reviewed pages is unverified, not absent.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[S08] UC Berkeley Rheaply showroom</a:t>
            </a:r>
          </a:p>
          <a:p xmlns:a="http://schemas.openxmlformats.org/drawingml/2006/main">
            <a:r>
              <a:t>https://property.berkeley.edu/surplus/campus/rheaply-online-showroom-inventory</a:t>
            </a:r>
          </a:p>
          <a:p xmlns:a="http://schemas.openxmlformats.org/drawingml/2006/main">
            <a:r>
              <a:t>Institutional use elsewhere supports relevance, not KU demand or savings.</a:t>
            </a:r>
          </a:p>
          <a:p xmlns:a="http://schemas.openxmlformats.org/drawingml/2006/main">
            <a:r>
              <a:t/>
            </a:r>
          </a:p>
          <a:p xmlns:a="http://schemas.openxmlformats.org/drawingml/2006/main">
            <a:r>
              <a:t>Evidence context</a:t>
            </a:r>
          </a:p>
          <a:p xmlns:a="http://schemas.openxmlformats.org/drawingml/2006/main">
            <a:r>
              <a:t>UC Berkeley documents Rheaply furniture inventory and reservations. That supports university relevance only. KU demand, system and benefits remain unverified. The distinctive contribution is the proposed team evaluation design, not a claim of unique invention.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Evidence context</a:t>
            </a:r>
          </a:p>
          <a:p xmlns:a="http://schemas.openxmlformats.org/drawingml/2006/main">
            <a:r>
              <a:t>The actual KU system and process remain unverified. Each current-process cell is a question for interviews, not an assertion that KU lacks a feature. Compare the same need and include every role, failed search, approval, physical handover and official record update. Live ERP integration stays out of scope. Unknown features are not treated as absent.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[S03] KU ISO certificates</a:t>
            </a:r>
          </a:p>
          <a:p xmlns:a="http://schemas.openxmlformats.org/drawingml/2006/main">
            <a:r>
              <a:t>https://www.ku.ac.ae/iso-certificates</a:t>
            </a:r>
          </a:p>
          <a:p xmlns:a="http://schemas.openxmlformats.org/drawingml/2006/main">
            <a:r>
              <a:t>Lists asset management under Facilities Management. Supports a proposed owner, not confirmed software ownership.</a:t>
            </a:r>
          </a:p>
          <a:p xmlns:a="http://schemas.openxmlformats.org/drawingml/2006/main">
            <a:r>
              <a:t/>
            </a:r>
          </a:p>
          <a:p xmlns:a="http://schemas.openxmlformats.org/drawingml/2006/main">
            <a:r>
              <a:t>[S35] KU Procurement and Contracts Department</a:t>
            </a:r>
          </a:p>
          <a:p xmlns:a="http://schemas.openxmlformats.org/drawingml/2006/main">
            <a:r>
              <a:t>https://www.ku.ac.ae/about/procurement-and-contracts-department</a:t>
            </a:r>
          </a:p>
          <a:p xmlns:a="http://schemas.openxmlformats.org/drawingml/2006/main">
            <a:r>
              <a:t>Public purchasing responsibilities, scope and procurement links. Added from the 28 September team review.</a:t>
            </a:r>
          </a:p>
          <a:p xmlns:a="http://schemas.openxmlformats.org/drawingml/2006/main">
            <a:r>
              <a:t/>
            </a:r>
          </a:p>
          <a:p xmlns:a="http://schemas.openxmlformats.org/drawingml/2006/main">
            <a:r>
              <a:t>[S36] KU Environmental Sustainability Policy EHS 7600</a:t>
            </a:r>
          </a:p>
          <a:p xmlns:a="http://schemas.openxmlformats.org/drawingml/2006/main">
            <a:r>
              <a:t>https://www.ku.ac.ae/sustainability/assets/attachments/EHS_7600_Environmental_Sustainability_Policy.pdf</a:t>
            </a:r>
          </a:p>
          <a:p xmlns:a="http://schemas.openxmlformats.org/drawingml/2006/main">
            <a:r>
              <a:t>Sections 5.1.1 and 6 support EHS consultation on waste and recycling. Public policy is not evidence of acceptance of Dawra Campus.</a:t>
            </a:r>
          </a:p>
          <a:p xmlns:a="http://schemas.openxmlformats.org/drawingml/2006/main">
            <a:r>
              <a:t/>
            </a:r>
          </a:p>
          <a:p xmlns:a="http://schemas.openxmlformats.org/drawingml/2006/main">
            <a:r>
              <a:t>[S37] KU sustainability initiatives</a:t>
            </a:r>
          </a:p>
          <a:p xmlns:a="http://schemas.openxmlformats.org/drawingml/2006/main">
            <a:r>
              <a:t>https://www.ku.ac.ae/sustainability/initiative</a:t>
            </a:r>
          </a:p>
          <a:p xmlns:a="http://schemas.openxmlformats.org/drawingml/2006/main">
            <a:r>
              <a:t>Public reduction, reuse and recycling activity supports local relevance, not a measured demand or saving for our system.</a:t>
            </a:r>
          </a:p>
          <a:p xmlns:a="http://schemas.openxmlformats.org/drawingml/2006/main">
            <a:r>
              <a:t/>
            </a:r>
          </a:p>
          <a:p xmlns:a="http://schemas.openxmlformats.org/drawingml/2006/main">
            <a:r>
              <a:t>[S38] Abu Dhabi Procurement Standards linked by KU</a:t>
            </a:r>
          </a:p>
          <a:p xmlns:a="http://schemas.openxmlformats.org/drawingml/2006/main">
            <a:r>
              <a:t>https://www.ku.ac.ae/wp-content/uploads/2025/01/Abu-Dhabi-Procurement-Standards.pdf</a:t>
            </a:r>
          </a:p>
          <a:p xmlns:a="http://schemas.openxmlformats.org/drawingml/2006/main">
            <a:r>
              <a:t>Institutional procurement framework linked from S35. No inference is made about the name or functions of the internal KU asset system.</a:t>
            </a:r>
          </a:p>
          <a:p xmlns:a="http://schemas.openxmlformats.org/drawingml/2006/main">
            <a:r>
              <a:t/>
            </a:r>
          </a:p>
          <a:p xmlns:a="http://schemas.openxmlformats.org/drawingml/2006/main">
            <a:r>
              <a:t>Evidence context</a:t>
            </a:r>
          </a:p>
          <a:p xmlns:a="http://schemas.openxmlformats.org/drawingml/2006/main">
            <a:r>
              <a:t>Final report sections 2, 4 and 5. Facilities Management is a proposed functional owner. KU Procurement and Contracts lists purchasing responsibilities for IT, laboratory equipment, maintenance and furniture. EHS policy supports waste and recycling consultation. EHS is a consultation stakeholder, not a tenth system role. KU public procurement standards and sustainability activity establish an institutional context. They do not identify the internal surplus register, establish missing features or demonstrate staff acceptance or demand.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[S09] Django overview and authentication</a:t>
            </a:r>
          </a:p>
          <a:p xmlns:a="http://schemas.openxmlformats.org/drawingml/2006/main">
            <a:r>
              <a:t>https://www.djangoproject.com/start/overview/</a:t>
            </a:r>
          </a:p>
          <a:p xmlns:a="http://schemas.openxmlformats.org/drawingml/2006/main">
            <a:r>
              <a:t>Framework facilities. Permissions: https://docs.djangoproject.com/en/stable/topics/auth/default/ . Department/item rules still need application code.</a:t>
            </a:r>
          </a:p>
          <a:p xmlns:a="http://schemas.openxmlformats.org/drawingml/2006/main">
            <a:r>
              <a:t/>
            </a:r>
          </a:p>
          <a:p xmlns:a="http://schemas.openxmlformats.org/drawingml/2006/main">
            <a:r>
              <a:t>[S10] PostgreSQL overview</a:t>
            </a:r>
          </a:p>
          <a:p xmlns:a="http://schemas.openxmlformats.org/drawingml/2006/main">
            <a:r>
              <a:t>https://www.postgresql.org/about/</a:t>
            </a:r>
          </a:p>
          <a:p xmlns:a="http://schemas.openxmlformats.org/drawingml/2006/main">
            <a:r>
              <a:t>Relational database candidate. Proposed stack remains untested.</a:t>
            </a:r>
          </a:p>
          <a:p xmlns:a="http://schemas.openxmlformats.org/drawingml/2006/main">
            <a:r>
              <a:t/>
            </a:r>
          </a:p>
          <a:p xmlns:a="http://schemas.openxmlformats.org/drawingml/2006/main">
            <a:r>
              <a:t>[S28] Django built-in application components</a:t>
            </a:r>
          </a:p>
          <a:p xmlns:a="http://schemas.openxmlformats.org/drawingml/2006/main">
            <a:r>
              <a:t>https://www.djangoproject.com/start/</a:t>
            </a:r>
          </a:p>
          <a:p xmlns:a="http://schemas.openxmlformats.org/drawingml/2006/main">
            <a:r>
              <a:t>Official forms, authentication and administration facilities. Supports reuse availability, not our estimated hours.</a:t>
            </a:r>
          </a:p>
          <a:p xmlns:a="http://schemas.openxmlformats.org/drawingml/2006/main">
            <a:r>
              <a:t/>
            </a:r>
          </a:p>
          <a:p xmlns:a="http://schemas.openxmlformats.org/drawingml/2006/main">
            <a:r>
              <a:t>[S29] PostgreSQL and Django licence information</a:t>
            </a:r>
          </a:p>
          <a:p xmlns:a="http://schemas.openxmlformats.org/drawingml/2006/main">
            <a:r>
              <a:t>https://www.postgresql.org/about/licence/</a:t>
            </a:r>
          </a:p>
          <a:p xmlns:a="http://schemas.openxmlformats.org/drawingml/2006/main">
            <a:r>
              <a:t>PostgreSQL permits use without a licence fee subject to its notice conditions. Django BSD licence: https://docs.djangoproject.com/en/5.2/faq/general/#how-is-django-licensed . Hosting and maintenance still cost resources.</a:t>
            </a:r>
          </a:p>
          <a:p xmlns:a="http://schemas.openxmlformats.org/drawingml/2006/main">
            <a:r>
              <a:t/>
            </a:r>
          </a:p>
          <a:p xmlns:a="http://schemas.openxmlformats.org/drawingml/2006/main">
            <a:r>
              <a:t>[S33] Django supported release schedule</a:t>
            </a:r>
          </a:p>
          <a:p xmlns:a="http://schemas.openxmlformats.org/drawingml/2006/main">
            <a:r>
              <a:t>https://www.djangoproject.com/download/</a:t>
            </a:r>
          </a:p>
          <a:p xmlns:a="http://schemas.openxmlformats.org/drawingml/2006/main">
            <a:r>
              <a:t>Django 5.2 LTS is the selected branch for a prototype trial. Official support table lists extended support through April 2028. Pin a current patched release at implementation.</a:t>
            </a:r>
          </a:p>
          <a:p xmlns:a="http://schemas.openxmlformats.org/drawingml/2006/main">
            <a:r>
              <a:t/>
            </a:r>
          </a:p>
          <a:p xmlns:a="http://schemas.openxmlformats.org/drawingml/2006/main">
            <a:r>
              <a:t>Evidence context</a:t>
            </a:r>
          </a:p>
          <a:p xmlns:a="http://schemas.openxmlformats.org/drawingml/2006/main">
            <a:r>
              <a:t>Django and PostgreSQL are candidates, not an implemented or approved stack. Django documentation supports included framework/admin/auth facilities. Department-level and object-level permissions still need application rules. React/Express is a team-proposed alternative to be assessed against skills and deployment effort. No relative speed result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[S30] OpenAI GPT 4.1 mini model documentation</a:t>
            </a:r>
          </a:p>
          <a:p xmlns:a="http://schemas.openxmlformats.org/drawingml/2006/main">
            <a:r>
              <a:t>https://developers.openai.com/api/docs/models/gpt-4.1-mini</a:t>
            </a:r>
          </a:p>
          <a:p xmlns:a="http://schemas.openxmlformats.org/drawingml/2006/main">
            <a:r>
              <a:t>Provisional text-model candidate gpt-4.1-mini-2025-04-14. Standard uncached text rates: USD 0.40 per million input tokens, USD 1.60 per million output tokens. Access and suitability untested.</a:t>
            </a:r>
          </a:p>
          <a:p xmlns:a="http://schemas.openxmlformats.org/drawingml/2006/main">
            <a:r>
              <a:t/>
            </a:r>
          </a:p>
          <a:p xmlns:a="http://schemas.openxmlformats.org/drawingml/2006/main">
            <a:r>
              <a:t>[S31] OpenAI text embedding 3 small documentation</a:t>
            </a:r>
          </a:p>
          <a:p xmlns:a="http://schemas.openxmlformats.org/drawingml/2006/main">
            <a:r>
              <a:t>https://developers.openai.com/api/docs/models/text-embedding-3-small</a:t>
            </a:r>
          </a:p>
          <a:p xmlns:a="http://schemas.openxmlformats.org/drawingml/2006/main">
            <a:r>
              <a:t>Provisional hosted semantic-search candidate. USD 0.02 per million input tokens. Token volume remains unmeasured.</a:t>
            </a:r>
          </a:p>
          <a:p xmlns:a="http://schemas.openxmlformats.org/drawingml/2006/main">
            <a:r>
              <a:t/>
            </a:r>
          </a:p>
          <a:p xmlns:a="http://schemas.openxmlformats.org/drawingml/2006/main">
            <a:r>
              <a:t>[S32] Sentence Transformers all MiniLM L6 v2 model card</a:t>
            </a:r>
          </a:p>
          <a:p xmlns:a="http://schemas.openxmlformats.org/drawingml/2006/main">
            <a:r>
              <a:t>https://huggingface.co/sentence-transformers/all-MiniLM-L6-v2</a:t>
            </a:r>
          </a:p>
          <a:p xmlns:a="http://schemas.openxmlformats.org/drawingml/2006/main">
            <a:r>
              <a:t>Local English embedding alternative with Apache 2.0 licence. Requires separate loaded-memory, latency and quality tests. Not assumed to fit 0.5 GB hosting.</a:t>
            </a:r>
          </a:p>
          <a:p xmlns:a="http://schemas.openxmlformats.org/drawingml/2006/main">
            <a:r>
              <a:t/>
            </a:r>
          </a:p>
          <a:p xmlns:a="http://schemas.openxmlformats.org/drawingml/2006/main">
            <a:r>
              <a:t>[S34] OpenAI API data controls</a:t>
            </a:r>
          </a:p>
          <a:p xmlns:a="http://schemas.openxmlformats.org/drawingml/2006/main">
            <a:r>
              <a:t>https://developers.openai.com/api/docs/guides/your-data</a:t>
            </a:r>
          </a:p>
          <a:p xmlns:a="http://schemas.openxmlformats.org/drawingml/2006/main">
            <a:r>
              <a:t>Default no training use does not mean zero retention or KU approval. Review actual account retention, permitted fields and location before using real data.</a:t>
            </a:r>
          </a:p>
          <a:p xmlns:a="http://schemas.openxmlformats.org/drawingml/2006/main">
            <a:r>
              <a:t/>
            </a:r>
          </a:p>
          <a:p xmlns:a="http://schemas.openxmlformats.org/drawingml/2006/main">
            <a:r>
              <a:t>Evidence context</a:t>
            </a:r>
          </a:p>
          <a:p xmlns:a="http://schemas.openxmlformats.org/drawingml/2006/main">
            <a:r>
              <a:t>The provisional hosted providers are text-embedding-3-small for similarity matching and gpt-4.1-mini-2025-04-14 for classification suggestions and generated text. The model snapshot supports structured outputs. Rates: embeddings USD0.02 per million input tokens. GPT4.1mini standard uncached input USD0.40 and output USD1.60 per million tokens. Rates are cited, token use remains unmeasured. Local MiniLM is an English embedding alternative only, with memory and quality tests still needed. It does not supply the full generative scope. No access or paid usage has been approved. Default no-training use does not mean zero retention or KU approval.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[S09] Django overview and authentication</a:t>
            </a:r>
          </a:p>
          <a:p xmlns:a="http://schemas.openxmlformats.org/drawingml/2006/main">
            <a:r>
              <a:t>https://www.djangoproject.com/start/overview/</a:t>
            </a:r>
          </a:p>
          <a:p xmlns:a="http://schemas.openxmlformats.org/drawingml/2006/main">
            <a:r>
              <a:t>Framework facilities. Permissions: https://docs.djangoproject.com/en/stable/topics/auth/default/ . Department/item rules still need application code.</a:t>
            </a:r>
          </a:p>
          <a:p xmlns:a="http://schemas.openxmlformats.org/drawingml/2006/main">
            <a:r>
              <a:t/>
            </a:r>
          </a:p>
          <a:p xmlns:a="http://schemas.openxmlformats.org/drawingml/2006/main">
            <a:r>
              <a:t>[S10] PostgreSQL overview</a:t>
            </a:r>
          </a:p>
          <a:p xmlns:a="http://schemas.openxmlformats.org/drawingml/2006/main">
            <a:r>
              <a:t>https://www.postgresql.org/about/</a:t>
            </a:r>
          </a:p>
          <a:p xmlns:a="http://schemas.openxmlformats.org/drawingml/2006/main">
            <a:r>
              <a:t>Relational database candidate. Proposed stack remains untested.</a:t>
            </a:r>
          </a:p>
          <a:p xmlns:a="http://schemas.openxmlformats.org/drawingml/2006/main">
            <a:r>
              <a:t/>
            </a:r>
          </a:p>
          <a:p xmlns:a="http://schemas.openxmlformats.org/drawingml/2006/main">
            <a:r>
              <a:t>Evidence context</a:t>
            </a:r>
          </a:p>
          <a:p xmlns:a="http://schemas.openxmlformats.org/drawingml/2006/main">
            <a:r>
              <a:t>Resource plan pending actual device and skills inventory. Using hosted inference does not automatically need a local GPU. No claim of laptop capacity is established without checks. Media storage and backup are distinct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[S12] Render free services</a:t>
            </a:r>
          </a:p>
          <a:p xmlns:a="http://schemas.openxmlformats.org/drawingml/2006/main">
            <a:r>
              <a:t>https://render.com/docs/free</a:t>
            </a:r>
          </a:p>
          <a:p xmlns:a="http://schemas.openxmlformats.org/drawingml/2006/main">
            <a:r>
              <a:t>Idle sleep and nonpersistent local files. A lasting upload store is still required. Hosting limitations rechecked against the official Render documentation on 29 September 2026.</a:t>
            </a:r>
          </a:p>
          <a:p xmlns:a="http://schemas.openxmlformats.org/drawingml/2006/main">
            <a:r>
              <a:t/>
            </a:r>
          </a:p>
          <a:p xmlns:a="http://schemas.openxmlformats.org/drawingml/2006/main">
            <a:r>
              <a:t>[S13] Neon official plan documentation source</a:t>
            </a:r>
          </a:p>
          <a:p xmlns:a="http://schemas.openxmlformats.org/drawingml/2006/main">
            <a:r>
              <a:t>https://github.com/neondatabase/website/blob/main/content/docs/introduction/plans.md</a:t>
            </a:r>
          </a:p>
          <a:p xmlns:a="http://schemas.openxmlformats.org/drawingml/2006/main">
            <a:r>
              <a:t>Free allowances: 0.5 GB storage, 100 CU-hours and 5 GB public transfer per project/month.</a:t>
            </a:r>
          </a:p>
          <a:p xmlns:a="http://schemas.openxmlformats.org/drawingml/2006/main">
            <a:r>
              <a:t/>
            </a:r>
          </a:p>
          <a:p xmlns:a="http://schemas.openxmlformats.org/drawingml/2006/main">
            <a:r>
              <a:t>Evidence context</a:t>
            </a:r>
          </a:p>
          <a:p xmlns:a="http://schemas.openxmlformats.org/drawingml/2006/main">
            <a:r>
              <a:t>Final report section 7 and approved Ghaith source. Render limitations rechecked 29 September 2026. Free web services can sleep after 15 minutes without traffic and take about one minute to wake. Local uploads can be lost when a service restarts, redeploys or sleeps. Select and test a separate persistent upload store with access controls and recovery. Test both database records and uploaded media. Cold start is a hosting availability condition, separate from the 15-second AI fallback target inside an available application. Any change to Phase 1 performance acceptance requires client agreement.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[S22] Act on Heat TELOS workflow</a:t>
            </a:r>
          </a:p>
          <a:p xmlns:a="http://schemas.openxmlformats.org/drawingml/2006/main">
            <a:r>
              <a:t>https://actionheat.eu/workflow-step-8</a:t>
            </a:r>
          </a:p>
          <a:p xmlns:a="http://schemas.openxmlformats.org/drawingml/2006/main">
            <a:r>
              <a:t>Technical, economic, legal, operational and scheduling framework. Data/AI added separately by course.</a:t>
            </a:r>
          </a:p>
          <a:p xmlns:a="http://schemas.openxmlformats.org/drawingml/2006/main">
            <a:r>
              <a:t/>
            </a:r>
          </a:p>
          <a:p xmlns:a="http://schemas.openxmlformats.org/drawingml/2006/main">
            <a:r>
              <a:t>Evidence context</a:t>
            </a:r>
          </a:p>
          <a:p xmlns:a="http://schemas.openxmlformats.org/drawingml/2006/main">
            <a:r>
              <a:t>TELOS is Technical, Economic, Legal, Operational and Schedule. The course separately requires data and AI feasibility. These are desk-review findings with open conditions, not completed experiment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[S19] NIST AI RMF Playbook Measure</a:t>
            </a:r>
          </a:p>
          <a:p xmlns:a="http://schemas.openxmlformats.org/drawingml/2006/main">
            <a:r>
              <a:t>https://airc.nist.gov/airmf-resources/playbook/measure/</a:t>
            </a:r>
          </a:p>
          <a:p xmlns:a="http://schemas.openxmlformats.org/drawingml/2006/main">
            <a:r>
              <a:t>Context-specific metrics, limitations and corrective action. No prescribed sample sizes here.</a:t>
            </a:r>
          </a:p>
          <a:p xmlns:a="http://schemas.openxmlformats.org/drawingml/2006/main">
            <a:r>
              <a:t/>
            </a:r>
          </a:p>
          <a:p xmlns:a="http://schemas.openxmlformats.org/drawingml/2006/main">
            <a:r>
              <a:t>Evidence context</a:t>
            </a:r>
          </a:p>
          <a:p xmlns:a="http://schemas.openxmlformats.org/drawingml/2006/main">
            <a:r>
              <a:t>Start with labelled synthetic data. A KU sample requires permission. Phase 1 proposes 500 assets across 10 departments and 50 requests. These are team-defined test sizes, not measured KU statistics.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[S19] NIST AI RMF Playbook Measure</a:t>
            </a:r>
          </a:p>
          <a:p xmlns:a="http://schemas.openxmlformats.org/drawingml/2006/main">
            <a:r>
              <a:t>https://airc.nist.gov/airmf-resources/playbook/measure/</a:t>
            </a:r>
          </a:p>
          <a:p xmlns:a="http://schemas.openxmlformats.org/drawingml/2006/main">
            <a:r>
              <a:t>Context-specific metrics, limitations and corrective action. No prescribed sample sizes here.</a:t>
            </a:r>
          </a:p>
          <a:p xmlns:a="http://schemas.openxmlformats.org/drawingml/2006/main">
            <a:r>
              <a:t/>
            </a:r>
          </a:p>
          <a:p xmlns:a="http://schemas.openxmlformats.org/drawingml/2006/main">
            <a:r>
              <a:t>[S20] Introduction to Information Retrieval ranked evaluation</a:t>
            </a:r>
          </a:p>
          <a:p xmlns:a="http://schemas.openxmlformats.org/drawingml/2006/main">
            <a:r>
              <a:t>https://nlp.stanford.edu/IR-book/html/htmledition/evaluation-of-ranked-retrieval-results-1.html</a:t>
            </a:r>
          </a:p>
          <a:p xmlns:a="http://schemas.openxmlformats.org/drawingml/2006/main">
            <a:r>
              <a:t>Ranked retrieval evaluation background. Our request-level Hit@3 is a stated operational definition.</a:t>
            </a:r>
          </a:p>
          <a:p xmlns:a="http://schemas.openxmlformats.org/drawingml/2006/main">
            <a:r>
              <a:t/>
            </a:r>
          </a:p>
          <a:p xmlns:a="http://schemas.openxmlformats.org/drawingml/2006/main">
            <a:r>
              <a:t>[S21] scikit-learn zero one loss</a:t>
            </a:r>
          </a:p>
          <a:p xmlns:a="http://schemas.openxmlformats.org/drawingml/2006/main">
            <a:r>
              <a:t>https://scikit-learn.org/stable/modules/generated/sklearn.metrics.zero_one_loss.html</a:t>
            </a:r>
          </a:p>
          <a:p xmlns:a="http://schemas.openxmlformats.org/drawingml/2006/main">
            <a:r>
              <a:t>Normalised zero-one loss is the fraction of misclassifications.</a:t>
            </a:r>
          </a:p>
          <a:p xmlns:a="http://schemas.openxmlformats.org/drawingml/2006/main">
            <a:r>
              <a:t/>
            </a:r>
          </a:p>
          <a:p xmlns:a="http://schemas.openxmlformats.org/drawingml/2006/main">
            <a:r>
              <a:t>Evidence context</a:t>
            </a:r>
          </a:p>
          <a:p xmlns:a="http://schemas.openxmlformats.org/drawingml/2006/main">
            <a:r>
              <a:t>Final report section 9. All counts and thresholds are planned targets, with no measured AI results. Matching uses 20 eligible requests from the 50-request synthetic dataset. Classification uses a separate set of 20 labelled assets. Two members independently label matches and categories, resolve disagreements and freeze both sets. Keep development examples separate. Classical and AI matching use identical asset snapshots and mandatory eligibility rules. Failed or invalid responses remain in the matching denominator. Fallback success is recorded separately.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[S20] Introduction to Information Retrieval ranked evaluation</a:t>
            </a:r>
          </a:p>
          <a:p xmlns:a="http://schemas.openxmlformats.org/drawingml/2006/main">
            <a:r>
              <a:t>https://nlp.stanford.edu/IR-book/html/htmledition/evaluation-of-ranked-retrieval-results-1.html</a:t>
            </a:r>
          </a:p>
          <a:p xmlns:a="http://schemas.openxmlformats.org/drawingml/2006/main">
            <a:r>
              <a:t>Ranked retrieval evaluation background. Our request-level Hit@3 is a stated operational definition.</a:t>
            </a:r>
          </a:p>
          <a:p xmlns:a="http://schemas.openxmlformats.org/drawingml/2006/main">
            <a:r>
              <a:t/>
            </a:r>
          </a:p>
          <a:p xmlns:a="http://schemas.openxmlformats.org/drawingml/2006/main">
            <a:r>
              <a:t>[S21] scikit-learn zero one loss</a:t>
            </a:r>
          </a:p>
          <a:p xmlns:a="http://schemas.openxmlformats.org/drawingml/2006/main">
            <a:r>
              <a:t>https://scikit-learn.org/stable/modules/generated/sklearn.metrics.zero_one_loss.html</a:t>
            </a:r>
          </a:p>
          <a:p xmlns:a="http://schemas.openxmlformats.org/drawingml/2006/main">
            <a:r>
              <a:t>Normalised zero-one loss is the fraction of misclassifications.</a:t>
            </a:r>
          </a:p>
          <a:p xmlns:a="http://schemas.openxmlformats.org/drawingml/2006/main">
            <a:r>
              <a:t/>
            </a:r>
          </a:p>
          <a:p xmlns:a="http://schemas.openxmlformats.org/drawingml/2006/main">
            <a:r>
              <a:t>Evidence context</a:t>
            </a:r>
          </a:p>
          <a:p xmlns:a="http://schemas.openxmlformats.org/drawingml/2006/main">
            <a:r>
              <a:t>Final report section 9A. Planned Phase 1 acceptance criteria. Useful matching is request-level Hit@3, not precision of every returned result. AI must succeed on at least two more requests than classic search on the same 20 cases. For example, 14 classic successes requires at least 16 AI successes. Eligibility applies to every actionable recommendation, not only the useful result counted for Hit@3.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Evidence context</a:t>
            </a:r>
          </a:p>
          <a:p xmlns:a="http://schemas.openxmlformats.org/drawingml/2006/main">
            <a:r>
              <a:t>Final report sections 9A and 9B. Approval has 14 base scenarios: one authorised and one unauthorised scenario for each of transfer, donation, recycling, disposal, repair spending, financial-value changes and user-role changes. Record executions through the ordinary interface and any supported assistant route separately. Fallback cases are service unavailability, timeout, rate limit, malformed output and insufficient confidence. Relevant classic controls must become available within 15 seconds of the attempted AI request with user input preserved.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[S19] NIST AI RMF Playbook Measure</a:t>
            </a:r>
          </a:p>
          <a:p xmlns:a="http://schemas.openxmlformats.org/drawingml/2006/main">
            <a:r>
              <a:t>https://airc.nist.gov/airmf-resources/playbook/measure/</a:t>
            </a:r>
          </a:p>
          <a:p xmlns:a="http://schemas.openxmlformats.org/drawingml/2006/main">
            <a:r>
              <a:t>Context-specific metrics, limitations and corrective action. No prescribed sample sizes here.</a:t>
            </a:r>
          </a:p>
          <a:p xmlns:a="http://schemas.openxmlformats.org/drawingml/2006/main">
            <a:r>
              <a:t/>
            </a:r>
          </a:p>
          <a:p xmlns:a="http://schemas.openxmlformats.org/drawingml/2006/main">
            <a:r>
              <a:t>Evidence context</a:t>
            </a:r>
          </a:p>
          <a:p xmlns:a="http://schemas.openxmlformats.org/drawingml/2006/main">
            <a:r>
              <a:t>Final report section 9A. Assistant scenarios: confirmed request, corrected request, cancellation, unauthorised request and incomplete request. Twenty sampled recommendations must show reasons and confidence information, or explicitly disclose that confidence is unavailable, and record required model information. Five generated summaries must have traceable factual claims and numerical totals matching conventional reports. Relevant data owners review summaries before official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[S19] NIST AI RMF Playbook Measure</a:t>
            </a:r>
          </a:p>
          <a:p xmlns:a="http://schemas.openxmlformats.org/drawingml/2006/main">
            <a:r>
              <a:t>https://airc.nist.gov/airmf-resources/playbook/measure/</a:t>
            </a:r>
          </a:p>
          <a:p xmlns:a="http://schemas.openxmlformats.org/drawingml/2006/main">
            <a:r>
              <a:t>Context-specific metrics, limitations and corrective action. No prescribed sample sizes here.</a:t>
            </a:r>
          </a:p>
          <a:p xmlns:a="http://schemas.openxmlformats.org/drawingml/2006/main">
            <a:r>
              <a:t/>
            </a:r>
          </a:p>
          <a:p xmlns:a="http://schemas.openxmlformats.org/drawingml/2006/main">
            <a:r>
              <a:t>Evidence context</a:t>
            </a:r>
          </a:p>
          <a:p xmlns:a="http://schemas.openxmlformats.org/drawingml/2006/main">
            <a:r>
              <a:t>Final report section 9B. The five no-suitable-asset and five sustainable-action case counts are proposed Phase 2 coverage for team confirmation. They extend rather than replace the Phase 1 targets. No-suitable-asset cases stay outside the 20 eligible requests used for Hit@3. Sustainable advice varies condition, demand and repair costs, identifies missing information and preserves authorised human control. Actual counts, results, prompts, model/version, errors, latency, cost and review time must be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[S19] NIST AI RMF Playbook Measure</a:t>
            </a:r>
          </a:p>
          <a:p xmlns:a="http://schemas.openxmlformats.org/drawingml/2006/main">
            <a:r>
              <a:t>https://airc.nist.gov/airmf-resources/playbook/measure/</a:t>
            </a:r>
          </a:p>
          <a:p xmlns:a="http://schemas.openxmlformats.org/drawingml/2006/main">
            <a:r>
              <a:t>Context-specific metrics, limitations and corrective action. No prescribed sample sizes here.</a:t>
            </a:r>
          </a:p>
          <a:p xmlns:a="http://schemas.openxmlformats.org/drawingml/2006/main">
            <a:r>
              <a:t/>
            </a:r>
          </a:p>
          <a:p xmlns:a="http://schemas.openxmlformats.org/drawingml/2006/main">
            <a:r>
              <a:t>Evidence context</a:t>
            </a:r>
          </a:p>
          <a:p xmlns:a="http://schemas.openxmlformats.org/drawingml/2006/main">
            <a:r>
              <a:t>Final report section 9B. Proposed fairness checks compare Hit@3 and rejection reasons across synthetic departments and item categories, recording each group size. Equivalent requests with different department labels must retain legitimate access constraints. Investigate gaps in data, eligibility or ranking. Proposed acceptance measure: accepted AI suggestions divided by all suggestions reviewed, reported with numerator, denominator and rejection reasons. Acceptance of a suggestion is distinct from a completed transfer. Agree coverage and thresholds before trials. No fairness result or acceptance rate has been measured.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Evidence context</a:t>
            </a:r>
          </a:p>
          <a:p xmlns:a="http://schemas.openxmlformats.org/drawingml/2006/main">
            <a:r>
              <a:t>Source: final report section 3A and blackboard_build/simulated_interviews.md, dated 29 September 2026. AI played a fictional procurement and asset coordinator under the instructor permission reported by the team. No real KU employee participated. This slide paraphrases all five role-play question-and-answer topics and associated design implications. The exercise does not establish actual KU procedures, demand or savings.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Evidence context</a:t>
            </a:r>
          </a:p>
          <a:p xmlns:a="http://schemas.openxmlformats.org/drawingml/2006/main">
            <a:r>
              <a:t>Source: final report section 3B and blackboard_build/simulated_interviews.md, dated 29 September 2026. AI played a fictional department or laboratory requester under the instructor permission reported by the team. No real KU employee participated. The five topics concern request details, suggested-item choice, selection and status, assistant submission and support. The simulation explores design needs without proving staff acceptance or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Evidence context</a:t>
            </a:r>
          </a:p>
          <a:p xmlns:a="http://schemas.openxmlformats.org/drawingml/2006/main">
            <a:r>
              <a:t>Final report sections 3C and 14. A supervised trial and short task guide are proposals. Requesters, custodians and department representatives would practise requests, approvals, reservations and handover. Relevant maintenance, procurement and sustainability representatives review affected work. A designated support contact records failures, confusing statuses, duplicate entry and policy questions. Compare the current process, classic search and AI on the same complete task across all roles. Active-time differences do not automatically produce cash savings. No measured staff timing or acceptance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Evidence context</a:t>
            </a:r>
          </a:p>
          <a:p xmlns:a="http://schemas.openxmlformats.org/drawingml/2006/main">
            <a:r>
              <a:t>This is a control proposal, not legal compliance advice or a statement that KU has approved these controls. Actual KU policies, procurement requirements and data-sharing constraints remain to confirm.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[S12] Render free services</a:t>
            </a:r>
          </a:p>
          <a:p xmlns:a="http://schemas.openxmlformats.org/drawingml/2006/main">
            <a:r>
              <a:t>https://render.com/docs/free</a:t>
            </a:r>
          </a:p>
          <a:p xmlns:a="http://schemas.openxmlformats.org/drawingml/2006/main">
            <a:r>
              <a:t>Idle sleep and nonpersistent local files. A lasting upload store is still required. Hosting limitations rechecked against the official Render documentation on 29 September 2026.</a:t>
            </a:r>
          </a:p>
          <a:p xmlns:a="http://schemas.openxmlformats.org/drawingml/2006/main">
            <a:r>
              <a:t/>
            </a:r>
          </a:p>
          <a:p xmlns:a="http://schemas.openxmlformats.org/drawingml/2006/main">
            <a:r>
              <a:t>[S13] Neon official plan documentation source</a:t>
            </a:r>
          </a:p>
          <a:p xmlns:a="http://schemas.openxmlformats.org/drawingml/2006/main">
            <a:r>
              <a:t>https://github.com/neondatabase/website/blob/main/content/docs/introduction/plans.md</a:t>
            </a:r>
          </a:p>
          <a:p xmlns:a="http://schemas.openxmlformats.org/drawingml/2006/main">
            <a:r>
              <a:t>Free allowances: 0.5 GB storage, 100 CU-hours and 5 GB public transfer per project/month.</a:t>
            </a:r>
          </a:p>
          <a:p xmlns:a="http://schemas.openxmlformats.org/drawingml/2006/main">
            <a:r>
              <a:t/>
            </a:r>
          </a:p>
          <a:p xmlns:a="http://schemas.openxmlformats.org/drawingml/2006/main">
            <a:r>
              <a:t>[S24] GAO Cost Estimating and Assessment Guide</a:t>
            </a:r>
          </a:p>
          <a:p xmlns:a="http://schemas.openxmlformats.org/drawingml/2006/main">
            <a:r>
              <a:t>https://www.gao.gov/assets/d20195G.pdf</a:t>
            </a:r>
          </a:p>
          <a:p xmlns:a="http://schemas.openxmlformats.org/drawingml/2006/main">
            <a:r>
              <a:t>GAO-20-195G (2020), printed pages 94–95: recurring/nonrecurring cost categories. Page 123: double-counting checks. Our project amounts are assumptions.</a:t>
            </a:r>
          </a:p>
          <a:p xmlns:a="http://schemas.openxmlformats.org/drawingml/2006/main">
            <a:r>
              <a:t/>
            </a:r>
          </a:p>
          <a:p xmlns:a="http://schemas.openxmlformats.org/drawingml/2006/main">
            <a:r>
              <a:t>Evidence context</a:t>
            </a:r>
          </a:p>
          <a:p xmlns:a="http://schemas.openxmlformats.org/drawingml/2006/main">
            <a:r>
              <a:t>The student plan uses existing resources and aims for no new cash spending. It requires approved university/API access or a validated alternative. The optional paid scenario separates cash spending from the value of development and staff time. No paid service has been approved. All allowances and quantities are assumptions.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[S11] Railway pricing and billing</a:t>
            </a:r>
          </a:p>
          <a:p xmlns:a="http://schemas.openxmlformats.org/drawingml/2006/main">
            <a:r>
              <a:t>https://docs.railway.com/pricing</a:t>
            </a:r>
          </a:p>
          <a:p xmlns:a="http://schemas.openxmlformats.org/drawingml/2006/main">
            <a:r>
              <a:t>Rates and Hobby minimum. Billing: https://docs.railway.com/pricing/understanding-your-bill .</a:t>
            </a:r>
          </a:p>
          <a:p xmlns:a="http://schemas.openxmlformats.org/drawingml/2006/main">
            <a:r>
              <a:t/>
            </a:r>
          </a:p>
          <a:p xmlns:a="http://schemas.openxmlformats.org/drawingml/2006/main">
            <a:r>
              <a:t>[S14] CBUAE reference exchange rates</a:t>
            </a:r>
          </a:p>
          <a:p xmlns:a="http://schemas.openxmlformats.org/drawingml/2006/main">
            <a:r>
              <a:t>https://centralbank.ae/umbraco/Surface/Exchange/GetExchangeRateAllCurrency</a:t>
            </a:r>
          </a:p>
          <a:p xmlns:a="http://schemas.openxmlformats.org/drawingml/2006/main">
            <a:r>
              <a:t>Table updated 21 September 2026: USD 1 = AED 3.6725. Reference rate, not card fees.</a:t>
            </a:r>
          </a:p>
          <a:p xmlns:a="http://schemas.openxmlformats.org/drawingml/2006/main">
            <a:r>
              <a:t/>
            </a:r>
          </a:p>
          <a:p xmlns:a="http://schemas.openxmlformats.org/drawingml/2006/main">
            <a:r>
              <a:t>Evidence context</a:t>
            </a:r>
          </a:p>
          <a:p xmlns:a="http://schemas.openxmlformats.org/drawingml/2006/main">
            <a:r>
              <a:t>Railway rates checked 22 September 2026: RAM USD 10 per GB-month, CPU USD 20 per vCPU-month, volume USD 0.15 per GB-month and egress USD 0.05 per GB. AF02–05 assume combined app/database use: 0.5 × 10 + 0.05 × 20 + 1 × 0.15 + 1 × 0.05 = USD 6.20/month. The Hobby bill is the greater of USD 5 and usage, because its minimum includes usage. Annual conversion: 6.20 × 12 × 3.6725 = AED 273.234. These are unmeasured assumptions. AI, durable file backups, support, labour and any taxes/card fees are separate.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[S11] Railway pricing and billing</a:t>
            </a:r>
          </a:p>
          <a:p xmlns:a="http://schemas.openxmlformats.org/drawingml/2006/main">
            <a:r>
              <a:t>https://docs.railway.com/pricing</a:t>
            </a:r>
          </a:p>
          <a:p xmlns:a="http://schemas.openxmlformats.org/drawingml/2006/main">
            <a:r>
              <a:t>Rates and Hobby minimum. Billing: https://docs.railway.com/pricing/understanding-your-bill .</a:t>
            </a:r>
          </a:p>
          <a:p xmlns:a="http://schemas.openxmlformats.org/drawingml/2006/main">
            <a:r>
              <a:t/>
            </a:r>
          </a:p>
          <a:p xmlns:a="http://schemas.openxmlformats.org/drawingml/2006/main">
            <a:r>
              <a:t>[S14] CBUAE reference exchange rates</a:t>
            </a:r>
          </a:p>
          <a:p xmlns:a="http://schemas.openxmlformats.org/drawingml/2006/main">
            <a:r>
              <a:t>https://centralbank.ae/umbraco/Surface/Exchange/GetExchangeRateAllCurrency</a:t>
            </a:r>
          </a:p>
          <a:p xmlns:a="http://schemas.openxmlformats.org/drawingml/2006/main">
            <a:r>
              <a:t>Table updated 21 September 2026: USD 1 = AED 3.6725. Reference rate, not card fees.</a:t>
            </a:r>
          </a:p>
          <a:p xmlns:a="http://schemas.openxmlformats.org/drawingml/2006/main">
            <a:r>
              <a:t/>
            </a:r>
          </a:p>
          <a:p xmlns:a="http://schemas.openxmlformats.org/drawingml/2006/main">
            <a:r>
              <a:t>[S24] GAO Cost Estimating and Assessment Guide</a:t>
            </a:r>
          </a:p>
          <a:p xmlns:a="http://schemas.openxmlformats.org/drawingml/2006/main">
            <a:r>
              <a:t>https://www.gao.gov/assets/d20195G.pdf</a:t>
            </a:r>
          </a:p>
          <a:p xmlns:a="http://schemas.openxmlformats.org/drawingml/2006/main">
            <a:r>
              <a:t>GAO-20-195G (2020), printed pages 94–95: recurring/nonrecurring cost categories. Page 123: double-counting checks. Our project amounts are assumptions.</a:t>
            </a:r>
          </a:p>
          <a:p xmlns:a="http://schemas.openxmlformats.org/drawingml/2006/main">
            <a:r>
              <a:t/>
            </a:r>
          </a:p>
          <a:p xmlns:a="http://schemas.openxmlformats.org/drawingml/2006/main">
            <a:r>
              <a:t>Evidence context</a:t>
            </a:r>
          </a:p>
          <a:p xmlns:a="http://schemas.openxmlformats.org/drawingml/2006/main">
            <a:r>
              <a:t>AF09 assumes AED200 one-time setup cash. AF10 assumes a fully spent 15% reserve: AED30 upfront and AED140.1426 annually. Annual base is AED934.284, comprising hosting AED273.234, AI allowance AED440.70 and files/backups allowance AED220.35. Annual fixed cash AED1074.4266. AF11 handling is AED25 per extra reused monitor. Allowances are not quotations. Cash costs exclude time, cloud tax/card fees and institutional overhead. Confirm payable amounts.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[S15] Sharaf DG Samsung S3 S33GF monitor listing</a:t>
            </a:r>
          </a:p>
          <a:p xmlns:a="http://schemas.openxmlformats.org/drawingml/2006/main">
            <a:r>
              <a:t>https://uae.sharafdg.com/product/samsung-s3-s33gf-essential-fhd-monitor-24inch-ls24f330eamxue/</a:t>
            </a:r>
          </a:p>
          <a:p xmlns:a="http://schemas.openxmlformats.org/drawingml/2006/main">
            <a:r>
              <a:t>22 September 2026 listing: AED 345 incl. VAT, ENGAGE seller, 24-inch FHD with HDMI. Retail proxy, not KU quote. Delivery excluded.</a:t>
            </a:r>
          </a:p>
          <a:p xmlns:a="http://schemas.openxmlformats.org/drawingml/2006/main">
            <a:r>
              <a:t/>
            </a:r>
          </a:p>
          <a:p xmlns:a="http://schemas.openxmlformats.org/drawingml/2006/main">
            <a:r>
              <a:t>Evidence context</a:t>
            </a:r>
          </a:p>
          <a:p xmlns:a="http://schemas.openxmlformats.org/drawingml/2006/main">
            <a:r>
              <a:t>AF12 is a scenario, not a KU count: five proposed departments times eight new-monitor purchases each per year equals40 purchases remaining after current reuse. At retail proxy AED345 the annual purchase value is AED13800. AF13 adds4,8or12 avoided purchases, representing10%,20%,30%of40. We must verify need, stock, compatibility, current reuse, approval and useful life. No external report supplies these adoption rates.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[S26] University of Bristol Annual Report 2025</a:t>
            </a:r>
          </a:p>
          <a:p xmlns:a="http://schemas.openxmlformats.org/drawingml/2006/main">
            <a:r>
              <a:t>https://www.bristol.ac.uk/media-library/sites/finance/documents/UoB_ARFS2025_WEB.pdf</a:t>
            </a:r>
          </a:p>
          <a:p xmlns:a="http://schemas.openxmlformats.org/drawingml/2006/main">
            <a:r>
              <a:t>Page 34 reports nearly 800 office-furniture items reused and estimated GBP 92,000 avoided purchase cost. This is university-reported gross avoidance, not KU savings or net system ROI.</a:t>
            </a:r>
          </a:p>
          <a:p xmlns:a="http://schemas.openxmlformats.org/drawingml/2006/main">
            <a:r>
              <a:t/>
            </a:r>
          </a:p>
          <a:p xmlns:a="http://schemas.openxmlformats.org/drawingml/2006/main">
            <a:r>
              <a:t>[S27] University of Liverpool Warp It first-year results</a:t>
            </a:r>
          </a:p>
          <a:p xmlns:a="http://schemas.openxmlformats.org/drawingml/2006/main">
            <a:r>
              <a:t>https://www.liverpool.ac.uk/about/sustainability/news/stories/title,1545664,en.php</a:t>
            </a:r>
          </a:p>
          <a:p xmlns:a="http://schemas.openxmlformats.org/drawingml/2006/main">
            <a:r>
              <a:t>Published 24 February 2026: GBP 300,442 reported savings in the first 12 months, including 1,732 furniture items reused. Storage, collection, delivery and IT support also contributed. No complete net-cost method is disclosed.</a:t>
            </a:r>
          </a:p>
          <a:p xmlns:a="http://schemas.openxmlformats.org/drawingml/2006/main">
            <a:r>
              <a:t/>
            </a:r>
          </a:p>
          <a:p xmlns:a="http://schemas.openxmlformats.org/drawingml/2006/main">
            <a:r>
              <a:t>Evidence context</a:t>
            </a:r>
          </a:p>
          <a:p xmlns:a="http://schemas.openxmlformats.org/drawingml/2006/main">
            <a:r>
              <a:t>Bristol Annual Report 2025, page 34, reports nearly 800 office-furniture items reused and an estimated GBP 92,000 in avoided purchase costs. Liverpool, published 24 February 2026, reports GBP 300,442 savings in the first 12 months and 1,732 furniture items reused. Liverpool also credits storage, collection, delivery and IT support. Neither report establishes KU benefits or the assumed adoption rates. Their item mixes and measurement boundaries differ. No average saving per item is inferred.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[S15] Sharaf DG Samsung S3 S33GF monitor listing</a:t>
            </a:r>
          </a:p>
          <a:p xmlns:a="http://schemas.openxmlformats.org/drawingml/2006/main">
            <a:r>
              <a:t>https://uae.sharafdg.com/product/samsung-s3-s33gf-essential-fhd-monitor-24inch-ls24f330eamxue/</a:t>
            </a:r>
          </a:p>
          <a:p xmlns:a="http://schemas.openxmlformats.org/drawingml/2006/main">
            <a:r>
              <a:t>22 September 2026 listing: AED 345 incl. VAT, ENGAGE seller, 24-inch FHD with HDMI. Retail proxy, not KU quote. Delivery excluded.</a:t>
            </a:r>
          </a:p>
          <a:p xmlns:a="http://schemas.openxmlformats.org/drawingml/2006/main">
            <a:r>
              <a:t/>
            </a:r>
          </a:p>
          <a:p xmlns:a="http://schemas.openxmlformats.org/drawingml/2006/main">
            <a:r>
              <a:t>Evidence context</a:t>
            </a:r>
          </a:p>
          <a:p xmlns:a="http://schemas.openxmlformats.org/drawingml/2006/main">
            <a:r>
              <a:t>Source S15 is a Sharaf DG marketplace listing for a Samsung S3 S33GF 24-inch FHD HDMI monitor, at AED 345 including VAT, seller ENGAGE, checked 22 September 2026. It is a retail price proxy, not a KU quote. AF06 assumes two suitable monitors, giving AED 690 gross purchase avoidance. AF13 assumes eight additional purchases avoided per year, giving AED 2,760 gross. Each case requires a genuine need, acceptable condition and remaining life, compatibility, availability and approvals. Reuse that the current process already achieves adds no incremental benefit. Inspection, repair, handling and system costs must be counted.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[S15] Sharaf DG Samsung S3 S33GF monitor listing</a:t>
            </a:r>
          </a:p>
          <a:p xmlns:a="http://schemas.openxmlformats.org/drawingml/2006/main">
            <a:r>
              <a:t>https://uae.sharafdg.com/product/samsung-s3-s33gf-essential-fhd-monitor-24inch-ls24f330eamxue/</a:t>
            </a:r>
          </a:p>
          <a:p xmlns:a="http://schemas.openxmlformats.org/drawingml/2006/main">
            <a:r>
              <a:t>22 September 2026 listing: AED 345 incl. VAT, ENGAGE seller, 24-inch FHD with HDMI. Retail proxy, not KU quote. Delivery excluded.</a:t>
            </a:r>
          </a:p>
          <a:p xmlns:a="http://schemas.openxmlformats.org/drawingml/2006/main">
            <a:r>
              <a:t/>
            </a:r>
          </a:p>
          <a:p xmlns:a="http://schemas.openxmlformats.org/drawingml/2006/main">
            <a:r>
              <a:t>[S16] NHS Measurement for Improvement and Return on Investment</a:t>
            </a:r>
          </a:p>
          <a:p xmlns:a="http://schemas.openxmlformats.org/drawingml/2006/main">
            <a:r>
              <a:t>https://www.england.nhs.uk/improvement-hub/wp-content/uploads/sites/44/2017/11/2010-Measurement-for-Improvement-and-ROI.pdf</a:t>
            </a:r>
          </a:p>
          <a:p xmlns:a="http://schemas.openxmlformats.org/drawingml/2006/main">
            <a:r>
              <a:t>Printed page 26: ROI = net benefits / costs x 100. Project inputs are separate assumptions.</a:t>
            </a:r>
          </a:p>
          <a:p xmlns:a="http://schemas.openxmlformats.org/drawingml/2006/main">
            <a:r>
              <a:t/>
            </a:r>
          </a:p>
          <a:p xmlns:a="http://schemas.openxmlformats.org/drawingml/2006/main">
            <a:r>
              <a:t>Evidence context</a:t>
            </a:r>
          </a:p>
          <a:p xmlns:a="http://schemas.openxmlformats.org/drawingml/2006/main">
            <a:r>
              <a:t>The expected result means the outcome of the selected base planning assumptions, not a statistical KU forecast. Under AF13, N = 8. Annual gross benefit is AED 2,760. Annual fixed cash is AED 1,074.4266 and handling is 8 × 25 = AED 200. Annual net cash benefit is AED 1,485.5734. One-time setup of AED 230 makes first-year cost AED 1,504.4266 and first-year net benefit AED 1,255.5734. First-year cash ROI = 1,255.5734 / 1,504.4266 × 100 = 83.4586%. Source S16 supplies the ROI method. Time, cloud taxes, card fees and institution-specific overhead remain outside this cash 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[S15] Sharaf DG Samsung S3 S33GF monitor listing</a:t>
            </a:r>
          </a:p>
          <a:p xmlns:a="http://schemas.openxmlformats.org/drawingml/2006/main">
            <a:r>
              <a:t>https://uae.sharafdg.com/product/samsung-s3-s33gf-essential-fhd-monitor-24inch-ls24f330eamxue/</a:t>
            </a:r>
          </a:p>
          <a:p xmlns:a="http://schemas.openxmlformats.org/drawingml/2006/main">
            <a:r>
              <a:t>22 September 2026 listing: AED 345 incl. VAT, ENGAGE seller, 24-inch FHD with HDMI. Retail proxy, not KU quote. Delivery excluded.</a:t>
            </a:r>
          </a:p>
          <a:p xmlns:a="http://schemas.openxmlformats.org/drawingml/2006/main">
            <a:r>
              <a:t/>
            </a:r>
          </a:p>
          <a:p xmlns:a="http://schemas.openxmlformats.org/drawingml/2006/main">
            <a:r>
              <a:t>[S16] NHS Measurement for Improvement and Return on Investment</a:t>
            </a:r>
          </a:p>
          <a:p xmlns:a="http://schemas.openxmlformats.org/drawingml/2006/main">
            <a:r>
              <a:t>https://www.england.nhs.uk/improvement-hub/wp-content/uploads/sites/44/2017/11/2010-Measurement-for-Improvement-and-ROI.pdf</a:t>
            </a:r>
          </a:p>
          <a:p xmlns:a="http://schemas.openxmlformats.org/drawingml/2006/main">
            <a:r>
              <a:t>Printed page 26: ROI = net benefits / costs x 100. Project inputs are separate assumptions.</a:t>
            </a:r>
          </a:p>
          <a:p xmlns:a="http://schemas.openxmlformats.org/drawingml/2006/main">
            <a:r>
              <a:t/>
            </a:r>
          </a:p>
          <a:p xmlns:a="http://schemas.openxmlformats.org/drawingml/2006/main">
            <a:r>
              <a:t>Evidence context</a:t>
            </a:r>
          </a:p>
          <a:p xmlns:a="http://schemas.openxmlformats.org/drawingml/2006/main">
            <a:r>
              <a:t>Scenario sensitivity uses the same AED230 upfront and AED1074.4266 recurring fixed cash plus AED25 per monitor. All values derive from finance_v3. Year1ROI=year1net/year1cost. Zero case is downside,4/8/12 areAF13 assumptions. Annual benefits do not imply actual KU demand. Full time-inclusive analysis follows.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[S25] NIST investment analysis guide</a:t>
            </a:r>
          </a:p>
          <a:p xmlns:a="http://schemas.openxmlformats.org/drawingml/2006/main">
            <a:r>
              <a:t>https://nvlpubs.nist.gov/nistpubs/ams/NIST.AMS.200-11.pdf</a:t>
            </a:r>
          </a:p>
          <a:p xmlns:a="http://schemas.openxmlformats.org/drawingml/2006/main">
            <a:r>
              <a:t>Appendix A1.3, printed page 25 equation 7: simple payback from initial investment and uniform annual net inflow. Page 26 discusses limitations. Our inputs are scenarios.</a:t>
            </a:r>
          </a:p>
          <a:p xmlns:a="http://schemas.openxmlformats.org/drawingml/2006/main">
            <a:r>
              <a:t/>
            </a:r>
          </a:p>
          <a:p xmlns:a="http://schemas.openxmlformats.org/drawingml/2006/main">
            <a:r>
              <a:t>Evidence context</a:t>
            </a:r>
          </a:p>
          <a:p xmlns:a="http://schemas.openxmlformats.org/drawingml/2006/main">
            <a:r>
              <a:t>NIST AMS 200-11, Appendix A1.3, equation 7, supports simple payback as initial investment divided by uniform annual net inflow. AF17 assumes uniform net benefits from go-live. In the base case, 230 / 1,485.5734 = 0.154822 years = 1.857868 months. This excludes development time and time before go-live. Actual reuse happens in discrete transactions. With year-end-only recognition, the first positive cumulative result is the end of year 1. A dated transaction forecast is needed to estimate an actual recovery date.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[S24] GAO Cost Estimating and Assessment Guide</a:t>
            </a:r>
          </a:p>
          <a:p xmlns:a="http://schemas.openxmlformats.org/drawingml/2006/main">
            <a:r>
              <a:t>https://www.gao.gov/assets/d20195G.pdf</a:t>
            </a:r>
          </a:p>
          <a:p xmlns:a="http://schemas.openxmlformats.org/drawingml/2006/main">
            <a:r>
              <a:t>GAO-20-195G (2020), printed pages 94–95: recurring/nonrecurring cost categories. Page 123: double-counting checks. Our project amounts are assumptions.</a:t>
            </a:r>
          </a:p>
          <a:p xmlns:a="http://schemas.openxmlformats.org/drawingml/2006/main">
            <a:r>
              <a:t/>
            </a:r>
          </a:p>
          <a:p xmlns:a="http://schemas.openxmlformats.org/drawingml/2006/main">
            <a:r>
              <a:t>Evidence context</a:t>
            </a:r>
          </a:p>
          <a:p xmlns:a="http://schemas.openxmlformats.org/drawingml/2006/main">
            <a:r>
              <a:t>AF14 values 180 base development hours plus a 15% effort reserve, or 207 hours, at an assumed AED 30 per hour. This is AED 6,210. Together with AED 230 setup cash, the initial time-inclusive value is AED 6,440. AF15 values 24 support hours per year at the same assumed rate, or AED 720. AF16 adds 0.5 staff hour per extra reused monitor, or AED 15 per monitor. This is additional effort across all roles after allowing for current-process work. It applies per monitor, not per request. The hourly rate is a planning value, not a KU salary. Support and transfer work must not be counted twice.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[S16] NHS Measurement for Improvement and Return on Investment</a:t>
            </a:r>
          </a:p>
          <a:p xmlns:a="http://schemas.openxmlformats.org/drawingml/2006/main">
            <a:r>
              <a:t>https://www.england.nhs.uk/improvement-hub/wp-content/uploads/sites/44/2017/11/2010-Measurement-for-Improvement-and-ROI.pdf</a:t>
            </a:r>
          </a:p>
          <a:p xmlns:a="http://schemas.openxmlformats.org/drawingml/2006/main">
            <a:r>
              <a:t>Printed page 26: ROI = net benefits / costs x 100. Project inputs are separate assumptions.</a:t>
            </a:r>
          </a:p>
          <a:p xmlns:a="http://schemas.openxmlformats.org/drawingml/2006/main">
            <a:r>
              <a:t/>
            </a:r>
          </a:p>
          <a:p xmlns:a="http://schemas.openxmlformats.org/drawingml/2006/main">
            <a:r>
              <a:t>[S24] GAO Cost Estimating and Assessment Guide</a:t>
            </a:r>
          </a:p>
          <a:p xmlns:a="http://schemas.openxmlformats.org/drawingml/2006/main">
            <a:r>
              <a:t>https://www.gao.gov/assets/d20195G.pdf</a:t>
            </a:r>
          </a:p>
          <a:p xmlns:a="http://schemas.openxmlformats.org/drawingml/2006/main">
            <a:r>
              <a:t>GAO-20-195G (2020), printed pages 94–95: recurring/nonrecurring cost categories. Page 123: double-counting checks. Our project amounts are assumptions.</a:t>
            </a:r>
          </a:p>
          <a:p xmlns:a="http://schemas.openxmlformats.org/drawingml/2006/main">
            <a:r>
              <a:t/>
            </a:r>
          </a:p>
          <a:p xmlns:a="http://schemas.openxmlformats.org/drawingml/2006/main">
            <a:r>
              <a:t>Evidence context</a:t>
            </a:r>
          </a:p>
          <a:p xmlns:a="http://schemas.openxmlformats.org/drawingml/2006/main">
            <a:r>
              <a:t>At eight additional monitors per year, annual cash costs of AED 1,274.4266 plus AED 720 support time and AED 120 transfer time give AED 2,114.4266 in annual time-inclusive costs. Annual net benefit = 2,760 − 2,114.4266 = AED 645.5734. Over three years, gross benefit is AED 8,280, cost is 6,440 + 3 × 2,114.4266 = AED 12,783.2798, and net benefit is AED −4,503.2798. ROI is −35.22789%. The initial investment is not recovered within the three-year horizon. A longer extrapolation would require unsupported assumptions about sustained benefits and costs, so it is not presented as a viable payback. Tax, fees and institution-specific overhead remain unconfirmed.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[S16] NHS Measurement for Improvement and Return on Investment</a:t>
            </a:r>
          </a:p>
          <a:p xmlns:a="http://schemas.openxmlformats.org/drawingml/2006/main">
            <a:r>
              <a:t>https://www.england.nhs.uk/improvement-hub/wp-content/uploads/sites/44/2017/11/2010-Measurement-for-Improvement-and-ROI.pdf</a:t>
            </a:r>
          </a:p>
          <a:p xmlns:a="http://schemas.openxmlformats.org/drawingml/2006/main">
            <a:r>
              <a:t>Printed page 26: ROI = net benefits / costs x 100. Project inputs are separate assumptions.</a:t>
            </a:r>
          </a:p>
          <a:p xmlns:a="http://schemas.openxmlformats.org/drawingml/2006/main">
            <a:r>
              <a:t/>
            </a:r>
          </a:p>
          <a:p xmlns:a="http://schemas.openxmlformats.org/drawingml/2006/main">
            <a:r>
              <a:t>[S24] GAO Cost Estimating and Assessment Guide</a:t>
            </a:r>
          </a:p>
          <a:p xmlns:a="http://schemas.openxmlformats.org/drawingml/2006/main">
            <a:r>
              <a:t>https://www.gao.gov/assets/d20195G.pdf</a:t>
            </a:r>
          </a:p>
          <a:p xmlns:a="http://schemas.openxmlformats.org/drawingml/2006/main">
            <a:r>
              <a:t>GAO-20-195G (2020), printed pages 94–95: recurring/nonrecurring cost categories. Page 123: double-counting checks. Our project amounts are assumptions.</a:t>
            </a:r>
          </a:p>
          <a:p xmlns:a="http://schemas.openxmlformats.org/drawingml/2006/main">
            <a:r>
              <a:t/>
            </a:r>
          </a:p>
          <a:p xmlns:a="http://schemas.openxmlformats.org/drawingml/2006/main">
            <a:r>
              <a:t>[S25] NIST investment analysis guide</a:t>
            </a:r>
          </a:p>
          <a:p xmlns:a="http://schemas.openxmlformats.org/drawingml/2006/main">
            <a:r>
              <a:t>https://nvlpubs.nist.gov/nistpubs/ams/NIST.AMS.200-11.pdf</a:t>
            </a:r>
          </a:p>
          <a:p xmlns:a="http://schemas.openxmlformats.org/drawingml/2006/main">
            <a:r>
              <a:t>Appendix A1.3, printed page 25 equation 7: simple payback from initial investment and uniform annual net inflow. Page 26 discusses limitations. Our inputs are scenarios.</a:t>
            </a:r>
          </a:p>
          <a:p xmlns:a="http://schemas.openxmlformats.org/drawingml/2006/main">
            <a:r>
              <a:t/>
            </a:r>
          </a:p>
          <a:p xmlns:a="http://schemas.openxmlformats.org/drawingml/2006/main">
            <a:r>
              <a:t>Evidence context</a:t>
            </a:r>
          </a:p>
          <a:p xmlns:a="http://schemas.openxmlformats.org/drawingml/2006/main">
            <a:r>
              <a:t>The editable chart shows cumulative net benefit in AED for the base case of eight additional avoided purchases per year. At setup, the cash-only result is −230 and the time-inclusive result is −6,440. End-of-year results are cash/time-inclusive: year 1, 1,255.5734/−5,794.4266. Year 2, 2,741.1468/−5,148.8532. Year 3, 4,226.7202/−4,503.2798. Annual net cash is 1,485.5734 and annual net including time is 645.5734. This uses year-end recognition and constant AF12–17 assumptions. No discounting, inflation, residual value or unpriced taxes are included.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[S15] Sharaf DG Samsung S3 S33GF monitor listing</a:t>
            </a:r>
          </a:p>
          <a:p xmlns:a="http://schemas.openxmlformats.org/drawingml/2006/main">
            <a:r>
              <a:t>https://uae.sharafdg.com/product/samsung-s3-s33gf-essential-fhd-monitor-24inch-ls24f330eamxue/</a:t>
            </a:r>
          </a:p>
          <a:p xmlns:a="http://schemas.openxmlformats.org/drawingml/2006/main">
            <a:r>
              <a:t>22 September 2026 listing: AED 345 incl. VAT, ENGAGE seller, 24-inch FHD with HDMI. Retail proxy, not KU quote. Delivery excluded.</a:t>
            </a:r>
          </a:p>
          <a:p xmlns:a="http://schemas.openxmlformats.org/drawingml/2006/main">
            <a:r>
              <a:t/>
            </a:r>
          </a:p>
          <a:p xmlns:a="http://schemas.openxmlformats.org/drawingml/2006/main">
            <a:r>
              <a:t>[S16] NHS Measurement for Improvement and Return on Investment</a:t>
            </a:r>
          </a:p>
          <a:p xmlns:a="http://schemas.openxmlformats.org/drawingml/2006/main">
            <a:r>
              <a:t>https://www.england.nhs.uk/improvement-hub/wp-content/uploads/sites/44/2017/11/2010-Measurement-for-Improvement-and-ROI.pdf</a:t>
            </a:r>
          </a:p>
          <a:p xmlns:a="http://schemas.openxmlformats.org/drawingml/2006/main">
            <a:r>
              <a:t>Printed page 26: ROI = net benefits / costs x 100. Project inputs are separate assumptions.</a:t>
            </a:r>
          </a:p>
          <a:p xmlns:a="http://schemas.openxmlformats.org/drawingml/2006/main">
            <a:r>
              <a:t/>
            </a:r>
          </a:p>
          <a:p xmlns:a="http://schemas.openxmlformats.org/drawingml/2006/main">
            <a:r>
              <a:t>[S24] GAO Cost Estimating and Assessment Guide</a:t>
            </a:r>
          </a:p>
          <a:p xmlns:a="http://schemas.openxmlformats.org/drawingml/2006/main">
            <a:r>
              <a:t>https://www.gao.gov/assets/d20195G.pdf</a:t>
            </a:r>
          </a:p>
          <a:p xmlns:a="http://schemas.openxmlformats.org/drawingml/2006/main">
            <a:r>
              <a:t>GAO-20-195G (2020), printed pages 94–95: recurring/nonrecurring cost categories. Page 123: double-counting checks. Our project amounts are assumptions.</a:t>
            </a:r>
          </a:p>
          <a:p xmlns:a="http://schemas.openxmlformats.org/drawingml/2006/main">
            <a:r>
              <a:t/>
            </a:r>
          </a:p>
          <a:p xmlns:a="http://schemas.openxmlformats.org/drawingml/2006/main">
            <a:r>
              <a:t>Evidence context</a:t>
            </a:r>
          </a:p>
          <a:p xmlns:a="http://schemas.openxmlformats.org/drawingml/2006/main">
            <a:r>
              <a:t>The three-year time-inclusive break-even quantity is ceiling[(6,440 + 3 × (1,074.4266 + 720)) / (3 × (345 − 25 − 15))] = 13 additional monitors each year. This equals 32.5% of the assumed 40 purchases remaining after existing reuse. Price, demand, costs and staff time must hold at their stated assumptions. This is a project accounting threshold, not a forecast. The base case of eight is below it. Even 12 gives a three-year net result of AED −843.2798. Other asset categories or measured staff savings could change the result, but they cannot be added without evidence and checks against double counting.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[S28] Django built-in application components</a:t>
            </a:r>
          </a:p>
          <a:p xmlns:a="http://schemas.openxmlformats.org/drawingml/2006/main">
            <a:r>
              <a:t>https://www.djangoproject.com/start/</a:t>
            </a:r>
          </a:p>
          <a:p xmlns:a="http://schemas.openxmlformats.org/drawingml/2006/main">
            <a:r>
              <a:t>Official forms, authentication and administration facilities. Supports reuse availability, not our estimated hours.</a:t>
            </a:r>
          </a:p>
          <a:p xmlns:a="http://schemas.openxmlformats.org/drawingml/2006/main">
            <a:r>
              <a:t/>
            </a:r>
          </a:p>
          <a:p xmlns:a="http://schemas.openxmlformats.org/drawingml/2006/main">
            <a:r>
              <a:t>[S29] PostgreSQL and Django licence information</a:t>
            </a:r>
          </a:p>
          <a:p xmlns:a="http://schemas.openxmlformats.org/drawingml/2006/main">
            <a:r>
              <a:t>https://www.postgresql.org/about/licence/</a:t>
            </a:r>
          </a:p>
          <a:p xmlns:a="http://schemas.openxmlformats.org/drawingml/2006/main">
            <a:r>
              <a:t>PostgreSQL permits use without a licence fee subject to its notice conditions. Django BSD licence: https://docs.djangoproject.com/en/5.2/faq/general/#how-is-django-licensed . Hosting and maintenance still cost resources.</a:t>
            </a:r>
          </a:p>
          <a:p xmlns:a="http://schemas.openxmlformats.org/drawingml/2006/main">
            <a:r>
              <a:t/>
            </a:r>
          </a:p>
          <a:p xmlns:a="http://schemas.openxmlformats.org/drawingml/2006/main">
            <a:r>
              <a:t>Evidence context</a:t>
            </a:r>
          </a:p>
          <a:p xmlns:a="http://schemas.openxmlformats.org/drawingml/2006/main">
            <a:r>
              <a:t>AR01 compares the same foundational behaviour with and without the proposed framework components. The sources establish available Django capabilities and licence terms, not the estimated hours. All hour values are team estimates and include adaptation and testing. The custom comparison does not mean writing cryptographic primitives. Foundation work is 68 hours custom versus 32 hours with reuse, avoiding 36 hours. Holding other work at 148 hours gives 216 versus 180 whole-project hours, a 16.7% reduction. Under AR02, the same 15% effort reserve gives 248.4 versus 207 hours. The current WBS already includes the reuse estimate, so these hours must not be subtracted again. Required licence notices, maintenance and security tests still apply.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Evidence context</a:t>
            </a:r>
          </a:p>
          <a:p xmlns:a="http://schemas.openxmlformats.org/drawingml/2006/main">
            <a:r>
              <a:t>AS01 is a remaining-project capacity scenario: 8 weeks × 3 members × 8 hours per member per week = 192 person-hours. AS02 estimates 150–210 hours before a 15% reserve, or 172.5–241.5 hours with reserve. The 180-hour midpoint with reserve is 207 hours, leaving a 15-hour gap. Member availability, actual remaining weeks and dependencies require confirmation. The Phase 2 submission date is 29 September 2026. Required-scope changes need instructor agreement.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[S17] NASA Software Engineering Handbook SWE-086</a:t>
            </a:r>
          </a:p>
          <a:p xmlns:a="http://schemas.openxmlformats.org/drawingml/2006/main">
            <a:r>
              <a:t>https://swehb.nasa.gov/spaces/SWEHBVD/pages/102695470/SWE-086%2B-%2BContinuous%2BRisk%2BManagement</a:t>
            </a:r>
          </a:p>
          <a:p xmlns:a="http://schemas.openxmlformats.org/drawingml/2006/main">
            <a:r>
              <a:t>Risk assessment, owners, mitigation, triggers and continuing review. Our numeric rubric is a team adaptation.</a:t>
            </a:r>
          </a:p>
          <a:p xmlns:a="http://schemas.openxmlformats.org/drawingml/2006/main">
            <a:r>
              <a:t/>
            </a:r>
          </a:p>
          <a:p xmlns:a="http://schemas.openxmlformats.org/drawingml/2006/main">
            <a:r>
              <a:t>[S18] NIST IR 8286Ar1</a:t>
            </a:r>
          </a:p>
          <a:p xmlns:a="http://schemas.openxmlformats.org/drawingml/2006/main">
            <a:r>
              <a:t>https://tsapps.nist.gov/publication/get_pdf.cfm?pub_id=933223</a:t>
            </a:r>
          </a:p>
          <a:p xmlns:a="http://schemas.openxmlformats.org/drawingml/2006/main">
            <a:r>
              <a:t>Printed pages 55–56 and 59: probability and monetary impact support quantitative risk exposure. Ordinal scores are not probabilities.</a:t>
            </a:r>
          </a:p>
          <a:p xmlns:a="http://schemas.openxmlformats.org/drawingml/2006/main">
            <a:r>
              <a:t/>
            </a:r>
          </a:p>
          <a:p xmlns:a="http://schemas.openxmlformats.org/drawingml/2006/main">
            <a:r>
              <a:t>Evidence context</a:t>
            </a:r>
          </a:p>
          <a:p xmlns:a="http://schemas.openxmlformats.org/drawingml/2006/main">
            <a:r>
              <a:t>Risk rubric matches section 16 of the revised report. This is a team adaptation informed by NASA guidance [S17]. Priority = likelihood × impact using ordinal 1–5 ratings. Likelihood: 1 unlikely with relevant control demonstrated. 2 possible with limited exposure. 3 plausible with an important control untested. 4 expected without action because an essential dependency is missing. 5 almost certain without intervention. Highest applicable impact: 1 under 2 hours of rework and no required workflow affected. 2 up to 1 day of rework and a minor feature affected. 3 a 2–3 day delay or a repeated core trial. 4 a 4–7 day delay or an unsupported feasibility conclusion. 5 over 7 days, a missed mandatory deadline, confidential disclosure or an unauthorised major action. A day is an agreed project working day. Calendar effects depend on availability. Bands 1–4 low, 5–9 medium, 10–16 high and 17–25 critical are team assumptions. Review all impact-5 risks regardless of score. Existing problems also enter issue tracking. Scores are not probabilities or cash loss. Expected cash loss = event probability × cash impact [S18] requires defensible probabilities and amounts for a defined scenario and period. We do not calculate it because those inputs are unavailable.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[S17] NASA Software Engineering Handbook SWE-086</a:t>
            </a:r>
          </a:p>
          <a:p xmlns:a="http://schemas.openxmlformats.org/drawingml/2006/main">
            <a:r>
              <a:t>https://swehb.nasa.gov/spaces/SWEHBVD/pages/102695470/SWE-086%2B-%2BContinuous%2BRisk%2BManagement</a:t>
            </a:r>
          </a:p>
          <a:p xmlns:a="http://schemas.openxmlformats.org/drawingml/2006/main">
            <a:r>
              <a:t>Risk assessment, owners, mitigation, triggers and continuing review. Our numeric rubric is a team adaptation.</a:t>
            </a:r>
          </a:p>
          <a:p xmlns:a="http://schemas.openxmlformats.org/drawingml/2006/main">
            <a:r>
              <a:t/>
            </a:r>
          </a:p>
          <a:p xmlns:a="http://schemas.openxmlformats.org/drawingml/2006/main">
            <a:r>
              <a:t>[S18] NIST IR 8286Ar1</a:t>
            </a:r>
          </a:p>
          <a:p xmlns:a="http://schemas.openxmlformats.org/drawingml/2006/main">
            <a:r>
              <a:t>https://tsapps.nist.gov/publication/get_pdf.cfm?pub_id=933223</a:t>
            </a:r>
          </a:p>
          <a:p xmlns:a="http://schemas.openxmlformats.org/drawingml/2006/main">
            <a:r>
              <a:t>Printed pages 55–56 and 59: probability and monetary impact support quantitative risk exposure. Ordinal scores are not probabilities.</a:t>
            </a:r>
          </a:p>
          <a:p xmlns:a="http://schemas.openxmlformats.org/drawingml/2006/main">
            <a:r>
              <a:t/>
            </a:r>
          </a:p>
          <a:p xmlns:a="http://schemas.openxmlformats.org/drawingml/2006/main">
            <a:r>
              <a:t>Evidence context</a:t>
            </a:r>
          </a:p>
          <a:p xmlns:a="http://schemas.openxmlformats.org/drawingml/2006/main">
            <a:r>
              <a:t>The risk assessment reflects documented uncertainty rather than measured probability. The two AI role-play interviews refine proposed requirements, while KU ownership, process and authorised samples remain unverified. R2 ranking and eligibility, R3 permissions, R5 usage and recovery are untested. R4 staff acceptance and repeated entry, and R6 available effort, remain unknown. Residual scores are targets after effective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[S17] NASA Software Engineering Handbook SWE-086</a:t>
            </a:r>
          </a:p>
          <a:p xmlns:a="http://schemas.openxmlformats.org/drawingml/2006/main">
            <a:r>
              <a:t>https://swehb.nasa.gov/spaces/SWEHBVD/pages/102695470/SWE-086%2B-%2BContinuous%2BRisk%2BManagement</a:t>
            </a:r>
          </a:p>
          <a:p xmlns:a="http://schemas.openxmlformats.org/drawingml/2006/main">
            <a:r>
              <a:t>Risk assessment, owners, mitigation, triggers and continuing review. Our numeric rubric is a team adaptation.</a:t>
            </a:r>
          </a:p>
          <a:p xmlns:a="http://schemas.openxmlformats.org/drawingml/2006/main">
            <a:r>
              <a:t/>
            </a:r>
          </a:p>
          <a:p xmlns:a="http://schemas.openxmlformats.org/drawingml/2006/main">
            <a:r>
              <a:t>Evidence context</a:t>
            </a:r>
          </a:p>
          <a:p xmlns:a="http://schemas.openxmlformats.org/drawingml/2006/main">
            <a:r>
              <a:t>Final report risk response summary. Two labelled AI role-play interviews were completed on 29 September. R1 still requires permitted KU records and authorised staff validation before a live rollout. Simulations do not verify the current workflow or savings. Classic fallback preserves task completion while unmet AI requirements remain visible. Access exposure requires stopping the affected route, revoking keys and preserving relevant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[S17] NASA Software Engineering Handbook SWE-086</a:t>
            </a:r>
          </a:p>
          <a:p xmlns:a="http://schemas.openxmlformats.org/drawingml/2006/main">
            <a:r>
              <a:t>https://swehb.nasa.gov/spaces/SWEHBVD/pages/102695470/SWE-086%2B-%2BContinuous%2BRisk%2BManagement</a:t>
            </a:r>
          </a:p>
          <a:p xmlns:a="http://schemas.openxmlformats.org/drawingml/2006/main">
            <a:r>
              <a:t>Risk assessment, owners, mitigation, triggers and continuing review. Our numeric rubric is a team adaptation.</a:t>
            </a:r>
          </a:p>
          <a:p xmlns:a="http://schemas.openxmlformats.org/drawingml/2006/main">
            <a:r>
              <a:t/>
            </a:r>
          </a:p>
          <a:p xmlns:a="http://schemas.openxmlformats.org/drawingml/2006/main">
            <a:r>
              <a:t>Evidence context</a:t>
            </a:r>
          </a:p>
          <a:p xmlns:a="http://schemas.openxmlformats.org/drawingml/2006/main">
            <a:r>
              <a:t>Summary of R4–R6. Measure all staff work, including setup, training, review and reconciliation. A cash cap must be agreed before any paid use. A temporary local demonstration does not complete hosted deployment. Changes to required scope need instructor agreement. Targets remain pending until controls have been checked.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Evidence context</a:t>
            </a:r>
          </a:p>
          <a:p xmlns:a="http://schemas.openxmlformats.org/drawingml/2006/main">
            <a:r>
              <a:t>Final report recommendation as of 29 September 2026. Continue the academic prototype with the stated conditions. The monitor scenario alone does not justify a custom KU rollout. Two simulated interviews are documented. Actual baseline, staff acceptance, deployment and technical evaluation remain to be measured. Next actions identify substantive validation work rather than an unfinished Phase 2 interview deliverable.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Evidence context</a:t>
            </a:r>
          </a:p>
          <a:p xmlns:a="http://schemas.openxmlformats.org/drawingml/2006/main">
            <a:r>
              <a:t>Final report AI-use disclosure. Claude and OpenAI Codex assisted drafting, research, calculations, document preparation, source checking and revisions. An AI image tool produced the conceptual workflow illustration and student-project logo. AI role-play supplied two fictional stakeholder interviews on 29 September under instructor permission reported by the team. No real KU employees participated. The student team remains responsible for submitted claims and cannot use simulations as evidence of actual KU procedures, savings or staff acceptance.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[S01] COSC336 course project description</a:t>
            </a:r>
          </a:p>
          <a:p xmlns:a="http://schemas.openxmlformats.org/drawingml/2006/main">
            <a:r>
              <a:t>https://github.com/duqins/ITS/blob/main/docs/reference/Project-September2026.pdf</a:t>
            </a:r>
          </a:p>
          <a:p xmlns:a="http://schemas.openxmlformats.org/drawingml/2006/main">
            <a:r>
              <a:t>Page 7: six feasibility areas. Page 5: classic and AI comparison.</a:t>
            </a:r>
          </a:p>
          <a:p xmlns:a="http://schemas.openxmlformats.org/drawingml/2006/main">
            <a:r>
              <a:t/>
            </a:r>
          </a:p>
          <a:p xmlns:a="http://schemas.openxmlformats.org/drawingml/2006/main">
            <a:r>
              <a:t>[S02] Group 4 Phase 1 scope and success criteria</a:t>
            </a:r>
          </a:p>
          <a:p xmlns:a="http://schemas.openxmlformats.org/drawingml/2006/main">
            <a:r>
              <a:t>https://github.com/duqins/ITS/blob/main/docs/phase1/sections/07-success-criteria.md</a:t>
            </a:r>
          </a:p>
          <a:p xmlns:a="http://schemas.openxmlformats.org/drawingml/2006/main">
            <a:r>
              <a:t>Team-defined prototype targets, not achieved results. Scope: https://github.com/duqins/ITS/blob/main/docs/phase1/sections/02-project-overview.md . Effort and budget: https://github.com/duqins/ITS/blob/main/docs/phase1/sections/08-project-plan.md .</a:t>
            </a:r>
          </a:p>
          <a:p xmlns:a="http://schemas.openxmlformats.org/drawingml/2006/main">
            <a:r>
              <a:t/>
            </a:r>
          </a:p>
          <a:p xmlns:a="http://schemas.openxmlformats.org/drawingml/2006/main">
            <a:r>
              <a:t>[S03] KU ISO certificates</a:t>
            </a:r>
          </a:p>
          <a:p xmlns:a="http://schemas.openxmlformats.org/drawingml/2006/main">
            <a:r>
              <a:t>https://www.ku.ac.ae/iso-certificates</a:t>
            </a:r>
          </a:p>
          <a:p xmlns:a="http://schemas.openxmlformats.org/drawingml/2006/main">
            <a:r>
              <a:t>Lists asset management under Facilities Management. Supports a proposed owner, not confirmed software ownership.</a:t>
            </a:r>
          </a:p>
          <a:p xmlns:a="http://schemas.openxmlformats.org/drawingml/2006/main">
            <a:r>
              <a:t/>
            </a:r>
          </a:p>
          <a:p xmlns:a="http://schemas.openxmlformats.org/drawingml/2006/main">
            <a:r>
              <a:t>[S04] Rheaply internal reuse</a:t>
            </a:r>
          </a:p>
          <a:p xmlns:a="http://schemas.openxmlformats.org/drawingml/2006/main">
            <a:r>
              <a:t>https://rheaply.com/internal-reuse/</a:t>
            </a:r>
          </a:p>
          <a:p xmlns:a="http://schemas.openxmlformats.org/drawingml/2006/main">
            <a:r>
              <a:t>Vendor-described marketplace, inventory, approvals and impact reporting.</a:t>
            </a:r>
          </a:p>
          <a:p xmlns:a="http://schemas.openxmlformats.org/drawingml/2006/main">
            <a:r>
              <a:t/>
            </a:r>
          </a:p>
          <a:p xmlns:a="http://schemas.openxmlformats.org/drawingml/2006/main">
            <a:r>
              <a:t>[S05] Rheaply AI suggestions</a:t>
            </a:r>
          </a:p>
          <a:p xmlns:a="http://schemas.openxmlformats.org/drawingml/2006/main">
            <a:r>
              <a:t>https://support.rheaply.com/en/articles/7967928-use-ai-powered-suggestions-to-create-and-backfill-listings</a:t>
            </a:r>
          </a:p>
          <a:p xmlns:a="http://schemas.openxmlformats.org/drawingml/2006/main">
            <a:r>
              <a:t>AI-assisted listing details with human review.</a:t>
            </a:r>
          </a:p>
          <a:p xmlns:a="http://schemas.openxmlformats.org/drawingml/2006/main">
            <a:r>
              <a:t/>
            </a:r>
          </a:p>
          <a:p xmlns:a="http://schemas.openxmlformats.org/drawingml/2006/main">
            <a:r>
              <a:t>[S06] Warp It product tour</a:t>
            </a:r>
          </a:p>
          <a:p xmlns:a="http://schemas.openxmlformats.org/drawingml/2006/main">
            <a:r>
              <a:t>https://www.warp-it.co.uk/portal/warpit/tour</a:t>
            </a:r>
          </a:p>
          <a:p xmlns:a="http://schemas.openxmlformats.org/drawingml/2006/main">
            <a:r>
              <a:t>Vendor-described reuse workflow and reports. Homepage https://www.warp-it.co.uk/ describes AI photo-based listing.</a:t>
            </a:r>
          </a:p>
          <a:p xmlns:a="http://schemas.openxmlformats.org/drawingml/2006/main">
            <a:r>
              <a:t/>
            </a:r>
          </a:p>
          <a:p xmlns:a="http://schemas.openxmlformats.org/drawingml/2006/main">
            <a:r>
              <a:t>[S07] Snipe-IT product and pricing</a:t>
            </a:r>
          </a:p>
          <a:p xmlns:a="http://schemas.openxmlformats.org/drawingml/2006/main">
            <a:r>
              <a:t>https://snipeitapp.com/product</a:t>
            </a:r>
          </a:p>
          <a:p xmlns:a="http://schemas.openxmlformats.org/drawingml/2006/main">
            <a:r>
              <a:t>Inventory/custody, requests, history, permissions and API. Pricing: https://snipeitapp.com/pricing .</a:t>
            </a:r>
          </a:p>
          <a:p xmlns:a="http://schemas.openxmlformats.org/drawingml/2006/main">
            <a:r>
              <a:t/>
            </a:r>
          </a:p>
          <a:p xmlns:a="http://schemas.openxmlformats.org/drawingml/2006/main">
            <a:r>
              <a:t>[S08] UC Berkeley Rheaply showroom</a:t>
            </a:r>
          </a:p>
          <a:p xmlns:a="http://schemas.openxmlformats.org/drawingml/2006/main">
            <a:r>
              <a:t>https://property.berkeley.edu/surplus/campus/rheaply-online-showroom-inventory</a:t>
            </a:r>
          </a:p>
          <a:p xmlns:a="http://schemas.openxmlformats.org/drawingml/2006/main">
            <a:r>
              <a:t>Institutional use elsewhere supports relevance, not KU demand or savings.</a:t>
            </a:r>
          </a:p>
          <a:p xmlns:a="http://schemas.openxmlformats.org/drawingml/2006/main">
            <a:r>
              <a:t/>
            </a:r>
          </a:p>
          <a:p xmlns:a="http://schemas.openxmlformats.org/drawingml/2006/main">
            <a:r>
              <a:t>Evidence context</a:t>
            </a:r>
          </a:p>
          <a:p xmlns:a="http://schemas.openxmlformats.org/drawingml/2006/main">
            <a:r>
              <a:t>Source register from the final report of 29 September 2026. Financial prices and rates retain the 22 September baseline. S35–S38 were added in the 28 September review, and S12 hosting limitations were rechecked on 29 September. Sources establish methods and external facts. Project usage, benefit rates, workload, risk scores and targets remain explicit assumptions. Full URLs and source limitations appear above.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[S09] Django overview and authentication</a:t>
            </a:r>
          </a:p>
          <a:p xmlns:a="http://schemas.openxmlformats.org/drawingml/2006/main">
            <a:r>
              <a:t>https://www.djangoproject.com/start/overview/</a:t>
            </a:r>
          </a:p>
          <a:p xmlns:a="http://schemas.openxmlformats.org/drawingml/2006/main">
            <a:r>
              <a:t>Framework facilities. Permissions: https://docs.djangoproject.com/en/stable/topics/auth/default/ . Department/item rules still need application code.</a:t>
            </a:r>
          </a:p>
          <a:p xmlns:a="http://schemas.openxmlformats.org/drawingml/2006/main">
            <a:r>
              <a:t/>
            </a:r>
          </a:p>
          <a:p xmlns:a="http://schemas.openxmlformats.org/drawingml/2006/main">
            <a:r>
              <a:t>[S10] PostgreSQL overview</a:t>
            </a:r>
          </a:p>
          <a:p xmlns:a="http://schemas.openxmlformats.org/drawingml/2006/main">
            <a:r>
              <a:t>https://www.postgresql.org/about/</a:t>
            </a:r>
          </a:p>
          <a:p xmlns:a="http://schemas.openxmlformats.org/drawingml/2006/main">
            <a:r>
              <a:t>Relational database candidate. Proposed stack remains untested.</a:t>
            </a:r>
          </a:p>
          <a:p xmlns:a="http://schemas.openxmlformats.org/drawingml/2006/main">
            <a:r>
              <a:t/>
            </a:r>
          </a:p>
          <a:p xmlns:a="http://schemas.openxmlformats.org/drawingml/2006/main">
            <a:r>
              <a:t>[S11] Railway pricing and billing</a:t>
            </a:r>
          </a:p>
          <a:p xmlns:a="http://schemas.openxmlformats.org/drawingml/2006/main">
            <a:r>
              <a:t>https://docs.railway.com/pricing</a:t>
            </a:r>
          </a:p>
          <a:p xmlns:a="http://schemas.openxmlformats.org/drawingml/2006/main">
            <a:r>
              <a:t>Rates and Hobby minimum. Billing: https://docs.railway.com/pricing/understanding-your-bill .</a:t>
            </a:r>
          </a:p>
          <a:p xmlns:a="http://schemas.openxmlformats.org/drawingml/2006/main">
            <a:r>
              <a:t/>
            </a:r>
          </a:p>
          <a:p xmlns:a="http://schemas.openxmlformats.org/drawingml/2006/main">
            <a:r>
              <a:t>[S12] Render free services</a:t>
            </a:r>
          </a:p>
          <a:p xmlns:a="http://schemas.openxmlformats.org/drawingml/2006/main">
            <a:r>
              <a:t>https://render.com/docs/free</a:t>
            </a:r>
          </a:p>
          <a:p xmlns:a="http://schemas.openxmlformats.org/drawingml/2006/main">
            <a:r>
              <a:t>Idle sleep and nonpersistent local files. A lasting upload store is still required. Hosting limitations rechecked against the official Render documentation on 29 September 2026.</a:t>
            </a:r>
          </a:p>
          <a:p xmlns:a="http://schemas.openxmlformats.org/drawingml/2006/main">
            <a:r>
              <a:t/>
            </a:r>
          </a:p>
          <a:p xmlns:a="http://schemas.openxmlformats.org/drawingml/2006/main">
            <a:r>
              <a:t>[S13] Neon official plan documentation source</a:t>
            </a:r>
          </a:p>
          <a:p xmlns:a="http://schemas.openxmlformats.org/drawingml/2006/main">
            <a:r>
              <a:t>https://github.com/neondatabase/website/blob/main/content/docs/introduction/plans.md</a:t>
            </a:r>
          </a:p>
          <a:p xmlns:a="http://schemas.openxmlformats.org/drawingml/2006/main">
            <a:r>
              <a:t>Free allowances: 0.5 GB storage, 100 CU-hours and 5 GB public transfer per project/month.</a:t>
            </a:r>
          </a:p>
          <a:p xmlns:a="http://schemas.openxmlformats.org/drawingml/2006/main">
            <a:r>
              <a:t/>
            </a:r>
          </a:p>
          <a:p xmlns:a="http://schemas.openxmlformats.org/drawingml/2006/main">
            <a:r>
              <a:t>[S14] CBUAE reference exchange rates</a:t>
            </a:r>
          </a:p>
          <a:p xmlns:a="http://schemas.openxmlformats.org/drawingml/2006/main">
            <a:r>
              <a:t>https://centralbank.ae/umbraco/Surface/Exchange/GetExchangeRateAllCurrency</a:t>
            </a:r>
          </a:p>
          <a:p xmlns:a="http://schemas.openxmlformats.org/drawingml/2006/main">
            <a:r>
              <a:t>Table updated 21 September 2026: USD 1 = AED 3.6725. Reference rate, not card fees.</a:t>
            </a:r>
          </a:p>
          <a:p xmlns:a="http://schemas.openxmlformats.org/drawingml/2006/main">
            <a:r>
              <a:t/>
            </a:r>
          </a:p>
          <a:p xmlns:a="http://schemas.openxmlformats.org/drawingml/2006/main">
            <a:r>
              <a:t>[S15] Sharaf DG Samsung S3 S33GF monitor listing</a:t>
            </a:r>
          </a:p>
          <a:p xmlns:a="http://schemas.openxmlformats.org/drawingml/2006/main">
            <a:r>
              <a:t>https://uae.sharafdg.com/product/samsung-s3-s33gf-essential-fhd-monitor-24inch-ls24f330eamxue/</a:t>
            </a:r>
          </a:p>
          <a:p xmlns:a="http://schemas.openxmlformats.org/drawingml/2006/main">
            <a:r>
              <a:t>22 September 2026 listing: AED 345 incl. VAT, ENGAGE seller, 24-inch FHD with HDMI. Retail proxy, not KU quote. Delivery excluded.</a:t>
            </a:r>
          </a:p>
          <a:p xmlns:a="http://schemas.openxmlformats.org/drawingml/2006/main">
            <a:r>
              <a:t/>
            </a:r>
          </a:p>
          <a:p xmlns:a="http://schemas.openxmlformats.org/drawingml/2006/main">
            <a:r>
              <a:t>[S16] NHS Measurement for Improvement and Return on Investment</a:t>
            </a:r>
          </a:p>
          <a:p xmlns:a="http://schemas.openxmlformats.org/drawingml/2006/main">
            <a:r>
              <a:t>https://www.england.nhs.uk/improvement-hub/wp-content/uploads/sites/44/2017/11/2010-Measurement-for-Improvement-and-ROI.pdf</a:t>
            </a:r>
          </a:p>
          <a:p xmlns:a="http://schemas.openxmlformats.org/drawingml/2006/main">
            <a:r>
              <a:t>Printed page 26: ROI = net benefits / costs x 100. Project inputs are separate assumptions.</a:t>
            </a:r>
          </a:p>
          <a:p xmlns:a="http://schemas.openxmlformats.org/drawingml/2006/main">
            <a:r>
              <a:t/>
            </a:r>
          </a:p>
          <a:p xmlns:a="http://schemas.openxmlformats.org/drawingml/2006/main">
            <a:r>
              <a:t>Evidence context</a:t>
            </a:r>
          </a:p>
          <a:p xmlns:a="http://schemas.openxmlformats.org/drawingml/2006/main">
            <a:r>
              <a:t>Source register from the final report of 29 September 2026. Financial prices and rates retain the 22 September baseline. S35–S38 were added in the 28 September review, and S12 hosting limitations were rechecked on 29 September. Sources establish methods and external facts. Project usage, benefit rates, workload, risk scores and targets remain explicit assumptions. Full URLs and source limitations appear above.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[S17] NASA Software Engineering Handbook SWE-086</a:t>
            </a:r>
          </a:p>
          <a:p xmlns:a="http://schemas.openxmlformats.org/drawingml/2006/main">
            <a:r>
              <a:t>https://swehb.nasa.gov/spaces/SWEHBVD/pages/102695470/SWE-086%2B-%2BContinuous%2BRisk%2BManagement</a:t>
            </a:r>
          </a:p>
          <a:p xmlns:a="http://schemas.openxmlformats.org/drawingml/2006/main">
            <a:r>
              <a:t>Risk assessment, owners, mitigation, triggers and continuing review. Our numeric rubric is a team adaptation.</a:t>
            </a:r>
          </a:p>
          <a:p xmlns:a="http://schemas.openxmlformats.org/drawingml/2006/main">
            <a:r>
              <a:t/>
            </a:r>
          </a:p>
          <a:p xmlns:a="http://schemas.openxmlformats.org/drawingml/2006/main">
            <a:r>
              <a:t>[S18] NIST IR 8286Ar1</a:t>
            </a:r>
          </a:p>
          <a:p xmlns:a="http://schemas.openxmlformats.org/drawingml/2006/main">
            <a:r>
              <a:t>https://tsapps.nist.gov/publication/get_pdf.cfm?pub_id=933223</a:t>
            </a:r>
          </a:p>
          <a:p xmlns:a="http://schemas.openxmlformats.org/drawingml/2006/main">
            <a:r>
              <a:t>Printed pages 55–56 and 59: probability and monetary impact support quantitative risk exposure. Ordinal scores are not probabilities.</a:t>
            </a:r>
          </a:p>
          <a:p xmlns:a="http://schemas.openxmlformats.org/drawingml/2006/main">
            <a:r>
              <a:t/>
            </a:r>
          </a:p>
          <a:p xmlns:a="http://schemas.openxmlformats.org/drawingml/2006/main">
            <a:r>
              <a:t>[S19] NIST AI RMF Playbook Measure</a:t>
            </a:r>
          </a:p>
          <a:p xmlns:a="http://schemas.openxmlformats.org/drawingml/2006/main">
            <a:r>
              <a:t>https://airc.nist.gov/airmf-resources/playbook/measure/</a:t>
            </a:r>
          </a:p>
          <a:p xmlns:a="http://schemas.openxmlformats.org/drawingml/2006/main">
            <a:r>
              <a:t>Context-specific metrics, limitations and corrective action. No prescribed sample sizes here.</a:t>
            </a:r>
          </a:p>
          <a:p xmlns:a="http://schemas.openxmlformats.org/drawingml/2006/main">
            <a:r>
              <a:t/>
            </a:r>
          </a:p>
          <a:p xmlns:a="http://schemas.openxmlformats.org/drawingml/2006/main">
            <a:r>
              <a:t>[S20] Introduction to Information Retrieval ranked evaluation</a:t>
            </a:r>
          </a:p>
          <a:p xmlns:a="http://schemas.openxmlformats.org/drawingml/2006/main">
            <a:r>
              <a:t>https://nlp.stanford.edu/IR-book/html/htmledition/evaluation-of-ranked-retrieval-results-1.html</a:t>
            </a:r>
          </a:p>
          <a:p xmlns:a="http://schemas.openxmlformats.org/drawingml/2006/main">
            <a:r>
              <a:t>Ranked retrieval evaluation background. Our request-level Hit@3 is a stated operational definition.</a:t>
            </a:r>
          </a:p>
          <a:p xmlns:a="http://schemas.openxmlformats.org/drawingml/2006/main">
            <a:r>
              <a:t/>
            </a:r>
          </a:p>
          <a:p xmlns:a="http://schemas.openxmlformats.org/drawingml/2006/main">
            <a:r>
              <a:t>[S21] scikit-learn zero one loss</a:t>
            </a:r>
          </a:p>
          <a:p xmlns:a="http://schemas.openxmlformats.org/drawingml/2006/main">
            <a:r>
              <a:t>https://scikit-learn.org/stable/modules/generated/sklearn.metrics.zero_one_loss.html</a:t>
            </a:r>
          </a:p>
          <a:p xmlns:a="http://schemas.openxmlformats.org/drawingml/2006/main">
            <a:r>
              <a:t>Normalised zero-one loss is the fraction of misclassifications.</a:t>
            </a:r>
          </a:p>
          <a:p xmlns:a="http://schemas.openxmlformats.org/drawingml/2006/main">
            <a:r>
              <a:t/>
            </a:r>
          </a:p>
          <a:p xmlns:a="http://schemas.openxmlformats.org/drawingml/2006/main">
            <a:r>
              <a:t>[S22] Act on Heat TELOS workflow</a:t>
            </a:r>
          </a:p>
          <a:p xmlns:a="http://schemas.openxmlformats.org/drawingml/2006/main">
            <a:r>
              <a:t>https://actionheat.eu/workflow-step-8</a:t>
            </a:r>
          </a:p>
          <a:p xmlns:a="http://schemas.openxmlformats.org/drawingml/2006/main">
            <a:r>
              <a:t>Technical, economic, legal, operational and scheduling framework. Data/AI added separately by course.</a:t>
            </a:r>
          </a:p>
          <a:p xmlns:a="http://schemas.openxmlformats.org/drawingml/2006/main">
            <a:r>
              <a:t/>
            </a:r>
          </a:p>
          <a:p xmlns:a="http://schemas.openxmlformats.org/drawingml/2006/main">
            <a:r>
              <a:t>[S23] Warp It UK pricing</a:t>
            </a:r>
          </a:p>
          <a:p xmlns:a="http://schemas.openxmlformats.org/drawingml/2006/main">
            <a:r>
              <a:t>https://www.warp-it.co.uk/portal/warpit/pricing</a:t>
            </a:r>
          </a:p>
          <a:p xmlns:a="http://schemas.openxmlformats.org/drawingml/2006/main">
            <a:r>
              <a:t>Published UK bands are not a KU quotation. Confirm local eligibility and taxes before cost comparison.</a:t>
            </a:r>
          </a:p>
          <a:p xmlns:a="http://schemas.openxmlformats.org/drawingml/2006/main">
            <a:r>
              <a:t/>
            </a:r>
          </a:p>
          <a:p xmlns:a="http://schemas.openxmlformats.org/drawingml/2006/main">
            <a:r>
              <a:t>[S24] GAO Cost Estimating and Assessment Guide</a:t>
            </a:r>
          </a:p>
          <a:p xmlns:a="http://schemas.openxmlformats.org/drawingml/2006/main">
            <a:r>
              <a:t>https://www.gao.gov/assets/d20195G.pdf</a:t>
            </a:r>
          </a:p>
          <a:p xmlns:a="http://schemas.openxmlformats.org/drawingml/2006/main">
            <a:r>
              <a:t>GAO-20-195G (2020), printed pages 94–95: recurring/nonrecurring cost categories. Page 123: double-counting checks. Our project amounts are assumptions.</a:t>
            </a:r>
          </a:p>
          <a:p xmlns:a="http://schemas.openxmlformats.org/drawingml/2006/main">
            <a:r>
              <a:t/>
            </a:r>
          </a:p>
          <a:p xmlns:a="http://schemas.openxmlformats.org/drawingml/2006/main">
            <a:r>
              <a:t>Evidence context</a:t>
            </a:r>
          </a:p>
          <a:p xmlns:a="http://schemas.openxmlformats.org/drawingml/2006/main">
            <a:r>
              <a:t>Source register from the final report of 29 September 2026. Financial prices and rates retain the 22 September baseline. S35–S38 were added in the 28 September review, and S12 hosting limitations were rechecked on 29 September. Sources establish methods and external facts. Project usage, benefit rates, workload, risk scores and targets remain explicit assumptions. Full URLs and source limitations appear above.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[S25] NIST investment analysis guide</a:t>
            </a:r>
          </a:p>
          <a:p xmlns:a="http://schemas.openxmlformats.org/drawingml/2006/main">
            <a:r>
              <a:t>https://nvlpubs.nist.gov/nistpubs/ams/NIST.AMS.200-11.pdf</a:t>
            </a:r>
          </a:p>
          <a:p xmlns:a="http://schemas.openxmlformats.org/drawingml/2006/main">
            <a:r>
              <a:t>Appendix A1.3, printed page 25 equation 7: simple payback from initial investment and uniform annual net inflow. Page 26 discusses limitations. Our inputs are scenarios.</a:t>
            </a:r>
          </a:p>
          <a:p xmlns:a="http://schemas.openxmlformats.org/drawingml/2006/main">
            <a:r>
              <a:t/>
            </a:r>
          </a:p>
          <a:p xmlns:a="http://schemas.openxmlformats.org/drawingml/2006/main">
            <a:r>
              <a:t>[S26] University of Bristol Annual Report 2025</a:t>
            </a:r>
          </a:p>
          <a:p xmlns:a="http://schemas.openxmlformats.org/drawingml/2006/main">
            <a:r>
              <a:t>https://www.bristol.ac.uk/media-library/sites/finance/documents/UoB_ARFS2025_WEB.pdf</a:t>
            </a:r>
          </a:p>
          <a:p xmlns:a="http://schemas.openxmlformats.org/drawingml/2006/main">
            <a:r>
              <a:t>Page 34 reports nearly 800 office-furniture items reused and estimated GBP 92,000 avoided purchase cost. This is university-reported gross avoidance, not KU savings or net system ROI.</a:t>
            </a:r>
          </a:p>
          <a:p xmlns:a="http://schemas.openxmlformats.org/drawingml/2006/main">
            <a:r>
              <a:t/>
            </a:r>
          </a:p>
          <a:p xmlns:a="http://schemas.openxmlformats.org/drawingml/2006/main">
            <a:r>
              <a:t>[S27] University of Liverpool Warp It first-year results</a:t>
            </a:r>
          </a:p>
          <a:p xmlns:a="http://schemas.openxmlformats.org/drawingml/2006/main">
            <a:r>
              <a:t>https://www.liverpool.ac.uk/about/sustainability/news/stories/title,1545664,en.php</a:t>
            </a:r>
          </a:p>
          <a:p xmlns:a="http://schemas.openxmlformats.org/drawingml/2006/main">
            <a:r>
              <a:t>Published 24 February 2026: GBP 300,442 reported savings in the first 12 months, including 1,732 furniture items reused. Storage, collection, delivery and IT support also contributed. No complete net-cost method is disclosed.</a:t>
            </a:r>
          </a:p>
          <a:p xmlns:a="http://schemas.openxmlformats.org/drawingml/2006/main">
            <a:r>
              <a:t/>
            </a:r>
          </a:p>
          <a:p xmlns:a="http://schemas.openxmlformats.org/drawingml/2006/main">
            <a:r>
              <a:t>[S28] Django built-in application components</a:t>
            </a:r>
          </a:p>
          <a:p xmlns:a="http://schemas.openxmlformats.org/drawingml/2006/main">
            <a:r>
              <a:t>https://www.djangoproject.com/start/</a:t>
            </a:r>
          </a:p>
          <a:p xmlns:a="http://schemas.openxmlformats.org/drawingml/2006/main">
            <a:r>
              <a:t>Official forms, authentication and administration facilities. Supports reuse availability, not our estimated hours.</a:t>
            </a:r>
          </a:p>
          <a:p xmlns:a="http://schemas.openxmlformats.org/drawingml/2006/main">
            <a:r>
              <a:t/>
            </a:r>
          </a:p>
          <a:p xmlns:a="http://schemas.openxmlformats.org/drawingml/2006/main">
            <a:r>
              <a:t>[S29] PostgreSQL and Django licence information</a:t>
            </a:r>
          </a:p>
          <a:p xmlns:a="http://schemas.openxmlformats.org/drawingml/2006/main">
            <a:r>
              <a:t>https://www.postgresql.org/about/licence/</a:t>
            </a:r>
          </a:p>
          <a:p xmlns:a="http://schemas.openxmlformats.org/drawingml/2006/main">
            <a:r>
              <a:t>PostgreSQL permits use without a licence fee subject to its notice conditions. Django BSD licence: https://docs.djangoproject.com/en/5.2/faq/general/#how-is-django-licensed . Hosting and maintenance still cost resources.</a:t>
            </a:r>
          </a:p>
          <a:p xmlns:a="http://schemas.openxmlformats.org/drawingml/2006/main">
            <a:r>
              <a:t/>
            </a:r>
          </a:p>
          <a:p xmlns:a="http://schemas.openxmlformats.org/drawingml/2006/main">
            <a:r>
              <a:t>[S30] OpenAI GPT 4.1 mini model documentation</a:t>
            </a:r>
          </a:p>
          <a:p xmlns:a="http://schemas.openxmlformats.org/drawingml/2006/main">
            <a:r>
              <a:t>https://developers.openai.com/api/docs/models/gpt-4.1-mini</a:t>
            </a:r>
          </a:p>
          <a:p xmlns:a="http://schemas.openxmlformats.org/drawingml/2006/main">
            <a:r>
              <a:t>Provisional text-model candidate gpt-4.1-mini-2025-04-14. Standard uncached text rates: USD 0.40 per million input tokens, USD 1.60 per million output tokens. Access and suitability untested.</a:t>
            </a:r>
          </a:p>
          <a:p xmlns:a="http://schemas.openxmlformats.org/drawingml/2006/main">
            <a:r>
              <a:t/>
            </a:r>
          </a:p>
          <a:p xmlns:a="http://schemas.openxmlformats.org/drawingml/2006/main">
            <a:r>
              <a:t>[S31] OpenAI text embedding 3 small documentation</a:t>
            </a:r>
          </a:p>
          <a:p xmlns:a="http://schemas.openxmlformats.org/drawingml/2006/main">
            <a:r>
              <a:t>https://developers.openai.com/api/docs/models/text-embedding-3-small</a:t>
            </a:r>
          </a:p>
          <a:p xmlns:a="http://schemas.openxmlformats.org/drawingml/2006/main">
            <a:r>
              <a:t>Provisional hosted semantic-search candidate. USD 0.02 per million input tokens. Token volume remains unmeasured.</a:t>
            </a:r>
          </a:p>
          <a:p xmlns:a="http://schemas.openxmlformats.org/drawingml/2006/main">
            <a:r>
              <a:t/>
            </a:r>
          </a:p>
          <a:p xmlns:a="http://schemas.openxmlformats.org/drawingml/2006/main">
            <a:r>
              <a:t>[S32] Sentence Transformers all MiniLM L6 v2 model card</a:t>
            </a:r>
          </a:p>
          <a:p xmlns:a="http://schemas.openxmlformats.org/drawingml/2006/main">
            <a:r>
              <a:t>https://huggingface.co/sentence-transformers/all-MiniLM-L6-v2</a:t>
            </a:r>
          </a:p>
          <a:p xmlns:a="http://schemas.openxmlformats.org/drawingml/2006/main">
            <a:r>
              <a:t>Local English embedding alternative with Apache 2.0 licence. Requires separate loaded-memory, latency and quality tests. Not assumed to fit 0.5 GB hosting.</a:t>
            </a:r>
          </a:p>
          <a:p xmlns:a="http://schemas.openxmlformats.org/drawingml/2006/main">
            <a:r>
              <a:t/>
            </a:r>
          </a:p>
          <a:p xmlns:a="http://schemas.openxmlformats.org/drawingml/2006/main">
            <a:r>
              <a:t>Evidence context</a:t>
            </a:r>
          </a:p>
          <a:p xmlns:a="http://schemas.openxmlformats.org/drawingml/2006/main">
            <a:r>
              <a:t>Source register from the final report of 29 September 2026. Financial prices and rates retain the 22 September baseline. S35–S38 were added in the 28 September review, and S12 hosting limitations were rechecked on 29 September. Sources establish methods and external facts. Project usage, benefit rates, workload, risk scores and targets remain explicit assumptions. Full URLs and source limitations appear above.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notes for the 29 September 2026 submission. Financial prices and rates retain the 22 September baseline. KU sources S35–S38 were added in the 28 September review. Render limitations were rechecked on 29 September.</a:t>
            </a:r>
          </a:p>
          <a:p xmlns:a="http://schemas.openxmlformats.org/drawingml/2006/main">
            <a:r>
              <a:t/>
            </a:r>
          </a:p>
          <a:p xmlns:a="http://schemas.openxmlformats.org/drawingml/2006/main">
            <a:r>
              <a:t>[S33] Django supported release schedule</a:t>
            </a:r>
          </a:p>
          <a:p xmlns:a="http://schemas.openxmlformats.org/drawingml/2006/main">
            <a:r>
              <a:t>https://www.djangoproject.com/download/</a:t>
            </a:r>
          </a:p>
          <a:p xmlns:a="http://schemas.openxmlformats.org/drawingml/2006/main">
            <a:r>
              <a:t>Django 5.2 LTS is the selected branch for a prototype trial. Official support table lists extended support through April 2028. Pin a current patched release at implementation.</a:t>
            </a:r>
          </a:p>
          <a:p xmlns:a="http://schemas.openxmlformats.org/drawingml/2006/main">
            <a:r>
              <a:t/>
            </a:r>
          </a:p>
          <a:p xmlns:a="http://schemas.openxmlformats.org/drawingml/2006/main">
            <a:r>
              <a:t>[S34] OpenAI API data controls</a:t>
            </a:r>
          </a:p>
          <a:p xmlns:a="http://schemas.openxmlformats.org/drawingml/2006/main">
            <a:r>
              <a:t>https://developers.openai.com/api/docs/guides/your-data</a:t>
            </a:r>
          </a:p>
          <a:p xmlns:a="http://schemas.openxmlformats.org/drawingml/2006/main">
            <a:r>
              <a:t>Default no training use does not mean zero retention or KU approval. Review actual account retention, permitted fields and location before using real data.</a:t>
            </a:r>
          </a:p>
          <a:p xmlns:a="http://schemas.openxmlformats.org/drawingml/2006/main">
            <a:r>
              <a:t/>
            </a:r>
          </a:p>
          <a:p xmlns:a="http://schemas.openxmlformats.org/drawingml/2006/main">
            <a:r>
              <a:t>[S35] KU Procurement and Contracts Department</a:t>
            </a:r>
          </a:p>
          <a:p xmlns:a="http://schemas.openxmlformats.org/drawingml/2006/main">
            <a:r>
              <a:t>https://www.ku.ac.ae/about/procurement-and-contracts-department</a:t>
            </a:r>
          </a:p>
          <a:p xmlns:a="http://schemas.openxmlformats.org/drawingml/2006/main">
            <a:r>
              <a:t>Public purchasing responsibilities, scope and procurement links. Added from the 28 September team review.</a:t>
            </a:r>
          </a:p>
          <a:p xmlns:a="http://schemas.openxmlformats.org/drawingml/2006/main">
            <a:r>
              <a:t/>
            </a:r>
          </a:p>
          <a:p xmlns:a="http://schemas.openxmlformats.org/drawingml/2006/main">
            <a:r>
              <a:t>[S36] KU Environmental Sustainability Policy EHS 7600</a:t>
            </a:r>
          </a:p>
          <a:p xmlns:a="http://schemas.openxmlformats.org/drawingml/2006/main">
            <a:r>
              <a:t>https://www.ku.ac.ae/sustainability/assets/attachments/EHS_7600_Environmental_Sustainability_Policy.pdf</a:t>
            </a:r>
          </a:p>
          <a:p xmlns:a="http://schemas.openxmlformats.org/drawingml/2006/main">
            <a:r>
              <a:t>Sections 5.1.1 and 6 support EHS consultation on waste and recycling. Public policy is not evidence of acceptance of Dawra Campus.</a:t>
            </a:r>
          </a:p>
          <a:p xmlns:a="http://schemas.openxmlformats.org/drawingml/2006/main">
            <a:r>
              <a:t/>
            </a:r>
          </a:p>
          <a:p xmlns:a="http://schemas.openxmlformats.org/drawingml/2006/main">
            <a:r>
              <a:t>[S37] KU sustainability initiatives</a:t>
            </a:r>
          </a:p>
          <a:p xmlns:a="http://schemas.openxmlformats.org/drawingml/2006/main">
            <a:r>
              <a:t>https://www.ku.ac.ae/sustainability/initiative</a:t>
            </a:r>
          </a:p>
          <a:p xmlns:a="http://schemas.openxmlformats.org/drawingml/2006/main">
            <a:r>
              <a:t>Public reduction, reuse and recycling activity supports local relevance, not a measured demand or saving for our system.</a:t>
            </a:r>
          </a:p>
          <a:p xmlns:a="http://schemas.openxmlformats.org/drawingml/2006/main">
            <a:r>
              <a:t/>
            </a:r>
          </a:p>
          <a:p xmlns:a="http://schemas.openxmlformats.org/drawingml/2006/main">
            <a:r>
              <a:t>[S38] Abu Dhabi Procurement Standards linked by KU</a:t>
            </a:r>
          </a:p>
          <a:p xmlns:a="http://schemas.openxmlformats.org/drawingml/2006/main">
            <a:r>
              <a:t>https://www.ku.ac.ae/wp-content/uploads/2025/01/Abu-Dhabi-Procurement-Standards.pdf</a:t>
            </a:r>
          </a:p>
          <a:p xmlns:a="http://schemas.openxmlformats.org/drawingml/2006/main">
            <a:r>
              <a:t>Institutional procurement framework linked from S35. No inference is made about the name or functions of the internal KU asset system.</a:t>
            </a:r>
          </a:p>
          <a:p xmlns:a="http://schemas.openxmlformats.org/drawingml/2006/main">
            <a:r>
              <a:t/>
            </a:r>
          </a:p>
          <a:p xmlns:a="http://schemas.openxmlformats.org/drawingml/2006/main">
            <a:r>
              <a:t>Evidence context</a:t>
            </a:r>
          </a:p>
          <a:p xmlns:a="http://schemas.openxmlformats.org/drawingml/2006/main">
            <a:r>
              <a:t>Source register from the final report of 29 September 2026. Financial prices and rates retain the 22 September baseline. S35–S38 were added in the 28 September review, and S12 hosting limitations were rechecked on 29 September. Sources establish methods and external facts. Project usage, benefit rates, workload, risk scores and targets remain explicit assumptions. Full URLs and source limitations appear above.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a036bb5c278480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065a9fd84b74ee6" /><Relationship Type="http://schemas.openxmlformats.org/officeDocument/2006/relationships/slideLayout" Target="/ppt/slideLayouts/slideLayout1.xml" Id="Rfc9fe3e4ceb94f4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c9fe3e4ceb94f4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3617ea655c143ed" /><Relationship Type="http://schemas.openxmlformats.org/officeDocument/2006/relationships/image" Target="/ppt/media/image.png" Id="Rd8c0dc48f62c4b90" /><Relationship Type="http://schemas.openxmlformats.org/officeDocument/2006/relationships/notesSlide" Target="/ppt/notesSlides/notesSlide1.xml" Id="Recaf5f61ce0d465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64b5dbf2254474d" /><Relationship Type="http://schemas.openxmlformats.org/officeDocument/2006/relationships/notesSlide" Target="/ppt/notesSlides/notesSlide2.xml" Id="Rceb44b6930ee45a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c0d30653dfb4f57" /><Relationship Type="http://schemas.openxmlformats.org/officeDocument/2006/relationships/notesSlide" Target="/ppt/notesSlides/notesSlide3.xml" Id="R161515a65d6b4da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2c783da879945df" /><Relationship Type="http://schemas.openxmlformats.org/officeDocument/2006/relationships/image" Target="/ppt/media/image2.png" Id="Rf4727105461242f1" /><Relationship Type="http://schemas.openxmlformats.org/officeDocument/2006/relationships/notesSlide" Target="/ppt/notesSlides/notesSlide4.xml" Id="R3433c481debc46f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8d6f4bb930e4c87" /><Relationship Type="http://schemas.openxmlformats.org/officeDocument/2006/relationships/notesSlide" Target="/ppt/notesSlides/notesSlide5.xml" Id="Rbc10f694a86d457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2dd75cd24934afb" /><Relationship Type="http://schemas.openxmlformats.org/officeDocument/2006/relationships/notesSlide" Target="/ppt/notesSlides/notesSlide6.xml" Id="Reb96195176ff4f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2b13a1b99b0448a" /><Relationship Type="http://schemas.openxmlformats.org/officeDocument/2006/relationships/notesSlide" Target="/ppt/notesSlides/notesSlide7.xml" Id="R4daa3c17fbb24cb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e7c5e3b57434b32" /><Relationship Type="http://schemas.openxmlformats.org/officeDocument/2006/relationships/notesSlide" Target="/ppt/notesSlides/notesSlide8.xml" Id="R134959ec882b4ff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54adff01ce9428a" /><Relationship Type="http://schemas.openxmlformats.org/officeDocument/2006/relationships/notesSlide" Target="/ppt/notesSlides/notesSlide9.xml" Id="R23cf707d91fd4f0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11b16e64f2c458f" /><Relationship Type="http://schemas.openxmlformats.org/officeDocument/2006/relationships/notesSlide" Target="/ppt/notesSlides/notesSlide10.xml" Id="Rd9303ce72d944e3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c230f0aa7e14847" /><Relationship Type="http://schemas.openxmlformats.org/officeDocument/2006/relationships/notesSlide" Target="/ppt/notesSlides/notesSlide11.xml" Id="R3d3223c931c7449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1c904d061c0416f" /><Relationship Type="http://schemas.openxmlformats.org/officeDocument/2006/relationships/notesSlide" Target="/ppt/notesSlides/notesSlide12.xml" Id="Ra3cda575d0c5407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d46a2b089df4546" /><Relationship Type="http://schemas.openxmlformats.org/officeDocument/2006/relationships/notesSlide" Target="/ppt/notesSlides/notesSlide13.xml" Id="Rd594c76ef8554c1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8334bbfa59e408e" /><Relationship Type="http://schemas.openxmlformats.org/officeDocument/2006/relationships/notesSlide" Target="/ppt/notesSlides/notesSlide14.xml" Id="R75e863fccbe5452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f972d7225b1424e" /><Relationship Type="http://schemas.openxmlformats.org/officeDocument/2006/relationships/notesSlide" Target="/ppt/notesSlides/notesSlide15.xml" Id="R3b317dd26d7546e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5f4c8e9f14746ac" /><Relationship Type="http://schemas.openxmlformats.org/officeDocument/2006/relationships/notesSlide" Target="/ppt/notesSlides/notesSlide16.xml" Id="R710c0784c388407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6804ace90d54da4" /><Relationship Type="http://schemas.openxmlformats.org/officeDocument/2006/relationships/notesSlide" Target="/ppt/notesSlides/notesSlide17.xml" Id="Rd07d1e5094b64dc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4504ab918524d43" /><Relationship Type="http://schemas.openxmlformats.org/officeDocument/2006/relationships/notesSlide" Target="/ppt/notesSlides/notesSlide18.xml" Id="Rd5f3a7603226414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cfeae016a274171" /><Relationship Type="http://schemas.openxmlformats.org/officeDocument/2006/relationships/notesSlide" Target="/ppt/notesSlides/notesSlide19.xml" Id="R025e3116467b48c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ccaa75852b84548" /><Relationship Type="http://schemas.openxmlformats.org/officeDocument/2006/relationships/notesSlide" Target="/ppt/notesSlides/notesSlide20.xml" Id="R666eba0956744cb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0ea7267441046c8" /><Relationship Type="http://schemas.openxmlformats.org/officeDocument/2006/relationships/notesSlide" Target="/ppt/notesSlides/notesSlide21.xml" Id="R2632bd0496a74ef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3afb2eb820c14003" /><Relationship Type="http://schemas.openxmlformats.org/officeDocument/2006/relationships/notesSlide" Target="/ppt/notesSlides/notesSlide22.xml" Id="Rdd6522ee7b2b4e2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31c10be4c194211" /><Relationship Type="http://schemas.openxmlformats.org/officeDocument/2006/relationships/notesSlide" Target="/ppt/notesSlides/notesSlide23.xml" Id="Re194c3311e36461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cee3d9438094379" /><Relationship Type="http://schemas.openxmlformats.org/officeDocument/2006/relationships/notesSlide" Target="/ppt/notesSlides/notesSlide24.xml" Id="R017ca644bd3e4ac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d5661dabd214983" /><Relationship Type="http://schemas.openxmlformats.org/officeDocument/2006/relationships/notesSlide" Target="/ppt/notesSlides/notesSlide25.xml" Id="R59d4e1ae75f14e6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0cd090625d34c22" /><Relationship Type="http://schemas.openxmlformats.org/officeDocument/2006/relationships/notesSlide" Target="/ppt/notesSlides/notesSlide26.xml" Id="Rff65fe588c0f47f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49f6b7ad8954167" /><Relationship Type="http://schemas.openxmlformats.org/officeDocument/2006/relationships/notesSlide" Target="/ppt/notesSlides/notesSlide27.xml" Id="R72f7e8da81be4eb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e2eef12a34b4ad1" /><Relationship Type="http://schemas.openxmlformats.org/officeDocument/2006/relationships/chart" Target="/ppt/slides/charts/chart1.xml" Id="Rc0ab99516cda42c6" /><Relationship Type="http://schemas.openxmlformats.org/officeDocument/2006/relationships/notesSlide" Target="/ppt/notesSlides/notesSlide28.xml" Id="R4622b990cafa4be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6319bbd83024049" /><Relationship Type="http://schemas.openxmlformats.org/officeDocument/2006/relationships/notesSlide" Target="/ppt/notesSlides/notesSlide29.xml" Id="R6fbbb264228640a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724e403676fb4d19" /><Relationship Type="http://schemas.openxmlformats.org/officeDocument/2006/relationships/notesSlide" Target="/ppt/notesSlides/notesSlide30.xml" Id="Ree1ab2767c1f4a0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0510d35d21af434c" /><Relationship Type="http://schemas.openxmlformats.org/officeDocument/2006/relationships/notesSlide" Target="/ppt/notesSlides/notesSlide31.xml" Id="R4e2a544b2e6b438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dc922d9dd850475e" /><Relationship Type="http://schemas.openxmlformats.org/officeDocument/2006/relationships/notesSlide" Target="/ppt/notesSlides/notesSlide32.xml" Id="R4e919b9f091143f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230aacd2bded4363" /><Relationship Type="http://schemas.openxmlformats.org/officeDocument/2006/relationships/notesSlide" Target="/ppt/notesSlides/notesSlide33.xml" Id="R778851146ddc426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b0e2d7ddf69746ce" /><Relationship Type="http://schemas.openxmlformats.org/officeDocument/2006/relationships/notesSlide" Target="/ppt/notesSlides/notesSlide34.xml" Id="Rd4e76f1ab604436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af62e43ff7d64859" /><Relationship Type="http://schemas.openxmlformats.org/officeDocument/2006/relationships/notesSlide" Target="/ppt/notesSlides/notesSlide35.xml" Id="R208b20cf0df44a5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61c009ae4cf04652" /><Relationship Type="http://schemas.openxmlformats.org/officeDocument/2006/relationships/notesSlide" Target="/ppt/notesSlides/notesSlide36.xml" Id="Rdd1b9d354c724b5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c41ab1639df24a7c" /><Relationship Type="http://schemas.openxmlformats.org/officeDocument/2006/relationships/notesSlide" Target="/ppt/notesSlides/notesSlide37.xml" Id="R1f354244cc3c477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0c71013465a24f2c" /><Relationship Type="http://schemas.openxmlformats.org/officeDocument/2006/relationships/chart" Target="/ppt/slides/charts/chart2.xml" Id="R730c5ad1c7a540ac" /><Relationship Type="http://schemas.openxmlformats.org/officeDocument/2006/relationships/notesSlide" Target="/ppt/notesSlides/notesSlide38.xml" Id="R1d08a8edb65d45d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f8f877ddb4c4f24" /><Relationship Type="http://schemas.openxmlformats.org/officeDocument/2006/relationships/notesSlide" Target="/ppt/notesSlides/notesSlide39.xml" Id="R024051add50e4b0d"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0575e4187d074777" /><Relationship Type="http://schemas.openxmlformats.org/officeDocument/2006/relationships/notesSlide" Target="/ppt/notesSlides/notesSlide40.xml" Id="Rce7ff5686b044372"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e996381d69ad4265" /><Relationship Type="http://schemas.openxmlformats.org/officeDocument/2006/relationships/notesSlide" Target="/ppt/notesSlides/notesSlide41.xml" Id="R694a4f9b5c3140c3"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dc830606ef044f42" /><Relationship Type="http://schemas.openxmlformats.org/officeDocument/2006/relationships/notesSlide" Target="/ppt/notesSlides/notesSlide42.xml" Id="R853a16f4afb94cd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e757f7165bcc499a" /><Relationship Type="http://schemas.openxmlformats.org/officeDocument/2006/relationships/notesSlide" Target="/ppt/notesSlides/notesSlide43.xml" Id="R9f611c26d4c14d5f"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352812a3ca0b4b80" /><Relationship Type="http://schemas.openxmlformats.org/officeDocument/2006/relationships/notesSlide" Target="/ppt/notesSlides/notesSlide44.xml" Id="Rfc06bb66f8b94c0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995192d0cc8a4db4" /><Relationship Type="http://schemas.openxmlformats.org/officeDocument/2006/relationships/notesSlide" Target="/ppt/notesSlides/notesSlide45.xml" Id="R7811f2b2e9e24ed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afd5c8c7c64942ef" /><Relationship Type="http://schemas.openxmlformats.org/officeDocument/2006/relationships/notesSlide" Target="/ppt/notesSlides/notesSlide46.xml" Id="R0bcf6868bed74ca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f3c8a82d49664fd5" /><Relationship Type="http://schemas.openxmlformats.org/officeDocument/2006/relationships/notesSlide" Target="/ppt/notesSlides/notesSlide47.xml" Id="R9a8d96d789f04bf3"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4f87168621324f83" /><Relationship Type="http://schemas.openxmlformats.org/officeDocument/2006/relationships/notesSlide" Target="/ppt/notesSlides/notesSlide48.xml" Id="R0e3db5884d76442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3153e15f1ad40d3" /><Relationship Type="http://schemas.openxmlformats.org/officeDocument/2006/relationships/notesSlide" Target="/ppt/notesSlides/notesSlide49.xml" Id="Refeefa32d7654c2c"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48a4d6d2492d46d6" /><Relationship Type="http://schemas.openxmlformats.org/officeDocument/2006/relationships/notesSlide" Target="/ppt/notesSlides/notesSlide50.xml" Id="R42b9c95d1db04e54"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db5cb4f48f6e421f" /><Relationship Type="http://schemas.openxmlformats.org/officeDocument/2006/relationships/notesSlide" Target="/ppt/notesSlides/notesSlide51.xml" Id="Ra1f23e25116d44e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3ddd0e490f3546d0" /><Relationship Type="http://schemas.openxmlformats.org/officeDocument/2006/relationships/notesSlide" Target="/ppt/notesSlides/notesSlide52.xml" Id="Rfb28bda5ddbf450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Value</c:v>
          </c:tx>
          <c:spPr>
            <a:solidFill xmlns:a="http://schemas.openxmlformats.org/drawingml/2006/main">
              <a:srgbClr val="26746D"/>
            </a:solidFill>
          </c:spPr>
          <c:cat>
            <c:strRef>
              <c:f>'Chart Data'!$A$2:$A$5</c:f>
              <c:strCache>
                <c:ptCount val="4"/>
                <c:pt idx="0">
                  <c:v>Data transfer</c:v>
                </c:pt>
                <c:pt idx="1">
                  <c:v>Volume</c:v>
                </c:pt>
                <c:pt idx="2">
                  <c:v>CPU</c:v>
                </c:pt>
                <c:pt idx="3">
                  <c:v>Memory</c:v>
                </c:pt>
              </c:strCache>
            </c:strRef>
          </c:cat>
          <c:val>
            <c:numRef>
              <c:f>'Chart Data'!$B$2:$B$5</c:f>
              <c:numCache>
                <c:formatCode>0.00</c:formatCode>
                <c:ptCount val="4"/>
                <c:pt idx="0">
                  <c:v>0.05</c:v>
                </c:pt>
                <c:pt idx="1">
                  <c:v>0.15</c:v>
                </c:pt>
                <c:pt idx="2">
                  <c:v>1</c:v>
                </c:pt>
                <c:pt idx="3">
                  <c:v>5</c:v>
                </c:pt>
              </c:numCache>
            </c:numRef>
          </c:val>
        </c:ser>
        <c:dLbls>
          <c:txPr>
            <a:bodyPr xmlns:a="http://schemas.openxmlformats.org/drawingml/2006/main" anchorCtr="1"/>
            <a:lstStyle xmlns:a="http://schemas.openxmlformats.org/drawingml/2006/main"/>
            <a:p xmlns:a="http://schemas.openxmlformats.org/drawingml/2006/main">
              <a:pPr>
                <a:defRPr sz="1875" b="1">
                  <a:solidFill>
                    <a:srgbClr val="17343C"/>
                  </a:solidFill>
                  <a:latin typeface="Arial"/>
                  <a:ea typeface="Arial"/>
                  <a:cs typeface="Arial"/>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343C"/>
                </a:solidFill>
                <a:latin typeface="Arial"/>
                <a:ea typeface="Arial"/>
                <a:cs typeface="Arial"/>
              </a:defRPr>
            </a:pPr>
          </a:p>
        </c:txPr>
        <c:crossAx val="48672768"/>
      </c:catAx>
      <c:valAx>
        <c:axId val="48672768"/>
        <c:scaling>
          <c:orientation val="minMax"/>
          <c:max val="6"/>
          <c:min val="0"/>
        </c:scaling>
        <c:delete val="0"/>
        <c:axPos val="b"/>
        <c:majorGridlines>
          <c:spPr>
            <a:ln xmlns:a="http://schemas.openxmlformats.org/drawingml/2006/main" w="9525">
              <a:solidFill>
                <a:srgbClr val="D9D9D9"/>
              </a:solidFill>
            </a:ln>
          </c:spPr>
        </c:majorGridlines>
        <c:numFmt formatCode="0"/>
        <c:majorTickMark val="none"/>
        <c:minorTickMark val="none"/>
        <c:spPr>
          <a:ln xmlns:a="http://schemas.openxmlformats.org/drawingml/2006/main" w="9525">
            <a:solidFill>
              <a:srgbClr val="D9D9D9"/>
            </a:solidFill>
          </a:ln>
        </c:spPr>
        <c:txPr>
          <a:bodyPr xmlns:a="http://schemas.openxmlformats.org/drawingml/2006/main" anchorCtr="1"/>
          <a:lstStyle xmlns:a="http://schemas.openxmlformats.org/drawingml/2006/main"/>
          <a:p xmlns:a="http://schemas.openxmlformats.org/drawingml/2006/main">
            <a:pPr>
              <a:defRPr sz="1650">
                <a:solidFill>
                  <a:srgbClr val="17343C"/>
                </a:solidFill>
                <a:latin typeface="Arial"/>
                <a:ea typeface="Arial"/>
                <a:cs typeface="Arial"/>
              </a:defRPr>
            </a:pPr>
          </a:p>
        </c:txPr>
        <c:crossAx val="48650112"/>
        <c:crossBetween val="between"/>
        <c:majorUnit val="1"/>
      </c:valAx>
      <c:spPr>
        <a:solidFill xmlns:a="http://schemas.openxmlformats.org/drawingml/2006/main">
          <a:srgbClr val="FAFAF7"/>
        </a:solidFill>
        <a:ln xmlns:a="http://schemas.openxmlformats.org/drawingml/2006/main" w="0">
          <a:solidFill>
            <a:srgbClr val="FAFAF7"/>
          </a:solidFill>
        </a:ln>
      </c:spPr>
    </c:plotArea>
    <c:plotVisOnly val="1"/>
  </c:chart>
  <c:spPr>
    <a:solidFill xmlns:a="http://schemas.openxmlformats.org/drawingml/2006/main">
      <a:srgbClr val="FAFAF7"/>
    </a:solidFill>
    <a:ln xmlns:a="http://schemas.openxmlformats.org/drawingml/2006/main" w="0">
      <a:solidFill>
        <a:srgbClr val="FAFAF7"/>
      </a:solid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Cash only</c:v>
          </c:tx>
          <c:spPr>
            <a:solidFill xmlns:a="http://schemas.openxmlformats.org/drawingml/2006/main">
              <a:srgbClr val="26746D"/>
            </a:solidFill>
          </c:spPr>
          <c:invertIfNegative val="0"/>
          <c:cat>
            <c:strRef>
              <c:f>'Chart Data'!$A$2:$A$5</c:f>
              <c:strCache>
                <c:ptCount val="4"/>
                <c:pt idx="0">
                  <c:v>Setup</c:v>
                </c:pt>
                <c:pt idx="1">
                  <c:v>Year 1</c:v>
                </c:pt>
                <c:pt idx="2">
                  <c:v>Year 2</c:v>
                </c:pt>
                <c:pt idx="3">
                  <c:v>Year 3</c:v>
                </c:pt>
              </c:strCache>
            </c:strRef>
          </c:cat>
          <c:val>
            <c:numRef>
              <c:f>'Chart Data'!$B$2:$B$5</c:f>
              <c:numCache>
                <c:formatCode>#,##0.00</c:formatCode>
                <c:ptCount val="4"/>
                <c:pt idx="0">
                  <c:v>-230</c:v>
                </c:pt>
                <c:pt idx="1">
                  <c:v>1255.57</c:v>
                </c:pt>
                <c:pt idx="2">
                  <c:v>2741.15</c:v>
                </c:pt>
                <c:pt idx="3">
                  <c:v>4226.72</c:v>
                </c:pt>
              </c:numCache>
            </c:numRef>
          </c:val>
        </c:ser>
        <c:ser>
          <c:idx val="1"/>
          <c:order val="1"/>
          <c:tx>
            <c:v>Including time</c:v>
          </c:tx>
          <c:spPr>
            <a:solidFill xmlns:a="http://schemas.openxmlformats.org/drawingml/2006/main">
              <a:srgbClr val="9A4D40"/>
            </a:solidFill>
          </c:spPr>
          <c:invertIfNegative val="0"/>
          <c:cat>
            <c:strRef>
              <c:f>'Chart Data'!$C$2:$C$5</c:f>
              <c:strCache>
                <c:ptCount val="4"/>
                <c:pt idx="0">
                  <c:v>Setup</c:v>
                </c:pt>
                <c:pt idx="1">
                  <c:v>Year 1</c:v>
                </c:pt>
                <c:pt idx="2">
                  <c:v>Year 2</c:v>
                </c:pt>
                <c:pt idx="3">
                  <c:v>Year 3</c:v>
                </c:pt>
              </c:strCache>
            </c:strRef>
          </c:cat>
          <c:val>
            <c:numRef>
              <c:f>'Chart Data'!$D$2:$D$5</c:f>
              <c:numCache>
                <c:formatCode>#,##0.00</c:formatCode>
                <c:ptCount val="4"/>
                <c:pt idx="0">
                  <c:v>-6440</c:v>
                </c:pt>
                <c:pt idx="1">
                  <c:v>-5794.43</c:v>
                </c:pt>
                <c:pt idx="2">
                  <c:v>-5148.85</c:v>
                </c:pt>
                <c:pt idx="3">
                  <c:v>-4503.28</c:v>
                </c:pt>
              </c:numCache>
            </c:numRef>
          </c:val>
        </c:ser>
        <c:dLbls>
          <c:txPr>
            <a:bodyPr xmlns:a="http://schemas.openxmlformats.org/drawingml/2006/main" anchorCtr="1"/>
            <a:lstStyle xmlns:a="http://schemas.openxmlformats.org/drawingml/2006/main"/>
            <a:p xmlns:a="http://schemas.openxmlformats.org/drawingml/2006/main">
              <a:pPr>
                <a:defRPr sz="1650" b="1">
                  <a:solidFill>
                    <a:srgbClr val="17343C"/>
                  </a:solidFill>
                  <a:latin typeface="Arial"/>
                  <a:ea typeface="Arial"/>
                  <a:cs typeface="Arial"/>
                </a:defRPr>
              </a:pPr>
            </a:p>
          </c:txPr>
          <c:dLblPos val="outEnd"/>
          <c:showLegendKey val="0"/>
          <c:showVal val="0"/>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343C"/>
                </a:solidFill>
                <a:latin typeface="Arial"/>
                <a:ea typeface="Arial"/>
                <a:cs typeface="Arial"/>
              </a:defRPr>
            </a:pPr>
          </a:p>
        </c:txPr>
        <c:crossAx val="48672768"/>
      </c:catAx>
      <c:valAx>
        <c:axId val="48672768"/>
        <c:scaling>
          <c:orientation val="minMax"/>
          <c:max val="5000"/>
          <c:min val="-7000"/>
        </c:scaling>
        <c:delete val="0"/>
        <c:axPos val="l"/>
        <c:majorGridlines>
          <c:spPr>
            <a:ln xmlns:a="http://schemas.openxmlformats.org/drawingml/2006/main" w="9525">
              <a:solidFill>
                <a:srgbClr val="D9D9D9"/>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17343C"/>
                </a:solidFill>
                <a:latin typeface="Arial"/>
                <a:ea typeface="Arial"/>
                <a:cs typeface="Arial"/>
              </a:defRPr>
            </a:pPr>
          </a:p>
        </c:txPr>
        <c:crossAx val="48650112"/>
        <c:crossBetween val="between"/>
        <c:majorUnit val="2000"/>
      </c:valAx>
      <c:spPr>
        <a:solidFill xmlns:a="http://schemas.openxmlformats.org/drawingml/2006/main">
          <a:srgbClr val="FAFAF7"/>
        </a:solidFill>
        <a:ln xmlns:a="http://schemas.openxmlformats.org/drawingml/2006/main" w="0">
          <a:solidFill>
            <a:srgbClr val="FAFAF7"/>
          </a:solidFill>
        </a:ln>
      </c:spPr>
    </c:plotArea>
    <c:legend>
      <c:legendPos val="b"/>
      <c:overlay val="0"/>
      <c:txPr>
        <a:bodyPr xmlns:a="http://schemas.openxmlformats.org/drawingml/2006/main" anchorCtr="1"/>
        <a:lstStyle xmlns:a="http://schemas.openxmlformats.org/drawingml/2006/main"/>
        <a:p xmlns:a="http://schemas.openxmlformats.org/drawingml/2006/main">
          <a:pPr>
            <a:defRPr sz="1725">
              <a:solidFill>
                <a:srgbClr val="17343C"/>
              </a:solidFill>
              <a:latin typeface="Arial"/>
              <a:ea typeface="Arial"/>
              <a:cs typeface="Arial"/>
            </a:defRPr>
          </a:pPr>
        </a:p>
      </c:txPr>
    </c:legend>
    <c:plotVisOnly val="1"/>
  </c:chart>
  <c:spPr>
    <a:solidFill xmlns:a="http://schemas.openxmlformats.org/drawingml/2006/main">
      <a:srgbClr val="FAFAF7"/>
    </a:solidFill>
    <a:ln xmlns:a="http://schemas.openxmlformats.org/drawingml/2006/main" w="0">
      <a:solidFill>
        <a:srgbClr val="FAFAF7"/>
      </a:solid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D7CA9C7B-ECD4-4D35-853B-8EBAF9DA3C8B}"/>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Phase 2 feasibility study</a:t>
            </a:r>
          </a:p>
        </p:txBody>
      </p:sp>
      <p:sp>
        <p:nvSpPr>
          <p:cNvPr id="2" name="page">
            <a:extLst xmlns:a="http://schemas.openxmlformats.org/drawingml/2006/main">
              <a:ext uri="{FF2B5EF4-FFF2-40B4-BE49-F238E27FC236}">
                <a16:creationId xmlns:a16="http://schemas.microsoft.com/office/drawing/2014/main" id="{F0C60C26-B85E-4FCA-ACC3-536FA81D8339}"/>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01</a:t>
            </a:r>
          </a:p>
        </p:txBody>
      </p:sp>
      <p:sp>
        <p:nvSpPr>
          <p:cNvPr id="3" name="source">
            <a:extLst xmlns:a="http://schemas.openxmlformats.org/drawingml/2006/main">
              <a:ext uri="{FF2B5EF4-FFF2-40B4-BE49-F238E27FC236}">
                <a16:creationId xmlns:a16="http://schemas.microsoft.com/office/drawing/2014/main" id="{374C1A9A-BFC6-4D51-A457-E1F89C641927}"/>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[S02]</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d8c0dc48f62c4b90"/>
          <a:stretch xmlns:a="http://schemas.openxmlformats.org/drawingml/2006/main"/>
        </p:blipFill>
        <p:spPr>
          <a:xfrm xmlns:a="http://schemas.openxmlformats.org/drawingml/2006/main">
            <a:off x="6231664" y="1409700"/>
            <a:ext cx="5281748" cy="2200275"/>
          </a:xfrm>
          <a:prstGeom xmlns:a="http://schemas.openxmlformats.org/drawingml/2006/main" prst="rect">
            <a:avLst/>
          </a:prstGeom>
        </p:spPr>
      </p:pic>
      <p:sp>
        <p:nvSpPr>
          <p:cNvPr id="5" name="cover">
            <a:extLst xmlns:a="http://schemas.openxmlformats.org/drawingml/2006/main">
              <a:ext uri="{FF2B5EF4-FFF2-40B4-BE49-F238E27FC236}">
                <a16:creationId xmlns:a16="http://schemas.microsoft.com/office/drawing/2014/main" id="{6F2BE42C-C6B2-4A18-B1E9-45397C5D6D5B}"/>
              </a:ext>
            </a:extLst>
          </p:cNvPr>
          <p:cNvSpPr>
            <a:spLocks xmlns:a="http://schemas.openxmlformats.org/drawingml/2006/main" noGrp="1"/>
          </p:cNvSpPr>
          <p:nvPr/>
        </p:nvSpPr>
        <p:spPr>
          <a:xfrm xmlns:a="http://schemas.openxmlformats.org/drawingml/2006/main">
            <a:off x="647700" y="1800225"/>
            <a:ext cx="59055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125" b="1">
                <a:solidFill>
                  <a:srgbClr val="17343C"/>
                </a:solidFill>
                <a:latin typeface="Arial"/>
                <a:ea typeface="Arial"/>
                <a:cs typeface="Arial"/>
              </a:defRPr>
            </a:pPr>
            <a:r>
              <a:rPr sz="4125" b="1">
                <a:solidFill>
                  <a:srgbClr val="17343C"/>
                </a:solidFill>
                <a:latin typeface="Arial"/>
                <a:ea typeface="Arial"/>
                <a:cs typeface="Arial"/>
              </a:rPr>
              <a:t>Campus reuse</a:t>
            </a:r>
          </a:p>
          <a:p xmlns:a="http://schemas.openxmlformats.org/drawingml/2006/main">
            <a:pPr algn="l">
              <a:defRPr sz="4125" b="1">
                <a:solidFill>
                  <a:srgbClr val="17343C"/>
                </a:solidFill>
                <a:latin typeface="Arial"/>
                <a:ea typeface="Arial"/>
                <a:cs typeface="Arial"/>
              </a:defRPr>
            </a:pPr>
            <a:r>
              <a:rPr sz="4125" b="1">
                <a:solidFill>
                  <a:srgbClr val="17343C"/>
                </a:solidFill>
                <a:latin typeface="Arial"/>
                <a:ea typeface="Arial"/>
                <a:cs typeface="Arial"/>
              </a:rPr>
              <a:t>and asset life cycles</a:t>
            </a:r>
          </a:p>
        </p:txBody>
      </p:sp>
      <p:sp>
        <p:nvSpPr>
          <p:cNvPr id="6" name="brand-status">
            <a:extLst xmlns:a="http://schemas.openxmlformats.org/drawingml/2006/main">
              <a:ext uri="{FF2B5EF4-FFF2-40B4-BE49-F238E27FC236}">
                <a16:creationId xmlns:a16="http://schemas.microsoft.com/office/drawing/2014/main" id="{7EC754FC-AD90-482A-A150-72D203154F48}"/>
              </a:ext>
            </a:extLst>
          </p:cNvPr>
          <p:cNvSpPr>
            <a:spLocks xmlns:a="http://schemas.openxmlformats.org/drawingml/2006/main" noGrp="1"/>
          </p:cNvSpPr>
          <p:nvPr/>
        </p:nvSpPr>
        <p:spPr>
          <a:xfrm xmlns:a="http://schemas.openxmlformats.org/drawingml/2006/main">
            <a:off x="6467475" y="3686175"/>
            <a:ext cx="50768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264"/>
                </a:solidFill>
                <a:latin typeface="Arial"/>
                <a:ea typeface="Arial"/>
                <a:cs typeface="Arial"/>
              </a:defRPr>
            </a:pPr>
            <a:r>
              <a:rPr sz="1650" b="0">
                <a:solidFill>
                  <a:srgbClr val="526264"/>
                </a:solidFill>
                <a:latin typeface="Arial"/>
                <a:ea typeface="Arial"/>
                <a:cs typeface="Arial"/>
              </a:rPr>
              <a:t>Dawra Campus student project</a:t>
            </a:r>
          </a:p>
        </p:txBody>
      </p:sp>
      <p:sp>
        <p:nvSpPr>
          <p:cNvPr id="7" name="course">
            <a:extLst xmlns:a="http://schemas.openxmlformats.org/drawingml/2006/main">
              <a:ext uri="{FF2B5EF4-FFF2-40B4-BE49-F238E27FC236}">
                <a16:creationId xmlns:a16="http://schemas.microsoft.com/office/drawing/2014/main" id="{85411738-07CE-49A2-9E67-6D01AC2DEFCB}"/>
              </a:ext>
            </a:extLst>
          </p:cNvPr>
          <p:cNvSpPr>
            <a:spLocks xmlns:a="http://schemas.openxmlformats.org/drawingml/2006/main" noGrp="1"/>
          </p:cNvSpPr>
          <p:nvPr/>
        </p:nvSpPr>
        <p:spPr>
          <a:xfrm xmlns:a="http://schemas.openxmlformats.org/drawingml/2006/main">
            <a:off x="647700" y="4114800"/>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COSC 336  /  Group 4</a:t>
            </a:r>
          </a:p>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Khalifa University</a:t>
            </a:r>
          </a:p>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29 September 2026</a:t>
            </a:r>
          </a:p>
        </p:txBody>
      </p:sp>
      <p:sp>
        <p:nvSpPr>
          <p:cNvPr id="8" name="team">
            <a:extLst xmlns:a="http://schemas.openxmlformats.org/drawingml/2006/main">
              <a:ext uri="{FF2B5EF4-FFF2-40B4-BE49-F238E27FC236}">
                <a16:creationId xmlns:a16="http://schemas.microsoft.com/office/drawing/2014/main" id="{DBC18DE3-9943-4681-A82C-AF114E7A89D0}"/>
              </a:ext>
            </a:extLst>
          </p:cNvPr>
          <p:cNvSpPr>
            <a:spLocks xmlns:a="http://schemas.openxmlformats.org/drawingml/2006/main" noGrp="1"/>
          </p:cNvSpPr>
          <p:nvPr/>
        </p:nvSpPr>
        <p:spPr>
          <a:xfrm xmlns:a="http://schemas.openxmlformats.org/drawingml/2006/main">
            <a:off x="6467475" y="4457700"/>
            <a:ext cx="5076825"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7343C"/>
                </a:solidFill>
                <a:latin typeface="Arial"/>
                <a:ea typeface="Arial"/>
                <a:cs typeface="Arial"/>
              </a:defRPr>
            </a:pPr>
            <a:r>
              <a:rPr sz="1950" b="0">
                <a:solidFill>
                  <a:srgbClr val="17343C"/>
                </a:solidFill>
                <a:latin typeface="Arial"/>
                <a:ea typeface="Arial"/>
                <a:cs typeface="Arial"/>
              </a:rPr>
              <a:t>Sultan Almheiri  100065654</a:t>
            </a:r>
          </a:p>
          <a:p xmlns:a="http://schemas.openxmlformats.org/drawingml/2006/main">
            <a:pPr algn="l">
              <a:defRPr sz="1950" b="0">
                <a:solidFill>
                  <a:srgbClr val="17343C"/>
                </a:solidFill>
                <a:latin typeface="Arial"/>
                <a:ea typeface="Arial"/>
                <a:cs typeface="Arial"/>
              </a:defRPr>
            </a:pPr>
            <a:r>
              <a:rPr sz="1950" b="0">
                <a:solidFill>
                  <a:srgbClr val="17343C"/>
                </a:solidFill>
                <a:latin typeface="Arial"/>
                <a:ea typeface="Arial"/>
                <a:cs typeface="Arial"/>
              </a:rPr>
              <a:t>Zayed Alfadli  100064657</a:t>
            </a:r>
          </a:p>
          <a:p xmlns:a="http://schemas.openxmlformats.org/drawingml/2006/main">
            <a:pPr algn="l">
              <a:defRPr sz="1950" b="0">
                <a:solidFill>
                  <a:srgbClr val="17343C"/>
                </a:solidFill>
                <a:latin typeface="Arial"/>
                <a:ea typeface="Arial"/>
                <a:cs typeface="Arial"/>
              </a:defRPr>
            </a:pPr>
            <a:r>
              <a:rPr sz="1950" b="0">
                <a:solidFill>
                  <a:srgbClr val="17343C"/>
                </a:solidFill>
                <a:latin typeface="Arial"/>
                <a:ea typeface="Arial"/>
                <a:cs typeface="Arial"/>
              </a:rPr>
              <a:t>Ghaith Alhinaai  100066185</a:t>
            </a:r>
          </a:p>
        </p:txBody>
      </p:sp>
      <p:sp>
        <p:nvSpPr>
          <p:cNvPr id="9" name="takeaway">
            <a:extLst xmlns:a="http://schemas.openxmlformats.org/drawingml/2006/main">
              <a:ext uri="{FF2B5EF4-FFF2-40B4-BE49-F238E27FC236}">
                <a16:creationId xmlns:a16="http://schemas.microsoft.com/office/drawing/2014/main" id="{F437C353-878D-41BF-9938-35033D78C9B2}"/>
              </a:ext>
            </a:extLst>
          </p:cNvPr>
          <p:cNvSpPr>
            <a:spLocks xmlns:a="http://schemas.openxmlformats.org/drawingml/2006/main" noGrp="1"/>
          </p:cNvSpPr>
          <p:nvPr/>
        </p:nvSpPr>
        <p:spPr>
          <a:xfrm xmlns:a="http://schemas.openxmlformats.org/drawingml/2006/main">
            <a:off x="647700" y="6019800"/>
            <a:ext cx="10896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6746D"/>
                </a:solidFill>
                <a:latin typeface="Arial"/>
                <a:ea typeface="Arial"/>
                <a:cs typeface="Arial"/>
              </a:defRPr>
            </a:pPr>
            <a:r>
              <a:rPr sz="1875" b="1">
                <a:solidFill>
                  <a:srgbClr val="26746D"/>
                </a:solidFill>
                <a:latin typeface="Arial"/>
                <a:ea typeface="Arial"/>
                <a:cs typeface="Arial"/>
              </a:rPr>
              <a:t>Phase 2 submission: research, labelled simulations and planning scenarios</a:t>
            </a:r>
          </a:p>
        </p:txBody>
      </p:sp>
    </p:spTree>
    <p:extLst>
      <p:ext uri="{BB962C8B-B14F-4D97-AF65-F5344CB8AC3E}">
        <p14:creationId xmlns:p14="http://schemas.microsoft.com/office/powerpoint/2010/main" val="1468110076"/>
      </p:ext>
    </p:extLst>
  </p:cSld>
</p:sld>
</file>

<file path=ppt/slides/slide2.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2CA1BEE0-5B17-4EB1-87A1-A22D52D67AE3}"/>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Our recommendation</a:t>
            </a:r>
          </a:p>
        </p:txBody>
      </p:sp>
      <p:sp>
        <p:nvSpPr>
          <p:cNvPr id="2" name="page">
            <a:extLst xmlns:a="http://schemas.openxmlformats.org/drawingml/2006/main">
              <a:ext uri="{FF2B5EF4-FFF2-40B4-BE49-F238E27FC236}">
                <a16:creationId xmlns:a16="http://schemas.microsoft.com/office/drawing/2014/main" id="{180203D0-756E-487D-861A-5FB936223263}"/>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02</a:t>
            </a:r>
          </a:p>
        </p:txBody>
      </p:sp>
      <p:sp>
        <p:nvSpPr>
          <p:cNvPr id="3" name="source">
            <a:extLst xmlns:a="http://schemas.openxmlformats.org/drawingml/2006/main">
              <a:ext uri="{FF2B5EF4-FFF2-40B4-BE49-F238E27FC236}">
                <a16:creationId xmlns:a16="http://schemas.microsoft.com/office/drawing/2014/main" id="{9B274750-FBB9-474D-8F6E-D283827D4EFB}"/>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[S02] [S04] [S06]</a:t>
            </a:r>
          </a:p>
        </p:txBody>
      </p:sp>
      <p:sp>
        <p:nvSpPr>
          <p:cNvPr id="4" name="decision">
            <a:extLst xmlns:a="http://schemas.openxmlformats.org/drawingml/2006/main">
              <a:ext uri="{FF2B5EF4-FFF2-40B4-BE49-F238E27FC236}">
                <a16:creationId xmlns:a16="http://schemas.microsoft.com/office/drawing/2014/main" id="{F151EA01-1691-4E40-931F-003C4A093C11}"/>
              </a:ext>
            </a:extLst>
          </p:cNvPr>
          <p:cNvSpPr>
            <a:spLocks xmlns:a="http://schemas.openxmlformats.org/drawingml/2006/main" noGrp="1"/>
          </p:cNvSpPr>
          <p:nvPr/>
        </p:nvSpPr>
        <p:spPr>
          <a:xfrm xmlns:a="http://schemas.openxmlformats.org/drawingml/2006/main">
            <a:off x="647700" y="1733550"/>
            <a:ext cx="108966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26746D"/>
                </a:solidFill>
                <a:latin typeface="Arial"/>
                <a:ea typeface="Arial"/>
                <a:cs typeface="Arial"/>
              </a:defRPr>
            </a:pPr>
            <a:r>
              <a:rPr sz="3675" b="1">
                <a:solidFill>
                  <a:srgbClr val="26746D"/>
                </a:solidFill>
                <a:latin typeface="Arial"/>
                <a:ea typeface="Arial"/>
                <a:cs typeface="Arial"/>
              </a:rPr>
              <a:t>Continue the student prototype</a:t>
            </a:r>
          </a:p>
          <a:p xmlns:a="http://schemas.openxmlformats.org/drawingml/2006/main">
            <a:pPr algn="l">
              <a:defRPr sz="3675" b="1">
                <a:solidFill>
                  <a:srgbClr val="26746D"/>
                </a:solidFill>
                <a:latin typeface="Arial"/>
                <a:ea typeface="Arial"/>
                <a:cs typeface="Arial"/>
              </a:defRPr>
            </a:pPr>
            <a:r>
              <a:rPr sz="3675" b="1">
                <a:solidFill>
                  <a:srgbClr val="26746D"/>
                </a:solidFill>
                <a:latin typeface="Arial"/>
                <a:ea typeface="Arial"/>
                <a:cs typeface="Arial"/>
              </a:rPr>
              <a:t>with clear conditions</a:t>
            </a:r>
          </a:p>
        </p:txBody>
      </p:sp>
      <p:sp>
        <p:nvSpPr>
          <p:cNvPr id="5" name="left-title">
            <a:extLst xmlns:a="http://schemas.openxmlformats.org/drawingml/2006/main">
              <a:ext uri="{FF2B5EF4-FFF2-40B4-BE49-F238E27FC236}">
                <a16:creationId xmlns:a16="http://schemas.microsoft.com/office/drawing/2014/main" id="{B8A72DB1-A0C3-4BE6-8AC0-4E5317EBC3F6}"/>
              </a:ext>
            </a:extLst>
          </p:cNvPr>
          <p:cNvSpPr>
            <a:spLocks xmlns:a="http://schemas.openxmlformats.org/drawingml/2006/main" noGrp="1"/>
          </p:cNvSpPr>
          <p:nvPr/>
        </p:nvSpPr>
        <p:spPr>
          <a:xfrm xmlns:a="http://schemas.openxmlformats.org/drawingml/2006/main">
            <a:off x="647700" y="3305175"/>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What supports this</a:t>
            </a:r>
          </a:p>
        </p:txBody>
      </p:sp>
      <p:sp>
        <p:nvSpPr>
          <p:cNvPr id="6" name="left-body">
            <a:extLst xmlns:a="http://schemas.openxmlformats.org/drawingml/2006/main">
              <a:ext uri="{FF2B5EF4-FFF2-40B4-BE49-F238E27FC236}">
                <a16:creationId xmlns:a16="http://schemas.microsoft.com/office/drawing/2014/main" id="{390BB5FA-C5B9-4485-A22F-BD43D2B5A2BE}"/>
              </a:ext>
            </a:extLst>
          </p:cNvPr>
          <p:cNvSpPr>
            <a:spLocks xmlns:a="http://schemas.openxmlformats.org/drawingml/2006/main" noGrp="1"/>
          </p:cNvSpPr>
          <p:nvPr/>
        </p:nvSpPr>
        <p:spPr>
          <a:xfrm xmlns:a="http://schemas.openxmlformats.org/drawingml/2006/main">
            <a:off x="647700" y="3952875"/>
            <a:ext cx="5067300" cy="2057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The scope describes a workable type of system. Existing products show similar functions.</a:t>
            </a:r>
          </a:p>
          <a:p xmlns:a="http://schemas.openxmlformats.org/drawingml/2006/main">
            <a:r>
              <a:t/>
            </a:r>
          </a:p>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We can investigate the design with synthetic data.</a:t>
            </a:r>
          </a:p>
        </p:txBody>
      </p:sp>
      <p:sp>
        <p:nvSpPr>
          <p:cNvPr id="7" name="right-title">
            <a:extLst xmlns:a="http://schemas.openxmlformats.org/drawingml/2006/main">
              <a:ext uri="{FF2B5EF4-FFF2-40B4-BE49-F238E27FC236}">
                <a16:creationId xmlns:a16="http://schemas.microsoft.com/office/drawing/2014/main" id="{451A6F03-B593-4F56-9B6F-C37C7328ADAE}"/>
              </a:ext>
            </a:extLst>
          </p:cNvPr>
          <p:cNvSpPr>
            <a:spLocks xmlns:a="http://schemas.openxmlformats.org/drawingml/2006/main" noGrp="1"/>
          </p:cNvSpPr>
          <p:nvPr/>
        </p:nvSpPr>
        <p:spPr>
          <a:xfrm xmlns:a="http://schemas.openxmlformats.org/drawingml/2006/main">
            <a:off x="6477000" y="3305175"/>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What still needs evidence</a:t>
            </a:r>
          </a:p>
        </p:txBody>
      </p:sp>
      <p:sp>
        <p:nvSpPr>
          <p:cNvPr id="8" name="right-body">
            <a:extLst xmlns:a="http://schemas.openxmlformats.org/drawingml/2006/main">
              <a:ext uri="{FF2B5EF4-FFF2-40B4-BE49-F238E27FC236}">
                <a16:creationId xmlns:a16="http://schemas.microsoft.com/office/drawing/2014/main" id="{61116AB7-9733-4C0E-9D90-46FA66E35A76}"/>
              </a:ext>
            </a:extLst>
          </p:cNvPr>
          <p:cNvSpPr>
            <a:spLocks xmlns:a="http://schemas.openxmlformats.org/drawingml/2006/main" noGrp="1"/>
          </p:cNvSpPr>
          <p:nvPr/>
        </p:nvSpPr>
        <p:spPr>
          <a:xfrm xmlns:a="http://schemas.openxmlformats.org/drawingml/2006/main">
            <a:off x="6477000" y="3952875"/>
            <a:ext cx="5067300" cy="2057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KU ownership and current workflow.</a:t>
            </a:r>
          </a:p>
          <a:p xmlns:a="http://schemas.openxmlformats.org/drawingml/2006/main">
            <a:r>
              <a:t/>
            </a:r>
          </a:p>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Full costs, staff needs, data permission and successful trials.</a:t>
            </a:r>
          </a:p>
        </p:txBody>
      </p:sp>
      <p:sp>
        <p:nvSpPr>
          <p:cNvPr id="9" name="takeaway">
            <a:extLst xmlns:a="http://schemas.openxmlformats.org/drawingml/2006/main">
              <a:ext uri="{FF2B5EF4-FFF2-40B4-BE49-F238E27FC236}">
                <a16:creationId xmlns:a16="http://schemas.microsoft.com/office/drawing/2014/main" id="{DAAD6579-468D-4A4E-9666-3FE010F79D62}"/>
              </a:ext>
            </a:extLst>
          </p:cNvPr>
          <p:cNvSpPr>
            <a:spLocks xmlns:a="http://schemas.openxmlformats.org/drawingml/2006/main" noGrp="1"/>
          </p:cNvSpPr>
          <p:nvPr/>
        </p:nvSpPr>
        <p:spPr>
          <a:xfrm xmlns:a="http://schemas.openxmlformats.org/drawingml/2006/main">
            <a:off x="647700" y="6019800"/>
            <a:ext cx="10896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26746D"/>
                </a:solidFill>
                <a:latin typeface="Arial"/>
                <a:ea typeface="Arial"/>
                <a:cs typeface="Arial"/>
              </a:defRPr>
            </a:pPr>
            <a:r>
              <a:rPr sz="1950" b="1">
                <a:solidFill>
                  <a:srgbClr val="26746D"/>
                </a:solidFill>
                <a:latin typeface="Arial"/>
                <a:ea typeface="Arial"/>
                <a:cs typeface="Arial"/>
              </a:rPr>
              <a:t>A real KU rollout needs a separate, evidence-backed decision</a:t>
            </a:r>
          </a:p>
        </p:txBody>
      </p:sp>
    </p:spTree>
    <p:extLst>
      <p:ext uri="{BB962C8B-B14F-4D97-AF65-F5344CB8AC3E}">
        <p14:creationId xmlns:p14="http://schemas.microsoft.com/office/powerpoint/2010/main" val="1239128341"/>
      </p:ext>
    </p:extLst>
  </p:cSld>
</p:sld>
</file>

<file path=ppt/slides/slide3.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BC0A8A4A-9031-4B03-B12C-F4D02A043ECE}"/>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Project scope</a:t>
            </a:r>
          </a:p>
        </p:txBody>
      </p:sp>
      <p:sp>
        <p:nvSpPr>
          <p:cNvPr id="2" name="page">
            <a:extLst xmlns:a="http://schemas.openxmlformats.org/drawingml/2006/main">
              <a:ext uri="{FF2B5EF4-FFF2-40B4-BE49-F238E27FC236}">
                <a16:creationId xmlns:a16="http://schemas.microsoft.com/office/drawing/2014/main" id="{BB37120F-04DA-41C3-868D-F57802F44335}"/>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03</a:t>
            </a:r>
          </a:p>
        </p:txBody>
      </p:sp>
      <p:sp>
        <p:nvSpPr>
          <p:cNvPr id="3" name="source">
            <a:extLst xmlns:a="http://schemas.openxmlformats.org/drawingml/2006/main">
              <a:ext uri="{FF2B5EF4-FFF2-40B4-BE49-F238E27FC236}">
                <a16:creationId xmlns:a16="http://schemas.microsoft.com/office/drawing/2014/main" id="{2A1813F8-2095-4CFD-806E-59466903DDC4}"/>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[S02]</a:t>
            </a:r>
          </a:p>
        </p:txBody>
      </p:sp>
      <p:graphicFrame>
        <p:nvGraphicFramePr>
          <p:cNvPr id="9" name=""/>
          <p:cNvGraphicFramePr/>
          <p:nvPr/>
        </p:nvGraphicFramePr>
        <p:xfrm>
          <a:off xmlns:a="http://schemas.openxmlformats.org/drawingml/2006/main" x="647700" y="1504950"/>
          <a:ext xmlns:a="http://schemas.openxmlformats.org/drawingml/2006/main" cx="10896600" cy="4286250"/>
        </p:xfrm>
        <a:graphic xmlns:a="http://schemas.openxmlformats.org/drawingml/2006/main">
          <a:graphicData uri="http://schemas.openxmlformats.org/drawingml/2006/table">
            <a:tbl>
              <a:tblPr firstRow="0" firstCol="0" bandRow="0"/>
              <a:tblGrid>
                <a:gridCol w="2028825"/>
                <a:gridCol w="4619625"/>
                <a:gridCol w="4248150"/>
              </a:tblGrid>
              <a:tr h="523875">
                <a:tc>
                  <a:txBody>
                    <a:bodyPr lIns="123825" tIns="76200" rIns="123825" bIns="76200">
                      <a:noAutofit/>
                    </a:bodyPr>
                    <a:lstStyle/>
                    <a:p>
                      <a:r>
                        <a:rPr sz="1875" b="1">
                          <a:solidFill>
                            <a:srgbClr val="FFFFFF"/>
                          </a:solidFill>
                          <a:latin typeface="Arial"/>
                          <a:ea typeface="Arial"/>
                          <a:cs typeface="Arial"/>
                        </a:rPr>
                        <a:t>Area</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In scope</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Out of scope</a:t>
                      </a:r>
                    </a:p>
                  </a:txBody>
                  <a:tcPr marL="91440" marR="91440" marT="45720" marB="45720" anchor="ctr">
                    <a:solidFill>
                      <a:srgbClr val="17343C"/>
                    </a:solidFill>
                  </a:tcPr>
                </a:tc>
              </a:tr>
              <a:tr h="752475">
                <a:tc>
                  <a:txBody>
                    <a:bodyPr lIns="123825" tIns="76200" rIns="123825" bIns="76200">
                      <a:noAutofit/>
                    </a:bodyPr>
                    <a:lstStyle/>
                    <a:p>
                      <a:r>
                        <a:rPr sz="1875" b="0">
                          <a:solidFill>
                            <a:srgbClr val="17343C"/>
                          </a:solidFill>
                          <a:latin typeface="Arial"/>
                          <a:ea typeface="Arial"/>
                          <a:cs typeface="Arial"/>
                        </a:rPr>
                        <a:t>Campus work</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Nine roles, inventory, requests,</a:t>
                      </a:r>
                    </a:p>
                    <a:p>
                      <a:r>
                        <a:rPr sz="1875" b="0">
                          <a:solidFill>
                            <a:srgbClr val="17343C"/>
                          </a:solidFill>
                          <a:latin typeface="Arial"/>
                          <a:ea typeface="Arial"/>
                          <a:cs typeface="Arial"/>
                        </a:rPr>
                        <a:t>search, approvals and custody</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Live KU ERP, finance or</a:t>
                      </a:r>
                    </a:p>
                    <a:p>
                      <a:r>
                        <a:rPr sz="1875" b="0">
                          <a:solidFill>
                            <a:srgbClr val="17343C"/>
                          </a:solidFill>
                          <a:latin typeface="Arial"/>
                          <a:ea typeface="Arial"/>
                          <a:cs typeface="Arial"/>
                        </a:rPr>
                        <a:t>procurement integration</a:t>
                      </a:r>
                    </a:p>
                  </a:txBody>
                  <a:tcPr marL="91440" marR="91440" marT="45720" marB="45720" anchor="ctr">
                    <a:solidFill>
                      <a:srgbClr val="FAFAF7"/>
                    </a:solidFill>
                  </a:tcPr>
                </a:tc>
              </a:tr>
              <a:tr h="752475">
                <a:tc>
                  <a:txBody>
                    <a:bodyPr lIns="123825" tIns="76200" rIns="123825" bIns="76200">
                      <a:noAutofit/>
                    </a:bodyPr>
                    <a:lstStyle/>
                    <a:p>
                      <a:r>
                        <a:rPr sz="1875" b="0">
                          <a:solidFill>
                            <a:srgbClr val="17343C"/>
                          </a:solidFill>
                          <a:latin typeface="Arial"/>
                          <a:ea typeface="Arial"/>
                          <a:cs typeface="Arial"/>
                        </a:rPr>
                        <a:t>Life cycle</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Transfer, maintenance, repair</a:t>
                      </a:r>
                    </a:p>
                    <a:p>
                      <a:r>
                        <a:rPr sz="1875" b="0">
                          <a:solidFill>
                            <a:srgbClr val="17343C"/>
                          </a:solidFill>
                          <a:latin typeface="Arial"/>
                          <a:ea typeface="Arial"/>
                          <a:cs typeface="Arial"/>
                        </a:rPr>
                        <a:t>and retirement records</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Vehicle scheduling or</a:t>
                      </a:r>
                    </a:p>
                    <a:p>
                      <a:r>
                        <a:rPr sz="1875" b="0">
                          <a:solidFill>
                            <a:srgbClr val="17343C"/>
                          </a:solidFill>
                          <a:latin typeface="Arial"/>
                          <a:ea typeface="Arial"/>
                          <a:cs typeface="Arial"/>
                        </a:rPr>
                        <a:t>barcode/RFID hardware</a:t>
                      </a:r>
                    </a:p>
                  </a:txBody>
                  <a:tcPr marL="91440" marR="91440" marT="45720" marB="45720" anchor="ctr">
                    <a:solidFill>
                      <a:srgbClr val="F0F4F3"/>
                    </a:solidFill>
                  </a:tcPr>
                </a:tc>
              </a:tr>
              <a:tr h="752475">
                <a:tc>
                  <a:txBody>
                    <a:bodyPr lIns="123825" tIns="76200" rIns="123825" bIns="76200">
                      <a:noAutofit/>
                    </a:bodyPr>
                    <a:lstStyle/>
                    <a:p>
                      <a:r>
                        <a:rPr sz="1875" b="0">
                          <a:solidFill>
                            <a:srgbClr val="17343C"/>
                          </a:solidFill>
                          <a:latin typeface="Arial"/>
                          <a:ea typeface="Arial"/>
                          <a:cs typeface="Arial"/>
                        </a:rPr>
                        <a:t>Reports</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Cost records, standard/AI reports</a:t>
                      </a:r>
                    </a:p>
                    <a:p>
                      <a:r>
                        <a:rPr sz="1875" b="0">
                          <a:solidFill>
                            <a:srgbClr val="17343C"/>
                          </a:solidFill>
                          <a:latin typeface="Arial"/>
                          <a:ea typeface="Arial"/>
                          <a:cs typeface="Arial"/>
                        </a:rPr>
                        <a:t>and sustainability indicators</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Purchasing and</a:t>
                      </a:r>
                    </a:p>
                    <a:p>
                      <a:r>
                        <a:rPr sz="1875" b="0">
                          <a:solidFill>
                            <a:srgbClr val="17343C"/>
                          </a:solidFill>
                          <a:latin typeface="Arial"/>
                          <a:ea typeface="Arial"/>
                          <a:cs typeface="Arial"/>
                        </a:rPr>
                        <a:t>payment processing</a:t>
                      </a:r>
                    </a:p>
                  </a:txBody>
                  <a:tcPr marL="91440" marR="91440" marT="45720" marB="45720" anchor="ctr">
                    <a:solidFill>
                      <a:srgbClr val="FAFAF7"/>
                    </a:solidFill>
                  </a:tcPr>
                </a:tc>
              </a:tr>
              <a:tr h="752475">
                <a:tc>
                  <a:txBody>
                    <a:bodyPr lIns="123825" tIns="76200" rIns="123825" bIns="76200">
                      <a:noAutofit/>
                    </a:bodyPr>
                    <a:lstStyle/>
                    <a:p>
                      <a:r>
                        <a:rPr sz="1875" b="0">
                          <a:solidFill>
                            <a:srgbClr val="17343C"/>
                          </a:solidFill>
                          <a:latin typeface="Arial"/>
                          <a:ea typeface="Arial"/>
                          <a:cs typeface="Arial"/>
                        </a:rPr>
                        <a:t>AI</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Classification, matching, actions</a:t>
                      </a:r>
                    </a:p>
                    <a:p>
                      <a:r>
                        <a:rPr sz="1875" b="0">
                          <a:solidFill>
                            <a:srgbClr val="17343C"/>
                          </a:solidFill>
                          <a:latin typeface="Arial"/>
                          <a:ea typeface="Arial"/>
                          <a:cs typeface="Arial"/>
                        </a:rPr>
                        <a:t>and assistant, with human review</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Training new models</a:t>
                      </a:r>
                    </a:p>
                    <a:p>
                      <a:r>
                        <a:rPr sz="1875" b="0">
                          <a:solidFill>
                            <a:srgbClr val="17343C"/>
                          </a:solidFill>
                          <a:latin typeface="Arial"/>
                          <a:ea typeface="Arial"/>
                          <a:cs typeface="Arial"/>
                        </a:rPr>
                        <a:t>or autonomous approvals</a:t>
                      </a:r>
                    </a:p>
                  </a:txBody>
                  <a:tcPr marL="91440" marR="91440" marT="45720" marB="45720" anchor="ctr">
                    <a:solidFill>
                      <a:srgbClr val="F0F4F3"/>
                    </a:solidFill>
                  </a:tcPr>
                </a:tc>
              </a:tr>
              <a:tr h="752475">
                <a:tc>
                  <a:txBody>
                    <a:bodyPr lIns="123825" tIns="76200" rIns="123825" bIns="76200">
                      <a:noAutofit/>
                    </a:bodyPr>
                    <a:lstStyle/>
                    <a:p>
                      <a:r>
                        <a:rPr sz="1875" b="0">
                          <a:solidFill>
                            <a:srgbClr val="17343C"/>
                          </a:solidFill>
                          <a:latin typeface="Arial"/>
                          <a:ea typeface="Arial"/>
                          <a:cs typeface="Arial"/>
                        </a:rPr>
                        <a:t>Delivery</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Responsive website, deployment,</a:t>
                      </a:r>
                    </a:p>
                    <a:p>
                      <a:r>
                        <a:rPr sz="1875" b="0">
                          <a:solidFill>
                            <a:srgbClr val="17343C"/>
                          </a:solidFill>
                          <a:latin typeface="Arial"/>
                          <a:ea typeface="Arial"/>
                          <a:cs typeface="Arial"/>
                        </a:rPr>
                        <a:t>setup and restart instructions</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Separate native</a:t>
                      </a:r>
                    </a:p>
                    <a:p>
                      <a:r>
                        <a:rPr sz="1875" b="0">
                          <a:solidFill>
                            <a:srgbClr val="17343C"/>
                          </a:solidFill>
                          <a:latin typeface="Arial"/>
                          <a:ea typeface="Arial"/>
                          <a:cs typeface="Arial"/>
                        </a:rPr>
                        <a:t>iPhone/Android apps</a:t>
                      </a:r>
                    </a:p>
                  </a:txBody>
                  <a:tcPr marL="91440" marR="91440" marT="45720" marB="45720" anchor="ctr">
                    <a:solidFill>
                      <a:srgbClr val="FAFAF7"/>
                    </a:solidFill>
                  </a:tcPr>
                </a:tc>
              </a:tr>
            </a:tbl>
          </a:graphicData>
        </a:graphic>
      </p:graphicFrame>
      <p:sp>
        <p:nvSpPr>
          <p:cNvPr id="5" name="takeaway">
            <a:extLst xmlns:a="http://schemas.openxmlformats.org/drawingml/2006/main">
              <a:ext uri="{FF2B5EF4-FFF2-40B4-BE49-F238E27FC236}">
                <a16:creationId xmlns:a16="http://schemas.microsoft.com/office/drawing/2014/main" id="{021E5895-7F09-49E9-A04F-C0696CC138C6}"/>
              </a:ext>
            </a:extLst>
          </p:cNvPr>
          <p:cNvSpPr>
            <a:spLocks xmlns:a="http://schemas.openxmlformats.org/drawingml/2006/main" noGrp="1"/>
          </p:cNvSpPr>
          <p:nvPr/>
        </p:nvSpPr>
        <p:spPr>
          <a:xfrm xmlns:a="http://schemas.openxmlformats.org/drawingml/2006/main">
            <a:off x="647700" y="6038850"/>
            <a:ext cx="10896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6746D"/>
                </a:solidFill>
                <a:latin typeface="Arial"/>
                <a:ea typeface="Arial"/>
                <a:cs typeface="Arial"/>
              </a:defRPr>
            </a:pPr>
            <a:r>
              <a:rPr sz="1875" b="1">
                <a:solidFill>
                  <a:srgbClr val="26746D"/>
                </a:solidFill>
                <a:latin typeface="Arial"/>
                <a:ea typeface="Arial"/>
                <a:cs typeface="Arial"/>
              </a:rPr>
              <a:t>The monitor example tests part of this wider semester scope</a:t>
            </a:r>
          </a:p>
        </p:txBody>
      </p:sp>
    </p:spTree>
    <p:extLst>
      <p:ext uri="{BB962C8B-B14F-4D97-AF65-F5344CB8AC3E}">
        <p14:creationId xmlns:p14="http://schemas.microsoft.com/office/powerpoint/2010/main" val="141447980"/>
      </p:ext>
    </p:extLst>
  </p:cSld>
</p:sld>
</file>

<file path=ppt/slides/slide4.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4" name="title">
            <a:extLst xmlns:a="http://schemas.openxmlformats.org/drawingml/2006/main">
              <a:ext uri="{FF2B5EF4-FFF2-40B4-BE49-F238E27FC236}">
                <a16:creationId xmlns:a16="http://schemas.microsoft.com/office/drawing/2014/main" id="{55ABBB6D-6E04-43D2-93C9-4136C2DF7642}"/>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One request we can investigate</a:t>
            </a:r>
          </a:p>
        </p:txBody>
      </p:sp>
      <p:sp>
        <p:nvSpPr>
          <p:cNvPr id="2" name="page">
            <a:extLst xmlns:a="http://schemas.openxmlformats.org/drawingml/2006/main">
              <a:ext uri="{FF2B5EF4-FFF2-40B4-BE49-F238E27FC236}">
                <a16:creationId xmlns:a16="http://schemas.microsoft.com/office/drawing/2014/main" id="{EA98845E-ED55-4594-88B9-9C46C2D107E8}"/>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04</a:t>
            </a:r>
          </a:p>
        </p:txBody>
      </p:sp>
      <p:sp>
        <p:nvSpPr>
          <p:cNvPr id="3" name="source">
            <a:extLst xmlns:a="http://schemas.openxmlformats.org/drawingml/2006/main">
              <a:ext uri="{FF2B5EF4-FFF2-40B4-BE49-F238E27FC236}">
                <a16:creationId xmlns:a16="http://schemas.microsoft.com/office/drawing/2014/main" id="{241719A6-6AF9-464F-B5DC-9731C9AE1A00}"/>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[S02]</a:t>
            </a:r>
          </a:p>
        </p:txBody>
      </p:sp>
      <p:sp>
        <p:nvSpPr>
          <p:cNvPr id="4" name="scenario">
            <a:extLst xmlns:a="http://schemas.openxmlformats.org/drawingml/2006/main">
              <a:ext uri="{FF2B5EF4-FFF2-40B4-BE49-F238E27FC236}">
                <a16:creationId xmlns:a16="http://schemas.microsoft.com/office/drawing/2014/main" id="{FAA55A4C-9BD9-469A-9C51-29026B16A01D}"/>
              </a:ext>
            </a:extLst>
          </p:cNvPr>
          <p:cNvSpPr>
            <a:spLocks xmlns:a="http://schemas.openxmlformats.org/drawingml/2006/main" noGrp="1"/>
          </p:cNvSpPr>
          <p:nvPr/>
        </p:nvSpPr>
        <p:spPr>
          <a:xfrm xmlns:a="http://schemas.openxmlformats.org/drawingml/2006/main">
            <a:off x="647700" y="142875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6746D"/>
                </a:solidFill>
                <a:latin typeface="Arial"/>
                <a:ea typeface="Arial"/>
                <a:cs typeface="Arial"/>
              </a:defRPr>
            </a:pPr>
            <a:r>
              <a:rPr sz="2400" b="1">
                <a:solidFill>
                  <a:srgbClr val="26746D"/>
                </a:solidFill>
                <a:latin typeface="Arial"/>
                <a:ea typeface="Arial"/>
                <a:cs typeface="Arial"/>
              </a:rPr>
              <a:t>A KU staff member needs two suitable working monitors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f4727105461242f1"/>
          <a:stretch xmlns:a="http://schemas.openxmlformats.org/drawingml/2006/main"/>
        </p:blipFill>
        <p:spPr>
          <a:xfrm xmlns:a="http://schemas.openxmlformats.org/drawingml/2006/main">
            <a:off x="552450" y="2297113"/>
            <a:ext cx="11106150" cy="3702050"/>
          </a:xfrm>
          <a:prstGeom xmlns:a="http://schemas.openxmlformats.org/drawingml/2006/main" prst="rect">
            <a:avLst/>
          </a:prstGeom>
        </p:spPr>
      </p:pic>
      <p:sp>
        <p:nvSpPr>
          <p:cNvPr id="6" name="stage0">
            <a:extLst xmlns:a="http://schemas.openxmlformats.org/drawingml/2006/main">
              <a:ext uri="{FF2B5EF4-FFF2-40B4-BE49-F238E27FC236}">
                <a16:creationId xmlns:a16="http://schemas.microsoft.com/office/drawing/2014/main" id="{3E420342-FC9D-4DC6-BCFD-FE61AE79F0CA}"/>
              </a:ext>
            </a:extLst>
          </p:cNvPr>
          <p:cNvSpPr>
            <a:spLocks xmlns:a="http://schemas.openxmlformats.org/drawingml/2006/main" noGrp="1"/>
          </p:cNvSpPr>
          <p:nvPr/>
        </p:nvSpPr>
        <p:spPr>
          <a:xfrm xmlns:a="http://schemas.openxmlformats.org/drawingml/2006/main">
            <a:off x="647700" y="2038350"/>
            <a:ext cx="26384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343C"/>
                </a:solidFill>
                <a:latin typeface="Arial"/>
                <a:ea typeface="Arial"/>
                <a:cs typeface="Arial"/>
              </a:defRPr>
            </a:pPr>
            <a:r>
              <a:rPr sz="2100" b="1">
                <a:solidFill>
                  <a:srgbClr val="17343C"/>
                </a:solidFill>
                <a:latin typeface="Arial"/>
                <a:ea typeface="Arial"/>
                <a:cs typeface="Arial"/>
              </a:rPr>
              <a:t>1  Request</a:t>
            </a:r>
          </a:p>
        </p:txBody>
      </p:sp>
      <p:sp>
        <p:nvSpPr>
          <p:cNvPr id="7" name="stage-detail0">
            <a:extLst xmlns:a="http://schemas.openxmlformats.org/drawingml/2006/main">
              <a:ext uri="{FF2B5EF4-FFF2-40B4-BE49-F238E27FC236}">
                <a16:creationId xmlns:a16="http://schemas.microsoft.com/office/drawing/2014/main" id="{E3B2AD9C-6758-4592-9D0D-6F21C95A73CE}"/>
              </a:ext>
            </a:extLst>
          </p:cNvPr>
          <p:cNvSpPr>
            <a:spLocks xmlns:a="http://schemas.openxmlformats.org/drawingml/2006/main" noGrp="1"/>
          </p:cNvSpPr>
          <p:nvPr/>
        </p:nvSpPr>
        <p:spPr>
          <a:xfrm xmlns:a="http://schemas.openxmlformats.org/drawingml/2006/main">
            <a:off x="647700" y="5857875"/>
            <a:ext cx="26384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26264"/>
                </a:solidFill>
                <a:latin typeface="Arial"/>
                <a:ea typeface="Arial"/>
                <a:cs typeface="Arial"/>
              </a:defRPr>
            </a:pPr>
            <a:r>
              <a:rPr sz="1725" b="0">
                <a:solidFill>
                  <a:srgbClr val="526264"/>
                </a:solidFill>
                <a:latin typeface="Arial"/>
                <a:ea typeface="Arial"/>
                <a:cs typeface="Arial"/>
              </a:rPr>
              <a:t>Describe the need</a:t>
            </a:r>
          </a:p>
        </p:txBody>
      </p:sp>
      <p:sp>
        <p:nvSpPr>
          <p:cNvPr id="8" name="stage1">
            <a:extLst xmlns:a="http://schemas.openxmlformats.org/drawingml/2006/main">
              <a:ext uri="{FF2B5EF4-FFF2-40B4-BE49-F238E27FC236}">
                <a16:creationId xmlns:a16="http://schemas.microsoft.com/office/drawing/2014/main" id="{8FCD9853-2960-4F17-B881-237110D00816}"/>
              </a:ext>
            </a:extLst>
          </p:cNvPr>
          <p:cNvSpPr>
            <a:spLocks xmlns:a="http://schemas.openxmlformats.org/drawingml/2006/main" noGrp="1"/>
          </p:cNvSpPr>
          <p:nvPr/>
        </p:nvSpPr>
        <p:spPr>
          <a:xfrm xmlns:a="http://schemas.openxmlformats.org/drawingml/2006/main">
            <a:off x="3381375" y="2038350"/>
            <a:ext cx="26384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343C"/>
                </a:solidFill>
                <a:latin typeface="Arial"/>
                <a:ea typeface="Arial"/>
                <a:cs typeface="Arial"/>
              </a:defRPr>
            </a:pPr>
            <a:r>
              <a:rPr sz="2100" b="1">
                <a:solidFill>
                  <a:srgbClr val="17343C"/>
                </a:solidFill>
                <a:latin typeface="Arial"/>
                <a:ea typeface="Arial"/>
                <a:cs typeface="Arial"/>
              </a:rPr>
              <a:t>2  Find spares</a:t>
            </a:r>
          </a:p>
        </p:txBody>
      </p:sp>
      <p:sp>
        <p:nvSpPr>
          <p:cNvPr id="9" name="stage-detail1">
            <a:extLst xmlns:a="http://schemas.openxmlformats.org/drawingml/2006/main">
              <a:ext uri="{FF2B5EF4-FFF2-40B4-BE49-F238E27FC236}">
                <a16:creationId xmlns:a16="http://schemas.microsoft.com/office/drawing/2014/main" id="{AF39FDA1-993C-4ECD-9FD2-3A75C9FAA2C3}"/>
              </a:ext>
            </a:extLst>
          </p:cNvPr>
          <p:cNvSpPr>
            <a:spLocks xmlns:a="http://schemas.openxmlformats.org/drawingml/2006/main" noGrp="1"/>
          </p:cNvSpPr>
          <p:nvPr/>
        </p:nvSpPr>
        <p:spPr>
          <a:xfrm xmlns:a="http://schemas.openxmlformats.org/drawingml/2006/main">
            <a:off x="3381375" y="5857875"/>
            <a:ext cx="26384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26264"/>
                </a:solidFill>
                <a:latin typeface="Arial"/>
                <a:ea typeface="Arial"/>
                <a:cs typeface="Arial"/>
              </a:defRPr>
            </a:pPr>
            <a:r>
              <a:rPr sz="1725" b="0">
                <a:solidFill>
                  <a:srgbClr val="526264"/>
                </a:solidFill>
                <a:latin typeface="Arial"/>
                <a:ea typeface="Arial"/>
                <a:cs typeface="Arial"/>
              </a:rPr>
              <a:t>Check fit and quantity</a:t>
            </a:r>
          </a:p>
        </p:txBody>
      </p:sp>
      <p:sp>
        <p:nvSpPr>
          <p:cNvPr id="10" name="stage2">
            <a:extLst xmlns:a="http://schemas.openxmlformats.org/drawingml/2006/main">
              <a:ext uri="{FF2B5EF4-FFF2-40B4-BE49-F238E27FC236}">
                <a16:creationId xmlns:a16="http://schemas.microsoft.com/office/drawing/2014/main" id="{04586944-900B-4913-ADED-263A0DEC2D3B}"/>
              </a:ext>
            </a:extLst>
          </p:cNvPr>
          <p:cNvSpPr>
            <a:spLocks xmlns:a="http://schemas.openxmlformats.org/drawingml/2006/main" noGrp="1"/>
          </p:cNvSpPr>
          <p:nvPr/>
        </p:nvSpPr>
        <p:spPr>
          <a:xfrm xmlns:a="http://schemas.openxmlformats.org/drawingml/2006/main">
            <a:off x="6115050" y="2038350"/>
            <a:ext cx="26384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343C"/>
                </a:solidFill>
                <a:latin typeface="Arial"/>
                <a:ea typeface="Arial"/>
                <a:cs typeface="Arial"/>
              </a:defRPr>
            </a:pPr>
            <a:r>
              <a:rPr sz="2100" b="1">
                <a:solidFill>
                  <a:srgbClr val="17343C"/>
                </a:solidFill>
                <a:latin typeface="Arial"/>
                <a:ea typeface="Arial"/>
                <a:cs typeface="Arial"/>
              </a:rPr>
              <a:t>3  Approve</a:t>
            </a:r>
          </a:p>
        </p:txBody>
      </p:sp>
      <p:sp>
        <p:nvSpPr>
          <p:cNvPr id="11" name="stage-detail2">
            <a:extLst xmlns:a="http://schemas.openxmlformats.org/drawingml/2006/main">
              <a:ext uri="{FF2B5EF4-FFF2-40B4-BE49-F238E27FC236}">
                <a16:creationId xmlns:a16="http://schemas.microsoft.com/office/drawing/2014/main" id="{46C22AE7-BCCA-4B25-8FAA-563F6394CF2C}"/>
              </a:ext>
            </a:extLst>
          </p:cNvPr>
          <p:cNvSpPr>
            <a:spLocks xmlns:a="http://schemas.openxmlformats.org/drawingml/2006/main" noGrp="1"/>
          </p:cNvSpPr>
          <p:nvPr/>
        </p:nvSpPr>
        <p:spPr>
          <a:xfrm xmlns:a="http://schemas.openxmlformats.org/drawingml/2006/main">
            <a:off x="6115050" y="5857875"/>
            <a:ext cx="26384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26264"/>
                </a:solidFill>
                <a:latin typeface="Arial"/>
                <a:ea typeface="Arial"/>
                <a:cs typeface="Arial"/>
              </a:defRPr>
            </a:pPr>
            <a:r>
              <a:rPr sz="1725" b="0">
                <a:solidFill>
                  <a:srgbClr val="526264"/>
                </a:solidFill>
                <a:latin typeface="Arial"/>
                <a:ea typeface="Arial"/>
                <a:cs typeface="Arial"/>
              </a:rPr>
              <a:t>Releasing and receiving staff</a:t>
            </a:r>
          </a:p>
        </p:txBody>
      </p:sp>
      <p:sp>
        <p:nvSpPr>
          <p:cNvPr id="12" name="stage3">
            <a:extLst xmlns:a="http://schemas.openxmlformats.org/drawingml/2006/main">
              <a:ext uri="{FF2B5EF4-FFF2-40B4-BE49-F238E27FC236}">
                <a16:creationId xmlns:a16="http://schemas.microsoft.com/office/drawing/2014/main" id="{102D2A92-1BFD-48E0-868A-BE7E54B3B3CA}"/>
              </a:ext>
            </a:extLst>
          </p:cNvPr>
          <p:cNvSpPr>
            <a:spLocks xmlns:a="http://schemas.openxmlformats.org/drawingml/2006/main" noGrp="1"/>
          </p:cNvSpPr>
          <p:nvPr/>
        </p:nvSpPr>
        <p:spPr>
          <a:xfrm xmlns:a="http://schemas.openxmlformats.org/drawingml/2006/main">
            <a:off x="8848725" y="2038350"/>
            <a:ext cx="26384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343C"/>
                </a:solidFill>
                <a:latin typeface="Arial"/>
                <a:ea typeface="Arial"/>
                <a:cs typeface="Arial"/>
              </a:defRPr>
            </a:pPr>
            <a:r>
              <a:rPr sz="2100" b="1">
                <a:solidFill>
                  <a:srgbClr val="17343C"/>
                </a:solidFill>
                <a:latin typeface="Arial"/>
                <a:ea typeface="Arial"/>
                <a:cs typeface="Arial"/>
              </a:rPr>
              <a:t>4  Handover</a:t>
            </a:r>
          </a:p>
        </p:txBody>
      </p:sp>
      <p:sp>
        <p:nvSpPr>
          <p:cNvPr id="13" name="stage-detail3">
            <a:extLst xmlns:a="http://schemas.openxmlformats.org/drawingml/2006/main">
              <a:ext uri="{FF2B5EF4-FFF2-40B4-BE49-F238E27FC236}">
                <a16:creationId xmlns:a16="http://schemas.microsoft.com/office/drawing/2014/main" id="{C6D7B921-4152-430D-AFE9-7482AFF59C63}"/>
              </a:ext>
            </a:extLst>
          </p:cNvPr>
          <p:cNvSpPr>
            <a:spLocks xmlns:a="http://schemas.openxmlformats.org/drawingml/2006/main" noGrp="1"/>
          </p:cNvSpPr>
          <p:nvPr/>
        </p:nvSpPr>
        <p:spPr>
          <a:xfrm xmlns:a="http://schemas.openxmlformats.org/drawingml/2006/main">
            <a:off x="8848725" y="5857875"/>
            <a:ext cx="26384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26264"/>
                </a:solidFill>
                <a:latin typeface="Arial"/>
                <a:ea typeface="Arial"/>
                <a:cs typeface="Arial"/>
              </a:defRPr>
            </a:pPr>
            <a:r>
              <a:rPr sz="1725" b="0">
                <a:solidFill>
                  <a:srgbClr val="526264"/>
                </a:solidFill>
                <a:latin typeface="Arial"/>
                <a:ea typeface="Arial"/>
                <a:cs typeface="Arial"/>
              </a:rPr>
              <a:t>Record custody and location</a:t>
            </a:r>
          </a:p>
        </p:txBody>
      </p:sp>
    </p:spTree>
    <p:extLst>
      <p:ext uri="{BB962C8B-B14F-4D97-AF65-F5344CB8AC3E}">
        <p14:creationId xmlns:p14="http://schemas.microsoft.com/office/powerpoint/2010/main" val="1986046574"/>
      </p:ext>
    </p:extLst>
  </p:cSld>
</p:sld>
</file>

<file path=ppt/slides/slide5.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6211E41D-69B6-48F5-879D-0B194FAB8DFE}"/>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Who owns the process and uses it?</a:t>
            </a:r>
          </a:p>
        </p:txBody>
      </p:sp>
      <p:sp>
        <p:nvSpPr>
          <p:cNvPr id="2" name="page">
            <a:extLst xmlns:a="http://schemas.openxmlformats.org/drawingml/2006/main">
              <a:ext uri="{FF2B5EF4-FFF2-40B4-BE49-F238E27FC236}">
                <a16:creationId xmlns:a16="http://schemas.microsoft.com/office/drawing/2014/main" id="{1EF1B0BF-43B0-493F-A13E-68E08A06A848}"/>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05</a:t>
            </a:r>
          </a:p>
        </p:txBody>
      </p:sp>
      <p:sp>
        <p:nvSpPr>
          <p:cNvPr id="3" name="source">
            <a:extLst xmlns:a="http://schemas.openxmlformats.org/drawingml/2006/main">
              <a:ext uri="{FF2B5EF4-FFF2-40B4-BE49-F238E27FC236}">
                <a16:creationId xmlns:a16="http://schemas.microsoft.com/office/drawing/2014/main" id="{F0A494CD-3C28-46B2-8665-2ACD7D13EFDF}"/>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[S02] [S03]</a:t>
            </a:r>
          </a:p>
        </p:txBody>
      </p:sp>
      <p:sp>
        <p:nvSpPr>
          <p:cNvPr id="4" name="owner">
            <a:extLst xmlns:a="http://schemas.openxmlformats.org/drawingml/2006/main">
              <a:ext uri="{FF2B5EF4-FFF2-40B4-BE49-F238E27FC236}">
                <a16:creationId xmlns:a16="http://schemas.microsoft.com/office/drawing/2014/main" id="{C04CB38A-7119-4016-B4F1-07E543777CD2}"/>
              </a:ext>
            </a:extLst>
          </p:cNvPr>
          <p:cNvSpPr>
            <a:spLocks xmlns:a="http://schemas.openxmlformats.org/drawingml/2006/main" noGrp="1"/>
          </p:cNvSpPr>
          <p:nvPr/>
        </p:nvSpPr>
        <p:spPr>
          <a:xfrm xmlns:a="http://schemas.openxmlformats.org/drawingml/2006/main">
            <a:off x="647700" y="1428750"/>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6746D"/>
                </a:solidFill>
                <a:latin typeface="Arial"/>
                <a:ea typeface="Arial"/>
                <a:cs typeface="Arial"/>
              </a:defRPr>
            </a:pPr>
            <a:r>
              <a:rPr sz="2400" b="1">
                <a:solidFill>
                  <a:srgbClr val="26746D"/>
                </a:solidFill>
                <a:latin typeface="Arial"/>
                <a:ea typeface="Arial"/>
                <a:cs typeface="Arial"/>
              </a:rPr>
              <a:t>Proposed functional owner: Facilities Management</a:t>
            </a:r>
          </a:p>
        </p:txBody>
      </p:sp>
      <p:graphicFrame>
        <p:nvGraphicFramePr>
          <p:cNvPr id="11" name=""/>
          <p:cNvGraphicFramePr/>
          <p:nvPr/>
        </p:nvGraphicFramePr>
        <p:xfrm>
          <a:off xmlns:a="http://schemas.openxmlformats.org/drawingml/2006/main" x="647700" y="2047875"/>
          <a:ext xmlns:a="http://schemas.openxmlformats.org/drawingml/2006/main" cx="10896600" cy="3943350"/>
        </p:xfrm>
        <a:graphic xmlns:a="http://schemas.openxmlformats.org/drawingml/2006/main">
          <a:graphicData uri="http://schemas.openxmlformats.org/drawingml/2006/table">
            <a:tbl>
              <a:tblPr firstRow="0" firstCol="0" bandRow="0"/>
              <a:tblGrid>
                <a:gridCol w="2800350"/>
                <a:gridCol w="3895725"/>
                <a:gridCol w="4200525"/>
              </a:tblGrid>
              <a:tr h="542925">
                <a:tc>
                  <a:txBody>
                    <a:bodyPr lIns="123825" tIns="76200" rIns="123825" bIns="76200">
                      <a:noAutofit/>
                    </a:bodyPr>
                    <a:lstStyle/>
                    <a:p>
                      <a:r>
                        <a:rPr sz="1875" b="1">
                          <a:solidFill>
                            <a:srgbClr val="FFFFFF"/>
                          </a:solidFill>
                          <a:latin typeface="Arial"/>
                          <a:ea typeface="Arial"/>
                          <a:cs typeface="Arial"/>
                        </a:rPr>
                        <a:t>Role</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Responsibility</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What they need</a:t>
                      </a:r>
                    </a:p>
                  </a:txBody>
                  <a:tcPr marL="91440" marR="91440" marT="45720" marB="45720" anchor="ctr">
                    <a:solidFill>
                      <a:srgbClr val="17343C"/>
                    </a:solidFill>
                  </a:tcPr>
                </a:tc>
              </a:tr>
              <a:tr h="838200">
                <a:tc>
                  <a:txBody>
                    <a:bodyPr lIns="123825" tIns="76200" rIns="123825" bIns="76200">
                      <a:noAutofit/>
                    </a:bodyPr>
                    <a:lstStyle/>
                    <a:p>
                      <a:r>
                        <a:rPr sz="1950" b="0">
                          <a:solidFill>
                            <a:srgbClr val="17343C"/>
                          </a:solidFill>
                          <a:latin typeface="Arial"/>
                          <a:ea typeface="Arial"/>
                          <a:cs typeface="Arial"/>
                        </a:rPr>
                        <a:t>Department representative</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Approve release and receipt</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Clear approval tasks and department controls</a:t>
                      </a:r>
                    </a:p>
                  </a:txBody>
                  <a:tcPr marL="91440" marR="91440" marT="45720" marB="45720" anchor="ctr">
                    <a:solidFill>
                      <a:srgbClr val="FAFAF7"/>
                    </a:solidFill>
                  </a:tcPr>
                </a:tc>
              </a:tr>
              <a:tr h="857250">
                <a:tc>
                  <a:txBody>
                    <a:bodyPr lIns="123825" tIns="76200" rIns="123825" bIns="76200">
                      <a:noAutofit/>
                    </a:bodyPr>
                    <a:lstStyle/>
                    <a:p>
                      <a:r>
                        <a:rPr sz="1950" b="0">
                          <a:solidFill>
                            <a:srgbClr val="17343C"/>
                          </a:solidFill>
                          <a:latin typeface="Arial"/>
                          <a:ea typeface="Arial"/>
                          <a:cs typeface="Arial"/>
                        </a:rPr>
                        <a:t>Asset custodian</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Maintain item records and confirm handover</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Accurate condition, quantity, location and history</a:t>
                      </a:r>
                    </a:p>
                  </a:txBody>
                  <a:tcPr marL="91440" marR="91440" marT="45720" marB="45720" anchor="ctr">
                    <a:solidFill>
                      <a:srgbClr val="F0F4F3"/>
                    </a:solidFill>
                  </a:tcPr>
                </a:tc>
              </a:tr>
              <a:tr h="771525">
                <a:tc>
                  <a:txBody>
                    <a:bodyPr lIns="123825" tIns="76200" rIns="123825" bIns="76200">
                      <a:noAutofit/>
                    </a:bodyPr>
                    <a:lstStyle/>
                    <a:p>
                      <a:r>
                        <a:rPr sz="1950" b="0">
                          <a:solidFill>
                            <a:srgbClr val="17343C"/>
                          </a:solidFill>
                          <a:latin typeface="Arial"/>
                          <a:ea typeface="Arial"/>
                          <a:cs typeface="Arial"/>
                        </a:rPr>
                        <a:t>Requester</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Find items and submit requests</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Suitable results and visible request status</a:t>
                      </a:r>
                    </a:p>
                  </a:txBody>
                  <a:tcPr marL="91440" marR="91440" marT="45720" marB="45720" anchor="ctr">
                    <a:solidFill>
                      <a:srgbClr val="FAFAF7"/>
                    </a:solidFill>
                  </a:tcPr>
                </a:tc>
              </a:tr>
              <a:tr h="933450">
                <a:tc>
                  <a:txBody>
                    <a:bodyPr lIns="123825" tIns="76200" rIns="123825" bIns="76200">
                      <a:noAutofit/>
                    </a:bodyPr>
                    <a:lstStyle/>
                    <a:p>
                      <a:r>
                        <a:rPr sz="1950" b="0">
                          <a:solidFill>
                            <a:srgbClr val="17343C"/>
                          </a:solidFill>
                          <a:latin typeface="Arial"/>
                          <a:ea typeface="Arial"/>
                          <a:cs typeface="Arial"/>
                        </a:rPr>
                        <a:t>Business administrator</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Configure workflows and handle exceptions</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Consistent records and approval routes</a:t>
                      </a:r>
                    </a:p>
                  </a:txBody>
                  <a:tcPr marL="91440" marR="91440" marT="45720" marB="45720" anchor="ctr">
                    <a:solidFill>
                      <a:srgbClr val="F0F4F3"/>
                    </a:solidFill>
                  </a:tcPr>
                </a:tc>
              </a:tr>
            </a:tbl>
          </a:graphicData>
        </a:graphic>
      </p:graphicFrame>
      <p:sp>
        <p:nvSpPr>
          <p:cNvPr id="6" name="takeaway">
            <a:extLst xmlns:a="http://schemas.openxmlformats.org/drawingml/2006/main">
              <a:ext uri="{FF2B5EF4-FFF2-40B4-BE49-F238E27FC236}">
                <a16:creationId xmlns:a16="http://schemas.microsoft.com/office/drawing/2014/main" id="{C62185A5-2430-4CBC-9327-E50297244359}"/>
              </a:ext>
            </a:extLst>
          </p:cNvPr>
          <p:cNvSpPr>
            <a:spLocks xmlns:a="http://schemas.openxmlformats.org/drawingml/2006/main" noGrp="1"/>
          </p:cNvSpPr>
          <p:nvPr/>
        </p:nvSpPr>
        <p:spPr>
          <a:xfrm xmlns:a="http://schemas.openxmlformats.org/drawingml/2006/main">
            <a:off x="647700" y="6105525"/>
            <a:ext cx="10896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26746D"/>
                </a:solidFill>
                <a:latin typeface="Arial"/>
                <a:ea typeface="Arial"/>
                <a:cs typeface="Arial"/>
              </a:defRPr>
            </a:pPr>
            <a:r>
              <a:rPr sz="1800" b="1">
                <a:solidFill>
                  <a:srgbClr val="26746D"/>
                </a:solidFill>
                <a:latin typeface="Arial"/>
                <a:ea typeface="Arial"/>
                <a:cs typeface="Arial"/>
              </a:rPr>
              <a:t>KU staff must confirm the owner and approval responsibilities</a:t>
            </a:r>
          </a:p>
        </p:txBody>
      </p:sp>
    </p:spTree>
    <p:extLst>
      <p:ext uri="{BB962C8B-B14F-4D97-AF65-F5344CB8AC3E}">
        <p14:creationId xmlns:p14="http://schemas.microsoft.com/office/powerpoint/2010/main" val="1776907310"/>
      </p:ext>
    </p:extLst>
  </p:cSld>
</p:sld>
</file>

<file path=ppt/slides/slide6.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0F930764-F56B-4A2D-AB4F-98556DD35122}"/>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Who checks decisions and operates the service?</a:t>
            </a:r>
          </a:p>
        </p:txBody>
      </p:sp>
      <p:sp>
        <p:nvSpPr>
          <p:cNvPr id="2" name="page">
            <a:extLst xmlns:a="http://schemas.openxmlformats.org/drawingml/2006/main">
              <a:ext uri="{FF2B5EF4-FFF2-40B4-BE49-F238E27FC236}">
                <a16:creationId xmlns:a16="http://schemas.microsoft.com/office/drawing/2014/main" id="{860271A7-FE78-4FE0-8969-B71AA88D0ED5}"/>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06</a:t>
            </a:r>
          </a:p>
        </p:txBody>
      </p:sp>
      <p:sp>
        <p:nvSpPr>
          <p:cNvPr id="3" name="source">
            <a:extLst xmlns:a="http://schemas.openxmlformats.org/drawingml/2006/main">
              <a:ext uri="{FF2B5EF4-FFF2-40B4-BE49-F238E27FC236}">
                <a16:creationId xmlns:a16="http://schemas.microsoft.com/office/drawing/2014/main" id="{5EC8E0D9-2EB3-4B45-BD33-BE02BE6A4CBA}"/>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[S02] [S03]</a:t>
            </a:r>
          </a:p>
        </p:txBody>
      </p:sp>
      <p:graphicFrame>
        <p:nvGraphicFramePr>
          <p:cNvPr id="9" name=""/>
          <p:cNvGraphicFramePr/>
          <p:nvPr/>
        </p:nvGraphicFramePr>
        <p:xfrm>
          <a:off xmlns:a="http://schemas.openxmlformats.org/drawingml/2006/main" x="647700" y="1476375"/>
          <a:ext xmlns:a="http://schemas.openxmlformats.org/drawingml/2006/main" cx="10896600" cy="4562475"/>
        </p:xfrm>
        <a:graphic xmlns:a="http://schemas.openxmlformats.org/drawingml/2006/main">
          <a:graphicData uri="http://schemas.openxmlformats.org/drawingml/2006/table">
            <a:tbl>
              <a:tblPr firstRow="0" firstCol="0" bandRow="0"/>
              <a:tblGrid>
                <a:gridCol w="2800350"/>
                <a:gridCol w="3895725"/>
                <a:gridCol w="4200525"/>
              </a:tblGrid>
              <a:tr h="523875">
                <a:tc>
                  <a:txBody>
                    <a:bodyPr lIns="123825" tIns="76200" rIns="123825" bIns="76200">
                      <a:noAutofit/>
                    </a:bodyPr>
                    <a:lstStyle/>
                    <a:p>
                      <a:r>
                        <a:rPr sz="1875" b="1">
                          <a:solidFill>
                            <a:srgbClr val="FFFFFF"/>
                          </a:solidFill>
                          <a:latin typeface="Arial"/>
                          <a:ea typeface="Arial"/>
                          <a:cs typeface="Arial"/>
                        </a:rPr>
                        <a:t>Role</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Responsibility</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What they need</a:t>
                      </a:r>
                    </a:p>
                  </a:txBody>
                  <a:tcPr marL="91440" marR="91440" marT="45720" marB="45720" anchor="ctr">
                    <a:solidFill>
                      <a:srgbClr val="17343C"/>
                    </a:solidFill>
                  </a:tcPr>
                </a:tc>
              </a:tr>
              <a:tr h="781050">
                <a:tc>
                  <a:txBody>
                    <a:bodyPr lIns="123825" tIns="76200" rIns="123825" bIns="76200">
                      <a:noAutofit/>
                    </a:bodyPr>
                    <a:lstStyle/>
                    <a:p>
                      <a:r>
                        <a:rPr sz="1875" b="0">
                          <a:solidFill>
                            <a:srgbClr val="17343C"/>
                          </a:solidFill>
                          <a:latin typeface="Arial"/>
                          <a:ea typeface="Arial"/>
                          <a:cs typeface="Arial"/>
                        </a:rPr>
                        <a:t>Procurement officer</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Check reuse and procurement rules</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Evidence that reuse is permitted and avoids a purchase</a:t>
                      </a:r>
                    </a:p>
                  </a:txBody>
                  <a:tcPr marL="91440" marR="91440" marT="45720" marB="45720" anchor="ctr">
                    <a:solidFill>
                      <a:srgbClr val="FAFAF7"/>
                    </a:solidFill>
                  </a:tcPr>
                </a:tc>
              </a:tr>
              <a:tr h="742950">
                <a:tc>
                  <a:txBody>
                    <a:bodyPr lIns="123825" tIns="76200" rIns="123825" bIns="76200">
                      <a:noAutofit/>
                    </a:bodyPr>
                    <a:lstStyle/>
                    <a:p>
                      <a:r>
                        <a:rPr sz="1875" b="0">
                          <a:solidFill>
                            <a:srgbClr val="17343C"/>
                          </a:solidFill>
                          <a:latin typeface="Arial"/>
                          <a:ea typeface="Arial"/>
                          <a:cs typeface="Arial"/>
                        </a:rPr>
                        <a:t>Finance officer</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Check values, costs and thresholds</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Traceable figures and authorised decisions</a:t>
                      </a:r>
                    </a:p>
                  </a:txBody>
                  <a:tcPr marL="91440" marR="91440" marT="45720" marB="45720" anchor="ctr">
                    <a:solidFill>
                      <a:srgbClr val="F0F4F3"/>
                    </a:solidFill>
                  </a:tcPr>
                </a:tc>
              </a:tr>
              <a:tr h="771525">
                <a:tc>
                  <a:txBody>
                    <a:bodyPr lIns="123825" tIns="76200" rIns="123825" bIns="76200">
                      <a:noAutofit/>
                    </a:bodyPr>
                    <a:lstStyle/>
                    <a:p>
                      <a:r>
                        <a:rPr sz="1875" b="0">
                          <a:solidFill>
                            <a:srgbClr val="17343C"/>
                          </a:solidFill>
                          <a:latin typeface="Arial"/>
                          <a:ea typeface="Arial"/>
                          <a:cs typeface="Arial"/>
                        </a:rPr>
                        <a:t>Maintenance staff</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Inspect, repair and update condition</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Work records, costs and safe condition</a:t>
                      </a:r>
                    </a:p>
                  </a:txBody>
                  <a:tcPr marL="91440" marR="91440" marT="45720" marB="45720" anchor="ctr">
                    <a:solidFill>
                      <a:srgbClr val="FAFAF7"/>
                    </a:solidFill>
                  </a:tcPr>
                </a:tc>
              </a:tr>
              <a:tr h="781050">
                <a:tc>
                  <a:txBody>
                    <a:bodyPr lIns="123825" tIns="76200" rIns="123825" bIns="76200">
                      <a:noAutofit/>
                    </a:bodyPr>
                    <a:lstStyle/>
                    <a:p>
                      <a:r>
                        <a:rPr sz="1875" b="0">
                          <a:solidFill>
                            <a:srgbClr val="17343C"/>
                          </a:solidFill>
                          <a:latin typeface="Arial"/>
                          <a:ea typeface="Arial"/>
                          <a:cs typeface="Arial"/>
                        </a:rPr>
                        <a:t>Sustainability officer</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Review actions, factors and indicators</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Sourced measures and explicit uncertainty</a:t>
                      </a:r>
                    </a:p>
                  </a:txBody>
                  <a:tcPr marL="91440" marR="91440" marT="45720" marB="45720" anchor="ctr">
                    <a:solidFill>
                      <a:srgbClr val="F0F4F3"/>
                    </a:solidFill>
                  </a:tcPr>
                </a:tc>
              </a:tr>
              <a:tr h="962025">
                <a:tc>
                  <a:txBody>
                    <a:bodyPr lIns="123825" tIns="76200" rIns="123825" bIns="76200">
                      <a:noAutofit/>
                    </a:bodyPr>
                    <a:lstStyle/>
                    <a:p>
                      <a:r>
                        <a:rPr sz="1875" b="0">
                          <a:solidFill>
                            <a:srgbClr val="17343C"/>
                          </a:solidFill>
                          <a:latin typeface="Arial"/>
                          <a:ea typeface="Arial"/>
                          <a:cs typeface="Arial"/>
                        </a:rPr>
                        <a:t>System administrator</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Operate accounts, security and backups</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Tested access and recovery. No automatic business approval</a:t>
                      </a:r>
                    </a:p>
                  </a:txBody>
                  <a:tcPr marL="91440" marR="91440" marT="45720" marB="45720" anchor="ctr">
                    <a:solidFill>
                      <a:srgbClr val="FAFAF7"/>
                    </a:solidFill>
                  </a:tcPr>
                </a:tc>
              </a:tr>
            </a:tbl>
          </a:graphicData>
        </a:graphic>
      </p:graphicFrame>
      <p:sp>
        <p:nvSpPr>
          <p:cNvPr id="5" name="takeaway">
            <a:extLst xmlns:a="http://schemas.openxmlformats.org/drawingml/2006/main">
              <a:ext uri="{FF2B5EF4-FFF2-40B4-BE49-F238E27FC236}">
                <a16:creationId xmlns:a16="http://schemas.microsoft.com/office/drawing/2014/main" id="{4D0DC83E-FBFA-4A08-94CC-DFC824C56CD6}"/>
              </a:ext>
            </a:extLst>
          </p:cNvPr>
          <p:cNvSpPr>
            <a:spLocks xmlns:a="http://schemas.openxmlformats.org/drawingml/2006/main" noGrp="1"/>
          </p:cNvSpPr>
          <p:nvPr/>
        </p:nvSpPr>
        <p:spPr>
          <a:xfrm xmlns:a="http://schemas.openxmlformats.org/drawingml/2006/main">
            <a:off x="647700" y="6048375"/>
            <a:ext cx="10896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6746D"/>
                </a:solidFill>
                <a:latin typeface="Arial"/>
                <a:ea typeface="Arial"/>
                <a:cs typeface="Arial"/>
              </a:defRPr>
            </a:pPr>
            <a:r>
              <a:rPr sz="1875" b="1">
                <a:solidFill>
                  <a:srgbClr val="26746D"/>
                </a:solidFill>
                <a:latin typeface="Arial"/>
                <a:ea typeface="Arial"/>
                <a:cs typeface="Arial"/>
              </a:rPr>
              <a:t>IT access does not automatically grant business approval rights</a:t>
            </a:r>
          </a:p>
        </p:txBody>
      </p:sp>
    </p:spTree>
    <p:extLst>
      <p:ext uri="{BB962C8B-B14F-4D97-AF65-F5344CB8AC3E}">
        <p14:creationId xmlns:p14="http://schemas.microsoft.com/office/powerpoint/2010/main" val="819595870"/>
      </p:ext>
    </p:extLst>
  </p:cSld>
</p:sld>
</file>

<file path=ppt/slides/slide7.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383E5E60-46B6-4E31-AC7E-0A13E97195D4}"/>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Three existing systems we researched</a:t>
            </a:r>
          </a:p>
        </p:txBody>
      </p:sp>
      <p:sp>
        <p:nvSpPr>
          <p:cNvPr id="2" name="page">
            <a:extLst xmlns:a="http://schemas.openxmlformats.org/drawingml/2006/main">
              <a:ext uri="{FF2B5EF4-FFF2-40B4-BE49-F238E27FC236}">
                <a16:creationId xmlns:a16="http://schemas.microsoft.com/office/drawing/2014/main" id="{B0D2F3FE-7C3C-4979-96D6-E37F7D179F2F}"/>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07</a:t>
            </a:r>
          </a:p>
        </p:txBody>
      </p:sp>
      <p:sp>
        <p:nvSpPr>
          <p:cNvPr id="3" name="source">
            <a:extLst xmlns:a="http://schemas.openxmlformats.org/drawingml/2006/main">
              <a:ext uri="{FF2B5EF4-FFF2-40B4-BE49-F238E27FC236}">
                <a16:creationId xmlns:a16="http://schemas.microsoft.com/office/drawing/2014/main" id="{3D4D41FE-A326-4D39-85A5-D18593D3A747}"/>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[S04] [S05] [S06] [S07] [S23]</a:t>
            </a:r>
          </a:p>
        </p:txBody>
      </p:sp>
      <p:graphicFrame>
        <p:nvGraphicFramePr>
          <p:cNvPr id="9" name=""/>
          <p:cNvGraphicFramePr/>
          <p:nvPr/>
        </p:nvGraphicFramePr>
        <p:xfrm>
          <a:off xmlns:a="http://schemas.openxmlformats.org/drawingml/2006/main" x="647700" y="1647825"/>
          <a:ext xmlns:a="http://schemas.openxmlformats.org/drawingml/2006/main" cx="10896600" cy="4191000"/>
        </p:xfrm>
        <a:graphic xmlns:a="http://schemas.openxmlformats.org/drawingml/2006/main">
          <a:graphicData uri="http://schemas.openxmlformats.org/drawingml/2006/table">
            <a:tbl>
              <a:tblPr firstRow="0" firstCol="0" bandRow="0"/>
              <a:tblGrid>
                <a:gridCol w="2076450"/>
                <a:gridCol w="4714875"/>
                <a:gridCol w="4105275"/>
              </a:tblGrid>
              <a:tr h="561975">
                <a:tc>
                  <a:txBody>
                    <a:bodyPr lIns="123825" tIns="76200" rIns="123825" bIns="76200">
                      <a:noAutofit/>
                    </a:bodyPr>
                    <a:lstStyle/>
                    <a:p>
                      <a:r>
                        <a:rPr sz="1875" b="1">
                          <a:solidFill>
                            <a:srgbClr val="FFFFFF"/>
                          </a:solidFill>
                          <a:latin typeface="Arial"/>
                          <a:ea typeface="Arial"/>
                          <a:cs typeface="Arial"/>
                        </a:rPr>
                        <a:t>System</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Documented functions</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What remains to compare</a:t>
                      </a:r>
                    </a:p>
                  </a:txBody>
                  <a:tcPr marL="91440" marR="91440" marT="45720" marB="45720" anchor="ctr">
                    <a:solidFill>
                      <a:srgbClr val="17343C"/>
                    </a:solidFill>
                  </a:tcPr>
                </a:tc>
              </a:tr>
              <a:tr h="1114425">
                <a:tc>
                  <a:txBody>
                    <a:bodyPr lIns="123825" tIns="76200" rIns="123825" bIns="76200">
                      <a:noAutofit/>
                    </a:bodyPr>
                    <a:lstStyle/>
                    <a:p>
                      <a:r>
                        <a:rPr sz="1950" b="0">
                          <a:solidFill>
                            <a:srgbClr val="17343C"/>
                          </a:solidFill>
                          <a:latin typeface="Arial"/>
                          <a:ea typeface="Arial"/>
                          <a:cs typeface="Arial"/>
                        </a:rPr>
                        <a:t>Rheaply</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Reuse marketplace, approvals,</a:t>
                      </a:r>
                    </a:p>
                    <a:p>
                      <a:r>
                        <a:rPr sz="1950" b="0">
                          <a:solidFill>
                            <a:srgbClr val="17343C"/>
                          </a:solidFill>
                          <a:latin typeface="Arial"/>
                          <a:ea typeface="Arial"/>
                          <a:cs typeface="Arial"/>
                        </a:rPr>
                        <a:t>impact reports and AI listing help</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KU workflow fit and full price</a:t>
                      </a:r>
                    </a:p>
                    <a:p>
                      <a:r>
                        <a:rPr sz="1950" b="0">
                          <a:solidFill>
                            <a:srgbClr val="17343C"/>
                          </a:solidFill>
                          <a:latin typeface="Arial"/>
                          <a:ea typeface="Arial"/>
                          <a:cs typeface="Arial"/>
                        </a:rPr>
                        <a:t>Quotation required</a:t>
                      </a:r>
                    </a:p>
                  </a:txBody>
                  <a:tcPr marL="91440" marR="91440" marT="45720" marB="45720" anchor="ctr">
                    <a:solidFill>
                      <a:srgbClr val="FAFAF7"/>
                    </a:solidFill>
                  </a:tcPr>
                </a:tc>
              </a:tr>
              <a:tr h="1114425">
                <a:tc>
                  <a:txBody>
                    <a:bodyPr lIns="123825" tIns="76200" rIns="123825" bIns="76200">
                      <a:noAutofit/>
                    </a:bodyPr>
                    <a:lstStyle/>
                    <a:p>
                      <a:r>
                        <a:rPr sz="1950" b="0">
                          <a:solidFill>
                            <a:srgbClr val="17343C"/>
                          </a:solidFill>
                          <a:latin typeface="Arial"/>
                          <a:ea typeface="Arial"/>
                          <a:cs typeface="Arial"/>
                        </a:rPr>
                        <a:t>Warp It</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Surplus search, claims, approvals,</a:t>
                      </a:r>
                    </a:p>
                    <a:p>
                      <a:r>
                        <a:rPr sz="1950" b="0">
                          <a:solidFill>
                            <a:srgbClr val="17343C"/>
                          </a:solidFill>
                          <a:latin typeface="Arial"/>
                          <a:ea typeface="Arial"/>
                          <a:cs typeface="Arial"/>
                        </a:rPr>
                        <a:t>reports and AI listing help</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UAE eligibility and a KU quote</a:t>
                      </a:r>
                    </a:p>
                    <a:p>
                      <a:r>
                        <a:rPr sz="1950" b="0">
                          <a:solidFill>
                            <a:srgbClr val="17343C"/>
                          </a:solidFill>
                          <a:latin typeface="Arial"/>
                          <a:ea typeface="Arial"/>
                          <a:cs typeface="Arial"/>
                        </a:rPr>
                        <a:t>Published UK price bands</a:t>
                      </a:r>
                    </a:p>
                  </a:txBody>
                  <a:tcPr marL="91440" marR="91440" marT="45720" marB="45720" anchor="ctr">
                    <a:solidFill>
                      <a:srgbClr val="F0F4F3"/>
                    </a:solidFill>
                  </a:tcPr>
                </a:tc>
              </a:tr>
              <a:tr h="1400175">
                <a:tc>
                  <a:txBody>
                    <a:bodyPr lIns="123825" tIns="76200" rIns="123825" bIns="76200">
                      <a:noAutofit/>
                    </a:bodyPr>
                    <a:lstStyle/>
                    <a:p>
                      <a:r>
                        <a:rPr sz="1950" b="0">
                          <a:solidFill>
                            <a:srgbClr val="17343C"/>
                          </a:solidFill>
                          <a:latin typeface="Arial"/>
                          <a:ea typeface="Arial"/>
                          <a:cs typeface="Arial"/>
                        </a:rPr>
                        <a:t>Snipe-IT</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Inventory, requests, custody,</a:t>
                      </a:r>
                    </a:p>
                    <a:p>
                      <a:r>
                        <a:rPr sz="1950" b="0">
                          <a:solidFill>
                            <a:srgbClr val="17343C"/>
                          </a:solidFill>
                          <a:latin typeface="Arial"/>
                          <a:ea typeface="Arial"/>
                          <a:cs typeface="Arial"/>
                        </a:rPr>
                        <a:t>maintenance history and API</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Reuse workflow configuration</a:t>
                      </a:r>
                    </a:p>
                    <a:p>
                      <a:r>
                        <a:rPr sz="1950" b="0">
                          <a:solidFill>
                            <a:srgbClr val="17343C"/>
                          </a:solidFill>
                          <a:latin typeface="Arial"/>
                          <a:ea typeface="Arial"/>
                          <a:cs typeface="Arial"/>
                        </a:rPr>
                        <a:t>Free self-hosted software</a:t>
                      </a:r>
                    </a:p>
                    <a:p>
                      <a:r>
                        <a:rPr sz="1950" b="0">
                          <a:solidFill>
                            <a:srgbClr val="17343C"/>
                          </a:solidFill>
                          <a:latin typeface="Arial"/>
                          <a:ea typeface="Arial"/>
                          <a:cs typeface="Arial"/>
                        </a:rPr>
                        <a:t>USD 39.99/month basic hosting</a:t>
                      </a:r>
                    </a:p>
                  </a:txBody>
                  <a:tcPr marL="91440" marR="91440" marT="45720" marB="45720" anchor="ctr">
                    <a:solidFill>
                      <a:srgbClr val="FAFAF7"/>
                    </a:solidFill>
                  </a:tcPr>
                </a:tc>
              </a:tr>
            </a:tbl>
          </a:graphicData>
        </a:graphic>
      </p:graphicFrame>
      <p:sp>
        <p:nvSpPr>
          <p:cNvPr id="5" name="takeaway">
            <a:extLst xmlns:a="http://schemas.openxmlformats.org/drawingml/2006/main">
              <a:ext uri="{FF2B5EF4-FFF2-40B4-BE49-F238E27FC236}">
                <a16:creationId xmlns:a16="http://schemas.microsoft.com/office/drawing/2014/main" id="{5FD02293-ABCB-44C8-8AAD-7B1A6807514A}"/>
              </a:ext>
            </a:extLst>
          </p:cNvPr>
          <p:cNvSpPr>
            <a:spLocks xmlns:a="http://schemas.openxmlformats.org/drawingml/2006/main" noGrp="1"/>
          </p:cNvSpPr>
          <p:nvPr/>
        </p:nvSpPr>
        <p:spPr>
          <a:xfrm xmlns:a="http://schemas.openxmlformats.org/drawingml/2006/main">
            <a:off x="647700" y="6000750"/>
            <a:ext cx="10896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26746D"/>
                </a:solidFill>
                <a:latin typeface="Arial"/>
                <a:ea typeface="Arial"/>
                <a:cs typeface="Arial"/>
              </a:defRPr>
            </a:pPr>
            <a:r>
              <a:rPr sz="1800" b="1">
                <a:solidFill>
                  <a:srgbClr val="26746D"/>
                </a:solidFill>
                <a:latin typeface="Arial"/>
                <a:ea typeface="Arial"/>
                <a:cs typeface="Arial"/>
              </a:rPr>
              <a:t>Reuse and AI already exist in the market. Our evaluation must add evidence.</a:t>
            </a:r>
          </a:p>
        </p:txBody>
      </p:sp>
    </p:spTree>
    <p:extLst>
      <p:ext uri="{BB962C8B-B14F-4D97-AF65-F5344CB8AC3E}">
        <p14:creationId xmlns:p14="http://schemas.microsoft.com/office/powerpoint/2010/main" val="1259701027"/>
      </p:ext>
    </p:extLst>
  </p:cSld>
</p:sld>
</file>

<file path=ppt/slides/slide8.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1223E8C0-E1ED-4D0A-997B-29AB6CB6594B}"/>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The market question is KU’s actual need</a:t>
            </a:r>
          </a:p>
        </p:txBody>
      </p:sp>
      <p:sp>
        <p:nvSpPr>
          <p:cNvPr id="2" name="page">
            <a:extLst xmlns:a="http://schemas.openxmlformats.org/drawingml/2006/main">
              <a:ext uri="{FF2B5EF4-FFF2-40B4-BE49-F238E27FC236}">
                <a16:creationId xmlns:a16="http://schemas.microsoft.com/office/drawing/2014/main" id="{1F863C1D-D498-4E9D-B13E-BE5B63150A65}"/>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08</a:t>
            </a:r>
          </a:p>
        </p:txBody>
      </p:sp>
      <p:sp>
        <p:nvSpPr>
          <p:cNvPr id="3" name="source">
            <a:extLst xmlns:a="http://schemas.openxmlformats.org/drawingml/2006/main">
              <a:ext uri="{FF2B5EF4-FFF2-40B4-BE49-F238E27FC236}">
                <a16:creationId xmlns:a16="http://schemas.microsoft.com/office/drawing/2014/main" id="{E4A6777B-3A29-4C3D-87AA-606D9D0565E5}"/>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[S02] [S08]</a:t>
            </a:r>
          </a:p>
        </p:txBody>
      </p:sp>
      <p:sp>
        <p:nvSpPr>
          <p:cNvPr id="4" name="left-title">
            <a:extLst xmlns:a="http://schemas.openxmlformats.org/drawingml/2006/main">
              <a:ext uri="{FF2B5EF4-FFF2-40B4-BE49-F238E27FC236}">
                <a16:creationId xmlns:a16="http://schemas.microsoft.com/office/drawing/2014/main" id="{CF78EF37-5177-4300-9A51-EF61D55B5702}"/>
              </a:ext>
            </a:extLst>
          </p:cNvPr>
          <p:cNvSpPr>
            <a:spLocks xmlns:a="http://schemas.openxmlformats.org/drawingml/2006/main" noGrp="1"/>
          </p:cNvSpPr>
          <p:nvPr/>
        </p:nvSpPr>
        <p:spPr>
          <a:xfrm xmlns:a="http://schemas.openxmlformats.org/drawingml/2006/main">
            <a:off x="647700" y="1609725"/>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Evidence we have</a:t>
            </a:r>
          </a:p>
        </p:txBody>
      </p:sp>
      <p:sp>
        <p:nvSpPr>
          <p:cNvPr id="5" name="left-body">
            <a:extLst xmlns:a="http://schemas.openxmlformats.org/drawingml/2006/main">
              <a:ext uri="{FF2B5EF4-FFF2-40B4-BE49-F238E27FC236}">
                <a16:creationId xmlns:a16="http://schemas.microsoft.com/office/drawing/2014/main" id="{4DD33225-2B5C-4F17-B067-45B5909C1E8E}"/>
              </a:ext>
            </a:extLst>
          </p:cNvPr>
          <p:cNvSpPr>
            <a:spLocks xmlns:a="http://schemas.openxmlformats.org/drawingml/2006/main" noGrp="1"/>
          </p:cNvSpPr>
          <p:nvPr/>
        </p:nvSpPr>
        <p:spPr>
          <a:xfrm xmlns:a="http://schemas.openxmlformats.org/drawingml/2006/main">
            <a:off x="647700" y="2257425"/>
            <a:ext cx="5067300" cy="2419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Universities use reuse platforms. UC Berkeley documents a Rheaply furniture service.</a:t>
            </a:r>
          </a:p>
          <a:p xmlns:a="http://schemas.openxmlformats.org/drawingml/2006/main">
            <a:r>
              <a:t/>
            </a:r>
          </a:p>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This supports relevance elsewhere.</a:t>
            </a:r>
          </a:p>
        </p:txBody>
      </p:sp>
      <p:sp>
        <p:nvSpPr>
          <p:cNvPr id="6" name="right-title">
            <a:extLst xmlns:a="http://schemas.openxmlformats.org/drawingml/2006/main">
              <a:ext uri="{FF2B5EF4-FFF2-40B4-BE49-F238E27FC236}">
                <a16:creationId xmlns:a16="http://schemas.microsoft.com/office/drawing/2014/main" id="{7959D2D7-E42E-43DC-A002-D6363CC8813E}"/>
              </a:ext>
            </a:extLst>
          </p:cNvPr>
          <p:cNvSpPr>
            <a:spLocks xmlns:a="http://schemas.openxmlformats.org/drawingml/2006/main" noGrp="1"/>
          </p:cNvSpPr>
          <p:nvPr/>
        </p:nvSpPr>
        <p:spPr>
          <a:xfrm xmlns:a="http://schemas.openxmlformats.org/drawingml/2006/main">
            <a:off x="6477000" y="1609725"/>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Evidence we need at KU</a:t>
            </a:r>
          </a:p>
        </p:txBody>
      </p:sp>
      <p:sp>
        <p:nvSpPr>
          <p:cNvPr id="7" name="right-body">
            <a:extLst xmlns:a="http://schemas.openxmlformats.org/drawingml/2006/main">
              <a:ext uri="{FF2B5EF4-FFF2-40B4-BE49-F238E27FC236}">
                <a16:creationId xmlns:a16="http://schemas.microsoft.com/office/drawing/2014/main" id="{FCD32026-C71A-4C01-BF92-8E069703534C}"/>
              </a:ext>
            </a:extLst>
          </p:cNvPr>
          <p:cNvSpPr>
            <a:spLocks xmlns:a="http://schemas.openxmlformats.org/drawingml/2006/main" noGrp="1"/>
          </p:cNvSpPr>
          <p:nvPr/>
        </p:nvSpPr>
        <p:spPr>
          <a:xfrm xmlns:a="http://schemas.openxmlformats.org/drawingml/2006/main">
            <a:off x="6477000" y="2257425"/>
            <a:ext cx="5067300" cy="2419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Which system and process exist?</a:t>
            </a:r>
          </a:p>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How many suitable requests and spare items occur?</a:t>
            </a:r>
          </a:p>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Where does work repeat?</a:t>
            </a:r>
          </a:p>
        </p:txBody>
      </p:sp>
      <p:sp>
        <p:nvSpPr>
          <p:cNvPr id="8" name="distinctive">
            <a:extLst xmlns:a="http://schemas.openxmlformats.org/drawingml/2006/main">
              <a:ext uri="{FF2B5EF4-FFF2-40B4-BE49-F238E27FC236}">
                <a16:creationId xmlns:a16="http://schemas.microsoft.com/office/drawing/2014/main" id="{C2A43F86-92EC-4BA5-9A84-32D527076141}"/>
              </a:ext>
            </a:extLst>
          </p:cNvPr>
          <p:cNvSpPr>
            <a:spLocks xmlns:a="http://schemas.openxmlformats.org/drawingml/2006/main" noGrp="1"/>
          </p:cNvSpPr>
          <p:nvPr/>
        </p:nvSpPr>
        <p:spPr>
          <a:xfrm xmlns:a="http://schemas.openxmlformats.org/drawingml/2006/main">
            <a:off x="647700" y="4914900"/>
            <a:ext cx="10896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6746D"/>
                </a:solidFill>
                <a:latin typeface="Arial"/>
                <a:ea typeface="Arial"/>
                <a:cs typeface="Arial"/>
              </a:defRPr>
            </a:pPr>
            <a:r>
              <a:rPr sz="2400" b="1">
                <a:solidFill>
                  <a:srgbClr val="26746D"/>
                </a:solidFill>
                <a:latin typeface="Arial"/>
                <a:ea typeface="Arial"/>
                <a:cs typeface="Arial"/>
              </a:rPr>
              <a:t>Our contribution</a:t>
            </a:r>
          </a:p>
        </p:txBody>
      </p:sp>
      <p:sp>
        <p:nvSpPr>
          <p:cNvPr id="9" name="method">
            <a:extLst xmlns:a="http://schemas.openxmlformats.org/drawingml/2006/main">
              <a:ext uri="{FF2B5EF4-FFF2-40B4-BE49-F238E27FC236}">
                <a16:creationId xmlns:a16="http://schemas.microsoft.com/office/drawing/2014/main" id="{14121976-3C11-4239-BA94-10ADAF0A6585}"/>
              </a:ext>
            </a:extLst>
          </p:cNvPr>
          <p:cNvSpPr>
            <a:spLocks xmlns:a="http://schemas.openxmlformats.org/drawingml/2006/main" noGrp="1"/>
          </p:cNvSpPr>
          <p:nvPr/>
        </p:nvSpPr>
        <p:spPr>
          <a:xfrm xmlns:a="http://schemas.openxmlformats.org/drawingml/2006/main">
            <a:off x="647700" y="5467350"/>
            <a:ext cx="1089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7343C"/>
                </a:solidFill>
                <a:latin typeface="Arial"/>
                <a:ea typeface="Arial"/>
                <a:cs typeface="Arial"/>
              </a:defRPr>
            </a:pPr>
            <a:r>
              <a:rPr sz="2100" b="0">
                <a:solidFill>
                  <a:srgbClr val="17343C"/>
                </a:solidFill>
                <a:latin typeface="Arial"/>
                <a:ea typeface="Arial"/>
                <a:cs typeface="Arial"/>
              </a:rPr>
              <a:t>Compare the same monitor request through KU’s process, our ordinary search</a:t>
            </a:r>
          </a:p>
          <a:p xmlns:a="http://schemas.openxmlformats.org/drawingml/2006/main">
            <a:pPr algn="l">
              <a:defRPr sz="2100" b="0">
                <a:solidFill>
                  <a:srgbClr val="17343C"/>
                </a:solidFill>
                <a:latin typeface="Arial"/>
                <a:ea typeface="Arial"/>
                <a:cs typeface="Arial"/>
              </a:defRPr>
            </a:pPr>
            <a:r>
              <a:rPr sz="2100" b="0">
                <a:solidFill>
                  <a:srgbClr val="17343C"/>
                </a:solidFill>
                <a:latin typeface="Arial"/>
                <a:ea typeface="Arial"/>
                <a:cs typeface="Arial"/>
              </a:rPr>
              <a:t>and AI matching. Count useful results, errors and all checking work.</a:t>
            </a:r>
          </a:p>
        </p:txBody>
      </p:sp>
    </p:spTree>
    <p:extLst>
      <p:ext uri="{BB962C8B-B14F-4D97-AF65-F5344CB8AC3E}">
        <p14:creationId xmlns:p14="http://schemas.microsoft.com/office/powerpoint/2010/main" val="1889709333"/>
      </p:ext>
    </p:extLst>
  </p:cSld>
</p:sld>
</file>

<file path=ppt/slides/slide9.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94FF03CE-C054-449A-B757-99DA6FC753DD}"/>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KU today and our proposed workflow</a:t>
            </a:r>
          </a:p>
        </p:txBody>
      </p:sp>
      <p:sp>
        <p:nvSpPr>
          <p:cNvPr id="2" name="page">
            <a:extLst xmlns:a="http://schemas.openxmlformats.org/drawingml/2006/main">
              <a:ext uri="{FF2B5EF4-FFF2-40B4-BE49-F238E27FC236}">
                <a16:creationId xmlns:a16="http://schemas.microsoft.com/office/drawing/2014/main" id="{959CD9E2-6EA0-4324-B46B-74C315CB1A4B}"/>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09</a:t>
            </a:r>
          </a:p>
        </p:txBody>
      </p:sp>
      <p:sp>
        <p:nvSpPr>
          <p:cNvPr id="3" name="source">
            <a:extLst xmlns:a="http://schemas.openxmlformats.org/drawingml/2006/main">
              <a:ext uri="{FF2B5EF4-FFF2-40B4-BE49-F238E27FC236}">
                <a16:creationId xmlns:a16="http://schemas.microsoft.com/office/drawing/2014/main" id="{07B96452-DD2F-4022-A235-E9D476F8E563}"/>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[S02]</a:t>
            </a:r>
          </a:p>
        </p:txBody>
      </p:sp>
      <p:graphicFrame>
        <p:nvGraphicFramePr>
          <p:cNvPr id="9" name=""/>
          <p:cNvGraphicFramePr/>
          <p:nvPr/>
        </p:nvGraphicFramePr>
        <p:xfrm>
          <a:off xmlns:a="http://schemas.openxmlformats.org/drawingml/2006/main" x="647700" y="1476375"/>
          <a:ext xmlns:a="http://schemas.openxmlformats.org/drawingml/2006/main" cx="10896600" cy="4505325"/>
        </p:xfrm>
        <a:graphic xmlns:a="http://schemas.openxmlformats.org/drawingml/2006/main">
          <a:graphicData uri="http://schemas.openxmlformats.org/drawingml/2006/table">
            <a:tbl>
              <a:tblPr firstRow="0" firstCol="0" bandRow="0"/>
              <a:tblGrid>
                <a:gridCol w="2076450"/>
                <a:gridCol w="4695825"/>
                <a:gridCol w="4124325"/>
              </a:tblGrid>
              <a:tr h="523875">
                <a:tc>
                  <a:txBody>
                    <a:bodyPr lIns="123825" tIns="76200" rIns="123825" bIns="76200">
                      <a:noAutofit/>
                    </a:bodyPr>
                    <a:lstStyle/>
                    <a:p>
                      <a:r>
                        <a:rPr sz="1875" b="1">
                          <a:solidFill>
                            <a:srgbClr val="FFFFFF"/>
                          </a:solidFill>
                          <a:latin typeface="Arial"/>
                          <a:ea typeface="Arial"/>
                          <a:cs typeface="Arial"/>
                        </a:rPr>
                        <a:t>Task</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KU today: evidence needed</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Proposed prototype</a:t>
                      </a:r>
                    </a:p>
                  </a:txBody>
                  <a:tcPr marL="91440" marR="91440" marT="45720" marB="45720" anchor="ctr">
                    <a:solidFill>
                      <a:srgbClr val="17343C"/>
                    </a:solidFill>
                  </a:tcPr>
                </a:tc>
              </a:tr>
              <a:tr h="742950">
                <a:tc>
                  <a:txBody>
                    <a:bodyPr lIns="123825" tIns="76200" rIns="123825" bIns="76200">
                      <a:noAutofit/>
                    </a:bodyPr>
                    <a:lstStyle/>
                    <a:p>
                      <a:r>
                        <a:rPr sz="1875" b="0">
                          <a:solidFill>
                            <a:srgbClr val="17343C"/>
                          </a:solidFill>
                          <a:latin typeface="Arial"/>
                          <a:ea typeface="Arial"/>
                          <a:cs typeface="Arial"/>
                        </a:rPr>
                        <a:t>Find two suitable monitors</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Which system or team holds availability?</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Search compatible surplus assets</a:t>
                      </a:r>
                    </a:p>
                  </a:txBody>
                  <a:tcPr marL="91440" marR="91440" marT="45720" marB="45720" anchor="ctr">
                    <a:solidFill>
                      <a:srgbClr val="FAFAF7"/>
                    </a:solidFill>
                  </a:tcPr>
                </a:tc>
              </a:tr>
              <a:tr h="742950">
                <a:tc>
                  <a:txBody>
                    <a:bodyPr lIns="123825" tIns="76200" rIns="123825" bIns="76200">
                      <a:noAutofit/>
                    </a:bodyPr>
                    <a:lstStyle/>
                    <a:p>
                      <a:r>
                        <a:rPr sz="1875" b="0">
                          <a:solidFill>
                            <a:srgbClr val="17343C"/>
                          </a:solidFill>
                          <a:latin typeface="Arial"/>
                          <a:ea typeface="Arial"/>
                          <a:cs typeface="Arial"/>
                        </a:rPr>
                        <a:t>Approve reuse</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Who releases and receives the asset?</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Record both approvals and rules</a:t>
                      </a:r>
                    </a:p>
                  </a:txBody>
                  <a:tcPr marL="91440" marR="91440" marT="45720" marB="45720" anchor="ctr">
                    <a:solidFill>
                      <a:srgbClr val="F0F4F3"/>
                    </a:solidFill>
                  </a:tcPr>
                </a:tc>
              </a:tr>
              <a:tr h="742950">
                <a:tc>
                  <a:txBody>
                    <a:bodyPr lIns="123825" tIns="76200" rIns="123825" bIns="76200">
                      <a:noAutofit/>
                    </a:bodyPr>
                    <a:lstStyle/>
                    <a:p>
                      <a:r>
                        <a:rPr sz="1875" b="0">
                          <a:solidFill>
                            <a:srgbClr val="17343C"/>
                          </a:solidFill>
                          <a:latin typeface="Arial"/>
                          <a:ea typeface="Arial"/>
                          <a:cs typeface="Arial"/>
                        </a:rPr>
                        <a:t>Inspect and hand over</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Who checks, moves and accepts it?</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Record condition and custody</a:t>
                      </a:r>
                    </a:p>
                  </a:txBody>
                  <a:tcPr marL="91440" marR="91440" marT="45720" marB="45720" anchor="ctr">
                    <a:solidFill>
                      <a:srgbClr val="FAFAF7"/>
                    </a:solidFill>
                  </a:tcPr>
                </a:tc>
              </a:tr>
              <a:tr h="904875">
                <a:tc>
                  <a:txBody>
                    <a:bodyPr lIns="123825" tIns="76200" rIns="123825" bIns="76200">
                      <a:noAutofit/>
                    </a:bodyPr>
                    <a:lstStyle/>
                    <a:p>
                      <a:r>
                        <a:rPr sz="1875" b="0">
                          <a:solidFill>
                            <a:srgbClr val="17343C"/>
                          </a:solidFill>
                          <a:latin typeface="Arial"/>
                          <a:ea typeface="Arial"/>
                          <a:cs typeface="Arial"/>
                        </a:rPr>
                        <a:t>Update records</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Which official KU record must change?</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Audit record plus any required</a:t>
                      </a:r>
                    </a:p>
                    <a:p>
                      <a:r>
                        <a:rPr sz="1875" b="0">
                          <a:solidFill>
                            <a:srgbClr val="17343C"/>
                          </a:solidFill>
                          <a:latin typeface="Arial"/>
                          <a:ea typeface="Arial"/>
                          <a:cs typeface="Arial"/>
                        </a:rPr>
                        <a:t>duplicate entry</a:t>
                      </a:r>
                    </a:p>
                  </a:txBody>
                  <a:tcPr marL="91440" marR="91440" marT="45720" marB="45720" anchor="ctr">
                    <a:solidFill>
                      <a:srgbClr val="F0F4F3"/>
                    </a:solidFill>
                  </a:tcPr>
                </a:tc>
              </a:tr>
              <a:tr h="847725">
                <a:tc>
                  <a:txBody>
                    <a:bodyPr lIns="123825" tIns="76200" rIns="123825" bIns="76200">
                      <a:noAutofit/>
                    </a:bodyPr>
                    <a:lstStyle/>
                    <a:p>
                      <a:r>
                        <a:rPr sz="1875" b="0">
                          <a:solidFill>
                            <a:srgbClr val="17343C"/>
                          </a:solidFill>
                          <a:latin typeface="Arial"/>
                          <a:ea typeface="Arial"/>
                          <a:cs typeface="Arial"/>
                        </a:rPr>
                        <a:t>Decide whether to buy</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Would current reuse already meet the need?</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Count only extra purchase avoidance</a:t>
                      </a:r>
                    </a:p>
                  </a:txBody>
                  <a:tcPr marL="91440" marR="91440" marT="45720" marB="45720" anchor="ctr">
                    <a:solidFill>
                      <a:srgbClr val="FAFAF7"/>
                    </a:solidFill>
                  </a:tcPr>
                </a:tc>
              </a:tr>
            </a:tbl>
          </a:graphicData>
        </a:graphic>
      </p:graphicFrame>
      <p:sp>
        <p:nvSpPr>
          <p:cNvPr id="5" name="ku-unknown">
            <a:extLst xmlns:a="http://schemas.openxmlformats.org/drawingml/2006/main">
              <a:ext uri="{FF2B5EF4-FFF2-40B4-BE49-F238E27FC236}">
                <a16:creationId xmlns:a16="http://schemas.microsoft.com/office/drawing/2014/main" id="{454CEE36-EBEA-4472-9D2B-D1CEF3949258}"/>
              </a:ext>
            </a:extLst>
          </p:cNvPr>
          <p:cNvSpPr>
            <a:spLocks xmlns:a="http://schemas.openxmlformats.org/drawingml/2006/main" noGrp="1"/>
          </p:cNvSpPr>
          <p:nvPr/>
        </p:nvSpPr>
        <p:spPr>
          <a:xfrm xmlns:a="http://schemas.openxmlformats.org/drawingml/2006/main">
            <a:off x="647700" y="6115050"/>
            <a:ext cx="10896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6746D"/>
                </a:solidFill>
                <a:latin typeface="Arial"/>
                <a:ea typeface="Arial"/>
                <a:cs typeface="Arial"/>
              </a:defRPr>
            </a:pPr>
            <a:r>
              <a:rPr sz="1725" b="1">
                <a:solidFill>
                  <a:srgbClr val="26746D"/>
                </a:solidFill>
                <a:latin typeface="Arial"/>
                <a:ea typeface="Arial"/>
                <a:cs typeface="Arial"/>
              </a:rPr>
              <a:t>Role-play explored the proposed workflow. KU staff and records must confirm the baseline.</a:t>
            </a:r>
          </a:p>
        </p:txBody>
      </p:sp>
    </p:spTree>
    <p:extLst>
      <p:ext uri="{BB962C8B-B14F-4D97-AF65-F5344CB8AC3E}">
        <p14:creationId xmlns:p14="http://schemas.microsoft.com/office/powerpoint/2010/main" val="408621895"/>
      </p:ext>
    </p:extLst>
  </p:cSld>
</p:sld>
</file>

<file path=ppt/slides/slide10.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C95FB86B-25FB-4304-851E-F38AD9D2DC62}"/>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KU responsibilities and local relevance</a:t>
            </a:r>
          </a:p>
        </p:txBody>
      </p:sp>
      <p:sp>
        <p:nvSpPr>
          <p:cNvPr id="2" name="page">
            <a:extLst xmlns:a="http://schemas.openxmlformats.org/drawingml/2006/main">
              <a:ext uri="{FF2B5EF4-FFF2-40B4-BE49-F238E27FC236}">
                <a16:creationId xmlns:a16="http://schemas.microsoft.com/office/drawing/2014/main" id="{A2CFF632-6530-455F-9A1C-9741855320DA}"/>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10</a:t>
            </a:r>
          </a:p>
        </p:txBody>
      </p:sp>
      <p:sp>
        <p:nvSpPr>
          <p:cNvPr id="3" name="source">
            <a:extLst xmlns:a="http://schemas.openxmlformats.org/drawingml/2006/main">
              <a:ext uri="{FF2B5EF4-FFF2-40B4-BE49-F238E27FC236}">
                <a16:creationId xmlns:a16="http://schemas.microsoft.com/office/drawing/2014/main" id="{13190C5F-EB87-45C5-B25A-EF7838380F4D}"/>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[S03] [S35] [S36] [S37] [S38]</a:t>
            </a:r>
          </a:p>
        </p:txBody>
      </p:sp>
      <p:graphicFrame>
        <p:nvGraphicFramePr>
          <p:cNvPr id="9" name=""/>
          <p:cNvGraphicFramePr/>
          <p:nvPr/>
        </p:nvGraphicFramePr>
        <p:xfrm>
          <a:off xmlns:a="http://schemas.openxmlformats.org/drawingml/2006/main" x="647700" y="1552575"/>
          <a:ext xmlns:a="http://schemas.openxmlformats.org/drawingml/2006/main" cx="10896600" cy="4324350"/>
        </p:xfrm>
        <a:graphic xmlns:a="http://schemas.openxmlformats.org/drawingml/2006/main">
          <a:graphicData uri="http://schemas.openxmlformats.org/drawingml/2006/table">
            <a:tbl>
              <a:tblPr firstRow="0" firstCol="0" bandRow="0"/>
              <a:tblGrid>
                <a:gridCol w="3857625"/>
                <a:gridCol w="7038975"/>
              </a:tblGrid>
              <a:tr h="542925">
                <a:tc>
                  <a:txBody>
                    <a:bodyPr lIns="123825" tIns="76200" rIns="123825" bIns="76200">
                      <a:noAutofit/>
                    </a:bodyPr>
                    <a:lstStyle/>
                    <a:p>
                      <a:r>
                        <a:rPr sz="1875" b="1">
                          <a:solidFill>
                            <a:srgbClr val="FFFFFF"/>
                          </a:solidFill>
                          <a:latin typeface="Arial"/>
                          <a:ea typeface="Arial"/>
                          <a:cs typeface="Arial"/>
                        </a:rPr>
                        <a:t>Public evidence</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Implication for Dawra Campus</a:t>
                      </a:r>
                    </a:p>
                  </a:txBody>
                  <a:tcPr marL="91440" marR="91440" marT="45720" marB="45720" anchor="ctr">
                    <a:solidFill>
                      <a:srgbClr val="17343C"/>
                    </a:solidFill>
                  </a:tcPr>
                </a:tc>
              </a:tr>
              <a:tr h="866775">
                <a:tc>
                  <a:txBody>
                    <a:bodyPr lIns="123825" tIns="76200" rIns="123825" bIns="76200">
                      <a:noAutofit/>
                    </a:bodyPr>
                    <a:lstStyle/>
                    <a:p>
                      <a:r>
                        <a:rPr sz="2025" b="0">
                          <a:solidFill>
                            <a:srgbClr val="17343C"/>
                          </a:solidFill>
                          <a:latin typeface="Arial"/>
                          <a:ea typeface="Arial"/>
                          <a:cs typeface="Arial"/>
                        </a:rPr>
                        <a:t>Facilities Management [S03]</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Proposed functional owner. Confirm actual process accountability.</a:t>
                      </a:r>
                    </a:p>
                  </a:txBody>
                  <a:tcPr marL="91440" marR="91440" marT="45720" marB="45720" anchor="ctr">
                    <a:solidFill>
                      <a:srgbClr val="FAFAF7"/>
                    </a:solidFill>
                  </a:tcPr>
                </a:tc>
              </a:tr>
              <a:tr h="1000125">
                <a:tc>
                  <a:txBody>
                    <a:bodyPr lIns="123825" tIns="76200" rIns="123825" bIns="76200">
                      <a:noAutofit/>
                    </a:bodyPr>
                    <a:lstStyle/>
                    <a:p>
                      <a:r>
                        <a:rPr sz="2025" b="0">
                          <a:solidFill>
                            <a:srgbClr val="17343C"/>
                          </a:solidFill>
                          <a:latin typeface="Arial"/>
                          <a:ea typeface="Arial"/>
                          <a:cs typeface="Arial"/>
                        </a:rPr>
                        <a:t>Procurement and Contracts [S35, S38]</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Confirm purchase rules, comparable prices and official record updates.</a:t>
                      </a:r>
                    </a:p>
                  </a:txBody>
                  <a:tcPr marL="91440" marR="91440" marT="45720" marB="45720" anchor="ctr">
                    <a:solidFill>
                      <a:srgbClr val="F0F4F3"/>
                    </a:solidFill>
                  </a:tcPr>
                </a:tc>
              </a:tr>
              <a:tr h="1000125">
                <a:tc>
                  <a:txBody>
                    <a:bodyPr lIns="123825" tIns="76200" rIns="123825" bIns="76200">
                      <a:noAutofit/>
                    </a:bodyPr>
                    <a:lstStyle/>
                    <a:p>
                      <a:r>
                        <a:rPr sz="2025" b="0">
                          <a:solidFill>
                            <a:srgbClr val="17343C"/>
                          </a:solidFill>
                          <a:latin typeface="Arial"/>
                          <a:ea typeface="Arial"/>
                          <a:cs typeface="Arial"/>
                        </a:rPr>
                        <a:t>Environmental policy [S36]</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Consult EHS on waste and recycling alongside the sustainability role.</a:t>
                      </a:r>
                    </a:p>
                  </a:txBody>
                  <a:tcPr marL="91440" marR="91440" marT="45720" marB="45720" anchor="ctr">
                    <a:solidFill>
                      <a:srgbClr val="FAFAF7"/>
                    </a:solidFill>
                  </a:tcPr>
                </a:tc>
              </a:tr>
              <a:tr h="914400">
                <a:tc>
                  <a:txBody>
                    <a:bodyPr lIns="123825" tIns="76200" rIns="123825" bIns="76200">
                      <a:noAutofit/>
                    </a:bodyPr>
                    <a:lstStyle/>
                    <a:p>
                      <a:r>
                        <a:rPr sz="2025" b="0">
                          <a:solidFill>
                            <a:srgbClr val="17343C"/>
                          </a:solidFill>
                          <a:latin typeface="Arial"/>
                          <a:ea typeface="Arial"/>
                          <a:cs typeface="Arial"/>
                        </a:rPr>
                        <a:t>KU sustainability activity [S37]</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Supports local relevance. Measure unmet demand after existing reuse.</a:t>
                      </a:r>
                    </a:p>
                  </a:txBody>
                  <a:tcPr marL="91440" marR="91440" marT="45720" marB="45720" anchor="ctr">
                    <a:solidFill>
                      <a:srgbClr val="F0F4F3"/>
                    </a:solidFill>
                  </a:tcPr>
                </a:tc>
              </a:tr>
            </a:tbl>
          </a:graphicData>
        </a:graphic>
      </p:graphicFrame>
      <p:sp>
        <p:nvSpPr>
          <p:cNvPr id="5" name="takeaway">
            <a:extLst xmlns:a="http://schemas.openxmlformats.org/drawingml/2006/main">
              <a:ext uri="{FF2B5EF4-FFF2-40B4-BE49-F238E27FC236}">
                <a16:creationId xmlns:a16="http://schemas.microsoft.com/office/drawing/2014/main" id="{3A40095A-5CD7-45BC-856E-2EA05F99AD40}"/>
              </a:ext>
            </a:extLst>
          </p:cNvPr>
          <p:cNvSpPr>
            <a:spLocks xmlns:a="http://schemas.openxmlformats.org/drawingml/2006/main" noGrp="1"/>
          </p:cNvSpPr>
          <p:nvPr/>
        </p:nvSpPr>
        <p:spPr>
          <a:xfrm xmlns:a="http://schemas.openxmlformats.org/drawingml/2006/main">
            <a:off x="647700" y="6115050"/>
            <a:ext cx="10896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26746D"/>
                </a:solidFill>
                <a:latin typeface="Arial"/>
                <a:ea typeface="Arial"/>
                <a:cs typeface="Arial"/>
              </a:defRPr>
            </a:pPr>
            <a:r>
              <a:rPr sz="1800" b="1">
                <a:solidFill>
                  <a:srgbClr val="26746D"/>
                </a:solidFill>
                <a:latin typeface="Arial"/>
                <a:ea typeface="Arial"/>
                <a:cs typeface="Arial"/>
              </a:rPr>
              <a:t>Public policy does not identify the internal KU asset system or prove demand.</a:t>
            </a:r>
          </a:p>
        </p:txBody>
      </p:sp>
    </p:spTree>
    <p:extLst>
      <p:ext uri="{BB962C8B-B14F-4D97-AF65-F5344CB8AC3E}">
        <p14:creationId xmlns:p14="http://schemas.microsoft.com/office/powerpoint/2010/main" val="649100188"/>
      </p:ext>
    </p:extLst>
  </p:cSld>
</p:sld>
</file>

<file path=ppt/slides/slide11.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AE46D08D-D9CA-42A7-B21E-9BC2A7B18485}"/>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Two technology routes to test</a:t>
            </a:r>
          </a:p>
        </p:txBody>
      </p:sp>
      <p:sp>
        <p:nvSpPr>
          <p:cNvPr id="2" name="page">
            <a:extLst xmlns:a="http://schemas.openxmlformats.org/drawingml/2006/main">
              <a:ext uri="{FF2B5EF4-FFF2-40B4-BE49-F238E27FC236}">
                <a16:creationId xmlns:a16="http://schemas.microsoft.com/office/drawing/2014/main" id="{85F4FC70-5F2F-460B-AFFD-D06F7F702143}"/>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11</a:t>
            </a:r>
          </a:p>
        </p:txBody>
      </p:sp>
      <p:sp>
        <p:nvSpPr>
          <p:cNvPr id="3" name="source">
            <a:extLst xmlns:a="http://schemas.openxmlformats.org/drawingml/2006/main">
              <a:ext uri="{FF2B5EF4-FFF2-40B4-BE49-F238E27FC236}">
                <a16:creationId xmlns:a16="http://schemas.microsoft.com/office/drawing/2014/main" id="{BC58AAAC-6190-45FA-8AAF-437767D00D84}"/>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[S09] [S10] [S28] [S29] [S33]</a:t>
            </a:r>
          </a:p>
        </p:txBody>
      </p:sp>
      <p:graphicFrame>
        <p:nvGraphicFramePr>
          <p:cNvPr id="9" name=""/>
          <p:cNvGraphicFramePr/>
          <p:nvPr/>
        </p:nvGraphicFramePr>
        <p:xfrm>
          <a:off xmlns:a="http://schemas.openxmlformats.org/drawingml/2006/main" x="647700" y="1714500"/>
          <a:ext xmlns:a="http://schemas.openxmlformats.org/drawingml/2006/main" cx="10896600" cy="3848100"/>
        </p:xfrm>
        <a:graphic xmlns:a="http://schemas.openxmlformats.org/drawingml/2006/main">
          <a:graphicData uri="http://schemas.openxmlformats.org/drawingml/2006/table">
            <a:tbl>
              <a:tblPr firstRow="0" firstCol="0" bandRow="0"/>
              <a:tblGrid>
                <a:gridCol w="3076575"/>
                <a:gridCol w="3762375"/>
                <a:gridCol w="4057650"/>
              </a:tblGrid>
              <a:tr h="571500">
                <a:tc>
                  <a:txBody>
                    <a:bodyPr lIns="123825" tIns="76200" rIns="123825" bIns="76200">
                      <a:noAutofit/>
                    </a:bodyPr>
                    <a:lstStyle/>
                    <a:p>
                      <a:r>
                        <a:rPr sz="1875" b="1">
                          <a:solidFill>
                            <a:srgbClr val="FFFFFF"/>
                          </a:solidFill>
                          <a:latin typeface="Arial"/>
                          <a:ea typeface="Arial"/>
                          <a:cs typeface="Arial"/>
                        </a:rPr>
                        <a:t>Candidate</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Why investigate it</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Checks before choosing</a:t>
                      </a:r>
                    </a:p>
                  </a:txBody>
                  <a:tcPr marL="91440" marR="91440" marT="45720" marB="45720" anchor="ctr">
                    <a:solidFill>
                      <a:srgbClr val="17343C"/>
                    </a:solidFill>
                  </a:tcPr>
                </a:tc>
              </a:tr>
              <a:tr h="1552575">
                <a:tc>
                  <a:txBody>
                    <a:bodyPr lIns="123825" tIns="76200" rIns="123825" bIns="76200">
                      <a:noAutofit/>
                    </a:bodyPr>
                    <a:lstStyle/>
                    <a:p>
                      <a:r>
                        <a:rPr sz="2025" b="0">
                          <a:solidFill>
                            <a:srgbClr val="17343C"/>
                          </a:solidFill>
                          <a:latin typeface="Arial"/>
                          <a:ea typeface="Arial"/>
                          <a:cs typeface="Arial"/>
                        </a:rPr>
                        <a:t>Django 5.2 LTS + PostgreSQL</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One main web application</a:t>
                      </a:r>
                    </a:p>
                    <a:p>
                      <a:r>
                        <a:rPr sz="2025" b="0">
                          <a:solidFill>
                            <a:srgbClr val="17343C"/>
                          </a:solidFill>
                          <a:latin typeface="Arial"/>
                          <a:ea typeface="Arial"/>
                          <a:cs typeface="Arial"/>
                        </a:rPr>
                        <a:t>Built-in admin and authentication</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Team Python/Django skills</a:t>
                      </a:r>
                    </a:p>
                    <a:p>
                      <a:r>
                        <a:rPr sz="2025" b="0">
                          <a:solidFill>
                            <a:srgbClr val="17343C"/>
                          </a:solidFill>
                          <a:latin typeface="Arial"/>
                          <a:ea typeface="Arial"/>
                          <a:cs typeface="Arial"/>
                        </a:rPr>
                        <a:t>Department permissions</a:t>
                      </a:r>
                    </a:p>
                    <a:p>
                      <a:r>
                        <a:rPr sz="2025" b="0">
                          <a:solidFill>
                            <a:srgbClr val="17343C"/>
                          </a:solidFill>
                          <a:latin typeface="Arial"/>
                          <a:ea typeface="Arial"/>
                          <a:cs typeface="Arial"/>
                        </a:rPr>
                        <a:t>AI/API integration</a:t>
                      </a:r>
                    </a:p>
                  </a:txBody>
                  <a:tcPr marL="91440" marR="91440" marT="45720" marB="45720" anchor="ctr">
                    <a:solidFill>
                      <a:srgbClr val="FAFAF7"/>
                    </a:solidFill>
                  </a:tcPr>
                </a:tc>
              </a:tr>
              <a:tr h="1724025">
                <a:tc>
                  <a:txBody>
                    <a:bodyPr lIns="123825" tIns="76200" rIns="123825" bIns="76200">
                      <a:noAutofit/>
                    </a:bodyPr>
                    <a:lstStyle/>
                    <a:p>
                      <a:r>
                        <a:rPr sz="2025" b="0">
                          <a:solidFill>
                            <a:srgbClr val="17343C"/>
                          </a:solidFill>
                          <a:latin typeface="Arial"/>
                          <a:ea typeface="Arial"/>
                          <a:cs typeface="Arial"/>
                        </a:rPr>
                        <a:t>React + Express + PostgreSQL</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Separate interface and API</a:t>
                      </a:r>
                    </a:p>
                    <a:p>
                      <a:r>
                        <a:rPr sz="2025" b="0">
                          <a:solidFill>
                            <a:srgbClr val="17343C"/>
                          </a:solidFill>
                          <a:latin typeface="Arial"/>
                          <a:ea typeface="Arial"/>
                          <a:cs typeface="Arial"/>
                        </a:rPr>
                        <a:t>JavaScript throughout</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Team React/Node skills</a:t>
                      </a:r>
                    </a:p>
                    <a:p>
                      <a:r>
                        <a:rPr sz="2025" b="0">
                          <a:solidFill>
                            <a:srgbClr val="17343C"/>
                          </a:solidFill>
                          <a:latin typeface="Arial"/>
                          <a:ea typeface="Arial"/>
                          <a:cs typeface="Arial"/>
                        </a:rPr>
                        <a:t>Authentication and API work</a:t>
                      </a:r>
                    </a:p>
                    <a:p>
                      <a:r>
                        <a:rPr sz="2025" b="0">
                          <a:solidFill>
                            <a:srgbClr val="17343C"/>
                          </a:solidFill>
                          <a:latin typeface="Arial"/>
                          <a:ea typeface="Arial"/>
                          <a:cs typeface="Arial"/>
                        </a:rPr>
                        <a:t>Extra integration/deployment steps</a:t>
                      </a:r>
                    </a:p>
                  </a:txBody>
                  <a:tcPr marL="91440" marR="91440" marT="45720" marB="45720" anchor="ctr">
                    <a:solidFill>
                      <a:srgbClr val="F0F4F3"/>
                    </a:solidFill>
                  </a:tcPr>
                </a:tc>
              </a:tr>
            </a:tbl>
          </a:graphicData>
        </a:graphic>
      </p:graphicFrame>
      <p:sp>
        <p:nvSpPr>
          <p:cNvPr id="5" name="takeaway">
            <a:extLst xmlns:a="http://schemas.openxmlformats.org/drawingml/2006/main">
              <a:ext uri="{FF2B5EF4-FFF2-40B4-BE49-F238E27FC236}">
                <a16:creationId xmlns:a16="http://schemas.microsoft.com/office/drawing/2014/main" id="{893381B1-2805-4186-BFE6-FA424425C2BD}"/>
              </a:ext>
            </a:extLst>
          </p:cNvPr>
          <p:cNvSpPr>
            <a:spLocks xmlns:a="http://schemas.openxmlformats.org/drawingml/2006/main" noGrp="1"/>
          </p:cNvSpPr>
          <p:nvPr/>
        </p:nvSpPr>
        <p:spPr>
          <a:xfrm xmlns:a="http://schemas.openxmlformats.org/drawingml/2006/main">
            <a:off x="647700" y="5953125"/>
            <a:ext cx="10896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6746D"/>
                </a:solidFill>
                <a:latin typeface="Arial"/>
                <a:ea typeface="Arial"/>
                <a:cs typeface="Arial"/>
              </a:defRPr>
            </a:pPr>
            <a:r>
              <a:rPr sz="1875" b="1">
                <a:solidFill>
                  <a:srgbClr val="26746D"/>
                </a:solidFill>
                <a:latin typeface="Arial"/>
                <a:ea typeface="Arial"/>
                <a:cs typeface="Arial"/>
              </a:rPr>
              <a:t>Provisional choice: Django 5.2 LTS. Pin and test a current patched release.</a:t>
            </a:r>
          </a:p>
        </p:txBody>
      </p:sp>
    </p:spTree>
    <p:extLst>
      <p:ext uri="{BB962C8B-B14F-4D97-AF65-F5344CB8AC3E}">
        <p14:creationId xmlns:p14="http://schemas.microsoft.com/office/powerpoint/2010/main" val="1038082053"/>
      </p:ext>
    </p:extLst>
  </p:cSld>
</p:sld>
</file>

<file path=ppt/slides/slide12.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CC9DE5FA-49E8-48B4-A2E5-9FE7DAB199F0}"/>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Proposed AI services and access conditions</a:t>
            </a:r>
          </a:p>
        </p:txBody>
      </p:sp>
      <p:sp>
        <p:nvSpPr>
          <p:cNvPr id="2" name="page">
            <a:extLst xmlns:a="http://schemas.openxmlformats.org/drawingml/2006/main">
              <a:ext uri="{FF2B5EF4-FFF2-40B4-BE49-F238E27FC236}">
                <a16:creationId xmlns:a16="http://schemas.microsoft.com/office/drawing/2014/main" id="{E0916E98-8082-48CF-AC69-DF46A6E8B0EC}"/>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12</a:t>
            </a:r>
          </a:p>
        </p:txBody>
      </p:sp>
      <p:sp>
        <p:nvSpPr>
          <p:cNvPr id="3" name="source">
            <a:extLst xmlns:a="http://schemas.openxmlformats.org/drawingml/2006/main">
              <a:ext uri="{FF2B5EF4-FFF2-40B4-BE49-F238E27FC236}">
                <a16:creationId xmlns:a16="http://schemas.microsoft.com/office/drawing/2014/main" id="{56B02D2C-057F-443E-9366-DBC8BD66621F}"/>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[S30] [S31] [S32] [S34]</a:t>
            </a:r>
          </a:p>
        </p:txBody>
      </p:sp>
      <p:graphicFrame>
        <p:nvGraphicFramePr>
          <p:cNvPr id="9" name=""/>
          <p:cNvGraphicFramePr/>
          <p:nvPr/>
        </p:nvGraphicFramePr>
        <p:xfrm>
          <a:off xmlns:a="http://schemas.openxmlformats.org/drawingml/2006/main" x="647700" y="1619250"/>
          <a:ext xmlns:a="http://schemas.openxmlformats.org/drawingml/2006/main" cx="10896600" cy="4019550"/>
        </p:xfrm>
        <a:graphic xmlns:a="http://schemas.openxmlformats.org/drawingml/2006/main">
          <a:graphicData uri="http://schemas.openxmlformats.org/drawingml/2006/table">
            <a:tbl>
              <a:tblPr firstRow="0" firstCol="0" bandRow="0"/>
              <a:tblGrid>
                <a:gridCol w="3190875"/>
                <a:gridCol w="4152900"/>
                <a:gridCol w="3552825"/>
              </a:tblGrid>
              <a:tr h="523875">
                <a:tc>
                  <a:txBody>
                    <a:bodyPr lIns="123825" tIns="76200" rIns="123825" bIns="76200">
                      <a:noAutofit/>
                    </a:bodyPr>
                    <a:lstStyle/>
                    <a:p>
                      <a:r>
                        <a:rPr sz="1875" b="1">
                          <a:solidFill>
                            <a:srgbClr val="FFFFFF"/>
                          </a:solidFill>
                          <a:latin typeface="Arial"/>
                          <a:ea typeface="Arial"/>
                          <a:cs typeface="Arial"/>
                        </a:rPr>
                        <a:t>Function</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Provisional candidate</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Before use</a:t>
                      </a:r>
                    </a:p>
                  </a:txBody>
                  <a:tcPr marL="91440" marR="91440" marT="45720" marB="45720" anchor="ctr">
                    <a:solidFill>
                      <a:srgbClr val="17343C"/>
                    </a:solidFill>
                  </a:tcPr>
                </a:tc>
              </a:tr>
              <a:tr h="1057275">
                <a:tc>
                  <a:txBody>
                    <a:bodyPr lIns="123825" tIns="76200" rIns="123825" bIns="76200">
                      <a:noAutofit/>
                    </a:bodyPr>
                    <a:lstStyle/>
                    <a:p>
                      <a:r>
                        <a:rPr sz="1875" b="0">
                          <a:solidFill>
                            <a:srgbClr val="17343C"/>
                          </a:solidFill>
                          <a:latin typeface="Arial"/>
                          <a:ea typeface="Arial"/>
                          <a:cs typeface="Arial"/>
                        </a:rPr>
                        <a:t>Semantic matching</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text-embedding-3-small [S31]</a:t>
                      </a:r>
                    </a:p>
                    <a:p>
                      <a:r>
                        <a:rPr sz="1875" b="0">
                          <a:solidFill>
                            <a:srgbClr val="17343C"/>
                          </a:solidFill>
                          <a:latin typeface="Arial"/>
                          <a:ea typeface="Arial"/>
                          <a:cs typeface="Arial"/>
                        </a:rPr>
                        <a:t>USD 0.02 / million input tokens</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Test useful matches and errors</a:t>
                      </a:r>
                    </a:p>
                    <a:p>
                      <a:r>
                        <a:rPr sz="1875" b="0">
                          <a:solidFill>
                            <a:srgbClr val="17343C"/>
                          </a:solidFill>
                          <a:latin typeface="Arial"/>
                          <a:ea typeface="Arial"/>
                          <a:cs typeface="Arial"/>
                        </a:rPr>
                        <a:t>Apply access and eligibility rules</a:t>
                      </a:r>
                    </a:p>
                  </a:txBody>
                  <a:tcPr marL="91440" marR="91440" marT="45720" marB="45720" anchor="ctr">
                    <a:solidFill>
                      <a:srgbClr val="FAFAF7"/>
                    </a:solidFill>
                  </a:tcPr>
                </a:tc>
              </a:tr>
              <a:tr h="1371600">
                <a:tc>
                  <a:txBody>
                    <a:bodyPr lIns="123825" tIns="76200" rIns="123825" bIns="76200">
                      <a:noAutofit/>
                    </a:bodyPr>
                    <a:lstStyle/>
                    <a:p>
                      <a:r>
                        <a:rPr sz="1875" b="0">
                          <a:solidFill>
                            <a:srgbClr val="17343C"/>
                          </a:solidFill>
                          <a:latin typeface="Arial"/>
                          <a:ea typeface="Arial"/>
                          <a:cs typeface="Arial"/>
                        </a:rPr>
                        <a:t>Suggestions and generated text</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GPT-4.1 mini [S30]</a:t>
                      </a:r>
                    </a:p>
                    <a:p>
                      <a:r>
                        <a:rPr sz="1875" b="0">
                          <a:solidFill>
                            <a:srgbClr val="17343C"/>
                          </a:solidFill>
                          <a:latin typeface="Arial"/>
                          <a:ea typeface="Arial"/>
                          <a:cs typeface="Arial"/>
                        </a:rPr>
                        <a:t>USD 0.40 input / 1.60 output</a:t>
                      </a:r>
                    </a:p>
                    <a:p>
                      <a:r>
                        <a:rPr sz="1875" b="0">
                          <a:solidFill>
                            <a:srgbClr val="17343C"/>
                          </a:solidFill>
                          <a:latin typeface="Arial"/>
                          <a:ea typeface="Arial"/>
                          <a:cs typeface="Arial"/>
                        </a:rPr>
                        <a:t>per million tokens</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Approved access and spending</a:t>
                      </a:r>
                    </a:p>
                    <a:p>
                      <a:r>
                        <a:rPr sz="1875" b="0">
                          <a:solidFill>
                            <a:srgbClr val="17343C"/>
                          </a:solidFill>
                          <a:latin typeface="Arial"/>
                          <a:ea typeface="Arial"/>
                          <a:cs typeface="Arial"/>
                        </a:rPr>
                        <a:t>Synthetic data first</a:t>
                      </a:r>
                    </a:p>
                    <a:p>
                      <a:r>
                        <a:rPr sz="1875" b="0">
                          <a:solidFill>
                            <a:srgbClr val="17343C"/>
                          </a:solidFill>
                          <a:latin typeface="Arial"/>
                          <a:ea typeface="Arial"/>
                          <a:cs typeface="Arial"/>
                        </a:rPr>
                        <a:t>Staff review of factual claims</a:t>
                      </a:r>
                    </a:p>
                  </a:txBody>
                  <a:tcPr marL="91440" marR="91440" marT="45720" marB="45720" anchor="ctr">
                    <a:solidFill>
                      <a:srgbClr val="F0F4F3"/>
                    </a:solidFill>
                  </a:tcPr>
                </a:tc>
              </a:tr>
              <a:tr h="1066800">
                <a:tc>
                  <a:txBody>
                    <a:bodyPr lIns="123825" tIns="76200" rIns="123825" bIns="76200">
                      <a:noAutofit/>
                    </a:bodyPr>
                    <a:lstStyle/>
                    <a:p>
                      <a:r>
                        <a:rPr sz="1875" b="0">
                          <a:solidFill>
                            <a:srgbClr val="17343C"/>
                          </a:solidFill>
                          <a:latin typeface="Arial"/>
                          <a:ea typeface="Arial"/>
                          <a:cs typeface="Arial"/>
                        </a:rPr>
                        <a:t>Local matching alternative</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all-MiniLM-L6-v2 [S32]</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Check RAM, latency and quality</a:t>
                      </a:r>
                    </a:p>
                    <a:p>
                      <a:r>
                        <a:rPr sz="1875" b="0">
                          <a:solidFill>
                            <a:srgbClr val="17343C"/>
                          </a:solidFill>
                          <a:latin typeface="Arial"/>
                          <a:ea typeface="Arial"/>
                          <a:cs typeface="Arial"/>
                        </a:rPr>
                        <a:t>Generative functions still needed</a:t>
                      </a:r>
                    </a:p>
                  </a:txBody>
                  <a:tcPr marL="91440" marR="91440" marT="45720" marB="45720" anchor="ctr">
                    <a:solidFill>
                      <a:srgbClr val="FAFAF7"/>
                    </a:solidFill>
                  </a:tcPr>
                </a:tc>
              </a:tr>
            </a:tbl>
          </a:graphicData>
        </a:graphic>
      </p:graphicFrame>
      <p:sp>
        <p:nvSpPr>
          <p:cNvPr id="5" name="ai-budget">
            <a:extLst xmlns:a="http://schemas.openxmlformats.org/drawingml/2006/main">
              <a:ext uri="{FF2B5EF4-FFF2-40B4-BE49-F238E27FC236}">
                <a16:creationId xmlns:a16="http://schemas.microsoft.com/office/drawing/2014/main" id="{1437A1A2-79F6-43FA-BEFD-EC5B7283EC45}"/>
              </a:ext>
            </a:extLst>
          </p:cNvPr>
          <p:cNvSpPr>
            <a:spLocks xmlns:a="http://schemas.openxmlformats.org/drawingml/2006/main" noGrp="1"/>
          </p:cNvSpPr>
          <p:nvPr/>
        </p:nvSpPr>
        <p:spPr>
          <a:xfrm xmlns:a="http://schemas.openxmlformats.org/drawingml/2006/main">
            <a:off x="647700" y="6038850"/>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6746D"/>
                </a:solidFill>
                <a:latin typeface="Arial"/>
                <a:ea typeface="Arial"/>
                <a:cs typeface="Arial"/>
              </a:defRPr>
            </a:pPr>
            <a:r>
              <a:rPr sz="1725" b="1">
                <a:solidFill>
                  <a:srgbClr val="26746D"/>
                </a:solidFill>
                <a:latin typeface="Arial"/>
                <a:ea typeface="Arial"/>
                <a:cs typeface="Arial"/>
              </a:rPr>
              <a:t>The USD 10/month allowance is a planning cap. The zero-cash route needs approved access.</a:t>
            </a:r>
          </a:p>
        </p:txBody>
      </p:sp>
    </p:spTree>
    <p:extLst>
      <p:ext uri="{BB962C8B-B14F-4D97-AF65-F5344CB8AC3E}">
        <p14:creationId xmlns:p14="http://schemas.microsoft.com/office/powerpoint/2010/main" val="1238705316"/>
      </p:ext>
    </p:extLst>
  </p:cSld>
</p:sld>
</file>

<file path=ppt/slides/slide13.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B5F19DB9-A8EA-434F-B88D-4594F0EC220F}"/>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Hardware, software and skills</a:t>
            </a:r>
          </a:p>
        </p:txBody>
      </p:sp>
      <p:sp>
        <p:nvSpPr>
          <p:cNvPr id="2" name="page">
            <a:extLst xmlns:a="http://schemas.openxmlformats.org/drawingml/2006/main">
              <a:ext uri="{FF2B5EF4-FFF2-40B4-BE49-F238E27FC236}">
                <a16:creationId xmlns:a16="http://schemas.microsoft.com/office/drawing/2014/main" id="{34EED82D-8A7C-419C-A5D4-432E30855076}"/>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13</a:t>
            </a:r>
          </a:p>
        </p:txBody>
      </p:sp>
      <p:sp>
        <p:nvSpPr>
          <p:cNvPr id="3" name="source">
            <a:extLst xmlns:a="http://schemas.openxmlformats.org/drawingml/2006/main">
              <a:ext uri="{FF2B5EF4-FFF2-40B4-BE49-F238E27FC236}">
                <a16:creationId xmlns:a16="http://schemas.microsoft.com/office/drawing/2014/main" id="{19DF94AD-76E7-4255-B7A4-82EE5C316CA3}"/>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[S09] [S10]</a:t>
            </a:r>
          </a:p>
        </p:txBody>
      </p:sp>
      <p:graphicFrame>
        <p:nvGraphicFramePr>
          <p:cNvPr id="9" name=""/>
          <p:cNvGraphicFramePr/>
          <p:nvPr/>
        </p:nvGraphicFramePr>
        <p:xfrm>
          <a:off xmlns:a="http://schemas.openxmlformats.org/drawingml/2006/main" x="647700" y="1695450"/>
          <a:ext xmlns:a="http://schemas.openxmlformats.org/drawingml/2006/main" cx="10896600" cy="3867150"/>
        </p:xfrm>
        <a:graphic xmlns:a="http://schemas.openxmlformats.org/drawingml/2006/main">
          <a:graphicData uri="http://schemas.openxmlformats.org/drawingml/2006/table">
            <a:tbl>
              <a:tblPr firstRow="0" firstCol="0" bandRow="0"/>
              <a:tblGrid>
                <a:gridCol w="2333625"/>
                <a:gridCol w="4276725"/>
                <a:gridCol w="4286250"/>
              </a:tblGrid>
              <a:tr h="561975">
                <a:tc>
                  <a:txBody>
                    <a:bodyPr lIns="123825" tIns="76200" rIns="123825" bIns="76200">
                      <a:noAutofit/>
                    </a:bodyPr>
                    <a:lstStyle/>
                    <a:p>
                      <a:r>
                        <a:rPr sz="1875" b="1">
                          <a:solidFill>
                            <a:srgbClr val="FFFFFF"/>
                          </a:solidFill>
                          <a:latin typeface="Arial"/>
                          <a:ea typeface="Arial"/>
                          <a:cs typeface="Arial"/>
                        </a:rPr>
                        <a:t>Resource</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Proposed use</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What we must verify</a:t>
                      </a:r>
                    </a:p>
                  </a:txBody>
                  <a:tcPr marL="91440" marR="91440" marT="45720" marB="45720" anchor="ctr">
                    <a:solidFill>
                      <a:srgbClr val="17343C"/>
                    </a:solidFill>
                  </a:tcPr>
                </a:tc>
              </a:tr>
              <a:tr h="1028700">
                <a:tc>
                  <a:txBody>
                    <a:bodyPr lIns="123825" tIns="76200" rIns="123825" bIns="76200">
                      <a:noAutofit/>
                    </a:bodyPr>
                    <a:lstStyle/>
                    <a:p>
                      <a:r>
                        <a:rPr sz="2025" b="0">
                          <a:solidFill>
                            <a:srgbClr val="17343C"/>
                          </a:solidFill>
                          <a:latin typeface="Arial"/>
                          <a:ea typeface="Arial"/>
                          <a:cs typeface="Arial"/>
                        </a:rPr>
                        <a:t>Devices and browser</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Existing laptops or KU lab PCs</a:t>
                      </a:r>
                    </a:p>
                    <a:p>
                      <a:r>
                        <a:rPr sz="2025" b="0">
                          <a:solidFill>
                            <a:srgbClr val="17343C"/>
                          </a:solidFill>
                          <a:latin typeface="Arial"/>
                          <a:ea typeface="Arial"/>
                          <a:cs typeface="Arial"/>
                        </a:rPr>
                        <a:t>Browser-based staff access</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Actual RAM, storage and OS</a:t>
                      </a:r>
                    </a:p>
                    <a:p>
                      <a:r>
                        <a:rPr sz="2025" b="0">
                          <a:solidFill>
                            <a:srgbClr val="17343C"/>
                          </a:solidFill>
                          <a:latin typeface="Arial"/>
                          <a:ea typeface="Arial"/>
                          <a:cs typeface="Arial"/>
                        </a:rPr>
                        <a:t>Network and browser tests</a:t>
                      </a:r>
                    </a:p>
                  </a:txBody>
                  <a:tcPr marL="91440" marR="91440" marT="45720" marB="45720" anchor="ctr">
                    <a:solidFill>
                      <a:srgbClr val="FAFAF7"/>
                    </a:solidFill>
                  </a:tcPr>
                </a:tc>
              </a:tr>
              <a:tr h="1143000">
                <a:tc>
                  <a:txBody>
                    <a:bodyPr lIns="123825" tIns="76200" rIns="123825" bIns="76200">
                      <a:noAutofit/>
                    </a:bodyPr>
                    <a:lstStyle/>
                    <a:p>
                      <a:r>
                        <a:rPr sz="2025" b="0">
                          <a:solidFill>
                            <a:srgbClr val="17343C"/>
                          </a:solidFill>
                          <a:latin typeface="Arial"/>
                          <a:ea typeface="Arial"/>
                          <a:cs typeface="Arial"/>
                        </a:rPr>
                        <a:t>Server and data</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Web app, PostgreSQL, media store</a:t>
                      </a:r>
                    </a:p>
                    <a:p>
                      <a:r>
                        <a:rPr sz="2025" b="0">
                          <a:solidFill>
                            <a:srgbClr val="17343C"/>
                          </a:solidFill>
                          <a:latin typeface="Arial"/>
                          <a:ea typeface="Arial"/>
                          <a:cs typeface="Arial"/>
                        </a:rPr>
                        <a:t>Protected API keys and backups</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Upload persistence, recovery</a:t>
                      </a:r>
                    </a:p>
                    <a:p>
                      <a:r>
                        <a:rPr sz="2025" b="0">
                          <a:solidFill>
                            <a:srgbClr val="17343C"/>
                          </a:solidFill>
                          <a:latin typeface="Arial"/>
                          <a:ea typeface="Arial"/>
                          <a:cs typeface="Arial"/>
                        </a:rPr>
                        <a:t>Access rules and HTTPS</a:t>
                      </a:r>
                    </a:p>
                  </a:txBody>
                  <a:tcPr marL="91440" marR="91440" marT="45720" marB="45720" anchor="ctr">
                    <a:solidFill>
                      <a:srgbClr val="F0F4F3"/>
                    </a:solidFill>
                  </a:tcPr>
                </a:tc>
              </a:tr>
              <a:tr h="1133475">
                <a:tc>
                  <a:txBody>
                    <a:bodyPr lIns="123825" tIns="76200" rIns="123825" bIns="76200">
                      <a:noAutofit/>
                    </a:bodyPr>
                    <a:lstStyle/>
                    <a:p>
                      <a:r>
                        <a:rPr sz="2025" b="0">
                          <a:solidFill>
                            <a:srgbClr val="17343C"/>
                          </a:solidFill>
                          <a:latin typeface="Arial"/>
                          <a:ea typeface="Arial"/>
                          <a:cs typeface="Arial"/>
                        </a:rPr>
                        <a:t>Team skills</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Web/API work, SQL, AI evaluation</a:t>
                      </a:r>
                    </a:p>
                    <a:p>
                      <a:r>
                        <a:rPr sz="2025" b="0">
                          <a:solidFill>
                            <a:srgbClr val="17343C"/>
                          </a:solidFill>
                          <a:latin typeface="Arial"/>
                          <a:ea typeface="Arial"/>
                          <a:cs typeface="Arial"/>
                        </a:rPr>
                        <a:t>Deployment and testing</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Who can do each task</a:t>
                      </a:r>
                    </a:p>
                    <a:p>
                      <a:r>
                        <a:rPr sz="2025" b="0">
                          <a:solidFill>
                            <a:srgbClr val="17343C"/>
                          </a:solidFill>
                          <a:latin typeface="Arial"/>
                          <a:ea typeface="Arial"/>
                          <a:cs typeface="Arial"/>
                        </a:rPr>
                        <a:t>Learning time and support</a:t>
                      </a:r>
                    </a:p>
                  </a:txBody>
                  <a:tcPr marL="91440" marR="91440" marT="45720" marB="45720" anchor="ctr">
                    <a:solidFill>
                      <a:srgbClr val="FAFAF7"/>
                    </a:solidFill>
                  </a:tcPr>
                </a:tc>
              </a:tr>
            </a:tbl>
          </a:graphicData>
        </a:graphic>
      </p:graphicFrame>
      <p:sp>
        <p:nvSpPr>
          <p:cNvPr id="5" name="takeaway">
            <a:extLst xmlns:a="http://schemas.openxmlformats.org/drawingml/2006/main">
              <a:ext uri="{FF2B5EF4-FFF2-40B4-BE49-F238E27FC236}">
                <a16:creationId xmlns:a16="http://schemas.microsoft.com/office/drawing/2014/main" id="{151486B6-7E32-45ED-952B-194B3C15D4C7}"/>
              </a:ext>
            </a:extLst>
          </p:cNvPr>
          <p:cNvSpPr>
            <a:spLocks xmlns:a="http://schemas.openxmlformats.org/drawingml/2006/main" noGrp="1"/>
          </p:cNvSpPr>
          <p:nvPr/>
        </p:nvSpPr>
        <p:spPr>
          <a:xfrm xmlns:a="http://schemas.openxmlformats.org/drawingml/2006/main">
            <a:off x="647700" y="5991225"/>
            <a:ext cx="10896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6746D"/>
                </a:solidFill>
                <a:latin typeface="Arial"/>
                <a:ea typeface="Arial"/>
                <a:cs typeface="Arial"/>
              </a:defRPr>
            </a:pPr>
            <a:r>
              <a:rPr sz="1875" b="1">
                <a:solidFill>
                  <a:srgbClr val="26746D"/>
                </a:solidFill>
                <a:latin typeface="Arial"/>
                <a:ea typeface="Arial"/>
                <a:cs typeface="Arial"/>
              </a:rPr>
              <a:t>A local AI model would need a separate hardware and licence check</a:t>
            </a:r>
          </a:p>
        </p:txBody>
      </p:sp>
    </p:spTree>
    <p:extLst>
      <p:ext uri="{BB962C8B-B14F-4D97-AF65-F5344CB8AC3E}">
        <p14:creationId xmlns:p14="http://schemas.microsoft.com/office/powerpoint/2010/main" val="1973334530"/>
      </p:ext>
    </p:extLst>
  </p:cSld>
</p:sld>
</file>

<file path=ppt/slides/slide14.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DAA3A9B2-FF16-4A7D-9111-510D64BA22EC}"/>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Hosting availability and persistent files</a:t>
            </a:r>
          </a:p>
        </p:txBody>
      </p:sp>
      <p:sp>
        <p:nvSpPr>
          <p:cNvPr id="2" name="page">
            <a:extLst xmlns:a="http://schemas.openxmlformats.org/drawingml/2006/main">
              <a:ext uri="{FF2B5EF4-FFF2-40B4-BE49-F238E27FC236}">
                <a16:creationId xmlns:a16="http://schemas.microsoft.com/office/drawing/2014/main" id="{63D88183-DFEB-4C8D-82ED-B697EC538A0A}"/>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14</a:t>
            </a:r>
          </a:p>
        </p:txBody>
      </p:sp>
      <p:sp>
        <p:nvSpPr>
          <p:cNvPr id="3" name="source">
            <a:extLst xmlns:a="http://schemas.openxmlformats.org/drawingml/2006/main">
              <a:ext uri="{FF2B5EF4-FFF2-40B4-BE49-F238E27FC236}">
                <a16:creationId xmlns:a16="http://schemas.microsoft.com/office/drawing/2014/main" id="{8E905A59-E980-4756-BE1A-198D69DE83F7}"/>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[S12] [S13]</a:t>
            </a:r>
          </a:p>
        </p:txBody>
      </p:sp>
      <p:graphicFrame>
        <p:nvGraphicFramePr>
          <p:cNvPr id="9" name=""/>
          <p:cNvGraphicFramePr/>
          <p:nvPr/>
        </p:nvGraphicFramePr>
        <p:xfrm>
          <a:off xmlns:a="http://schemas.openxmlformats.org/drawingml/2006/main" x="647700" y="1581150"/>
          <a:ext xmlns:a="http://schemas.openxmlformats.org/drawingml/2006/main" cx="10896600" cy="4029075"/>
        </p:xfrm>
        <a:graphic xmlns:a="http://schemas.openxmlformats.org/drawingml/2006/main">
          <a:graphicData uri="http://schemas.openxmlformats.org/drawingml/2006/table">
            <a:tbl>
              <a:tblPr firstRow="0" firstCol="0" bandRow="0"/>
              <a:tblGrid>
                <a:gridCol w="3457575"/>
                <a:gridCol w="7439025"/>
              </a:tblGrid>
              <a:tr h="542925">
                <a:tc>
                  <a:txBody>
                    <a:bodyPr lIns="123825" tIns="76200" rIns="123825" bIns="76200">
                      <a:noAutofit/>
                    </a:bodyPr>
                    <a:lstStyle/>
                    <a:p>
                      <a:r>
                        <a:rPr sz="1875" b="1">
                          <a:solidFill>
                            <a:srgbClr val="FFFFFF"/>
                          </a:solidFill>
                          <a:latin typeface="Arial"/>
                          <a:ea typeface="Arial"/>
                          <a:cs typeface="Arial"/>
                        </a:rPr>
                        <a:t>Hosting condition</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Validation before confirming the choice</a:t>
                      </a:r>
                    </a:p>
                  </a:txBody>
                  <a:tcPr marL="91440" marR="91440" marT="45720" marB="45720" anchor="ctr">
                    <a:solidFill>
                      <a:srgbClr val="17343C"/>
                    </a:solidFill>
                  </a:tcPr>
                </a:tc>
              </a:tr>
              <a:tr h="1257300">
                <a:tc>
                  <a:txBody>
                    <a:bodyPr lIns="123825" tIns="76200" rIns="123825" bIns="76200">
                      <a:noAutofit/>
                    </a:bodyPr>
                    <a:lstStyle/>
                    <a:p>
                      <a:r>
                        <a:rPr sz="2025" b="0">
                          <a:solidFill>
                            <a:srgbClr val="17343C"/>
                          </a:solidFill>
                          <a:latin typeface="Arial"/>
                          <a:ea typeface="Arial"/>
                          <a:cs typeface="Arial"/>
                        </a:rPr>
                        <a:t>Idle sleep and cold start</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After 15 minutes without traffic, waking may take about one minute. Measure ordinary and first-request latency separately.</a:t>
                      </a:r>
                    </a:p>
                  </a:txBody>
                  <a:tcPr marL="91440" marR="91440" marT="45720" marB="45720" anchor="ctr">
                    <a:solidFill>
                      <a:srgbClr val="FAFAF7"/>
                    </a:solidFill>
                  </a:tcPr>
                </a:tc>
              </a:tr>
              <a:tr h="1228725">
                <a:tc>
                  <a:txBody>
                    <a:bodyPr lIns="123825" tIns="76200" rIns="123825" bIns="76200">
                      <a:noAutofit/>
                    </a:bodyPr>
                    <a:lstStyle/>
                    <a:p>
                      <a:r>
                        <a:rPr sz="2025" b="0">
                          <a:solidFill>
                            <a:srgbClr val="17343C"/>
                          </a:solidFill>
                          <a:latin typeface="Arial"/>
                          <a:ea typeface="Arial"/>
                          <a:cs typeface="Arial"/>
                        </a:rPr>
                        <a:t>Uploaded photographs and documents</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Use a persistent store. Verify files and database records survive restart and redeployment.</a:t>
                      </a:r>
                    </a:p>
                  </a:txBody>
                  <a:tcPr marL="91440" marR="91440" marT="45720" marB="45720" anchor="ctr">
                    <a:solidFill>
                      <a:srgbClr val="F0F4F3"/>
                    </a:solidFill>
                  </a:tcPr>
                </a:tc>
              </a:tr>
              <a:tr h="1000125">
                <a:tc>
                  <a:txBody>
                    <a:bodyPr lIns="123825" tIns="76200" rIns="123825" bIns="76200">
                      <a:noAutofit/>
                    </a:bodyPr>
                    <a:lstStyle/>
                    <a:p>
                      <a:r>
                        <a:rPr sz="2025" b="0">
                          <a:solidFill>
                            <a:srgbClr val="17343C"/>
                          </a:solidFill>
                          <a:latin typeface="Arial"/>
                          <a:ea typeface="Arial"/>
                          <a:cs typeface="Arial"/>
                        </a:rPr>
                        <a:t>Access and recovery</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Check permissions and a documented recovery method for both records and uploads.</a:t>
                      </a:r>
                    </a:p>
                  </a:txBody>
                  <a:tcPr marL="91440" marR="91440" marT="45720" marB="45720" anchor="ctr">
                    <a:solidFill>
                      <a:srgbClr val="FAFAF7"/>
                    </a:solidFill>
                  </a:tcPr>
                </a:tc>
              </a:tr>
            </a:tbl>
          </a:graphicData>
        </a:graphic>
      </p:graphicFrame>
      <p:sp>
        <p:nvSpPr>
          <p:cNvPr id="5" name="hosting-boundary">
            <a:extLst xmlns:a="http://schemas.openxmlformats.org/drawingml/2006/main">
              <a:ext uri="{FF2B5EF4-FFF2-40B4-BE49-F238E27FC236}">
                <a16:creationId xmlns:a16="http://schemas.microsoft.com/office/drawing/2014/main" id="{3CF7CD63-294B-4F19-BEA9-C417B07A0D6E}"/>
              </a:ext>
            </a:extLst>
          </p:cNvPr>
          <p:cNvSpPr>
            <a:spLocks xmlns:a="http://schemas.openxmlformats.org/drawingml/2006/main" noGrp="1"/>
          </p:cNvSpPr>
          <p:nvPr/>
        </p:nvSpPr>
        <p:spPr>
          <a:xfrm xmlns:a="http://schemas.openxmlformats.org/drawingml/2006/main">
            <a:off x="647700" y="5857875"/>
            <a:ext cx="108966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6746D"/>
                </a:solidFill>
                <a:latin typeface="Arial"/>
                <a:ea typeface="Arial"/>
                <a:cs typeface="Arial"/>
              </a:defRPr>
            </a:pPr>
            <a:r>
              <a:rPr sz="1875" b="1">
                <a:solidFill>
                  <a:srgbClr val="26746D"/>
                </a:solidFill>
                <a:latin typeface="Arial"/>
                <a:ea typeface="Arial"/>
                <a:cs typeface="Arial"/>
              </a:rPr>
              <a:t>The 15-second AI fallback target assumes the application is available.</a:t>
            </a:r>
          </a:p>
          <a:p xmlns:a="http://schemas.openxmlformats.org/drawingml/2006/main">
            <a:pPr algn="l">
              <a:defRPr sz="1875" b="1">
                <a:solidFill>
                  <a:srgbClr val="26746D"/>
                </a:solidFill>
                <a:latin typeface="Arial"/>
                <a:ea typeface="Arial"/>
                <a:cs typeface="Arial"/>
              </a:defRPr>
            </a:pPr>
            <a:r>
              <a:rPr sz="1875" b="1">
                <a:solidFill>
                  <a:srgbClr val="26746D"/>
                </a:solidFill>
                <a:latin typeface="Arial"/>
                <a:ea typeface="Arial"/>
                <a:cs typeface="Arial"/>
              </a:rPr>
              <a:t>Client agreement is needed for any change to performance criteria.</a:t>
            </a:r>
          </a:p>
        </p:txBody>
      </p:sp>
    </p:spTree>
    <p:extLst>
      <p:ext uri="{BB962C8B-B14F-4D97-AF65-F5344CB8AC3E}">
        <p14:creationId xmlns:p14="http://schemas.microsoft.com/office/powerpoint/2010/main" val="348333904"/>
      </p:ext>
    </p:extLst>
  </p:cSld>
</p:sld>
</file>

<file path=ppt/slides/slide15.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4518A0CB-6535-4AE5-8396-BEAA2FDDD0AF}"/>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Feasibility across six areas</a:t>
            </a:r>
          </a:p>
        </p:txBody>
      </p:sp>
      <p:sp>
        <p:nvSpPr>
          <p:cNvPr id="2" name="page">
            <a:extLst xmlns:a="http://schemas.openxmlformats.org/drawingml/2006/main">
              <a:ext uri="{FF2B5EF4-FFF2-40B4-BE49-F238E27FC236}">
                <a16:creationId xmlns:a16="http://schemas.microsoft.com/office/drawing/2014/main" id="{118EF899-9413-4E11-8CAB-47A6044F26DD}"/>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15</a:t>
            </a:r>
          </a:p>
        </p:txBody>
      </p:sp>
      <p:sp>
        <p:nvSpPr>
          <p:cNvPr id="3" name="source">
            <a:extLst xmlns:a="http://schemas.openxmlformats.org/drawingml/2006/main">
              <a:ext uri="{FF2B5EF4-FFF2-40B4-BE49-F238E27FC236}">
                <a16:creationId xmlns:a16="http://schemas.microsoft.com/office/drawing/2014/main" id="{B0D56CC4-0B56-4470-95A0-49CC7F826E43}"/>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[S22]</a:t>
            </a:r>
          </a:p>
        </p:txBody>
      </p:sp>
      <p:graphicFrame>
        <p:nvGraphicFramePr>
          <p:cNvPr id="8" name=""/>
          <p:cNvGraphicFramePr/>
          <p:nvPr/>
        </p:nvGraphicFramePr>
        <p:xfrm>
          <a:off xmlns:a="http://schemas.openxmlformats.org/drawingml/2006/main" x="647700" y="1657350"/>
          <a:ext xmlns:a="http://schemas.openxmlformats.org/drawingml/2006/main" cx="10896600" cy="4181475"/>
        </p:xfrm>
        <a:graphic xmlns:a="http://schemas.openxmlformats.org/drawingml/2006/main">
          <a:graphicData uri="http://schemas.openxmlformats.org/drawingml/2006/table">
            <a:tbl>
              <a:tblPr firstRow="0" firstCol="0" bandRow="0"/>
              <a:tblGrid>
                <a:gridCol w="2428875"/>
                <a:gridCol w="3524250"/>
                <a:gridCol w="4943475"/>
              </a:tblGrid>
              <a:tr h="523875">
                <a:tc>
                  <a:txBody>
                    <a:bodyPr lIns="123825" tIns="76200" rIns="123825" bIns="76200">
                      <a:noAutofit/>
                    </a:bodyPr>
                    <a:lstStyle/>
                    <a:p>
                      <a:r>
                        <a:rPr sz="1875" b="1">
                          <a:solidFill>
                            <a:srgbClr val="FFFFFF"/>
                          </a:solidFill>
                          <a:latin typeface="Arial"/>
                          <a:ea typeface="Arial"/>
                          <a:cs typeface="Arial"/>
                        </a:rPr>
                        <a:t>Area</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Current finding</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Condition before a stronger conclusion</a:t>
                      </a:r>
                    </a:p>
                  </a:txBody>
                  <a:tcPr marL="91440" marR="91440" marT="45720" marB="45720" anchor="ctr">
                    <a:solidFill>
                      <a:srgbClr val="17343C"/>
                    </a:solidFill>
                  </a:tcPr>
                </a:tc>
              </a:tr>
              <a:tr h="609600">
                <a:tc>
                  <a:txBody>
                    <a:bodyPr lIns="123825" tIns="76200" rIns="123825" bIns="76200">
                      <a:noAutofit/>
                    </a:bodyPr>
                    <a:lstStyle/>
                    <a:p>
                      <a:r>
                        <a:rPr sz="1950" b="0">
                          <a:solidFill>
                            <a:srgbClr val="17343C"/>
                          </a:solidFill>
                          <a:latin typeface="Arial"/>
                          <a:ea typeface="Arial"/>
                          <a:cs typeface="Arial"/>
                        </a:rPr>
                        <a:t>Technical</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Plausible architecture</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Run a deployment and permission test</a:t>
                      </a:r>
                    </a:p>
                  </a:txBody>
                  <a:tcPr marL="91440" marR="91440" marT="45720" marB="45720" anchor="ctr">
                    <a:solidFill>
                      <a:srgbClr val="FAFAF7"/>
                    </a:solidFill>
                  </a:tcPr>
                </a:tc>
              </a:tr>
              <a:tr h="609600">
                <a:tc>
                  <a:txBody>
                    <a:bodyPr lIns="123825" tIns="76200" rIns="123825" bIns="76200">
                      <a:noAutofit/>
                    </a:bodyPr>
                    <a:lstStyle/>
                    <a:p>
                      <a:r>
                        <a:rPr sz="1950" b="0">
                          <a:solidFill>
                            <a:srgbClr val="17343C"/>
                          </a:solidFill>
                          <a:latin typeface="Arial"/>
                          <a:ea typeface="Arial"/>
                          <a:cs typeface="Arial"/>
                        </a:rPr>
                        <a:t>Economic</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Conditional scenarios only</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Verify demand and total costs</a:t>
                      </a:r>
                    </a:p>
                  </a:txBody>
                  <a:tcPr marL="91440" marR="91440" marT="45720" marB="45720" anchor="ctr">
                    <a:solidFill>
                      <a:srgbClr val="F0F4F3"/>
                    </a:solidFill>
                  </a:tcPr>
                </a:tc>
              </a:tr>
              <a:tr h="609600">
                <a:tc>
                  <a:txBody>
                    <a:bodyPr lIns="123825" tIns="76200" rIns="123825" bIns="76200">
                      <a:noAutofit/>
                    </a:bodyPr>
                    <a:lstStyle/>
                    <a:p>
                      <a:r>
                        <a:rPr sz="1950" b="0">
                          <a:solidFill>
                            <a:srgbClr val="17343C"/>
                          </a:solidFill>
                          <a:latin typeface="Arial"/>
                          <a:ea typeface="Arial"/>
                          <a:cs typeface="Arial"/>
                        </a:rPr>
                        <a:t>Legal and ethical</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Controls identified</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Confirm KU data and approval rules</a:t>
                      </a:r>
                    </a:p>
                  </a:txBody>
                  <a:tcPr marL="91440" marR="91440" marT="45720" marB="45720" anchor="ctr">
                    <a:solidFill>
                      <a:srgbClr val="FAFAF7"/>
                    </a:solidFill>
                  </a:tcPr>
                </a:tc>
              </a:tr>
              <a:tr h="609600">
                <a:tc>
                  <a:txBody>
                    <a:bodyPr lIns="123825" tIns="76200" rIns="123825" bIns="76200">
                      <a:noAutofit/>
                    </a:bodyPr>
                    <a:lstStyle/>
                    <a:p>
                      <a:r>
                        <a:rPr sz="1950" b="0">
                          <a:solidFill>
                            <a:srgbClr val="17343C"/>
                          </a:solidFill>
                          <a:latin typeface="Arial"/>
                          <a:ea typeface="Arial"/>
                          <a:cs typeface="Arial"/>
                        </a:rPr>
                        <a:t>Operational</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Role-play informs design</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Validate with staff and count duplicate work</a:t>
                      </a:r>
                    </a:p>
                  </a:txBody>
                  <a:tcPr marL="91440" marR="91440" marT="45720" marB="45720" anchor="ctr">
                    <a:solidFill>
                      <a:srgbClr val="F0F4F3"/>
                    </a:solidFill>
                  </a:tcPr>
                </a:tc>
              </a:tr>
              <a:tr h="609600">
                <a:tc>
                  <a:txBody>
                    <a:bodyPr lIns="123825" tIns="76200" rIns="123825" bIns="76200">
                      <a:noAutofit/>
                    </a:bodyPr>
                    <a:lstStyle/>
                    <a:p>
                      <a:r>
                        <a:rPr sz="1950" b="0">
                          <a:solidFill>
                            <a:srgbClr val="17343C"/>
                          </a:solidFill>
                          <a:latin typeface="Arial"/>
                          <a:ea typeface="Arial"/>
                          <a:cs typeface="Arial"/>
                        </a:rPr>
                        <a:t>Schedule</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Capacity could be tight</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Confirm hours, dates and dependencies</a:t>
                      </a:r>
                    </a:p>
                  </a:txBody>
                  <a:tcPr marL="91440" marR="91440" marT="45720" marB="45720" anchor="ctr">
                    <a:solidFill>
                      <a:srgbClr val="FAFAF7"/>
                    </a:solidFill>
                  </a:tcPr>
                </a:tc>
              </a:tr>
              <a:tr h="609600">
                <a:tc>
                  <a:txBody>
                    <a:bodyPr lIns="123825" tIns="76200" rIns="123825" bIns="76200">
                      <a:noAutofit/>
                    </a:bodyPr>
                    <a:lstStyle/>
                    <a:p>
                      <a:r>
                        <a:rPr sz="1950" b="0">
                          <a:solidFill>
                            <a:srgbClr val="17343C"/>
                          </a:solidFill>
                          <a:latin typeface="Arial"/>
                          <a:ea typeface="Arial"/>
                          <a:cs typeface="Arial"/>
                        </a:rPr>
                        <a:t>Data and AI</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Synthetic trial is possible</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Check labels, errors, review and fallback</a:t>
                      </a:r>
                    </a:p>
                  </a:txBody>
                  <a:tcPr marL="91440" marR="91440" marT="45720" marB="45720" anchor="ctr">
                    <a:solidFill>
                      <a:srgbClr val="F0F4F3"/>
                    </a:solidFill>
                  </a:tcPr>
                </a:tc>
              </a:tr>
            </a:tbl>
          </a:graphicData>
        </a:graphic>
      </p:graphicFrame>
    </p:spTree>
    <p:extLst>
      <p:ext uri="{BB962C8B-B14F-4D97-AF65-F5344CB8AC3E}">
        <p14:creationId xmlns:p14="http://schemas.microsoft.com/office/powerpoint/2010/main" val="1874328604"/>
      </p:ext>
    </p:extLst>
  </p:cSld>
</p:sld>
</file>

<file path=ppt/slides/slide16.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3BCB2476-F189-4DDF-827A-913250403FAD}"/>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The data must support the decision</a:t>
            </a:r>
          </a:p>
        </p:txBody>
      </p:sp>
      <p:sp>
        <p:nvSpPr>
          <p:cNvPr id="2" name="page">
            <a:extLst xmlns:a="http://schemas.openxmlformats.org/drawingml/2006/main">
              <a:ext uri="{FF2B5EF4-FFF2-40B4-BE49-F238E27FC236}">
                <a16:creationId xmlns:a16="http://schemas.microsoft.com/office/drawing/2014/main" id="{909BFFF5-F841-4439-9C81-38EE6BF6F2EA}"/>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16</a:t>
            </a:r>
          </a:p>
        </p:txBody>
      </p:sp>
      <p:sp>
        <p:nvSpPr>
          <p:cNvPr id="3" name="source">
            <a:extLst xmlns:a="http://schemas.openxmlformats.org/drawingml/2006/main">
              <a:ext uri="{FF2B5EF4-FFF2-40B4-BE49-F238E27FC236}">
                <a16:creationId xmlns:a16="http://schemas.microsoft.com/office/drawing/2014/main" id="{E1A2E260-8E94-43DB-A03A-206620714DDF}"/>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[S02] [S19]</a:t>
            </a:r>
          </a:p>
        </p:txBody>
      </p:sp>
      <p:sp>
        <p:nvSpPr>
          <p:cNvPr id="4" name="left-title">
            <a:extLst xmlns:a="http://schemas.openxmlformats.org/drawingml/2006/main">
              <a:ext uri="{FF2B5EF4-FFF2-40B4-BE49-F238E27FC236}">
                <a16:creationId xmlns:a16="http://schemas.microsoft.com/office/drawing/2014/main" id="{FCBCF542-CDB0-4890-84EC-D3F5B365F8F1}"/>
              </a:ext>
            </a:extLst>
          </p:cNvPr>
          <p:cNvSpPr>
            <a:spLocks xmlns:a="http://schemas.openxmlformats.org/drawingml/2006/main" noGrp="1"/>
          </p:cNvSpPr>
          <p:nvPr/>
        </p:nvSpPr>
        <p:spPr>
          <a:xfrm xmlns:a="http://schemas.openxmlformats.org/drawingml/2006/main">
            <a:off x="647700" y="1638300"/>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Minimum records</a:t>
            </a:r>
          </a:p>
        </p:txBody>
      </p:sp>
      <p:sp>
        <p:nvSpPr>
          <p:cNvPr id="5" name="left-body">
            <a:extLst xmlns:a="http://schemas.openxmlformats.org/drawingml/2006/main">
              <a:ext uri="{FF2B5EF4-FFF2-40B4-BE49-F238E27FC236}">
                <a16:creationId xmlns:a16="http://schemas.microsoft.com/office/drawing/2014/main" id="{ACC78659-1ED5-4888-AEAA-6363C5CBCC5B}"/>
              </a:ext>
            </a:extLst>
          </p:cNvPr>
          <p:cNvSpPr>
            <a:spLocks xmlns:a="http://schemas.openxmlformats.org/drawingml/2006/main" noGrp="1"/>
          </p:cNvSpPr>
          <p:nvPr/>
        </p:nvSpPr>
        <p:spPr>
          <a:xfrm xmlns:a="http://schemas.openxmlformats.org/drawingml/2006/main">
            <a:off x="647700" y="2286000"/>
            <a:ext cx="5067300" cy="2743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Assets: ID, condition, quantity, location, connector and availability.</a:t>
            </a:r>
          </a:p>
          <a:p xmlns:a="http://schemas.openxmlformats.org/drawingml/2006/main">
            <a:r>
              <a:t/>
            </a:r>
          </a:p>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Requests: purpose, specifications, date and authorised requester.</a:t>
            </a:r>
          </a:p>
        </p:txBody>
      </p:sp>
      <p:sp>
        <p:nvSpPr>
          <p:cNvPr id="6" name="right-title">
            <a:extLst xmlns:a="http://schemas.openxmlformats.org/drawingml/2006/main">
              <a:ext uri="{FF2B5EF4-FFF2-40B4-BE49-F238E27FC236}">
                <a16:creationId xmlns:a16="http://schemas.microsoft.com/office/drawing/2014/main" id="{599A1EAE-178C-4375-8FC1-71CCE7DC2F9B}"/>
              </a:ext>
            </a:extLst>
          </p:cNvPr>
          <p:cNvSpPr>
            <a:spLocks xmlns:a="http://schemas.openxmlformats.org/drawingml/2006/main" noGrp="1"/>
          </p:cNvSpPr>
          <p:nvPr/>
        </p:nvSpPr>
        <p:spPr>
          <a:xfrm xmlns:a="http://schemas.openxmlformats.org/drawingml/2006/main">
            <a:off x="6477000" y="1638300"/>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Quality and access checks</a:t>
            </a:r>
          </a:p>
        </p:txBody>
      </p:sp>
      <p:sp>
        <p:nvSpPr>
          <p:cNvPr id="7" name="right-body">
            <a:extLst xmlns:a="http://schemas.openxmlformats.org/drawingml/2006/main">
              <a:ext uri="{FF2B5EF4-FFF2-40B4-BE49-F238E27FC236}">
                <a16:creationId xmlns:a16="http://schemas.microsoft.com/office/drawing/2014/main" id="{5C796475-B87B-4697-88AB-53923B4D43AB}"/>
              </a:ext>
            </a:extLst>
          </p:cNvPr>
          <p:cNvSpPr>
            <a:spLocks xmlns:a="http://schemas.openxmlformats.org/drawingml/2006/main" noGrp="1"/>
          </p:cNvSpPr>
          <p:nvPr/>
        </p:nvSpPr>
        <p:spPr>
          <a:xfrm xmlns:a="http://schemas.openxmlformats.org/drawingml/2006/main">
            <a:off x="6477000" y="2286000"/>
            <a:ext cx="5067300" cy="2743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Find missing fields and duplicates. Check stock and condition.</a:t>
            </a:r>
          </a:p>
          <a:p xmlns:a="http://schemas.openxmlformats.org/drawingml/2006/main">
            <a:r>
              <a:t/>
            </a:r>
          </a:p>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Keep permissions with every search and AI request.</a:t>
            </a:r>
          </a:p>
        </p:txBody>
      </p:sp>
      <p:sp>
        <p:nvSpPr>
          <p:cNvPr id="8" name="dataset">
            <a:extLst xmlns:a="http://schemas.openxmlformats.org/drawingml/2006/main">
              <a:ext uri="{FF2B5EF4-FFF2-40B4-BE49-F238E27FC236}">
                <a16:creationId xmlns:a16="http://schemas.microsoft.com/office/drawing/2014/main" id="{9654F956-B5BE-4ACC-85F2-6BFB5B6094C1}"/>
              </a:ext>
            </a:extLst>
          </p:cNvPr>
          <p:cNvSpPr>
            <a:spLocks xmlns:a="http://schemas.openxmlformats.org/drawingml/2006/main" noGrp="1"/>
          </p:cNvSpPr>
          <p:nvPr/>
        </p:nvSpPr>
        <p:spPr>
          <a:xfrm xmlns:a="http://schemas.openxmlformats.org/drawingml/2006/main">
            <a:off x="647700" y="5219700"/>
            <a:ext cx="10896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6746D"/>
                </a:solidFill>
                <a:latin typeface="Arial"/>
                <a:ea typeface="Arial"/>
                <a:cs typeface="Arial"/>
              </a:defRPr>
            </a:pPr>
            <a:r>
              <a:rPr sz="2400" b="1">
                <a:solidFill>
                  <a:srgbClr val="26746D"/>
                </a:solidFill>
                <a:latin typeface="Arial"/>
                <a:ea typeface="Arial"/>
                <a:cs typeface="Arial"/>
              </a:rPr>
              <a:t>Planned test data: 500 assets, 10 departments, 50 requests</a:t>
            </a:r>
          </a:p>
        </p:txBody>
      </p:sp>
      <p:sp>
        <p:nvSpPr>
          <p:cNvPr id="9" name="synthetic">
            <a:extLst xmlns:a="http://schemas.openxmlformats.org/drawingml/2006/main">
              <a:ext uri="{FF2B5EF4-FFF2-40B4-BE49-F238E27FC236}">
                <a16:creationId xmlns:a16="http://schemas.microsoft.com/office/drawing/2014/main" id="{0B63FB00-44AB-4DB3-872B-C7BC01B151FC}"/>
              </a:ext>
            </a:extLst>
          </p:cNvPr>
          <p:cNvSpPr>
            <a:spLocks xmlns:a="http://schemas.openxmlformats.org/drawingml/2006/main" noGrp="1"/>
          </p:cNvSpPr>
          <p:nvPr/>
        </p:nvSpPr>
        <p:spPr>
          <a:xfrm xmlns:a="http://schemas.openxmlformats.org/drawingml/2006/main">
            <a:off x="647700" y="585787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26264"/>
                </a:solidFill>
                <a:latin typeface="Arial"/>
                <a:ea typeface="Arial"/>
                <a:cs typeface="Arial"/>
              </a:defRPr>
            </a:pPr>
            <a:r>
              <a:rPr sz="1950" b="0">
                <a:solidFill>
                  <a:srgbClr val="526264"/>
                </a:solidFill>
                <a:latin typeface="Arial"/>
                <a:ea typeface="Arial"/>
                <a:cs typeface="Arial"/>
              </a:rPr>
              <a:t>Synthetic data for the prototype. KU data access remains unconfirmed.</a:t>
            </a:r>
          </a:p>
        </p:txBody>
      </p:sp>
    </p:spTree>
    <p:extLst>
      <p:ext uri="{BB962C8B-B14F-4D97-AF65-F5344CB8AC3E}">
        <p14:creationId xmlns:p14="http://schemas.microsoft.com/office/powerpoint/2010/main" val="986116111"/>
      </p:ext>
    </p:extLst>
  </p:cSld>
</p:sld>
</file>

<file path=ppt/slides/slide17.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2" name="title">
            <a:extLst xmlns:a="http://schemas.openxmlformats.org/drawingml/2006/main">
              <a:ext uri="{FF2B5EF4-FFF2-40B4-BE49-F238E27FC236}">
                <a16:creationId xmlns:a16="http://schemas.microsoft.com/office/drawing/2014/main" id="{98C09D0D-81A8-4DA1-8095-75AA95C41629}"/>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AI metrics and evaluation sets</a:t>
            </a:r>
          </a:p>
        </p:txBody>
      </p:sp>
      <p:sp>
        <p:nvSpPr>
          <p:cNvPr id="2" name="page">
            <a:extLst xmlns:a="http://schemas.openxmlformats.org/drawingml/2006/main">
              <a:ext uri="{FF2B5EF4-FFF2-40B4-BE49-F238E27FC236}">
                <a16:creationId xmlns:a16="http://schemas.microsoft.com/office/drawing/2014/main" id="{6A9462C4-2572-4D76-B444-E378FC76F312}"/>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17</a:t>
            </a:r>
          </a:p>
        </p:txBody>
      </p:sp>
      <p:sp>
        <p:nvSpPr>
          <p:cNvPr id="3" name="source">
            <a:extLst xmlns:a="http://schemas.openxmlformats.org/drawingml/2006/main">
              <a:ext uri="{FF2B5EF4-FFF2-40B4-BE49-F238E27FC236}">
                <a16:creationId xmlns:a16="http://schemas.microsoft.com/office/drawing/2014/main" id="{7E501D84-F045-4204-B1C7-E591A19A039E}"/>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[S02] [S19] [S20] [S21]</a:t>
            </a:r>
          </a:p>
        </p:txBody>
      </p:sp>
      <p:sp>
        <p:nvSpPr>
          <p:cNvPr id="4" name="hit">
            <a:extLst xmlns:a="http://schemas.openxmlformats.org/drawingml/2006/main">
              <a:ext uri="{FF2B5EF4-FFF2-40B4-BE49-F238E27FC236}">
                <a16:creationId xmlns:a16="http://schemas.microsoft.com/office/drawing/2014/main" id="{6E708A02-26F5-4764-A66E-AF1ECA20AB2D}"/>
              </a:ext>
            </a:extLst>
          </p:cNvPr>
          <p:cNvSpPr>
            <a:spLocks xmlns:a="http://schemas.openxmlformats.org/drawingml/2006/main" noGrp="1"/>
          </p:cNvSpPr>
          <p:nvPr/>
        </p:nvSpPr>
        <p:spPr>
          <a:xfrm xmlns:a="http://schemas.openxmlformats.org/drawingml/2006/main">
            <a:off x="647700" y="1581150"/>
            <a:ext cx="1089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6746D"/>
                </a:solidFill>
                <a:latin typeface="Arial"/>
                <a:ea typeface="Arial"/>
                <a:cs typeface="Arial"/>
              </a:defRPr>
            </a:pPr>
            <a:r>
              <a:rPr sz="2325" b="1">
                <a:solidFill>
                  <a:srgbClr val="26746D"/>
                </a:solidFill>
                <a:latin typeface="Arial"/>
                <a:ea typeface="Arial"/>
                <a:cs typeface="Arial"/>
              </a:rPr>
              <a:t>Hit@3 (%) = 100 × useful top-three requests / eligible requests</a:t>
            </a:r>
          </a:p>
        </p:txBody>
      </p:sp>
      <p:sp>
        <p:nvSpPr>
          <p:cNvPr id="5" name="miss">
            <a:extLst xmlns:a="http://schemas.openxmlformats.org/drawingml/2006/main">
              <a:ext uri="{FF2B5EF4-FFF2-40B4-BE49-F238E27FC236}">
                <a16:creationId xmlns:a16="http://schemas.microsoft.com/office/drawing/2014/main" id="{69A6D5BB-C171-4446-B52C-3BF4955C1B25}"/>
              </a:ext>
            </a:extLst>
          </p:cNvPr>
          <p:cNvSpPr>
            <a:spLocks xmlns:a="http://schemas.openxmlformats.org/drawingml/2006/main" noGrp="1"/>
          </p:cNvSpPr>
          <p:nvPr/>
        </p:nvSpPr>
        <p:spPr>
          <a:xfrm xmlns:a="http://schemas.openxmlformats.org/drawingml/2006/main">
            <a:off x="647700" y="23431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6746D"/>
                </a:solidFill>
                <a:latin typeface="Arial"/>
                <a:ea typeface="Arial"/>
                <a:cs typeface="Arial"/>
              </a:defRPr>
            </a:pPr>
            <a:r>
              <a:rPr sz="2325" b="1">
                <a:solidFill>
                  <a:srgbClr val="26746D"/>
                </a:solidFill>
                <a:latin typeface="Arial"/>
                <a:ea typeface="Arial"/>
                <a:cs typeface="Arial"/>
              </a:rPr>
              <a:t>Top-three miss rate (%) = 100 − Hit@3 (%)</a:t>
            </a:r>
          </a:p>
        </p:txBody>
      </p:sp>
      <p:sp>
        <p:nvSpPr>
          <p:cNvPr id="6" name="loss">
            <a:extLst xmlns:a="http://schemas.openxmlformats.org/drawingml/2006/main">
              <a:ext uri="{FF2B5EF4-FFF2-40B4-BE49-F238E27FC236}">
                <a16:creationId xmlns:a16="http://schemas.microsoft.com/office/drawing/2014/main" id="{E91AB69F-C2B9-41D7-9B65-A946FC35ADEF}"/>
              </a:ext>
            </a:extLst>
          </p:cNvPr>
          <p:cNvSpPr>
            <a:spLocks xmlns:a="http://schemas.openxmlformats.org/drawingml/2006/main" noGrp="1"/>
          </p:cNvSpPr>
          <p:nvPr/>
        </p:nvSpPr>
        <p:spPr>
          <a:xfrm xmlns:a="http://schemas.openxmlformats.org/drawingml/2006/main">
            <a:off x="647700" y="3057525"/>
            <a:ext cx="108966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6746D"/>
                </a:solidFill>
                <a:latin typeface="Arial"/>
                <a:ea typeface="Arial"/>
                <a:cs typeface="Arial"/>
              </a:defRPr>
            </a:pPr>
            <a:r>
              <a:rPr sz="2325" b="1">
                <a:solidFill>
                  <a:srgbClr val="26746D"/>
                </a:solidFill>
                <a:latin typeface="Arial"/>
                <a:ea typeface="Arial"/>
                <a:cs typeface="Arial"/>
              </a:rPr>
              <a:t>Classification loss = incorrect predictions / labelled assets</a:t>
            </a:r>
          </a:p>
        </p:txBody>
      </p:sp>
      <p:sp>
        <p:nvSpPr>
          <p:cNvPr id="7" name="left-title">
            <a:extLst xmlns:a="http://schemas.openxmlformats.org/drawingml/2006/main">
              <a:ext uri="{FF2B5EF4-FFF2-40B4-BE49-F238E27FC236}">
                <a16:creationId xmlns:a16="http://schemas.microsoft.com/office/drawing/2014/main" id="{F7169004-B2FE-4C6C-8739-AB3CC339A33C}"/>
              </a:ext>
            </a:extLst>
          </p:cNvPr>
          <p:cNvSpPr>
            <a:spLocks xmlns:a="http://schemas.openxmlformats.org/drawingml/2006/main" noGrp="1"/>
          </p:cNvSpPr>
          <p:nvPr/>
        </p:nvSpPr>
        <p:spPr>
          <a:xfrm xmlns:a="http://schemas.openxmlformats.org/drawingml/2006/main">
            <a:off x="647700" y="3971925"/>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Matching: 20 requests</a:t>
            </a:r>
          </a:p>
        </p:txBody>
      </p:sp>
      <p:sp>
        <p:nvSpPr>
          <p:cNvPr id="8" name="left-body">
            <a:extLst xmlns:a="http://schemas.openxmlformats.org/drawingml/2006/main">
              <a:ext uri="{FF2B5EF4-FFF2-40B4-BE49-F238E27FC236}">
                <a16:creationId xmlns:a16="http://schemas.microsoft.com/office/drawing/2014/main" id="{05F7A156-DA3B-47D6-8A9C-D8A252DA54DB}"/>
              </a:ext>
            </a:extLst>
          </p:cNvPr>
          <p:cNvSpPr>
            <a:spLocks xmlns:a="http://schemas.openxmlformats.org/drawingml/2006/main" noGrp="1"/>
          </p:cNvSpPr>
          <p:nvPr/>
        </p:nvSpPr>
        <p:spPr>
          <a:xfrm xmlns:a="http://schemas.openxmlformats.org/drawingml/2006/main">
            <a:off x="647700" y="4619625"/>
            <a:ext cx="50673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7343C"/>
                </a:solidFill>
                <a:latin typeface="Arial"/>
                <a:ea typeface="Arial"/>
                <a:cs typeface="Arial"/>
              </a:defRPr>
            </a:pPr>
            <a:r>
              <a:rPr sz="2100" b="0">
                <a:solidFill>
                  <a:srgbClr val="17343C"/>
                </a:solidFill>
                <a:latin typeface="Arial"/>
                <a:ea typeface="Arial"/>
                <a:cs typeface="Arial"/>
              </a:rPr>
              <a:t>16 useful top-three results give Hit@3 of 80% and a 20% miss rate.</a:t>
            </a:r>
          </a:p>
        </p:txBody>
      </p:sp>
      <p:sp>
        <p:nvSpPr>
          <p:cNvPr id="9" name="right-title">
            <a:extLst xmlns:a="http://schemas.openxmlformats.org/drawingml/2006/main">
              <a:ext uri="{FF2B5EF4-FFF2-40B4-BE49-F238E27FC236}">
                <a16:creationId xmlns:a16="http://schemas.microsoft.com/office/drawing/2014/main" id="{397F1DAB-8EE6-43BB-9C07-812821BE6F37}"/>
              </a:ext>
            </a:extLst>
          </p:cNvPr>
          <p:cNvSpPr>
            <a:spLocks xmlns:a="http://schemas.openxmlformats.org/drawingml/2006/main" noGrp="1"/>
          </p:cNvSpPr>
          <p:nvPr/>
        </p:nvSpPr>
        <p:spPr>
          <a:xfrm xmlns:a="http://schemas.openxmlformats.org/drawingml/2006/main">
            <a:off x="6477000" y="3971925"/>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Classification: 20 assets</a:t>
            </a:r>
          </a:p>
        </p:txBody>
      </p:sp>
      <p:sp>
        <p:nvSpPr>
          <p:cNvPr id="10" name="right-body">
            <a:extLst xmlns:a="http://schemas.openxmlformats.org/drawingml/2006/main">
              <a:ext uri="{FF2B5EF4-FFF2-40B4-BE49-F238E27FC236}">
                <a16:creationId xmlns:a16="http://schemas.microsoft.com/office/drawing/2014/main" id="{46417409-2AEF-4A8C-A247-BD7E37087746}"/>
              </a:ext>
            </a:extLst>
          </p:cNvPr>
          <p:cNvSpPr>
            <a:spLocks xmlns:a="http://schemas.openxmlformats.org/drawingml/2006/main" noGrp="1"/>
          </p:cNvSpPr>
          <p:nvPr/>
        </p:nvSpPr>
        <p:spPr>
          <a:xfrm xmlns:a="http://schemas.openxmlformats.org/drawingml/2006/main">
            <a:off x="6477000" y="4619625"/>
            <a:ext cx="50673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7343C"/>
                </a:solidFill>
                <a:latin typeface="Arial"/>
                <a:ea typeface="Arial"/>
                <a:cs typeface="Arial"/>
              </a:defRPr>
            </a:pPr>
            <a:r>
              <a:rPr sz="2100" b="0">
                <a:solidFill>
                  <a:srgbClr val="17343C"/>
                </a:solidFill>
                <a:latin typeface="Arial"/>
                <a:ea typeface="Arial"/>
                <a:cs typeface="Arial"/>
              </a:rPr>
              <a:t>16 correct categories give a loss of 4 / 20 = 0.20.</a:t>
            </a:r>
          </a:p>
        </p:txBody>
      </p:sp>
      <p:sp>
        <p:nvSpPr>
          <p:cNvPr id="11" name="set-boundary">
            <a:extLst xmlns:a="http://schemas.openxmlformats.org/drawingml/2006/main">
              <a:ext uri="{FF2B5EF4-FFF2-40B4-BE49-F238E27FC236}">
                <a16:creationId xmlns:a16="http://schemas.microsoft.com/office/drawing/2014/main" id="{4FDA30CC-9741-41B3-B847-EC0259F4776B}"/>
              </a:ext>
            </a:extLst>
          </p:cNvPr>
          <p:cNvSpPr>
            <a:spLocks xmlns:a="http://schemas.openxmlformats.org/drawingml/2006/main" noGrp="1"/>
          </p:cNvSpPr>
          <p:nvPr/>
        </p:nvSpPr>
        <p:spPr>
          <a:xfrm xmlns:a="http://schemas.openxmlformats.org/drawingml/2006/main">
            <a:off x="647700" y="5753100"/>
            <a:ext cx="10896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526264"/>
                </a:solidFill>
                <a:latin typeface="Arial"/>
                <a:ea typeface="Arial"/>
                <a:cs typeface="Arial"/>
              </a:defRPr>
            </a:pPr>
            <a:r>
              <a:rPr sz="1875" b="1">
                <a:solidFill>
                  <a:srgbClr val="526264"/>
                </a:solidFill>
                <a:latin typeface="Arial"/>
                <a:ea typeface="Arial"/>
                <a:cs typeface="Arial"/>
              </a:rPr>
              <a:t>Two separate frozen sets. Failed AI output counts as an error.</a:t>
            </a:r>
          </a:p>
          <a:p xmlns:a="http://schemas.openxmlformats.org/drawingml/2006/main">
            <a:pPr algn="l">
              <a:defRPr sz="1875" b="1">
                <a:solidFill>
                  <a:srgbClr val="526264"/>
                </a:solidFill>
                <a:latin typeface="Arial"/>
                <a:ea typeface="Arial"/>
                <a:cs typeface="Arial"/>
              </a:defRPr>
            </a:pPr>
            <a:r>
              <a:rPr sz="1875" b="1">
                <a:solidFill>
                  <a:srgbClr val="526264"/>
                </a:solidFill>
                <a:latin typeface="Arial"/>
                <a:ea typeface="Arial"/>
                <a:cs typeface="Arial"/>
              </a:rPr>
              <a:t>Classic fallback success never counts as AI matching success.</a:t>
            </a:r>
          </a:p>
        </p:txBody>
      </p:sp>
    </p:spTree>
    <p:extLst>
      <p:ext uri="{BB962C8B-B14F-4D97-AF65-F5344CB8AC3E}">
        <p14:creationId xmlns:p14="http://schemas.microsoft.com/office/powerpoint/2010/main" val="448685646"/>
      </p:ext>
    </p:extLst>
  </p:cSld>
</p:sld>
</file>

<file path=ppt/slides/slide18.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2362D8CC-33EF-4408-A7B3-D011C08939E9}"/>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Matching and classification targets</a:t>
            </a:r>
          </a:p>
        </p:txBody>
      </p:sp>
      <p:sp>
        <p:nvSpPr>
          <p:cNvPr id="2" name="page">
            <a:extLst xmlns:a="http://schemas.openxmlformats.org/drawingml/2006/main">
              <a:ext uri="{FF2B5EF4-FFF2-40B4-BE49-F238E27FC236}">
                <a16:creationId xmlns:a16="http://schemas.microsoft.com/office/drawing/2014/main" id="{71EA653B-104C-4CB4-8C47-0636D13A293B}"/>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18</a:t>
            </a:r>
          </a:p>
        </p:txBody>
      </p:sp>
      <p:sp>
        <p:nvSpPr>
          <p:cNvPr id="3" name="source">
            <a:extLst xmlns:a="http://schemas.openxmlformats.org/drawingml/2006/main">
              <a:ext uri="{FF2B5EF4-FFF2-40B4-BE49-F238E27FC236}">
                <a16:creationId xmlns:a16="http://schemas.microsoft.com/office/drawing/2014/main" id="{22F0015A-2F5E-4920-A048-5B5ECC404433}"/>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[S02] [S20] [S21]</a:t>
            </a:r>
          </a:p>
        </p:txBody>
      </p:sp>
      <p:graphicFrame>
        <p:nvGraphicFramePr>
          <p:cNvPr id="9" name=""/>
          <p:cNvGraphicFramePr/>
          <p:nvPr/>
        </p:nvGraphicFramePr>
        <p:xfrm>
          <a:off xmlns:a="http://schemas.openxmlformats.org/drawingml/2006/main" x="647700" y="1571625"/>
          <a:ext xmlns:a="http://schemas.openxmlformats.org/drawingml/2006/main" cx="10896600" cy="4524375"/>
        </p:xfrm>
        <a:graphic xmlns:a="http://schemas.openxmlformats.org/drawingml/2006/main">
          <a:graphicData uri="http://schemas.openxmlformats.org/drawingml/2006/table">
            <a:tbl>
              <a:tblPr firstRow="0" firstCol="0" bandRow="0"/>
              <a:tblGrid>
                <a:gridCol w="4133850"/>
                <a:gridCol w="6762750"/>
              </a:tblGrid>
              <a:tr h="533400">
                <a:tc>
                  <a:txBody>
                    <a:bodyPr lIns="123825" tIns="76200" rIns="123825" bIns="76200">
                      <a:noAutofit/>
                    </a:bodyPr>
                    <a:lstStyle/>
                    <a:p>
                      <a:r>
                        <a:rPr sz="1875" b="1">
                          <a:solidFill>
                            <a:srgbClr val="FFFFFF"/>
                          </a:solidFill>
                          <a:latin typeface="Arial"/>
                          <a:ea typeface="Arial"/>
                          <a:cs typeface="Arial"/>
                        </a:rPr>
                        <a:t>Check and cases</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Planned target</a:t>
                      </a:r>
                    </a:p>
                  </a:txBody>
                  <a:tcPr marL="91440" marR="91440" marT="45720" marB="45720" anchor="ctr">
                    <a:solidFill>
                      <a:srgbClr val="17343C"/>
                    </a:solidFill>
                  </a:tcPr>
                </a:tc>
              </a:tr>
              <a:tr h="952500">
                <a:tc>
                  <a:txBody>
                    <a:bodyPr lIns="123825" tIns="76200" rIns="123825" bIns="76200">
                      <a:noAutofit/>
                    </a:bodyPr>
                    <a:lstStyle/>
                    <a:p>
                      <a:r>
                        <a:rPr sz="2025" b="0">
                          <a:solidFill>
                            <a:srgbClr val="17343C"/>
                          </a:solidFill>
                          <a:latin typeface="Arial"/>
                          <a:ea typeface="Arial"/>
                          <a:cs typeface="Arial"/>
                        </a:rPr>
                        <a:t>Useful matching</a:t>
                      </a:r>
                    </a:p>
                    <a:p>
                      <a:r>
                        <a:rPr sz="2025" b="0">
                          <a:solidFill>
                            <a:srgbClr val="17343C"/>
                          </a:solidFill>
                          <a:latin typeface="Arial"/>
                          <a:ea typeface="Arial"/>
                          <a:cs typeface="Arial"/>
                        </a:rPr>
                        <a:t>20 eligible requests</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At least 16 requests have a useful item in the first three results.</a:t>
                      </a:r>
                    </a:p>
                  </a:txBody>
                  <a:tcPr marL="91440" marR="91440" marT="45720" marB="45720" anchor="ctr">
                    <a:solidFill>
                      <a:srgbClr val="FAFAF7"/>
                    </a:solidFill>
                  </a:tcPr>
                </a:tc>
              </a:tr>
              <a:tr h="952500">
                <a:tc>
                  <a:txBody>
                    <a:bodyPr lIns="123825" tIns="76200" rIns="123825" bIns="76200">
                      <a:noAutofit/>
                    </a:bodyPr>
                    <a:lstStyle/>
                    <a:p>
                      <a:r>
                        <a:rPr sz="2025" b="0">
                          <a:solidFill>
                            <a:srgbClr val="17343C"/>
                          </a:solidFill>
                          <a:latin typeface="Arial"/>
                          <a:ea typeface="Arial"/>
                          <a:cs typeface="Arial"/>
                        </a:rPr>
                        <a:t>Additional AI value</a:t>
                      </a:r>
                    </a:p>
                    <a:p>
                      <a:r>
                        <a:rPr sz="2025" b="0">
                          <a:solidFill>
                            <a:srgbClr val="17343C"/>
                          </a:solidFill>
                          <a:latin typeface="Arial"/>
                          <a:ea typeface="Arial"/>
                          <a:cs typeface="Arial"/>
                        </a:rPr>
                        <a:t>The same 20 requests</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At least two more AI successes than classic search on the same data.</a:t>
                      </a:r>
                    </a:p>
                  </a:txBody>
                  <a:tcPr marL="91440" marR="91440" marT="45720" marB="45720" anchor="ctr">
                    <a:solidFill>
                      <a:srgbClr val="F0F4F3"/>
                    </a:solidFill>
                  </a:tcPr>
                </a:tc>
              </a:tr>
              <a:tr h="1066800">
                <a:tc>
                  <a:txBody>
                    <a:bodyPr lIns="123825" tIns="76200" rIns="123825" bIns="76200">
                      <a:noAutofit/>
                    </a:bodyPr>
                    <a:lstStyle/>
                    <a:p>
                      <a:r>
                        <a:rPr sz="2025" b="0">
                          <a:solidFill>
                            <a:srgbClr val="17343C"/>
                          </a:solidFill>
                          <a:latin typeface="Arial"/>
                          <a:ea typeface="Arial"/>
                          <a:cs typeface="Arial"/>
                        </a:rPr>
                        <a:t>Classification</a:t>
                      </a:r>
                    </a:p>
                    <a:p>
                      <a:r>
                        <a:rPr sz="2025" b="0">
                          <a:solidFill>
                            <a:srgbClr val="17343C"/>
                          </a:solidFill>
                          <a:latin typeface="Arial"/>
                          <a:ea typeface="Arial"/>
                          <a:cs typeface="Arial"/>
                        </a:rPr>
                        <a:t>20 labelled asset records</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At least 16 correct categories. Missing or invalid predictions count as wrong.</a:t>
                      </a:r>
                    </a:p>
                  </a:txBody>
                  <a:tcPr marL="91440" marR="91440" marT="45720" marB="45720" anchor="ctr">
                    <a:solidFill>
                      <a:srgbClr val="FAFAF7"/>
                    </a:solidFill>
                  </a:tcPr>
                </a:tc>
              </a:tr>
              <a:tr h="1019175">
                <a:tc>
                  <a:txBody>
                    <a:bodyPr lIns="123825" tIns="76200" rIns="123825" bIns="76200">
                      <a:noAutofit/>
                    </a:bodyPr>
                    <a:lstStyle/>
                    <a:p>
                      <a:r>
                        <a:rPr sz="2025" b="0">
                          <a:solidFill>
                            <a:srgbClr val="17343C"/>
                          </a:solidFill>
                          <a:latin typeface="Arial"/>
                          <a:ea typeface="Arial"/>
                          <a:cs typeface="Arial"/>
                        </a:rPr>
                        <a:t>Eligibility</a:t>
                      </a:r>
                    </a:p>
                    <a:p>
                      <a:r>
                        <a:rPr sz="2025" b="0">
                          <a:solidFill>
                            <a:srgbClr val="17343C"/>
                          </a:solidFill>
                          <a:latin typeface="Arial"/>
                          <a:ea typeface="Arial"/>
                          <a:cs typeface="Arial"/>
                        </a:rPr>
                        <a:t>Every actionable recommendation</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Zero violations of access, compatibility, quantity or availability rules.</a:t>
                      </a:r>
                    </a:p>
                  </a:txBody>
                  <a:tcPr marL="91440" marR="91440" marT="45720" marB="45720" anchor="ctr">
                    <a:solidFill>
                      <a:srgbClr val="F0F4F3"/>
                    </a:solidFill>
                  </a:tcPr>
                </a:tc>
              </a:tr>
            </a:tbl>
          </a:graphicData>
        </a:graphic>
      </p:graphicFrame>
      <p:sp>
        <p:nvSpPr>
          <p:cNvPr id="5" name="takeaway">
            <a:extLst xmlns:a="http://schemas.openxmlformats.org/drawingml/2006/main">
              <a:ext uri="{FF2B5EF4-FFF2-40B4-BE49-F238E27FC236}">
                <a16:creationId xmlns:a16="http://schemas.microsoft.com/office/drawing/2014/main" id="{25543354-C4EF-4580-96F2-5D2CED69E2F8}"/>
              </a:ext>
            </a:extLst>
          </p:cNvPr>
          <p:cNvSpPr>
            <a:spLocks xmlns:a="http://schemas.openxmlformats.org/drawingml/2006/main" noGrp="1"/>
          </p:cNvSpPr>
          <p:nvPr/>
        </p:nvSpPr>
        <p:spPr>
          <a:xfrm xmlns:a="http://schemas.openxmlformats.org/drawingml/2006/main">
            <a:off x="647700" y="6191250"/>
            <a:ext cx="10896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26746D"/>
                </a:solidFill>
                <a:latin typeface="Arial"/>
                <a:ea typeface="Arial"/>
                <a:cs typeface="Arial"/>
              </a:defRPr>
            </a:pPr>
            <a:r>
              <a:rPr sz="1800" b="1">
                <a:solidFill>
                  <a:srgbClr val="26746D"/>
                </a:solidFill>
                <a:latin typeface="Arial"/>
                <a:ea typeface="Arial"/>
                <a:cs typeface="Arial"/>
              </a:rPr>
              <a:t>All figures are planned acceptance targets. No technical results are claimed.</a:t>
            </a:r>
          </a:p>
        </p:txBody>
      </p:sp>
    </p:spTree>
    <p:extLst>
      <p:ext uri="{BB962C8B-B14F-4D97-AF65-F5344CB8AC3E}">
        <p14:creationId xmlns:p14="http://schemas.microsoft.com/office/powerpoint/2010/main" val="1644733060"/>
      </p:ext>
    </p:extLst>
  </p:cSld>
</p:sld>
</file>

<file path=ppt/slides/slide19.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F30E4D20-483B-40A1-8475-AF1D01B4E13E}"/>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Approval and AI fallback checks</a:t>
            </a:r>
          </a:p>
        </p:txBody>
      </p:sp>
      <p:sp>
        <p:nvSpPr>
          <p:cNvPr id="2" name="page">
            <a:extLst xmlns:a="http://schemas.openxmlformats.org/drawingml/2006/main">
              <a:ext uri="{FF2B5EF4-FFF2-40B4-BE49-F238E27FC236}">
                <a16:creationId xmlns:a16="http://schemas.microsoft.com/office/drawing/2014/main" id="{DF0D8377-3A8D-4373-BA78-670292153EA4}"/>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19</a:t>
            </a:r>
          </a:p>
        </p:txBody>
      </p:sp>
      <p:sp>
        <p:nvSpPr>
          <p:cNvPr id="3" name="source">
            <a:extLst xmlns:a="http://schemas.openxmlformats.org/drawingml/2006/main">
              <a:ext uri="{FF2B5EF4-FFF2-40B4-BE49-F238E27FC236}">
                <a16:creationId xmlns:a16="http://schemas.microsoft.com/office/drawing/2014/main" id="{4CD14BBF-F217-440B-AA9B-53241786AF86}"/>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[S02]</a:t>
            </a:r>
          </a:p>
        </p:txBody>
      </p:sp>
      <p:sp>
        <p:nvSpPr>
          <p:cNvPr id="4" name="left-title">
            <a:extLst xmlns:a="http://schemas.openxmlformats.org/drawingml/2006/main">
              <a:ext uri="{FF2B5EF4-FFF2-40B4-BE49-F238E27FC236}">
                <a16:creationId xmlns:a16="http://schemas.microsoft.com/office/drawing/2014/main" id="{80F31843-305C-4F09-B20F-C68428711E74}"/>
              </a:ext>
            </a:extLst>
          </p:cNvPr>
          <p:cNvSpPr>
            <a:spLocks xmlns:a="http://schemas.openxmlformats.org/drawingml/2006/main" noGrp="1"/>
          </p:cNvSpPr>
          <p:nvPr/>
        </p:nvSpPr>
        <p:spPr>
          <a:xfrm xmlns:a="http://schemas.openxmlformats.org/drawingml/2006/main">
            <a:off x="647700" y="1685925"/>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14 approval scenarios</a:t>
            </a:r>
          </a:p>
        </p:txBody>
      </p:sp>
      <p:sp>
        <p:nvSpPr>
          <p:cNvPr id="5" name="left-body">
            <a:extLst xmlns:a="http://schemas.openxmlformats.org/drawingml/2006/main">
              <a:ext uri="{FF2B5EF4-FFF2-40B4-BE49-F238E27FC236}">
                <a16:creationId xmlns:a16="http://schemas.microsoft.com/office/drawing/2014/main" id="{1F447D22-8268-48E2-8B9E-1801B2356F0E}"/>
              </a:ext>
            </a:extLst>
          </p:cNvPr>
          <p:cNvSpPr>
            <a:spLocks xmlns:a="http://schemas.openxmlformats.org/drawingml/2006/main" noGrp="1"/>
          </p:cNvSpPr>
          <p:nvPr/>
        </p:nvSpPr>
        <p:spPr>
          <a:xfrm xmlns:a="http://schemas.openxmlformats.org/drawingml/2006/main">
            <a:off x="647700" y="2333625"/>
            <a:ext cx="5067300" cy="3152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7343C"/>
                </a:solidFill>
                <a:latin typeface="Arial"/>
                <a:ea typeface="Arial"/>
                <a:cs typeface="Arial"/>
              </a:defRPr>
            </a:pPr>
            <a:r>
              <a:rPr sz="2100" b="0">
                <a:solidFill>
                  <a:srgbClr val="17343C"/>
                </a:solidFill>
                <a:latin typeface="Arial"/>
                <a:ea typeface="Arial"/>
                <a:cs typeface="Arial"/>
              </a:rPr>
              <a:t>One authorised and one unauthorised case for each action:</a:t>
            </a:r>
          </a:p>
          <a:p xmlns:a="http://schemas.openxmlformats.org/drawingml/2006/main">
            <a:r>
              <a:t/>
            </a:r>
          </a:p>
          <a:p xmlns:a="http://schemas.openxmlformats.org/drawingml/2006/main">
            <a:pPr algn="l">
              <a:defRPr sz="2100" b="0">
                <a:solidFill>
                  <a:srgbClr val="17343C"/>
                </a:solidFill>
                <a:latin typeface="Arial"/>
                <a:ea typeface="Arial"/>
                <a:cs typeface="Arial"/>
              </a:defRPr>
            </a:pPr>
            <a:r>
              <a:rPr sz="2100" b="0">
                <a:solidFill>
                  <a:srgbClr val="17343C"/>
                </a:solidFill>
                <a:latin typeface="Arial"/>
                <a:ea typeface="Arial"/>
                <a:cs typeface="Arial"/>
              </a:rPr>
              <a:t>Transfer, donation, recycling, disposal, repair spending, value changes and role changes.</a:t>
            </a:r>
          </a:p>
        </p:txBody>
      </p:sp>
      <p:sp>
        <p:nvSpPr>
          <p:cNvPr id="6" name="right-title">
            <a:extLst xmlns:a="http://schemas.openxmlformats.org/drawingml/2006/main">
              <a:ext uri="{FF2B5EF4-FFF2-40B4-BE49-F238E27FC236}">
                <a16:creationId xmlns:a16="http://schemas.microsoft.com/office/drawing/2014/main" id="{78FF2956-8817-4832-84F3-317E0C2B65C0}"/>
              </a:ext>
            </a:extLst>
          </p:cNvPr>
          <p:cNvSpPr>
            <a:spLocks xmlns:a="http://schemas.openxmlformats.org/drawingml/2006/main" noGrp="1"/>
          </p:cNvSpPr>
          <p:nvPr/>
        </p:nvSpPr>
        <p:spPr>
          <a:xfrm xmlns:a="http://schemas.openxmlformats.org/drawingml/2006/main">
            <a:off x="6477000" y="1685925"/>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Five failure scenarios</a:t>
            </a:r>
          </a:p>
        </p:txBody>
      </p:sp>
      <p:sp>
        <p:nvSpPr>
          <p:cNvPr id="7" name="right-body">
            <a:extLst xmlns:a="http://schemas.openxmlformats.org/drawingml/2006/main">
              <a:ext uri="{FF2B5EF4-FFF2-40B4-BE49-F238E27FC236}">
                <a16:creationId xmlns:a16="http://schemas.microsoft.com/office/drawing/2014/main" id="{25326723-1EA2-4BB9-B8B7-9849D914F8BF}"/>
              </a:ext>
            </a:extLst>
          </p:cNvPr>
          <p:cNvSpPr>
            <a:spLocks xmlns:a="http://schemas.openxmlformats.org/drawingml/2006/main" noGrp="1"/>
          </p:cNvSpPr>
          <p:nvPr/>
        </p:nvSpPr>
        <p:spPr>
          <a:xfrm xmlns:a="http://schemas.openxmlformats.org/drawingml/2006/main">
            <a:off x="6477000" y="2333625"/>
            <a:ext cx="5067300" cy="3152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7343C"/>
                </a:solidFill>
                <a:latin typeface="Arial"/>
                <a:ea typeface="Arial"/>
                <a:cs typeface="Arial"/>
              </a:defRPr>
            </a:pPr>
            <a:r>
              <a:rPr sz="2100" b="0">
                <a:solidFill>
                  <a:srgbClr val="17343C"/>
                </a:solidFill>
                <a:latin typeface="Arial"/>
                <a:ea typeface="Arial"/>
                <a:cs typeface="Arial"/>
              </a:rPr>
              <a:t>Service unavailable, timeout, rate limit, malformed output and insufficient confidence.</a:t>
            </a:r>
          </a:p>
          <a:p xmlns:a="http://schemas.openxmlformats.org/drawingml/2006/main">
            <a:r>
              <a:t/>
            </a:r>
          </a:p>
          <a:p xmlns:a="http://schemas.openxmlformats.org/drawingml/2006/main">
            <a:pPr algn="l">
              <a:defRPr sz="2100" b="0">
                <a:solidFill>
                  <a:srgbClr val="17343C"/>
                </a:solidFill>
                <a:latin typeface="Arial"/>
                <a:ea typeface="Arial"/>
                <a:cs typeface="Arial"/>
              </a:defRPr>
            </a:pPr>
            <a:r>
              <a:rPr sz="2100" b="0">
                <a:solidFill>
                  <a:srgbClr val="17343C"/>
                </a:solidFill>
                <a:latin typeface="Arial"/>
                <a:ea typeface="Arial"/>
                <a:cs typeface="Arial"/>
              </a:rPr>
              <a:t>Classic controls available within 15 seconds of the AI attempt, with input preserved.</a:t>
            </a:r>
          </a:p>
        </p:txBody>
      </p:sp>
      <p:sp>
        <p:nvSpPr>
          <p:cNvPr id="8" name="approval-target">
            <a:extLst xmlns:a="http://schemas.openxmlformats.org/drawingml/2006/main">
              <a:ext uri="{FF2B5EF4-FFF2-40B4-BE49-F238E27FC236}">
                <a16:creationId xmlns:a16="http://schemas.microsoft.com/office/drawing/2014/main" id="{98D43D4D-70E3-4628-9C65-777D7ED3DA05}"/>
              </a:ext>
            </a:extLst>
          </p:cNvPr>
          <p:cNvSpPr>
            <a:spLocks xmlns:a="http://schemas.openxmlformats.org/drawingml/2006/main" noGrp="1"/>
          </p:cNvSpPr>
          <p:nvPr/>
        </p:nvSpPr>
        <p:spPr>
          <a:xfrm xmlns:a="http://schemas.openxmlformats.org/drawingml/2006/main">
            <a:off x="647700" y="5743575"/>
            <a:ext cx="10896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26746D"/>
                </a:solidFill>
                <a:latin typeface="Arial"/>
                <a:ea typeface="Arial"/>
                <a:cs typeface="Arial"/>
              </a:defRPr>
            </a:pPr>
            <a:r>
              <a:rPr sz="1950" b="1">
                <a:solidFill>
                  <a:srgbClr val="26746D"/>
                </a:solidFill>
                <a:latin typeface="Arial"/>
                <a:ea typeface="Arial"/>
                <a:cs typeface="Arial"/>
              </a:rPr>
              <a:t>Permitted actions follow every required approval. Unauthorised attempts are blocked.</a:t>
            </a:r>
          </a:p>
        </p:txBody>
      </p:sp>
    </p:spTree>
    <p:extLst>
      <p:ext uri="{BB962C8B-B14F-4D97-AF65-F5344CB8AC3E}">
        <p14:creationId xmlns:p14="http://schemas.microsoft.com/office/powerpoint/2010/main" val="1823741735"/>
      </p:ext>
    </p:extLst>
  </p:cSld>
</p:sld>
</file>

<file path=ppt/slides/slide20.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AD31E4FE-AF51-44B3-95CE-FBBA82415C5A}"/>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Assistant, explanations and generated reports</a:t>
            </a:r>
          </a:p>
        </p:txBody>
      </p:sp>
      <p:sp>
        <p:nvSpPr>
          <p:cNvPr id="2" name="page">
            <a:extLst xmlns:a="http://schemas.openxmlformats.org/drawingml/2006/main">
              <a:ext uri="{FF2B5EF4-FFF2-40B4-BE49-F238E27FC236}">
                <a16:creationId xmlns:a16="http://schemas.microsoft.com/office/drawing/2014/main" id="{04823473-691D-4E3D-A24D-E1C61B8A4689}"/>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20</a:t>
            </a:r>
          </a:p>
        </p:txBody>
      </p:sp>
      <p:sp>
        <p:nvSpPr>
          <p:cNvPr id="3" name="source">
            <a:extLst xmlns:a="http://schemas.openxmlformats.org/drawingml/2006/main">
              <a:ext uri="{FF2B5EF4-FFF2-40B4-BE49-F238E27FC236}">
                <a16:creationId xmlns:a16="http://schemas.microsoft.com/office/drawing/2014/main" id="{2CB0A1D9-3DA8-4968-AE5F-D531C62BDEB4}"/>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[S02] [S19]</a:t>
            </a:r>
          </a:p>
        </p:txBody>
      </p:sp>
      <p:graphicFrame>
        <p:nvGraphicFramePr>
          <p:cNvPr id="9" name=""/>
          <p:cNvGraphicFramePr/>
          <p:nvPr/>
        </p:nvGraphicFramePr>
        <p:xfrm>
          <a:off xmlns:a="http://schemas.openxmlformats.org/drawingml/2006/main" x="647700" y="1571625"/>
          <a:ext xmlns:a="http://schemas.openxmlformats.org/drawingml/2006/main" cx="10896600" cy="4552950"/>
        </p:xfrm>
        <a:graphic xmlns:a="http://schemas.openxmlformats.org/drawingml/2006/main">
          <a:graphicData uri="http://schemas.openxmlformats.org/drawingml/2006/table">
            <a:tbl>
              <a:tblPr firstRow="0" firstCol="0" bandRow="0"/>
              <a:tblGrid>
                <a:gridCol w="3448050"/>
                <a:gridCol w="7448550"/>
              </a:tblGrid>
              <a:tr h="552450">
                <a:tc>
                  <a:txBody>
                    <a:bodyPr lIns="123825" tIns="76200" rIns="123825" bIns="76200">
                      <a:noAutofit/>
                    </a:bodyPr>
                    <a:lstStyle/>
                    <a:p>
                      <a:r>
                        <a:rPr sz="1875" b="1">
                          <a:solidFill>
                            <a:srgbClr val="FFFFFF"/>
                          </a:solidFill>
                          <a:latin typeface="Arial"/>
                          <a:ea typeface="Arial"/>
                          <a:cs typeface="Arial"/>
                        </a:rPr>
                        <a:t>Function and cases</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Planned target</a:t>
                      </a:r>
                    </a:p>
                  </a:txBody>
                  <a:tcPr marL="91440" marR="91440" marT="45720" marB="45720" anchor="ctr">
                    <a:solidFill>
                      <a:srgbClr val="17343C"/>
                    </a:solidFill>
                  </a:tcPr>
                </a:tc>
              </a:tr>
              <a:tr h="1362075">
                <a:tc>
                  <a:txBody>
                    <a:bodyPr lIns="123825" tIns="76200" rIns="123825" bIns="76200">
                      <a:noAutofit/>
                    </a:bodyPr>
                    <a:lstStyle/>
                    <a:p>
                      <a:r>
                        <a:rPr sz="2025" b="0">
                          <a:solidFill>
                            <a:srgbClr val="17343C"/>
                          </a:solidFill>
                          <a:latin typeface="Arial"/>
                          <a:ea typeface="Arial"/>
                          <a:cs typeface="Arial"/>
                        </a:rPr>
                        <a:t>LLM assistant</a:t>
                      </a:r>
                    </a:p>
                    <a:p>
                      <a:r>
                        <a:rPr sz="2025" b="0">
                          <a:solidFill>
                            <a:srgbClr val="17343C"/>
                          </a:solidFill>
                          <a:latin typeface="Arial"/>
                          <a:ea typeface="Arial"/>
                          <a:cs typeface="Arial"/>
                        </a:rPr>
                        <a:t>Five request scenarios</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Confirmation before submission. Cancellation submits nothing. Access and required-field checks stay active.</a:t>
                      </a:r>
                    </a:p>
                  </a:txBody>
                  <a:tcPr marL="91440" marR="91440" marT="45720" marB="45720" anchor="ctr">
                    <a:solidFill>
                      <a:srgbClr val="FAFAF7"/>
                    </a:solidFill>
                  </a:tcPr>
                </a:tc>
              </a:tr>
              <a:tr h="1381125">
                <a:tc>
                  <a:txBody>
                    <a:bodyPr lIns="123825" tIns="76200" rIns="123825" bIns="76200">
                      <a:noAutofit/>
                    </a:bodyPr>
                    <a:lstStyle/>
                    <a:p>
                      <a:r>
                        <a:rPr sz="2025" b="0">
                          <a:solidFill>
                            <a:srgbClr val="17343C"/>
                          </a:solidFill>
                          <a:latin typeface="Arial"/>
                          <a:ea typeface="Arial"/>
                          <a:cs typeface="Arial"/>
                        </a:rPr>
                        <a:t>Explainability</a:t>
                      </a:r>
                    </a:p>
                    <a:p>
                      <a:r>
                        <a:rPr sz="2025" b="0">
                          <a:solidFill>
                            <a:srgbClr val="17343C"/>
                          </a:solidFill>
                          <a:latin typeface="Arial"/>
                          <a:ea typeface="Arial"/>
                          <a:cs typeface="Arial"/>
                        </a:rPr>
                        <a:t>20 sampled recommendations</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Reasons and confidence information, or an explicit statement that confidence is unavailable. Record model information.</a:t>
                      </a:r>
                    </a:p>
                  </a:txBody>
                  <a:tcPr marL="91440" marR="91440" marT="45720" marB="45720" anchor="ctr">
                    <a:solidFill>
                      <a:srgbClr val="F0F4F3"/>
                    </a:solidFill>
                  </a:tcPr>
                </a:tc>
              </a:tr>
              <a:tr h="1257300">
                <a:tc>
                  <a:txBody>
                    <a:bodyPr lIns="123825" tIns="76200" rIns="123825" bIns="76200">
                      <a:noAutofit/>
                    </a:bodyPr>
                    <a:lstStyle/>
                    <a:p>
                      <a:r>
                        <a:rPr sz="2025" b="0">
                          <a:solidFill>
                            <a:srgbClr val="17343C"/>
                          </a:solidFill>
                          <a:latin typeface="Arial"/>
                          <a:ea typeface="Arial"/>
                          <a:cs typeface="Arial"/>
                        </a:rPr>
                        <a:t>Generative reporting</a:t>
                      </a:r>
                    </a:p>
                    <a:p>
                      <a:r>
                        <a:rPr sz="2025" b="0">
                          <a:solidFill>
                            <a:srgbClr val="17343C"/>
                          </a:solidFill>
                          <a:latin typeface="Arial"/>
                          <a:ea typeface="Arial"/>
                          <a:cs typeface="Arial"/>
                        </a:rPr>
                        <a:t>Five summaries</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Traceable facts and totals that match conventional reports. Data-owner review before official use.</a:t>
                      </a:r>
                    </a:p>
                  </a:txBody>
                  <a:tcPr marL="91440" marR="91440" marT="45720" marB="45720" anchor="ctr">
                    <a:solidFill>
                      <a:srgbClr val="FAFAF7"/>
                    </a:solidFill>
                  </a:tcPr>
                </a:tc>
              </a:tr>
            </a:tbl>
          </a:graphicData>
        </a:graphic>
      </p:graphicFrame>
      <p:sp>
        <p:nvSpPr>
          <p:cNvPr id="5" name="takeaway">
            <a:extLst xmlns:a="http://schemas.openxmlformats.org/drawingml/2006/main">
              <a:ext uri="{FF2B5EF4-FFF2-40B4-BE49-F238E27FC236}">
                <a16:creationId xmlns:a16="http://schemas.microsoft.com/office/drawing/2014/main" id="{114988FB-5BC2-43BA-9E64-E3FE08D3A1CE}"/>
              </a:ext>
            </a:extLst>
          </p:cNvPr>
          <p:cNvSpPr>
            <a:spLocks xmlns:a="http://schemas.openxmlformats.org/drawingml/2006/main" noGrp="1"/>
          </p:cNvSpPr>
          <p:nvPr/>
        </p:nvSpPr>
        <p:spPr>
          <a:xfrm xmlns:a="http://schemas.openxmlformats.org/drawingml/2006/main">
            <a:off x="647700" y="6172200"/>
            <a:ext cx="10896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26746D"/>
                </a:solidFill>
                <a:latin typeface="Arial"/>
                <a:ea typeface="Arial"/>
                <a:cs typeface="Arial"/>
              </a:defRPr>
            </a:pPr>
            <a:r>
              <a:rPr sz="1800" b="1">
                <a:solidFill>
                  <a:srgbClr val="26746D"/>
                </a:solidFill>
                <a:latin typeface="Arial"/>
                <a:ea typeface="Arial"/>
                <a:cs typeface="Arial"/>
              </a:rPr>
              <a:t>These checks cover required AI functions beyond matching and classification.</a:t>
            </a:r>
          </a:p>
        </p:txBody>
      </p:sp>
    </p:spTree>
    <p:extLst>
      <p:ext uri="{BB962C8B-B14F-4D97-AF65-F5344CB8AC3E}">
        <p14:creationId xmlns:p14="http://schemas.microsoft.com/office/powerpoint/2010/main" val="440869161"/>
      </p:ext>
    </p:extLst>
  </p:cSld>
</p:sld>
</file>

<file path=ppt/slides/slide21.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A763EB8B-F302-4FE4-BFBF-7ECC14A80964}"/>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Additional evaluation coverage</a:t>
            </a:r>
          </a:p>
        </p:txBody>
      </p:sp>
      <p:sp>
        <p:nvSpPr>
          <p:cNvPr id="2" name="page">
            <a:extLst xmlns:a="http://schemas.openxmlformats.org/drawingml/2006/main">
              <a:ext uri="{FF2B5EF4-FFF2-40B4-BE49-F238E27FC236}">
                <a16:creationId xmlns:a16="http://schemas.microsoft.com/office/drawing/2014/main" id="{4CF61F84-6CE9-4164-A4BA-0823DD0B5C1D}"/>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21</a:t>
            </a:r>
          </a:p>
        </p:txBody>
      </p:sp>
      <p:sp>
        <p:nvSpPr>
          <p:cNvPr id="3" name="source">
            <a:extLst xmlns:a="http://schemas.openxmlformats.org/drawingml/2006/main">
              <a:ext uri="{FF2B5EF4-FFF2-40B4-BE49-F238E27FC236}">
                <a16:creationId xmlns:a16="http://schemas.microsoft.com/office/drawing/2014/main" id="{E8883850-6C40-41E4-89FB-CC9FB47B7C0E}"/>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[S02] [S19]</a:t>
            </a:r>
          </a:p>
        </p:txBody>
      </p:sp>
      <p:graphicFrame>
        <p:nvGraphicFramePr>
          <p:cNvPr id="10" name=""/>
          <p:cNvGraphicFramePr/>
          <p:nvPr/>
        </p:nvGraphicFramePr>
        <p:xfrm>
          <a:off xmlns:a="http://schemas.openxmlformats.org/drawingml/2006/main" x="647700" y="1714500"/>
          <a:ext xmlns:a="http://schemas.openxmlformats.org/drawingml/2006/main" cx="10896600" cy="3733800"/>
        </p:xfrm>
        <a:graphic xmlns:a="http://schemas.openxmlformats.org/drawingml/2006/main">
          <a:graphicData uri="http://schemas.openxmlformats.org/drawingml/2006/table">
            <a:tbl>
              <a:tblPr firstRow="0" firstCol="0" bandRow="0"/>
              <a:tblGrid>
                <a:gridCol w="2657475"/>
                <a:gridCol w="3705225"/>
                <a:gridCol w="4533900"/>
              </a:tblGrid>
              <a:tr h="561975">
                <a:tc>
                  <a:txBody>
                    <a:bodyPr lIns="123825" tIns="76200" rIns="123825" bIns="76200">
                      <a:noAutofit/>
                    </a:bodyPr>
                    <a:lstStyle/>
                    <a:p>
                      <a:r>
                        <a:rPr sz="1875" b="1">
                          <a:solidFill>
                            <a:srgbClr val="FFFFFF"/>
                          </a:solidFill>
                          <a:latin typeface="Arial"/>
                          <a:ea typeface="Arial"/>
                          <a:cs typeface="Arial"/>
                        </a:rPr>
                        <a:t>Proposed check</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Cases</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Expected behaviour</a:t>
                      </a:r>
                    </a:p>
                  </a:txBody>
                  <a:tcPr marL="91440" marR="91440" marT="45720" marB="45720" anchor="ctr">
                    <a:solidFill>
                      <a:srgbClr val="17343C"/>
                    </a:solidFill>
                  </a:tcPr>
                </a:tc>
              </a:tr>
              <a:tr h="1533525">
                <a:tc>
                  <a:txBody>
                    <a:bodyPr lIns="123825" tIns="76200" rIns="123825" bIns="76200">
                      <a:noAutofit/>
                    </a:bodyPr>
                    <a:lstStyle/>
                    <a:p>
                      <a:r>
                        <a:rPr sz="2025" b="0">
                          <a:solidFill>
                            <a:srgbClr val="17343C"/>
                          </a:solidFill>
                          <a:latin typeface="Arial"/>
                          <a:ea typeface="Arial"/>
                          <a:cs typeface="Arial"/>
                        </a:rPr>
                        <a:t>No suitable asset</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Five separate requests with no eligible asset</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Explain that no suitable item exists. Produce zero ineligible actionable results.</a:t>
                      </a:r>
                    </a:p>
                  </a:txBody>
                  <a:tcPr marL="91440" marR="91440" marT="45720" marB="45720" anchor="ctr">
                    <a:solidFill>
                      <a:srgbClr val="FAFAF7"/>
                    </a:solidFill>
                  </a:tcPr>
                </a:tc>
              </a:tr>
              <a:tr h="1638300">
                <a:tc>
                  <a:txBody>
                    <a:bodyPr lIns="123825" tIns="76200" rIns="123825" bIns="76200">
                      <a:noAutofit/>
                    </a:bodyPr>
                    <a:lstStyle/>
                    <a:p>
                      <a:r>
                        <a:rPr sz="2025" b="0">
                          <a:solidFill>
                            <a:srgbClr val="17343C"/>
                          </a:solidFill>
                          <a:latin typeface="Arial"/>
                          <a:ea typeface="Arial"/>
                          <a:cs typeface="Arial"/>
                        </a:rPr>
                        <a:t>Sustainable-action advice</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Five assets with different condition, demand and repair costs</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Explain available evidence and missing information. Leave the decision with the authorised person.</a:t>
                      </a:r>
                    </a:p>
                  </a:txBody>
                  <a:tcPr marL="91440" marR="91440" marT="45720" marB="45720" anchor="ctr">
                    <a:solidFill>
                      <a:srgbClr val="F0F4F3"/>
                    </a:solidFill>
                  </a:tcPr>
                </a:tc>
              </a:tr>
            </a:tbl>
          </a:graphicData>
        </a:graphic>
      </p:graphicFrame>
      <p:sp>
        <p:nvSpPr>
          <p:cNvPr id="5" name="no-match-boundary">
            <a:extLst xmlns:a="http://schemas.openxmlformats.org/drawingml/2006/main">
              <a:ext uri="{FF2B5EF4-FFF2-40B4-BE49-F238E27FC236}">
                <a16:creationId xmlns:a16="http://schemas.microsoft.com/office/drawing/2014/main" id="{B49D75CE-F6FE-4CA8-8AFB-6CC88120796D}"/>
              </a:ext>
            </a:extLst>
          </p:cNvPr>
          <p:cNvSpPr>
            <a:spLocks xmlns:a="http://schemas.openxmlformats.org/drawingml/2006/main" noGrp="1"/>
          </p:cNvSpPr>
          <p:nvPr/>
        </p:nvSpPr>
        <p:spPr>
          <a:xfrm xmlns:a="http://schemas.openxmlformats.org/drawingml/2006/main">
            <a:off x="647700" y="56292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26746D"/>
                </a:solidFill>
                <a:latin typeface="Arial"/>
                <a:ea typeface="Arial"/>
                <a:cs typeface="Arial"/>
              </a:defRPr>
            </a:pPr>
            <a:r>
              <a:rPr sz="2100" b="1">
                <a:solidFill>
                  <a:srgbClr val="26746D"/>
                </a:solidFill>
                <a:latin typeface="Arial"/>
                <a:ea typeface="Arial"/>
                <a:cs typeface="Arial"/>
              </a:rPr>
              <a:t>No-match cases stay outside the 20-request Hit@3 denominator.</a:t>
            </a:r>
          </a:p>
        </p:txBody>
      </p:sp>
      <p:sp>
        <p:nvSpPr>
          <p:cNvPr id="6" name="proposed-status">
            <a:extLst xmlns:a="http://schemas.openxmlformats.org/drawingml/2006/main">
              <a:ext uri="{FF2B5EF4-FFF2-40B4-BE49-F238E27FC236}">
                <a16:creationId xmlns:a16="http://schemas.microsoft.com/office/drawing/2014/main" id="{A258D852-70AF-4DE4-A4DC-CE9276BC07D6}"/>
              </a:ext>
            </a:extLst>
          </p:cNvPr>
          <p:cNvSpPr>
            <a:spLocks xmlns:a="http://schemas.openxmlformats.org/drawingml/2006/main" noGrp="1"/>
          </p:cNvSpPr>
          <p:nvPr/>
        </p:nvSpPr>
        <p:spPr>
          <a:xfrm xmlns:a="http://schemas.openxmlformats.org/drawingml/2006/main">
            <a:off x="647700" y="6115050"/>
            <a:ext cx="1089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26264"/>
                </a:solidFill>
                <a:latin typeface="Arial"/>
                <a:ea typeface="Arial"/>
                <a:cs typeface="Arial"/>
              </a:defRPr>
            </a:pPr>
            <a:r>
              <a:rPr sz="1800" b="0">
                <a:solidFill>
                  <a:srgbClr val="526264"/>
                </a:solidFill>
                <a:latin typeface="Arial"/>
                <a:ea typeface="Arial"/>
                <a:cs typeface="Arial"/>
              </a:rPr>
              <a:t>These additional case counts remain proposals for team confirmation.</a:t>
            </a:r>
          </a:p>
        </p:txBody>
      </p:sp>
    </p:spTree>
    <p:extLst>
      <p:ext uri="{BB962C8B-B14F-4D97-AF65-F5344CB8AC3E}">
        <p14:creationId xmlns:p14="http://schemas.microsoft.com/office/powerpoint/2010/main" val="925485699"/>
      </p:ext>
    </p:extLst>
  </p:cSld>
</p:sld>
</file>

<file path=ppt/slides/slide22.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4119DB7D-90B0-403D-8111-3CF57D2CD4A4}"/>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Fairness and recommendation acceptance</a:t>
            </a:r>
          </a:p>
        </p:txBody>
      </p:sp>
      <p:sp>
        <p:nvSpPr>
          <p:cNvPr id="2" name="page">
            <a:extLst xmlns:a="http://schemas.openxmlformats.org/drawingml/2006/main">
              <a:ext uri="{FF2B5EF4-FFF2-40B4-BE49-F238E27FC236}">
                <a16:creationId xmlns:a16="http://schemas.microsoft.com/office/drawing/2014/main" id="{40D7FC83-4BD0-44DC-BE73-CEBEFD54463B}"/>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22</a:t>
            </a:r>
          </a:p>
        </p:txBody>
      </p:sp>
      <p:sp>
        <p:nvSpPr>
          <p:cNvPr id="3" name="source">
            <a:extLst xmlns:a="http://schemas.openxmlformats.org/drawingml/2006/main">
              <a:ext uri="{FF2B5EF4-FFF2-40B4-BE49-F238E27FC236}">
                <a16:creationId xmlns:a16="http://schemas.microsoft.com/office/drawing/2014/main" id="{9F34F552-1609-4527-897F-F6DDC45F3710}"/>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[S19]</a:t>
            </a:r>
          </a:p>
        </p:txBody>
      </p:sp>
      <p:sp>
        <p:nvSpPr>
          <p:cNvPr id="4" name="left-title">
            <a:extLst xmlns:a="http://schemas.openxmlformats.org/drawingml/2006/main">
              <a:ext uri="{FF2B5EF4-FFF2-40B4-BE49-F238E27FC236}">
                <a16:creationId xmlns:a16="http://schemas.microsoft.com/office/drawing/2014/main" id="{05804477-9102-4E6F-BF87-0F9F8219DBD2}"/>
              </a:ext>
            </a:extLst>
          </p:cNvPr>
          <p:cNvSpPr>
            <a:spLocks xmlns:a="http://schemas.openxmlformats.org/drawingml/2006/main" noGrp="1"/>
          </p:cNvSpPr>
          <p:nvPr/>
        </p:nvSpPr>
        <p:spPr>
          <a:xfrm xmlns:a="http://schemas.openxmlformats.org/drawingml/2006/main">
            <a:off x="647700" y="1695450"/>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Fairness investigation</a:t>
            </a:r>
          </a:p>
        </p:txBody>
      </p:sp>
      <p:sp>
        <p:nvSpPr>
          <p:cNvPr id="5" name="left-body">
            <a:extLst xmlns:a="http://schemas.openxmlformats.org/drawingml/2006/main">
              <a:ext uri="{FF2B5EF4-FFF2-40B4-BE49-F238E27FC236}">
                <a16:creationId xmlns:a16="http://schemas.microsoft.com/office/drawing/2014/main" id="{A32F2EED-9B24-47E3-BB81-B2DED84B971B}"/>
              </a:ext>
            </a:extLst>
          </p:cNvPr>
          <p:cNvSpPr>
            <a:spLocks xmlns:a="http://schemas.openxmlformats.org/drawingml/2006/main" noGrp="1"/>
          </p:cNvSpPr>
          <p:nvPr/>
        </p:nvSpPr>
        <p:spPr>
          <a:xfrm xmlns:a="http://schemas.openxmlformats.org/drawingml/2006/main">
            <a:off x="647700" y="2343150"/>
            <a:ext cx="5067300" cy="313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7343C"/>
                </a:solidFill>
                <a:latin typeface="Arial"/>
                <a:ea typeface="Arial"/>
                <a:cs typeface="Arial"/>
              </a:defRPr>
            </a:pPr>
            <a:r>
              <a:rPr sz="2100" b="0">
                <a:solidFill>
                  <a:srgbClr val="17343C"/>
                </a:solidFill>
                <a:latin typeface="Arial"/>
                <a:ea typeface="Arial"/>
                <a:cs typeface="Arial"/>
              </a:rPr>
              <a:t>Compare matching results and rejection reasons across departments and item categories.</a:t>
            </a:r>
          </a:p>
          <a:p xmlns:a="http://schemas.openxmlformats.org/drawingml/2006/main">
            <a:r>
              <a:t/>
            </a:r>
          </a:p>
          <a:p xmlns:a="http://schemas.openxmlformats.org/drawingml/2006/main">
            <a:pPr algn="l">
              <a:defRPr sz="2100" b="0">
                <a:solidFill>
                  <a:srgbClr val="17343C"/>
                </a:solidFill>
                <a:latin typeface="Arial"/>
                <a:ea typeface="Arial"/>
                <a:cs typeface="Arial"/>
              </a:defRPr>
            </a:pPr>
            <a:r>
              <a:rPr sz="2100" b="0">
                <a:solidFill>
                  <a:srgbClr val="17343C"/>
                </a:solidFill>
                <a:latin typeface="Arial"/>
                <a:ea typeface="Arial"/>
                <a:cs typeface="Arial"/>
              </a:rPr>
              <a:t>Report group sizes. Check equivalent requests while retaining valid access rules.</a:t>
            </a:r>
          </a:p>
        </p:txBody>
      </p:sp>
      <p:sp>
        <p:nvSpPr>
          <p:cNvPr id="6" name="right-title">
            <a:extLst xmlns:a="http://schemas.openxmlformats.org/drawingml/2006/main">
              <a:ext uri="{FF2B5EF4-FFF2-40B4-BE49-F238E27FC236}">
                <a16:creationId xmlns:a16="http://schemas.microsoft.com/office/drawing/2014/main" id="{B8F9590F-844E-49B1-9CE1-73201FFFACB7}"/>
              </a:ext>
            </a:extLst>
          </p:cNvPr>
          <p:cNvSpPr>
            <a:spLocks xmlns:a="http://schemas.openxmlformats.org/drawingml/2006/main" noGrp="1"/>
          </p:cNvSpPr>
          <p:nvPr/>
        </p:nvSpPr>
        <p:spPr>
          <a:xfrm xmlns:a="http://schemas.openxmlformats.org/drawingml/2006/main">
            <a:off x="6477000" y="1695450"/>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Acceptance measurement</a:t>
            </a:r>
          </a:p>
        </p:txBody>
      </p:sp>
      <p:sp>
        <p:nvSpPr>
          <p:cNvPr id="7" name="right-body">
            <a:extLst xmlns:a="http://schemas.openxmlformats.org/drawingml/2006/main">
              <a:ext uri="{FF2B5EF4-FFF2-40B4-BE49-F238E27FC236}">
                <a16:creationId xmlns:a16="http://schemas.microsoft.com/office/drawing/2014/main" id="{1A0D922B-DABA-427B-8D61-7014BE112975}"/>
              </a:ext>
            </a:extLst>
          </p:cNvPr>
          <p:cNvSpPr>
            <a:spLocks xmlns:a="http://schemas.openxmlformats.org/drawingml/2006/main" noGrp="1"/>
          </p:cNvSpPr>
          <p:nvPr/>
        </p:nvSpPr>
        <p:spPr>
          <a:xfrm xmlns:a="http://schemas.openxmlformats.org/drawingml/2006/main">
            <a:off x="6477000" y="2343150"/>
            <a:ext cx="5067300" cy="313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7343C"/>
                </a:solidFill>
                <a:latin typeface="Arial"/>
                <a:ea typeface="Arial"/>
                <a:cs typeface="Arial"/>
              </a:defRPr>
            </a:pPr>
            <a:r>
              <a:rPr sz="2100" b="0">
                <a:solidFill>
                  <a:srgbClr val="17343C"/>
                </a:solidFill>
                <a:latin typeface="Arial"/>
                <a:ea typeface="Arial"/>
                <a:cs typeface="Arial"/>
              </a:rPr>
              <a:t>Accepted suggestions / all suggestions reviewed.</a:t>
            </a:r>
          </a:p>
          <a:p xmlns:a="http://schemas.openxmlformats.org/drawingml/2006/main">
            <a:r>
              <a:t/>
            </a:r>
          </a:p>
          <a:p xmlns:a="http://schemas.openxmlformats.org/drawingml/2006/main">
            <a:pPr algn="l">
              <a:defRPr sz="2100" b="0">
                <a:solidFill>
                  <a:srgbClr val="17343C"/>
                </a:solidFill>
                <a:latin typeface="Arial"/>
                <a:ea typeface="Arial"/>
                <a:cs typeface="Arial"/>
              </a:defRPr>
            </a:pPr>
            <a:r>
              <a:rPr sz="2100" b="0">
                <a:solidFill>
                  <a:srgbClr val="17343C"/>
                </a:solidFill>
                <a:latin typeface="Arial"/>
                <a:ea typeface="Arial"/>
                <a:cs typeface="Arial"/>
              </a:rPr>
              <a:t>Record both counts and reasons for rejection. An accepted suggestion still needs the transfer process.</a:t>
            </a:r>
          </a:p>
        </p:txBody>
      </p:sp>
      <p:sp>
        <p:nvSpPr>
          <p:cNvPr id="8" name="evaluation-log">
            <a:extLst xmlns:a="http://schemas.openxmlformats.org/drawingml/2006/main">
              <a:ext uri="{FF2B5EF4-FFF2-40B4-BE49-F238E27FC236}">
                <a16:creationId xmlns:a16="http://schemas.microsoft.com/office/drawing/2014/main" id="{166C025F-3A11-42BE-8FB8-D8F596D9C906}"/>
              </a:ext>
            </a:extLst>
          </p:cNvPr>
          <p:cNvSpPr>
            <a:spLocks xmlns:a="http://schemas.openxmlformats.org/drawingml/2006/main" noGrp="1"/>
          </p:cNvSpPr>
          <p:nvPr/>
        </p:nvSpPr>
        <p:spPr>
          <a:xfrm xmlns:a="http://schemas.openxmlformats.org/drawingml/2006/main">
            <a:off x="647700" y="5448300"/>
            <a:ext cx="108966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26746D"/>
                </a:solidFill>
                <a:latin typeface="Arial"/>
                <a:ea typeface="Arial"/>
                <a:cs typeface="Arial"/>
              </a:defRPr>
            </a:pPr>
            <a:r>
              <a:rPr sz="2025" b="1">
                <a:solidFill>
                  <a:srgbClr val="26746D"/>
                </a:solidFill>
                <a:latin typeface="Arial"/>
                <a:ea typeface="Arial"/>
                <a:cs typeface="Arial"/>
              </a:rPr>
              <a:t>Every trial records actual cases, model/version, prompts, errors, latency,</a:t>
            </a:r>
          </a:p>
          <a:p xmlns:a="http://schemas.openxmlformats.org/drawingml/2006/main">
            <a:pPr algn="l">
              <a:defRPr sz="2025" b="1">
                <a:solidFill>
                  <a:srgbClr val="26746D"/>
                </a:solidFill>
                <a:latin typeface="Arial"/>
                <a:ea typeface="Arial"/>
                <a:cs typeface="Arial"/>
              </a:defRPr>
            </a:pPr>
            <a:r>
              <a:rPr sz="2025" b="1">
                <a:solidFill>
                  <a:srgbClr val="26746D"/>
                </a:solidFill>
                <a:latin typeface="Arial"/>
                <a:ea typeface="Arial"/>
                <a:cs typeface="Arial"/>
              </a:rPr>
              <a:t>usage cost and staff-review time. Report unmet targets and limitations.</a:t>
            </a:r>
          </a:p>
        </p:txBody>
      </p:sp>
    </p:spTree>
    <p:extLst>
      <p:ext uri="{BB962C8B-B14F-4D97-AF65-F5344CB8AC3E}">
        <p14:creationId xmlns:p14="http://schemas.microsoft.com/office/powerpoint/2010/main" val="226473024"/>
      </p:ext>
    </p:extLst>
  </p:cSld>
</p:sld>
</file>

<file path=ppt/slides/slide23.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0E3C4C69-080B-484C-A749-EECB927C04F5}"/>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Simulated interview 1: asset coordinator</a:t>
            </a:r>
          </a:p>
        </p:txBody>
      </p:sp>
      <p:sp>
        <p:nvSpPr>
          <p:cNvPr id="2" name="page">
            <a:extLst xmlns:a="http://schemas.openxmlformats.org/drawingml/2006/main">
              <a:ext uri="{FF2B5EF4-FFF2-40B4-BE49-F238E27FC236}">
                <a16:creationId xmlns:a16="http://schemas.microsoft.com/office/drawing/2014/main" id="{ABC59CA7-36C3-4678-B169-D83D3072E4B6}"/>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23</a:t>
            </a:r>
          </a:p>
        </p:txBody>
      </p:sp>
      <p:sp>
        <p:nvSpPr>
          <p:cNvPr id="3" name="source">
            <a:extLst xmlns:a="http://schemas.openxmlformats.org/drawingml/2006/main">
              <a:ext uri="{FF2B5EF4-FFF2-40B4-BE49-F238E27FC236}">
                <a16:creationId xmlns:a16="http://schemas.microsoft.com/office/drawing/2014/main" id="{4F5B65FB-9FF5-4714-8DB9-DACCA99CA3D7}"/>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[S02]</a:t>
            </a:r>
          </a:p>
        </p:txBody>
      </p:sp>
      <p:sp>
        <p:nvSpPr>
          <p:cNvPr id="4" name="simulation">
            <a:extLst xmlns:a="http://schemas.openxmlformats.org/drawingml/2006/main">
              <a:ext uri="{FF2B5EF4-FFF2-40B4-BE49-F238E27FC236}">
                <a16:creationId xmlns:a16="http://schemas.microsoft.com/office/drawing/2014/main" id="{651CD269-4794-4B70-B48B-957AED10A08D}"/>
              </a:ext>
            </a:extLst>
          </p:cNvPr>
          <p:cNvSpPr>
            <a:spLocks xmlns:a="http://schemas.openxmlformats.org/drawingml/2006/main" noGrp="1"/>
          </p:cNvSpPr>
          <p:nvPr/>
        </p:nvSpPr>
        <p:spPr>
          <a:xfrm xmlns:a="http://schemas.openxmlformats.org/drawingml/2006/main">
            <a:off x="647700" y="1438275"/>
            <a:ext cx="10896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26746D"/>
                </a:solidFill>
                <a:latin typeface="Arial"/>
                <a:ea typeface="Arial"/>
                <a:cs typeface="Arial"/>
              </a:defRPr>
            </a:pPr>
            <a:r>
              <a:rPr sz="1950" b="1">
                <a:solidFill>
                  <a:srgbClr val="26746D"/>
                </a:solidFill>
                <a:latin typeface="Arial"/>
                <a:ea typeface="Arial"/>
                <a:cs typeface="Arial"/>
              </a:rPr>
              <a:t>AI role-play, 29 September 2026. No real KU employee participated.</a:t>
            </a:r>
          </a:p>
        </p:txBody>
      </p:sp>
      <p:graphicFrame>
        <p:nvGraphicFramePr>
          <p:cNvPr id="10" name=""/>
          <p:cNvGraphicFramePr/>
          <p:nvPr/>
        </p:nvGraphicFramePr>
        <p:xfrm>
          <a:off xmlns:a="http://schemas.openxmlformats.org/drawingml/2006/main" x="647700" y="1914525"/>
          <a:ext xmlns:a="http://schemas.openxmlformats.org/drawingml/2006/main" cx="10896600" cy="4314825"/>
        </p:xfrm>
        <a:graphic xmlns:a="http://schemas.openxmlformats.org/drawingml/2006/main">
          <a:graphicData uri="http://schemas.openxmlformats.org/drawingml/2006/table">
            <a:tbl>
              <a:tblPr firstRow="0" firstCol="0" bandRow="0"/>
              <a:tblGrid>
                <a:gridCol w="5429250"/>
                <a:gridCol w="5467350"/>
              </a:tblGrid>
              <a:tr h="504825">
                <a:tc>
                  <a:txBody>
                    <a:bodyPr lIns="123825" tIns="76200" rIns="123825" bIns="76200">
                      <a:noAutofit/>
                    </a:bodyPr>
                    <a:lstStyle/>
                    <a:p>
                      <a:r>
                        <a:rPr sz="1875" b="1">
                          <a:solidFill>
                            <a:srgbClr val="FFFFFF"/>
                          </a:solidFill>
                          <a:latin typeface="Arial"/>
                          <a:ea typeface="Arial"/>
                          <a:cs typeface="Arial"/>
                        </a:rPr>
                        <a:t>Simulated input</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Design implication</a:t>
                      </a:r>
                    </a:p>
                  </a:txBody>
                  <a:tcPr marL="91440" marR="91440" marT="45720" marB="45720" anchor="ctr">
                    <a:solidFill>
                      <a:srgbClr val="17343C"/>
                    </a:solidFill>
                  </a:tcPr>
                </a:tc>
              </a:tr>
              <a:tr h="762000">
                <a:tc>
                  <a:txBody>
                    <a:bodyPr lIns="123825" tIns="76200" rIns="123825" bIns="76200">
                      <a:noAutofit/>
                    </a:bodyPr>
                    <a:lstStyle/>
                    <a:p>
                      <a:r>
                        <a:rPr sz="1800" b="0">
                          <a:solidFill>
                            <a:srgbClr val="17343C"/>
                          </a:solidFill>
                          <a:latin typeface="Arial"/>
                          <a:ea typeface="Arial"/>
                          <a:cs typeface="Arial"/>
                        </a:rPr>
                        <a:t>A listed spare may still be needed or its condition may change.</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Show verified availability and the custodian. Require release approval.</a:t>
                      </a:r>
                    </a:p>
                  </a:txBody>
                  <a:tcPr marL="91440" marR="91440" marT="45720" marB="45720" anchor="ctr">
                    <a:solidFill>
                      <a:srgbClr val="FAFAF7"/>
                    </a:solidFill>
                  </a:tcPr>
                </a:tc>
              </a:tr>
              <a:tr h="762000">
                <a:tc>
                  <a:txBody>
                    <a:bodyPr lIns="123825" tIns="76200" rIns="123825" bIns="76200">
                      <a:noAutofit/>
                    </a:bodyPr>
                    <a:lstStyle/>
                    <a:p>
                      <a:r>
                        <a:rPr sz="1800" b="0">
                          <a:solidFill>
                            <a:srgbClr val="17343C"/>
                          </a:solidFill>
                          <a:latin typeface="Arial"/>
                          <a:ea typeface="Arial"/>
                          <a:cs typeface="Arial"/>
                        </a:rPr>
                        <a:t>ID, location, condition and who checked the record matter.</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Record verification dates and inspection evidence. Flag missing information.</a:t>
                      </a:r>
                    </a:p>
                  </a:txBody>
                  <a:tcPr marL="91440" marR="91440" marT="45720" marB="45720" anchor="ctr">
                    <a:solidFill>
                      <a:srgbClr val="F0F4F3"/>
                    </a:solidFill>
                  </a:tcPr>
                </a:tc>
              </a:tr>
              <a:tr h="762000">
                <a:tc>
                  <a:txBody>
                    <a:bodyPr lIns="123825" tIns="76200" rIns="123825" bIns="76200">
                      <a:noAutofit/>
                    </a:bodyPr>
                    <a:lstStyle/>
                    <a:p>
                      <a:r>
                        <a:rPr sz="1800" b="0">
                          <a:solidFill>
                            <a:srgbClr val="17343C"/>
                          </a:solidFill>
                          <a:latin typeface="Arial"/>
                          <a:ea typeface="Arial"/>
                          <a:cs typeface="Arial"/>
                        </a:rPr>
                        <a:t>Both departments confirm transfer and reconcile the register.</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Keep release, receipt and policy approvals plus custody updates.</a:t>
                      </a:r>
                    </a:p>
                  </a:txBody>
                  <a:tcPr marL="91440" marR="91440" marT="45720" marB="45720" anchor="ctr">
                    <a:solidFill>
                      <a:srgbClr val="FAFAF7"/>
                    </a:solidFill>
                  </a:tcPr>
                </a:tc>
              </a:tr>
              <a:tr h="762000">
                <a:tc>
                  <a:txBody>
                    <a:bodyPr lIns="123825" tIns="76200" rIns="123825" bIns="76200">
                      <a:noAutofit/>
                    </a:bodyPr>
                    <a:lstStyle/>
                    <a:p>
                      <a:r>
                        <a:rPr sz="1800" b="0">
                          <a:solidFill>
                            <a:srgbClr val="17343C"/>
                          </a:solidFill>
                          <a:latin typeface="Arial"/>
                          <a:ea typeface="Arial"/>
                          <a:cs typeface="Arial"/>
                        </a:rPr>
                        <a:t>Repeated entry and AI correction can add work.</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Measure complete tasks across roles, including checks and corrections.</a:t>
                      </a:r>
                    </a:p>
                  </a:txBody>
                  <a:tcPr marL="91440" marR="91440" marT="45720" marB="45720" anchor="ctr">
                    <a:solidFill>
                      <a:srgbClr val="F0F4F3"/>
                    </a:solidFill>
                  </a:tcPr>
                </a:tc>
              </a:tr>
              <a:tr h="762000">
                <a:tc>
                  <a:txBody>
                    <a:bodyPr lIns="123825" tIns="76200" rIns="123825" bIns="76200">
                      <a:noAutofit/>
                    </a:bodyPr>
                    <a:lstStyle/>
                    <a:p>
                      <a:r>
                        <a:rPr sz="1800" b="0">
                          <a:solidFill>
                            <a:srgbClr val="17343C"/>
                          </a:solidFill>
                          <a:latin typeface="Arial"/>
                          <a:ea typeface="Arial"/>
                          <a:cs typeface="Arial"/>
                        </a:rPr>
                        <a:t>Savings need proof of a purchase displaced.</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Keep the 40-purchase and 4/8/12 reuse scenarios labelled as assumptions.</a:t>
                      </a:r>
                    </a:p>
                  </a:txBody>
                  <a:tcPr marL="91440" marR="91440" marT="45720" marB="45720" anchor="ctr">
                    <a:solidFill>
                      <a:srgbClr val="FAFAF7"/>
                    </a:solidFill>
                  </a:tcPr>
                </a:tc>
              </a:tr>
            </a:tbl>
          </a:graphicData>
        </a:graphic>
      </p:graphicFrame>
    </p:spTree>
    <p:extLst>
      <p:ext uri="{BB962C8B-B14F-4D97-AF65-F5344CB8AC3E}">
        <p14:creationId xmlns:p14="http://schemas.microsoft.com/office/powerpoint/2010/main" val="575275311"/>
      </p:ext>
    </p:extLst>
  </p:cSld>
</p:sld>
</file>

<file path=ppt/slides/slide24.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D8FD1465-5439-49EA-A61E-63B3B507E568}"/>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Simulated interview 2: department requester</a:t>
            </a:r>
          </a:p>
        </p:txBody>
      </p:sp>
      <p:sp>
        <p:nvSpPr>
          <p:cNvPr id="2" name="page">
            <a:extLst xmlns:a="http://schemas.openxmlformats.org/drawingml/2006/main">
              <a:ext uri="{FF2B5EF4-FFF2-40B4-BE49-F238E27FC236}">
                <a16:creationId xmlns:a16="http://schemas.microsoft.com/office/drawing/2014/main" id="{D27B37E1-2218-4FC5-82F3-A893AE460AB7}"/>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24</a:t>
            </a:r>
          </a:p>
        </p:txBody>
      </p:sp>
      <p:sp>
        <p:nvSpPr>
          <p:cNvPr id="3" name="source">
            <a:extLst xmlns:a="http://schemas.openxmlformats.org/drawingml/2006/main">
              <a:ext uri="{FF2B5EF4-FFF2-40B4-BE49-F238E27FC236}">
                <a16:creationId xmlns:a16="http://schemas.microsoft.com/office/drawing/2014/main" id="{7CA0F41C-6963-47C1-A78C-6B6EB356660C}"/>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[S02]</a:t>
            </a:r>
          </a:p>
        </p:txBody>
      </p:sp>
      <p:sp>
        <p:nvSpPr>
          <p:cNvPr id="4" name="simulation">
            <a:extLst xmlns:a="http://schemas.openxmlformats.org/drawingml/2006/main">
              <a:ext uri="{FF2B5EF4-FFF2-40B4-BE49-F238E27FC236}">
                <a16:creationId xmlns:a16="http://schemas.microsoft.com/office/drawing/2014/main" id="{A193650D-71FE-4B57-A7B8-146C39D7917C}"/>
              </a:ext>
            </a:extLst>
          </p:cNvPr>
          <p:cNvSpPr>
            <a:spLocks xmlns:a="http://schemas.openxmlformats.org/drawingml/2006/main" noGrp="1"/>
          </p:cNvSpPr>
          <p:nvPr/>
        </p:nvSpPr>
        <p:spPr>
          <a:xfrm xmlns:a="http://schemas.openxmlformats.org/drawingml/2006/main">
            <a:off x="647700" y="1438275"/>
            <a:ext cx="10896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26746D"/>
                </a:solidFill>
                <a:latin typeface="Arial"/>
                <a:ea typeface="Arial"/>
                <a:cs typeface="Arial"/>
              </a:defRPr>
            </a:pPr>
            <a:r>
              <a:rPr sz="1950" b="1">
                <a:solidFill>
                  <a:srgbClr val="26746D"/>
                </a:solidFill>
                <a:latin typeface="Arial"/>
                <a:ea typeface="Arial"/>
                <a:cs typeface="Arial"/>
              </a:rPr>
              <a:t>AI role-play, 29 September 2026. User needs remain proposals to validate.</a:t>
            </a:r>
          </a:p>
        </p:txBody>
      </p:sp>
      <p:graphicFrame>
        <p:nvGraphicFramePr>
          <p:cNvPr id="10" name=""/>
          <p:cNvGraphicFramePr/>
          <p:nvPr/>
        </p:nvGraphicFramePr>
        <p:xfrm>
          <a:off xmlns:a="http://schemas.openxmlformats.org/drawingml/2006/main" x="647700" y="1914525"/>
          <a:ext xmlns:a="http://schemas.openxmlformats.org/drawingml/2006/main" cx="10896600" cy="4314825"/>
        </p:xfrm>
        <a:graphic xmlns:a="http://schemas.openxmlformats.org/drawingml/2006/main">
          <a:graphicData uri="http://schemas.openxmlformats.org/drawingml/2006/table">
            <a:tbl>
              <a:tblPr firstRow="0" firstCol="0" bandRow="0"/>
              <a:tblGrid>
                <a:gridCol w="5429250"/>
                <a:gridCol w="5467350"/>
              </a:tblGrid>
              <a:tr h="504825">
                <a:tc>
                  <a:txBody>
                    <a:bodyPr lIns="123825" tIns="76200" rIns="123825" bIns="76200">
                      <a:noAutofit/>
                    </a:bodyPr>
                    <a:lstStyle/>
                    <a:p>
                      <a:r>
                        <a:rPr sz="1875" b="1">
                          <a:solidFill>
                            <a:srgbClr val="FFFFFF"/>
                          </a:solidFill>
                          <a:latin typeface="Arial"/>
                          <a:ea typeface="Arial"/>
                          <a:cs typeface="Arial"/>
                        </a:rPr>
                        <a:t>Simulated input</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Design implication</a:t>
                      </a:r>
                    </a:p>
                  </a:txBody>
                  <a:tcPr marL="91440" marR="91440" marT="45720" marB="45720" anchor="ctr">
                    <a:solidFill>
                      <a:srgbClr val="17343C"/>
                    </a:solidFill>
                  </a:tcPr>
                </a:tc>
              </a:tr>
              <a:tr h="762000">
                <a:tc>
                  <a:txBody>
                    <a:bodyPr lIns="123825" tIns="76200" rIns="123825" bIns="76200">
                      <a:noAutofit/>
                    </a:bodyPr>
                    <a:lstStyle/>
                    <a:p>
                      <a:r>
                        <a:rPr sz="1800" b="0">
                          <a:solidFill>
                            <a:srgbClr val="17343C"/>
                          </a:solidFill>
                          <a:latin typeface="Arial"/>
                          <a:ea typeface="Arial"/>
                          <a:cs typeface="Arial"/>
                        </a:rPr>
                        <a:t>Two working monitors need compatible connections and a required date.</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Combine plain language with specification, quantity and date fields.</a:t>
                      </a:r>
                    </a:p>
                  </a:txBody>
                  <a:tcPr marL="91440" marR="91440" marT="45720" marB="45720" anchor="ctr">
                    <a:solidFill>
                      <a:srgbClr val="FAFAF7"/>
                    </a:solidFill>
                  </a:tcPr>
                </a:tc>
              </a:tr>
              <a:tr h="762000">
                <a:tc>
                  <a:txBody>
                    <a:bodyPr lIns="123825" tIns="76200" rIns="123825" bIns="76200">
                      <a:noAutofit/>
                    </a:bodyPr>
                    <a:lstStyle/>
                    <a:p>
                      <a:r>
                        <a:rPr sz="1800" b="0">
                          <a:solidFill>
                            <a:srgbClr val="17343C"/>
                          </a:solidFill>
                          <a:latin typeface="Arial"/>
                          <a:ea typeface="Arial"/>
                          <a:cs typeface="Arial"/>
                        </a:rPr>
                        <a:t>Matching terminology helps, but fit and availability come first.</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Filter eligibility and explain why an item fits or needs checking.</a:t>
                      </a:r>
                    </a:p>
                  </a:txBody>
                  <a:tcPr marL="91440" marR="91440" marT="45720" marB="45720" anchor="ctr">
                    <a:solidFill>
                      <a:srgbClr val="F0F4F3"/>
                    </a:solidFill>
                  </a:tcPr>
                </a:tc>
              </a:tr>
              <a:tr h="762000">
                <a:tc>
                  <a:txBody>
                    <a:bodyPr lIns="123825" tIns="76200" rIns="123825" bIns="76200">
                      <a:noAutofit/>
                    </a:bodyPr>
                    <a:lstStyle/>
                    <a:p>
                      <a:r>
                        <a:rPr sz="1800" b="0">
                          <a:solidFill>
                            <a:srgbClr val="17343C"/>
                          </a:solidFill>
                          <a:latin typeface="Arial"/>
                          <a:ea typeface="Arial"/>
                          <a:cs typeface="Arial"/>
                        </a:rPr>
                        <a:t>Selection should not promise an item before approval.</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Separate selection, reservation and approval. Prevent duplicate allocation.</a:t>
                      </a:r>
                    </a:p>
                  </a:txBody>
                  <a:tcPr marL="91440" marR="91440" marT="45720" marB="45720" anchor="ctr">
                    <a:solidFill>
                      <a:srgbClr val="FAFAF7"/>
                    </a:solidFill>
                  </a:tcPr>
                </a:tc>
              </a:tr>
              <a:tr h="762000">
                <a:tc>
                  <a:txBody>
                    <a:bodyPr lIns="123825" tIns="76200" rIns="123825" bIns="76200">
                      <a:noAutofit/>
                    </a:bodyPr>
                    <a:lstStyle/>
                    <a:p>
                      <a:r>
                        <a:rPr sz="1800" b="0">
                          <a:solidFill>
                            <a:srgbClr val="17343C"/>
                          </a:solidFill>
                          <a:latin typeface="Arial"/>
                          <a:ea typeface="Arial"/>
                          <a:cs typeface="Arial"/>
                        </a:rPr>
                        <a:t>The requester wants to correct or cancel the assistant draft.</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Confirm before submission. Preserve input and provide classic fallback.</a:t>
                      </a:r>
                    </a:p>
                  </a:txBody>
                  <a:tcPr marL="91440" marR="91440" marT="45720" marB="45720" anchor="ctr">
                    <a:solidFill>
                      <a:srgbClr val="F0F4F3"/>
                    </a:solidFill>
                  </a:tcPr>
                </a:tc>
              </a:tr>
              <a:tr h="762000">
                <a:tc>
                  <a:txBody>
                    <a:bodyPr lIns="123825" tIns="76200" rIns="123825" bIns="76200">
                      <a:noAutofit/>
                    </a:bodyPr>
                    <a:lstStyle/>
                    <a:p>
                      <a:r>
                        <a:rPr sz="1800" b="0">
                          <a:solidFill>
                            <a:srgbClr val="17343C"/>
                          </a:solidFill>
                          <a:latin typeface="Arial"/>
                          <a:ea typeface="Arial"/>
                          <a:cs typeface="Arial"/>
                        </a:rPr>
                        <a:t>A guide, support contact and honest no-match response would help.</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Provide support and record difficulties. Repeat affected trial tasks.</a:t>
                      </a:r>
                    </a:p>
                  </a:txBody>
                  <a:tcPr marL="91440" marR="91440" marT="45720" marB="45720" anchor="ctr">
                    <a:solidFill>
                      <a:srgbClr val="FAFAF7"/>
                    </a:solidFill>
                  </a:tcPr>
                </a:tc>
              </a:tr>
            </a:tbl>
          </a:graphicData>
        </a:graphic>
      </p:graphicFrame>
    </p:spTree>
    <p:extLst>
      <p:ext uri="{BB962C8B-B14F-4D97-AF65-F5344CB8AC3E}">
        <p14:creationId xmlns:p14="http://schemas.microsoft.com/office/powerpoint/2010/main" val="1134866904"/>
      </p:ext>
    </p:extLst>
  </p:cSld>
</p:sld>
</file>

<file path=ppt/slides/slide25.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78F04FE0-36DD-4515-8ED2-3D1106C68706}"/>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Operational adoption and workload evidence</a:t>
            </a:r>
          </a:p>
        </p:txBody>
      </p:sp>
      <p:sp>
        <p:nvSpPr>
          <p:cNvPr id="2" name="page">
            <a:extLst xmlns:a="http://schemas.openxmlformats.org/drawingml/2006/main">
              <a:ext uri="{FF2B5EF4-FFF2-40B4-BE49-F238E27FC236}">
                <a16:creationId xmlns:a16="http://schemas.microsoft.com/office/drawing/2014/main" id="{91BB3F0D-DC50-47FD-A5B4-197DD02AC8C4}"/>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25</a:t>
            </a:r>
          </a:p>
        </p:txBody>
      </p:sp>
      <p:sp>
        <p:nvSpPr>
          <p:cNvPr id="3" name="source">
            <a:extLst xmlns:a="http://schemas.openxmlformats.org/drawingml/2006/main">
              <a:ext uri="{FF2B5EF4-FFF2-40B4-BE49-F238E27FC236}">
                <a16:creationId xmlns:a16="http://schemas.microsoft.com/office/drawing/2014/main" id="{59713DA8-6E02-4F85-94D5-A6B9735DD745}"/>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[S02]</a:t>
            </a:r>
          </a:p>
        </p:txBody>
      </p:sp>
      <p:sp>
        <p:nvSpPr>
          <p:cNvPr id="4" name="left-title">
            <a:extLst xmlns:a="http://schemas.openxmlformats.org/drawingml/2006/main">
              <a:ext uri="{FF2B5EF4-FFF2-40B4-BE49-F238E27FC236}">
                <a16:creationId xmlns:a16="http://schemas.microsoft.com/office/drawing/2014/main" id="{966B4C7A-7792-4504-AE7B-CA5638DBB481}"/>
              </a:ext>
            </a:extLst>
          </p:cNvPr>
          <p:cNvSpPr>
            <a:spLocks xmlns:a="http://schemas.openxmlformats.org/drawingml/2006/main" noGrp="1"/>
          </p:cNvSpPr>
          <p:nvPr/>
        </p:nvSpPr>
        <p:spPr>
          <a:xfrm xmlns:a="http://schemas.openxmlformats.org/drawingml/2006/main">
            <a:off x="647700" y="1685925"/>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Proposed adoption</a:t>
            </a:r>
          </a:p>
        </p:txBody>
      </p:sp>
      <p:sp>
        <p:nvSpPr>
          <p:cNvPr id="5" name="left-body">
            <a:extLst xmlns:a="http://schemas.openxmlformats.org/drawingml/2006/main">
              <a:ext uri="{FF2B5EF4-FFF2-40B4-BE49-F238E27FC236}">
                <a16:creationId xmlns:a16="http://schemas.microsoft.com/office/drawing/2014/main" id="{0E969AE7-377F-496E-BDF9-6999F38D2C48}"/>
              </a:ext>
            </a:extLst>
          </p:cNvPr>
          <p:cNvSpPr>
            <a:spLocks xmlns:a="http://schemas.openxmlformats.org/drawingml/2006/main" noGrp="1"/>
          </p:cNvSpPr>
          <p:nvPr/>
        </p:nvSpPr>
        <p:spPr>
          <a:xfrm xmlns:a="http://schemas.openxmlformats.org/drawingml/2006/main">
            <a:off x="647700" y="2333625"/>
            <a:ext cx="5067300" cy="2895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7343C"/>
                </a:solidFill>
                <a:latin typeface="Arial"/>
                <a:ea typeface="Arial"/>
                <a:cs typeface="Arial"/>
              </a:defRPr>
            </a:pPr>
            <a:r>
              <a:rPr sz="2100" b="0">
                <a:solidFill>
                  <a:srgbClr val="17343C"/>
                </a:solidFill>
                <a:latin typeface="Arial"/>
                <a:ea typeface="Arial"/>
                <a:cs typeface="Arial"/>
              </a:rPr>
              <a:t>Supervised demonstrations and a short task guide for each role.</a:t>
            </a:r>
          </a:p>
          <a:p xmlns:a="http://schemas.openxmlformats.org/drawingml/2006/main">
            <a:r>
              <a:t/>
            </a:r>
          </a:p>
          <a:p xmlns:a="http://schemas.openxmlformats.org/drawingml/2006/main">
            <a:pPr algn="l">
              <a:defRPr sz="2100" b="0">
                <a:solidFill>
                  <a:srgbClr val="17343C"/>
                </a:solidFill>
                <a:latin typeface="Arial"/>
                <a:ea typeface="Arial"/>
                <a:cs typeface="Arial"/>
              </a:defRPr>
            </a:pPr>
            <a:r>
              <a:rPr sz="2100" b="0">
                <a:solidFill>
                  <a:srgbClr val="17343C"/>
                </a:solidFill>
                <a:latin typeface="Arial"/>
                <a:ea typeface="Arial"/>
                <a:cs typeface="Arial"/>
              </a:rPr>
              <a:t>A support contact records confusing statuses, repeated entry and failed tasks.</a:t>
            </a:r>
          </a:p>
        </p:txBody>
      </p:sp>
      <p:sp>
        <p:nvSpPr>
          <p:cNvPr id="6" name="right-title">
            <a:extLst xmlns:a="http://schemas.openxmlformats.org/drawingml/2006/main">
              <a:ext uri="{FF2B5EF4-FFF2-40B4-BE49-F238E27FC236}">
                <a16:creationId xmlns:a16="http://schemas.microsoft.com/office/drawing/2014/main" id="{E474A63D-68D1-4F2C-91E6-FE736684F5C6}"/>
              </a:ext>
            </a:extLst>
          </p:cNvPr>
          <p:cNvSpPr>
            <a:spLocks xmlns:a="http://schemas.openxmlformats.org/drawingml/2006/main" noGrp="1"/>
          </p:cNvSpPr>
          <p:nvPr/>
        </p:nvSpPr>
        <p:spPr>
          <a:xfrm xmlns:a="http://schemas.openxmlformats.org/drawingml/2006/main">
            <a:off x="6477000" y="1685925"/>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Evidence for improvement</a:t>
            </a:r>
          </a:p>
        </p:txBody>
      </p:sp>
      <p:sp>
        <p:nvSpPr>
          <p:cNvPr id="7" name="right-body">
            <a:extLst xmlns:a="http://schemas.openxmlformats.org/drawingml/2006/main">
              <a:ext uri="{FF2B5EF4-FFF2-40B4-BE49-F238E27FC236}">
                <a16:creationId xmlns:a16="http://schemas.microsoft.com/office/drawing/2014/main" id="{FCCE8D07-7AA1-4D86-8CCC-0454719435F4}"/>
              </a:ext>
            </a:extLst>
          </p:cNvPr>
          <p:cNvSpPr>
            <a:spLocks xmlns:a="http://schemas.openxmlformats.org/drawingml/2006/main" noGrp="1"/>
          </p:cNvSpPr>
          <p:nvPr/>
        </p:nvSpPr>
        <p:spPr>
          <a:xfrm xmlns:a="http://schemas.openxmlformats.org/drawingml/2006/main">
            <a:off x="6477000" y="2333625"/>
            <a:ext cx="5067300" cy="2895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7343C"/>
                </a:solidFill>
                <a:latin typeface="Arial"/>
                <a:ea typeface="Arial"/>
                <a:cs typeface="Arial"/>
              </a:defRPr>
            </a:pPr>
            <a:r>
              <a:rPr sz="2100" b="0">
                <a:solidFill>
                  <a:srgbClr val="17343C"/>
                </a:solidFill>
                <a:latin typeface="Arial"/>
                <a:ea typeface="Arial"/>
                <a:cs typeface="Arial"/>
              </a:rPr>
              <a:t>Time the complete task across every role, including AI checking, corrections and record updates.</a:t>
            </a:r>
          </a:p>
          <a:p xmlns:a="http://schemas.openxmlformats.org/drawingml/2006/main">
            <a:r>
              <a:t/>
            </a:r>
          </a:p>
          <a:p xmlns:a="http://schemas.openxmlformats.org/drawingml/2006/main">
            <a:pPr algn="l">
              <a:defRPr sz="2100" b="0">
                <a:solidFill>
                  <a:srgbClr val="17343C"/>
                </a:solidFill>
                <a:latin typeface="Arial"/>
                <a:ea typeface="Arial"/>
                <a:cs typeface="Arial"/>
              </a:defRPr>
            </a:pPr>
            <a:r>
              <a:rPr sz="2100" b="0">
                <a:solidFill>
                  <a:srgbClr val="17343C"/>
                </a:solidFill>
                <a:latin typeface="Arial"/>
                <a:ea typeface="Arial"/>
                <a:cs typeface="Arial"/>
              </a:rPr>
              <a:t>Record waiting separately and repeat tasks after fixes.</a:t>
            </a:r>
          </a:p>
        </p:txBody>
      </p:sp>
      <p:sp>
        <p:nvSpPr>
          <p:cNvPr id="8" name="hours-formula">
            <a:extLst xmlns:a="http://schemas.openxmlformats.org/drawingml/2006/main">
              <a:ext uri="{FF2B5EF4-FFF2-40B4-BE49-F238E27FC236}">
                <a16:creationId xmlns:a16="http://schemas.microsoft.com/office/drawing/2014/main" id="{BD234F0A-49E5-47F1-A23F-AE333368AE5E}"/>
              </a:ext>
            </a:extLst>
          </p:cNvPr>
          <p:cNvSpPr>
            <a:spLocks xmlns:a="http://schemas.openxmlformats.org/drawingml/2006/main" noGrp="1"/>
          </p:cNvSpPr>
          <p:nvPr/>
        </p:nvSpPr>
        <p:spPr>
          <a:xfrm xmlns:a="http://schemas.openxmlformats.org/drawingml/2006/main">
            <a:off x="647700" y="5553075"/>
            <a:ext cx="10896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26746D"/>
                </a:solidFill>
                <a:latin typeface="Arial"/>
                <a:ea typeface="Arial"/>
                <a:cs typeface="Arial"/>
              </a:defRPr>
            </a:pPr>
            <a:r>
              <a:rPr sz="2100" b="1">
                <a:solidFill>
                  <a:srgbClr val="26746D"/>
                </a:solidFill>
                <a:latin typeface="Arial"/>
                <a:ea typeface="Arial"/>
                <a:cs typeface="Arial"/>
              </a:rPr>
              <a:t>Released hours = (baseline active minutes − proposed active minutes) / 60</a:t>
            </a:r>
          </a:p>
        </p:txBody>
      </p:sp>
      <p:sp>
        <p:nvSpPr>
          <p:cNvPr id="9" name="roleplay-boundary">
            <a:extLst xmlns:a="http://schemas.openxmlformats.org/drawingml/2006/main">
              <a:ext uri="{FF2B5EF4-FFF2-40B4-BE49-F238E27FC236}">
                <a16:creationId xmlns:a16="http://schemas.microsoft.com/office/drawing/2014/main" id="{0EB44A15-724B-4203-B169-DAB19E47D6C8}"/>
              </a:ext>
            </a:extLst>
          </p:cNvPr>
          <p:cNvSpPr>
            <a:spLocks xmlns:a="http://schemas.openxmlformats.org/drawingml/2006/main" noGrp="1"/>
          </p:cNvSpPr>
          <p:nvPr/>
        </p:nvSpPr>
        <p:spPr>
          <a:xfrm xmlns:a="http://schemas.openxmlformats.org/drawingml/2006/main">
            <a:off x="647700" y="6162675"/>
            <a:ext cx="10896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264"/>
                </a:solidFill>
                <a:latin typeface="Arial"/>
                <a:ea typeface="Arial"/>
                <a:cs typeface="Arial"/>
              </a:defRPr>
            </a:pPr>
            <a:r>
              <a:rPr sz="1650" b="0">
                <a:solidFill>
                  <a:srgbClr val="526264"/>
                </a:solidFill>
                <a:latin typeface="Arial"/>
                <a:ea typeface="Arial"/>
                <a:cs typeface="Arial"/>
              </a:rPr>
              <a:t>The simulations informed requirements. Actual KU work and staff acceptance remain unmeasured.</a:t>
            </a:r>
          </a:p>
        </p:txBody>
      </p:sp>
    </p:spTree>
    <p:extLst>
      <p:ext uri="{BB962C8B-B14F-4D97-AF65-F5344CB8AC3E}">
        <p14:creationId xmlns:p14="http://schemas.microsoft.com/office/powerpoint/2010/main" val="1560372345"/>
      </p:ext>
    </p:extLst>
  </p:cSld>
</p:sld>
</file>

<file path=ppt/slides/slide26.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1FC71C60-3D87-4B8E-AA48-D67D34607A6E}"/>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Rules, privacy and safe decisions</a:t>
            </a:r>
          </a:p>
        </p:txBody>
      </p:sp>
      <p:sp>
        <p:nvSpPr>
          <p:cNvPr id="2" name="page">
            <a:extLst xmlns:a="http://schemas.openxmlformats.org/drawingml/2006/main">
              <a:ext uri="{FF2B5EF4-FFF2-40B4-BE49-F238E27FC236}">
                <a16:creationId xmlns:a16="http://schemas.microsoft.com/office/drawing/2014/main" id="{D7496AEE-10AF-4393-9E04-D94430E28A48}"/>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26</a:t>
            </a:r>
          </a:p>
        </p:txBody>
      </p:sp>
      <p:sp>
        <p:nvSpPr>
          <p:cNvPr id="3" name="source">
            <a:extLst xmlns:a="http://schemas.openxmlformats.org/drawingml/2006/main">
              <a:ext uri="{FF2B5EF4-FFF2-40B4-BE49-F238E27FC236}">
                <a16:creationId xmlns:a16="http://schemas.microsoft.com/office/drawing/2014/main" id="{B9222354-699E-4D02-A061-19266EB5230C}"/>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[S02]</a:t>
            </a:r>
          </a:p>
        </p:txBody>
      </p:sp>
      <p:graphicFrame>
        <p:nvGraphicFramePr>
          <p:cNvPr id="9" name=""/>
          <p:cNvGraphicFramePr/>
          <p:nvPr/>
        </p:nvGraphicFramePr>
        <p:xfrm>
          <a:off xmlns:a="http://schemas.openxmlformats.org/drawingml/2006/main" x="647700" y="1676400"/>
          <a:ext xmlns:a="http://schemas.openxmlformats.org/drawingml/2006/main" cx="10896600" cy="4114800"/>
        </p:xfrm>
        <a:graphic xmlns:a="http://schemas.openxmlformats.org/drawingml/2006/main">
          <a:graphicData uri="http://schemas.openxmlformats.org/drawingml/2006/table">
            <a:tbl>
              <a:tblPr firstRow="0" firstCol="0" bandRow="0"/>
              <a:tblGrid>
                <a:gridCol w="3457575"/>
                <a:gridCol w="3905250"/>
                <a:gridCol w="3533775"/>
              </a:tblGrid>
              <a:tr h="552450">
                <a:tc>
                  <a:txBody>
                    <a:bodyPr lIns="123825" tIns="76200" rIns="123825" bIns="76200">
                      <a:noAutofit/>
                    </a:bodyPr>
                    <a:lstStyle/>
                    <a:p>
                      <a:r>
                        <a:rPr sz="1875" b="1">
                          <a:solidFill>
                            <a:srgbClr val="FFFFFF"/>
                          </a:solidFill>
                          <a:latin typeface="Arial"/>
                          <a:ea typeface="Arial"/>
                          <a:cs typeface="Arial"/>
                        </a:rPr>
                        <a:t>Question</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Proposed control</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Still to confirm</a:t>
                      </a:r>
                    </a:p>
                  </a:txBody>
                  <a:tcPr marL="91440" marR="91440" marT="45720" marB="45720" anchor="ctr">
                    <a:solidFill>
                      <a:srgbClr val="17343C"/>
                    </a:solidFill>
                  </a:tcPr>
                </a:tc>
              </a:tr>
              <a:tr h="1019175">
                <a:tc>
                  <a:txBody>
                    <a:bodyPr lIns="123825" tIns="76200" rIns="123825" bIns="76200">
                      <a:noAutofit/>
                    </a:bodyPr>
                    <a:lstStyle/>
                    <a:p>
                      <a:r>
                        <a:rPr sz="2025" b="0">
                          <a:solidFill>
                            <a:srgbClr val="17343C"/>
                          </a:solidFill>
                          <a:latin typeface="Arial"/>
                          <a:ea typeface="Arial"/>
                          <a:cs typeface="Arial"/>
                        </a:rPr>
                        <a:t>Who can see or change records?</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Roles and department checks</a:t>
                      </a:r>
                    </a:p>
                    <a:p>
                      <a:r>
                        <a:rPr sz="2025" b="0">
                          <a:solidFill>
                            <a:srgbClr val="17343C"/>
                          </a:solidFill>
                          <a:latin typeface="Arial"/>
                          <a:ea typeface="Arial"/>
                          <a:cs typeface="Arial"/>
                        </a:rPr>
                        <a:t>Audit controlled changes</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Actual KU authorisations</a:t>
                      </a:r>
                    </a:p>
                  </a:txBody>
                  <a:tcPr marL="91440" marR="91440" marT="45720" marB="45720" anchor="ctr">
                    <a:solidFill>
                      <a:srgbClr val="FAFAF7"/>
                    </a:solidFill>
                  </a:tcPr>
                </a:tc>
              </a:tr>
              <a:tr h="1257300">
                <a:tc>
                  <a:txBody>
                    <a:bodyPr lIns="123825" tIns="76200" rIns="123825" bIns="76200">
                      <a:noAutofit/>
                    </a:bodyPr>
                    <a:lstStyle/>
                    <a:p>
                      <a:r>
                        <a:rPr sz="2025" b="0">
                          <a:solidFill>
                            <a:srgbClr val="17343C"/>
                          </a:solidFill>
                          <a:latin typeface="Arial"/>
                          <a:ea typeface="Arial"/>
                          <a:cs typeface="Arial"/>
                        </a:rPr>
                        <a:t>What can leave the system?</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Synthetic data first</a:t>
                      </a:r>
                    </a:p>
                    <a:p>
                      <a:r>
                        <a:rPr sz="2025" b="0">
                          <a:solidFill>
                            <a:srgbClr val="17343C"/>
                          </a:solidFill>
                          <a:latin typeface="Arial"/>
                          <a:ea typeface="Arial"/>
                          <a:cs typeface="Arial"/>
                        </a:rPr>
                        <a:t>Minimal AI inputs and protected keys</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Provider terms, data location</a:t>
                      </a:r>
                    </a:p>
                    <a:p>
                      <a:r>
                        <a:rPr sz="2025" b="0">
                          <a:solidFill>
                            <a:srgbClr val="17343C"/>
                          </a:solidFill>
                          <a:latin typeface="Arial"/>
                          <a:ea typeface="Arial"/>
                          <a:cs typeface="Arial"/>
                        </a:rPr>
                        <a:t>and approved data routes</a:t>
                      </a:r>
                    </a:p>
                  </a:txBody>
                  <a:tcPr marL="91440" marR="91440" marT="45720" marB="45720" anchor="ctr">
                    <a:solidFill>
                      <a:srgbClr val="F0F4F3"/>
                    </a:solidFill>
                  </a:tcPr>
                </a:tc>
              </a:tr>
              <a:tr h="1285875">
                <a:tc>
                  <a:txBody>
                    <a:bodyPr lIns="123825" tIns="76200" rIns="123825" bIns="76200">
                      <a:noAutofit/>
                    </a:bodyPr>
                    <a:lstStyle/>
                    <a:p>
                      <a:r>
                        <a:rPr sz="2025" b="0">
                          <a:solidFill>
                            <a:srgbClr val="17343C"/>
                          </a:solidFill>
                          <a:latin typeface="Arial"/>
                          <a:ea typeface="Arial"/>
                          <a:cs typeface="Arial"/>
                        </a:rPr>
                        <a:t>Who can approve a transfer or disposal?</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Authorised staff decide</a:t>
                      </a:r>
                    </a:p>
                    <a:p>
                      <a:r>
                        <a:rPr sz="2025" b="0">
                          <a:solidFill>
                            <a:srgbClr val="17343C"/>
                          </a:solidFill>
                          <a:latin typeface="Arial"/>
                          <a:ea typeface="Arial"/>
                          <a:cs typeface="Arial"/>
                        </a:rPr>
                        <a:t>AI only recommends</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Financial thresholds, safety</a:t>
                      </a:r>
                    </a:p>
                    <a:p>
                      <a:r>
                        <a:rPr sz="2025" b="0">
                          <a:solidFill>
                            <a:srgbClr val="17343C"/>
                          </a:solidFill>
                          <a:latin typeface="Arial"/>
                          <a:ea typeface="Arial"/>
                          <a:cs typeface="Arial"/>
                        </a:rPr>
                        <a:t>and university policy</a:t>
                      </a:r>
                    </a:p>
                  </a:txBody>
                  <a:tcPr marL="91440" marR="91440" marT="45720" marB="45720" anchor="ctr">
                    <a:solidFill>
                      <a:srgbClr val="FAFAF7"/>
                    </a:solidFill>
                  </a:tcPr>
                </a:tc>
              </a:tr>
            </a:tbl>
          </a:graphicData>
        </a:graphic>
      </p:graphicFrame>
      <p:sp>
        <p:nvSpPr>
          <p:cNvPr id="5" name="takeaway">
            <a:extLst xmlns:a="http://schemas.openxmlformats.org/drawingml/2006/main">
              <a:ext uri="{FF2B5EF4-FFF2-40B4-BE49-F238E27FC236}">
                <a16:creationId xmlns:a16="http://schemas.microsoft.com/office/drawing/2014/main" id="{BCA4A8EE-E956-4578-8425-ECBC83A12314}"/>
              </a:ext>
            </a:extLst>
          </p:cNvPr>
          <p:cNvSpPr>
            <a:spLocks xmlns:a="http://schemas.openxmlformats.org/drawingml/2006/main" noGrp="1"/>
          </p:cNvSpPr>
          <p:nvPr/>
        </p:nvSpPr>
        <p:spPr>
          <a:xfrm xmlns:a="http://schemas.openxmlformats.org/drawingml/2006/main">
            <a:off x="647700" y="6096000"/>
            <a:ext cx="10896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26746D"/>
                </a:solidFill>
                <a:latin typeface="Arial"/>
                <a:ea typeface="Arial"/>
                <a:cs typeface="Arial"/>
              </a:defRPr>
            </a:pPr>
            <a:r>
              <a:rPr sz="1800" b="1">
                <a:solidFill>
                  <a:srgbClr val="26746D"/>
                </a:solidFill>
                <a:latin typeface="Arial"/>
                <a:ea typeface="Arial"/>
                <a:cs typeface="Arial"/>
              </a:rPr>
              <a:t>A classroom prototype does not establish permission for a live KU service</a:t>
            </a:r>
          </a:p>
        </p:txBody>
      </p:sp>
    </p:spTree>
    <p:extLst>
      <p:ext uri="{BB962C8B-B14F-4D97-AF65-F5344CB8AC3E}">
        <p14:creationId xmlns:p14="http://schemas.microsoft.com/office/powerpoint/2010/main" val="662911089"/>
      </p:ext>
    </p:extLst>
  </p:cSld>
</p:sld>
</file>

<file path=ppt/slides/slide27.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0D44A9E1-1150-48B1-910D-FE75A77EF1FB}"/>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Two cost views for the same project</a:t>
            </a:r>
          </a:p>
        </p:txBody>
      </p:sp>
      <p:sp>
        <p:nvSpPr>
          <p:cNvPr id="2" name="page">
            <a:extLst xmlns:a="http://schemas.openxmlformats.org/drawingml/2006/main">
              <a:ext uri="{FF2B5EF4-FFF2-40B4-BE49-F238E27FC236}">
                <a16:creationId xmlns:a16="http://schemas.microsoft.com/office/drawing/2014/main" id="{4DEF8237-291B-49D4-B1C2-9A05D44A2CC6}"/>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27</a:t>
            </a:r>
          </a:p>
        </p:txBody>
      </p:sp>
      <p:sp>
        <p:nvSpPr>
          <p:cNvPr id="3" name="source">
            <a:extLst xmlns:a="http://schemas.openxmlformats.org/drawingml/2006/main">
              <a:ext uri="{FF2B5EF4-FFF2-40B4-BE49-F238E27FC236}">
                <a16:creationId xmlns:a16="http://schemas.microsoft.com/office/drawing/2014/main" id="{E30175CC-365E-4ED7-8E2D-7E7972EB665E}"/>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[S02] [S12] [S13] [S24]</a:t>
            </a:r>
          </a:p>
        </p:txBody>
      </p:sp>
      <p:sp>
        <p:nvSpPr>
          <p:cNvPr id="4" name="left-title">
            <a:extLst xmlns:a="http://schemas.openxmlformats.org/drawingml/2006/main">
              <a:ext uri="{FF2B5EF4-FFF2-40B4-BE49-F238E27FC236}">
                <a16:creationId xmlns:a16="http://schemas.microsoft.com/office/drawing/2014/main" id="{4FA8700A-0A78-4DAF-8078-D4096BE8892A}"/>
              </a:ext>
            </a:extLst>
          </p:cNvPr>
          <p:cNvSpPr>
            <a:spLocks xmlns:a="http://schemas.openxmlformats.org/drawingml/2006/main" noGrp="1"/>
          </p:cNvSpPr>
          <p:nvPr/>
        </p:nvSpPr>
        <p:spPr>
          <a:xfrm xmlns:a="http://schemas.openxmlformats.org/drawingml/2006/main">
            <a:off x="647700" y="1676400"/>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Student cash plan</a:t>
            </a:r>
          </a:p>
        </p:txBody>
      </p:sp>
      <p:sp>
        <p:nvSpPr>
          <p:cNvPr id="5" name="left-body">
            <a:extLst xmlns:a="http://schemas.openxmlformats.org/drawingml/2006/main">
              <a:ext uri="{FF2B5EF4-FFF2-40B4-BE49-F238E27FC236}">
                <a16:creationId xmlns:a16="http://schemas.microsoft.com/office/drawing/2014/main" id="{DA92C4EC-B0AA-44AE-93F2-79F701BCF181}"/>
              </a:ext>
            </a:extLst>
          </p:cNvPr>
          <p:cNvSpPr>
            <a:spLocks xmlns:a="http://schemas.openxmlformats.org/drawingml/2006/main" noGrp="1"/>
          </p:cNvSpPr>
          <p:nvPr/>
        </p:nvSpPr>
        <p:spPr>
          <a:xfrm xmlns:a="http://schemas.openxmlformats.org/drawingml/2006/main">
            <a:off x="647700" y="2324100"/>
            <a:ext cx="50673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7343C"/>
                </a:solidFill>
                <a:latin typeface="Arial"/>
                <a:ea typeface="Arial"/>
                <a:cs typeface="Arial"/>
              </a:defRPr>
            </a:pPr>
            <a:r>
              <a:rPr sz="2250" b="0">
                <a:solidFill>
                  <a:srgbClr val="17343C"/>
                </a:solidFill>
                <a:latin typeface="Arial"/>
                <a:ea typeface="Arial"/>
                <a:cs typeface="Arial"/>
              </a:rPr>
              <a:t>Existing laptops and free software.</a:t>
            </a:r>
          </a:p>
          <a:p xmlns:a="http://schemas.openxmlformats.org/drawingml/2006/main">
            <a:r>
              <a:t/>
            </a:r>
          </a:p>
          <a:p xmlns:a="http://schemas.openxmlformats.org/drawingml/2006/main">
            <a:pPr algn="l">
              <a:defRPr sz="2250" b="0">
                <a:solidFill>
                  <a:srgbClr val="17343C"/>
                </a:solidFill>
                <a:latin typeface="Arial"/>
                <a:ea typeface="Arial"/>
                <a:cs typeface="Arial"/>
              </a:defRPr>
            </a:pPr>
            <a:r>
              <a:rPr sz="2250" b="0">
                <a:solidFill>
                  <a:srgbClr val="17343C"/>
                </a:solidFill>
                <a:latin typeface="Arial"/>
                <a:ea typeface="Arial"/>
                <a:cs typeface="Arial"/>
              </a:rPr>
              <a:t>Render + Neon is the free hosting candidate. Approved API access or a validated alternative is still needed.</a:t>
            </a:r>
          </a:p>
        </p:txBody>
      </p:sp>
      <p:sp>
        <p:nvSpPr>
          <p:cNvPr id="6" name="right-title">
            <a:extLst xmlns:a="http://schemas.openxmlformats.org/drawingml/2006/main">
              <a:ext uri="{FF2B5EF4-FFF2-40B4-BE49-F238E27FC236}">
                <a16:creationId xmlns:a16="http://schemas.microsoft.com/office/drawing/2014/main" id="{4B514108-533E-4311-A105-A546EA38590A}"/>
              </a:ext>
            </a:extLst>
          </p:cNvPr>
          <p:cNvSpPr>
            <a:spLocks xmlns:a="http://schemas.openxmlformats.org/drawingml/2006/main" noGrp="1"/>
          </p:cNvSpPr>
          <p:nvPr/>
        </p:nvSpPr>
        <p:spPr>
          <a:xfrm xmlns:a="http://schemas.openxmlformats.org/drawingml/2006/main">
            <a:off x="6477000" y="1676400"/>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Paid hosting scenario</a:t>
            </a:r>
          </a:p>
        </p:txBody>
      </p:sp>
      <p:sp>
        <p:nvSpPr>
          <p:cNvPr id="7" name="right-body">
            <a:extLst xmlns:a="http://schemas.openxmlformats.org/drawingml/2006/main">
              <a:ext uri="{FF2B5EF4-FFF2-40B4-BE49-F238E27FC236}">
                <a16:creationId xmlns:a16="http://schemas.microsoft.com/office/drawing/2014/main" id="{0CFFDA2D-A313-4961-BE48-B1FAB6A70B05}"/>
              </a:ext>
            </a:extLst>
          </p:cNvPr>
          <p:cNvSpPr>
            <a:spLocks xmlns:a="http://schemas.openxmlformats.org/drawingml/2006/main" noGrp="1"/>
          </p:cNvSpPr>
          <p:nvPr/>
        </p:nvSpPr>
        <p:spPr>
          <a:xfrm xmlns:a="http://schemas.openxmlformats.org/drawingml/2006/main">
            <a:off x="6477000" y="2324100"/>
            <a:ext cx="50673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7343C"/>
                </a:solidFill>
                <a:latin typeface="Arial"/>
                <a:ea typeface="Arial"/>
                <a:cs typeface="Arial"/>
              </a:defRPr>
            </a:pPr>
            <a:r>
              <a:rPr sz="2250" b="0">
                <a:solidFill>
                  <a:srgbClr val="17343C"/>
                </a:solidFill>
                <a:latin typeface="Arial"/>
                <a:ea typeface="Arial"/>
                <a:cs typeface="Arial"/>
              </a:rPr>
              <a:t>Show one-time, recurring and transfer costs.</a:t>
            </a:r>
          </a:p>
          <a:p xmlns:a="http://schemas.openxmlformats.org/drawingml/2006/main">
            <a:r>
              <a:t/>
            </a:r>
          </a:p>
          <a:p xmlns:a="http://schemas.openxmlformats.org/drawingml/2006/main">
            <a:pPr algn="l">
              <a:defRPr sz="2250" b="0">
                <a:solidFill>
                  <a:srgbClr val="17343C"/>
                </a:solidFill>
                <a:latin typeface="Arial"/>
                <a:ea typeface="Arial"/>
                <a:cs typeface="Arial"/>
              </a:defRPr>
            </a:pPr>
            <a:r>
              <a:rPr sz="2250" b="0">
                <a:solidFill>
                  <a:srgbClr val="17343C"/>
                </a:solidFill>
                <a:latin typeface="Arial"/>
                <a:ea typeface="Arial"/>
                <a:cs typeface="Arial"/>
              </a:rPr>
              <a:t>Then include the value of time to test whether custom development is worthwhile.</a:t>
            </a:r>
          </a:p>
        </p:txBody>
      </p:sp>
      <p:sp>
        <p:nvSpPr>
          <p:cNvPr id="8" name="takeaway">
            <a:extLst xmlns:a="http://schemas.openxmlformats.org/drawingml/2006/main">
              <a:ext uri="{FF2B5EF4-FFF2-40B4-BE49-F238E27FC236}">
                <a16:creationId xmlns:a16="http://schemas.microsoft.com/office/drawing/2014/main" id="{583A9BE9-F518-4E37-8D20-5BB64A76ADC2}"/>
              </a:ext>
            </a:extLst>
          </p:cNvPr>
          <p:cNvSpPr>
            <a:spLocks xmlns:a="http://schemas.openxmlformats.org/drawingml/2006/main" noGrp="1"/>
          </p:cNvSpPr>
          <p:nvPr/>
        </p:nvSpPr>
        <p:spPr>
          <a:xfrm xmlns:a="http://schemas.openxmlformats.org/drawingml/2006/main">
            <a:off x="647700" y="5962650"/>
            <a:ext cx="10896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26746D"/>
                </a:solidFill>
                <a:latin typeface="Arial"/>
                <a:ea typeface="Arial"/>
                <a:cs typeface="Arial"/>
              </a:defRPr>
            </a:pPr>
            <a:r>
              <a:rPr sz="2100" b="1">
                <a:solidFill>
                  <a:srgbClr val="26746D"/>
                </a:solidFill>
                <a:latin typeface="Arial"/>
                <a:ea typeface="Arial"/>
                <a:cs typeface="Arial"/>
              </a:rPr>
              <a:t>Test hosting limits, restart, lasting file storage and backups [S12–13]</a:t>
            </a:r>
          </a:p>
        </p:txBody>
      </p:sp>
    </p:spTree>
    <p:extLst>
      <p:ext uri="{BB962C8B-B14F-4D97-AF65-F5344CB8AC3E}">
        <p14:creationId xmlns:p14="http://schemas.microsoft.com/office/powerpoint/2010/main" val="1148407933"/>
      </p:ext>
    </p:extLst>
  </p:cSld>
</p:sld>
</file>

<file path=ppt/slides/slide28.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F8735D12-1F0E-4D00-9B91-AF3CD23F04BC}"/>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Railway hosting example: USD 6.20/month</a:t>
            </a:r>
          </a:p>
        </p:txBody>
      </p:sp>
      <p:sp>
        <p:nvSpPr>
          <p:cNvPr id="2" name="page">
            <a:extLst xmlns:a="http://schemas.openxmlformats.org/drawingml/2006/main">
              <a:ext uri="{FF2B5EF4-FFF2-40B4-BE49-F238E27FC236}">
                <a16:creationId xmlns:a16="http://schemas.microsoft.com/office/drawing/2014/main" id="{78286574-1BA2-494B-9D77-6ADC1B3DFED0}"/>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28</a:t>
            </a:r>
          </a:p>
        </p:txBody>
      </p:sp>
      <p:sp>
        <p:nvSpPr>
          <p:cNvPr id="3" name="source">
            <a:extLst xmlns:a="http://schemas.openxmlformats.org/drawingml/2006/main">
              <a:ext uri="{FF2B5EF4-FFF2-40B4-BE49-F238E27FC236}">
                <a16:creationId xmlns:a16="http://schemas.microsoft.com/office/drawing/2014/main" id="{74495548-8F11-4205-A030-C0A0575D4B44}"/>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[S11] [S14]</a:t>
            </a:r>
          </a:p>
        </p:txBody>
      </p:sp>
      <p:sp>
        <p:nvSpPr>
          <p:cNvPr id="4" name="host-number">
            <a:extLst xmlns:a="http://schemas.openxmlformats.org/drawingml/2006/main">
              <a:ext uri="{FF2B5EF4-FFF2-40B4-BE49-F238E27FC236}">
                <a16:creationId xmlns:a16="http://schemas.microsoft.com/office/drawing/2014/main" id="{CA094CB7-59D8-4782-9DDE-3C70DFA770A8}"/>
              </a:ext>
            </a:extLst>
          </p:cNvPr>
          <p:cNvSpPr>
            <a:spLocks xmlns:a="http://schemas.openxmlformats.org/drawingml/2006/main" noGrp="1"/>
          </p:cNvSpPr>
          <p:nvPr/>
        </p:nvSpPr>
        <p:spPr>
          <a:xfrm xmlns:a="http://schemas.openxmlformats.org/drawingml/2006/main">
            <a:off x="647700" y="1952625"/>
            <a:ext cx="35623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75" b="1">
                <a:solidFill>
                  <a:srgbClr val="17343C"/>
                </a:solidFill>
                <a:latin typeface="Arial"/>
                <a:ea typeface="Arial"/>
                <a:cs typeface="Arial"/>
              </a:defRPr>
            </a:pPr>
            <a:r>
              <a:rPr sz="4875" b="1">
                <a:solidFill>
                  <a:srgbClr val="17343C"/>
                </a:solidFill>
                <a:latin typeface="Arial"/>
                <a:ea typeface="Arial"/>
                <a:cs typeface="Arial"/>
              </a:rPr>
              <a:t>USD 6.20</a:t>
            </a:r>
          </a:p>
        </p:txBody>
      </p:sp>
      <p:sp>
        <p:nvSpPr>
          <p:cNvPr id="5" name="host-year">
            <a:extLst xmlns:a="http://schemas.openxmlformats.org/drawingml/2006/main">
              <a:ext uri="{FF2B5EF4-FFF2-40B4-BE49-F238E27FC236}">
                <a16:creationId xmlns:a16="http://schemas.microsoft.com/office/drawing/2014/main" id="{B7B2E447-3024-4506-80F9-861075F34C16}"/>
              </a:ext>
            </a:extLst>
          </p:cNvPr>
          <p:cNvSpPr>
            <a:spLocks xmlns:a="http://schemas.openxmlformats.org/drawingml/2006/main" noGrp="1"/>
          </p:cNvSpPr>
          <p:nvPr/>
        </p:nvSpPr>
        <p:spPr>
          <a:xfrm xmlns:a="http://schemas.openxmlformats.org/drawingml/2006/main">
            <a:off x="647700" y="3057525"/>
            <a:ext cx="35147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6746D"/>
                </a:solidFill>
                <a:latin typeface="Arial"/>
                <a:ea typeface="Arial"/>
                <a:cs typeface="Arial"/>
              </a:defRPr>
            </a:pPr>
            <a:r>
              <a:rPr sz="2250" b="1">
                <a:solidFill>
                  <a:srgbClr val="26746D"/>
                </a:solidFill>
                <a:latin typeface="Arial"/>
                <a:ea typeface="Arial"/>
                <a:cs typeface="Arial"/>
              </a:rPr>
              <a:t>AED 273.23 / year</a:t>
            </a:r>
          </a:p>
        </p:txBody>
      </p:sp>
      <p:sp>
        <p:nvSpPr>
          <p:cNvPr id="6" name="host-assumed">
            <a:extLst xmlns:a="http://schemas.openxmlformats.org/drawingml/2006/main">
              <a:ext uri="{FF2B5EF4-FFF2-40B4-BE49-F238E27FC236}">
                <a16:creationId xmlns:a16="http://schemas.microsoft.com/office/drawing/2014/main" id="{0CCAD80F-B20F-4EBC-9C1B-AF9D0A6AC777}"/>
              </a:ext>
            </a:extLst>
          </p:cNvPr>
          <p:cNvSpPr>
            <a:spLocks xmlns:a="http://schemas.openxmlformats.org/drawingml/2006/main" noGrp="1"/>
          </p:cNvSpPr>
          <p:nvPr/>
        </p:nvSpPr>
        <p:spPr>
          <a:xfrm xmlns:a="http://schemas.openxmlformats.org/drawingml/2006/main">
            <a:off x="647700" y="3914775"/>
            <a:ext cx="3457575"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7343C"/>
                </a:solidFill>
                <a:latin typeface="Arial"/>
                <a:ea typeface="Arial"/>
                <a:cs typeface="Arial"/>
              </a:defRPr>
            </a:pPr>
            <a:r>
              <a:rPr sz="2025" b="0">
                <a:solidFill>
                  <a:srgbClr val="17343C"/>
                </a:solidFill>
                <a:latin typeface="Arial"/>
                <a:ea typeface="Arial"/>
                <a:cs typeface="Arial"/>
              </a:rPr>
              <a:t>Assumed combined use</a:t>
            </a:r>
          </a:p>
          <a:p xmlns:a="http://schemas.openxmlformats.org/drawingml/2006/main">
            <a:pPr algn="l">
              <a:defRPr sz="2025" b="0">
                <a:solidFill>
                  <a:srgbClr val="17343C"/>
                </a:solidFill>
                <a:latin typeface="Arial"/>
                <a:ea typeface="Arial"/>
                <a:cs typeface="Arial"/>
              </a:defRPr>
            </a:pPr>
            <a:r>
              <a:rPr sz="2025" b="0">
                <a:solidFill>
                  <a:srgbClr val="17343C"/>
                </a:solidFill>
                <a:latin typeface="Arial"/>
                <a:ea typeface="Arial"/>
                <a:cs typeface="Arial"/>
              </a:rPr>
              <a:t>0.5 GB RAM</a:t>
            </a:r>
          </a:p>
          <a:p xmlns:a="http://schemas.openxmlformats.org/drawingml/2006/main">
            <a:pPr algn="l">
              <a:defRPr sz="2025" b="0">
                <a:solidFill>
                  <a:srgbClr val="17343C"/>
                </a:solidFill>
                <a:latin typeface="Arial"/>
                <a:ea typeface="Arial"/>
                <a:cs typeface="Arial"/>
              </a:defRPr>
            </a:pPr>
            <a:r>
              <a:rPr sz="2025" b="0">
                <a:solidFill>
                  <a:srgbClr val="17343C"/>
                </a:solidFill>
                <a:latin typeface="Arial"/>
                <a:ea typeface="Arial"/>
                <a:cs typeface="Arial"/>
              </a:rPr>
              <a:t>0.05 vCPU</a:t>
            </a:r>
          </a:p>
          <a:p xmlns:a="http://schemas.openxmlformats.org/drawingml/2006/main">
            <a:pPr algn="l">
              <a:defRPr sz="2025" b="0">
                <a:solidFill>
                  <a:srgbClr val="17343C"/>
                </a:solidFill>
                <a:latin typeface="Arial"/>
                <a:ea typeface="Arial"/>
                <a:cs typeface="Arial"/>
              </a:defRPr>
            </a:pPr>
            <a:r>
              <a:rPr sz="2025" b="0">
                <a:solidFill>
                  <a:srgbClr val="17343C"/>
                </a:solidFill>
                <a:latin typeface="Arial"/>
                <a:ea typeface="Arial"/>
                <a:cs typeface="Arial"/>
              </a:rPr>
              <a:t>1 GB stored</a:t>
            </a:r>
          </a:p>
          <a:p xmlns:a="http://schemas.openxmlformats.org/drawingml/2006/main">
            <a:pPr algn="l">
              <a:defRPr sz="2025" b="0">
                <a:solidFill>
                  <a:srgbClr val="17343C"/>
                </a:solidFill>
                <a:latin typeface="Arial"/>
                <a:ea typeface="Arial"/>
                <a:cs typeface="Arial"/>
              </a:defRPr>
            </a:pPr>
            <a:r>
              <a:rPr sz="2025" b="0">
                <a:solidFill>
                  <a:srgbClr val="17343C"/>
                </a:solidFill>
                <a:latin typeface="Arial"/>
                <a:ea typeface="Arial"/>
                <a:cs typeface="Arial"/>
              </a:rPr>
              <a:t>1 GB/month sent</a:t>
            </a:r>
          </a:p>
        </p:txBody>
      </p:sp>
      <p:graphicFrame>
        <p:nvGraphicFramePr>
          <p:cNvPr id="15" name="Chart"/>
          <p:cNvGraphicFramePr/>
          <p:nvPr/>
        </p:nvGraphicFramePr>
        <p:xfrm>
          <a:off xmlns:a="http://schemas.openxmlformats.org/drawingml/2006/main" x="4333875" y="1724025"/>
          <a:ext xmlns:a="http://schemas.openxmlformats.org/drawingml/2006/main" cx="7210425" cy="4010025"/>
        </p:xfrm>
        <a:graphic xmlns:a="http://schemas.openxmlformats.org/drawingml/2006/main">
          <a:graphicData uri="http://schemas.openxmlformats.org/drawingml/2006/chart">
            <c:chart xmlns:r="http://schemas.openxmlformats.org/officeDocument/2006/relationships" xmlns:c="http://schemas.openxmlformats.org/drawingml/2006/chart" r:id="Rc0ab99516cda42c6"/>
          </a:graphicData>
        </a:graphic>
      </p:graphicFrame>
      <p:sp>
        <p:nvSpPr>
          <p:cNvPr id="8" name="takeaway">
            <a:extLst xmlns:a="http://schemas.openxmlformats.org/drawingml/2006/main">
              <a:ext uri="{FF2B5EF4-FFF2-40B4-BE49-F238E27FC236}">
                <a16:creationId xmlns:a16="http://schemas.microsoft.com/office/drawing/2014/main" id="{8B8DAB1A-5BE0-4B49-9348-F4094675259B}"/>
              </a:ext>
            </a:extLst>
          </p:cNvPr>
          <p:cNvSpPr>
            <a:spLocks xmlns:a="http://schemas.openxmlformats.org/drawingml/2006/main" noGrp="1"/>
          </p:cNvSpPr>
          <p:nvPr/>
        </p:nvSpPr>
        <p:spPr>
          <a:xfrm xmlns:a="http://schemas.openxmlformats.org/drawingml/2006/main">
            <a:off x="647700" y="6105525"/>
            <a:ext cx="10896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6746D"/>
                </a:solidFill>
                <a:latin typeface="Arial"/>
                <a:ea typeface="Arial"/>
                <a:cs typeface="Arial"/>
              </a:defRPr>
            </a:pPr>
            <a:r>
              <a:rPr sz="1725" b="1">
                <a:solidFill>
                  <a:srgbClr val="26746D"/>
                </a:solidFill>
                <a:latin typeface="Arial"/>
                <a:ea typeface="Arial"/>
                <a:cs typeface="Arial"/>
              </a:rPr>
              <a:t>AF02–05: unmeasured use. Hosted AI avoids local model weights. Test capacity.</a:t>
            </a:r>
          </a:p>
        </p:txBody>
      </p:sp>
    </p:spTree>
    <p:extLst>
      <p:ext uri="{BB962C8B-B14F-4D97-AF65-F5344CB8AC3E}">
        <p14:creationId xmlns:p14="http://schemas.microsoft.com/office/powerpoint/2010/main" val="273627623"/>
      </p:ext>
    </p:extLst>
  </p:cSld>
</p:sld>
</file>

<file path=ppt/slides/slide29.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4B4EEFE1-639F-4CC6-B1C6-31B1BDD24800}"/>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One-time and recurring cash costs</a:t>
            </a:r>
          </a:p>
        </p:txBody>
      </p:sp>
      <p:sp>
        <p:nvSpPr>
          <p:cNvPr id="2" name="page">
            <a:extLst xmlns:a="http://schemas.openxmlformats.org/drawingml/2006/main">
              <a:ext uri="{FF2B5EF4-FFF2-40B4-BE49-F238E27FC236}">
                <a16:creationId xmlns:a16="http://schemas.microsoft.com/office/drawing/2014/main" id="{1525CFCA-1DBB-4099-85E0-3420D0C8CB18}"/>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29</a:t>
            </a:r>
          </a:p>
        </p:txBody>
      </p:sp>
      <p:sp>
        <p:nvSpPr>
          <p:cNvPr id="3" name="source">
            <a:extLst xmlns:a="http://schemas.openxmlformats.org/drawingml/2006/main">
              <a:ext uri="{FF2B5EF4-FFF2-40B4-BE49-F238E27FC236}">
                <a16:creationId xmlns:a16="http://schemas.microsoft.com/office/drawing/2014/main" id="{E8786040-D805-4DE1-A895-8505F4089797}"/>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[S11] [S14] [S24]</a:t>
            </a:r>
          </a:p>
        </p:txBody>
      </p:sp>
      <p:graphicFrame>
        <p:nvGraphicFramePr>
          <p:cNvPr id="9" name=""/>
          <p:cNvGraphicFramePr/>
          <p:nvPr/>
        </p:nvGraphicFramePr>
        <p:xfrm>
          <a:off xmlns:a="http://schemas.openxmlformats.org/drawingml/2006/main" x="647700" y="1485900"/>
          <a:ext xmlns:a="http://schemas.openxmlformats.org/drawingml/2006/main" cx="10896600" cy="4400550"/>
        </p:xfrm>
        <a:graphic xmlns:a="http://schemas.openxmlformats.org/drawingml/2006/main">
          <a:graphicData uri="http://schemas.openxmlformats.org/drawingml/2006/table">
            <a:tbl>
              <a:tblPr firstRow="0" firstCol="0" bandRow="0"/>
              <a:tblGrid>
                <a:gridCol w="2000250"/>
                <a:gridCol w="6858000"/>
                <a:gridCol w="2038350"/>
              </a:tblGrid>
              <a:tr h="514350">
                <a:tc>
                  <a:txBody>
                    <a:bodyPr lIns="123825" tIns="76200" rIns="123825" bIns="76200">
                      <a:noAutofit/>
                    </a:bodyPr>
                    <a:lstStyle/>
                    <a:p>
                      <a:r>
                        <a:rPr sz="1875" b="1">
                          <a:solidFill>
                            <a:srgbClr val="FFFFFF"/>
                          </a:solidFill>
                          <a:latin typeface="Arial"/>
                          <a:ea typeface="Arial"/>
                          <a:cs typeface="Arial"/>
                        </a:rPr>
                        <a:t>When paid</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Item / basis</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AED</a:t>
                      </a:r>
                    </a:p>
                  </a:txBody>
                  <a:tcPr marL="91440" marR="91440" marT="45720" marB="45720" anchor="ctr">
                    <a:solidFill>
                      <a:srgbClr val="17343C"/>
                    </a:solidFill>
                  </a:tcPr>
                </a:tc>
              </a:tr>
              <a:tr h="647700">
                <a:tc>
                  <a:txBody>
                    <a:bodyPr lIns="123825" tIns="76200" rIns="123825" bIns="76200">
                      <a:noAutofit/>
                    </a:bodyPr>
                    <a:lstStyle/>
                    <a:p>
                      <a:r>
                        <a:rPr sz="1800" b="0">
                          <a:solidFill>
                            <a:srgbClr val="17343C"/>
                          </a:solidFill>
                          <a:latin typeface="Arial"/>
                          <a:ea typeface="Arial"/>
                          <a:cs typeface="Arial"/>
                        </a:rPr>
                        <a:t>Once at setup</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Setup allowance 200 + 15% reserve [AF09–10]</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230.00</a:t>
                      </a:r>
                    </a:p>
                  </a:txBody>
                  <a:tcPr marL="91440" marR="91440" marT="45720" marB="45720" anchor="ctr">
                    <a:solidFill>
                      <a:srgbClr val="FAFAF7"/>
                    </a:solidFill>
                  </a:tcPr>
                </a:tc>
              </a:tr>
              <a:tr h="590550">
                <a:tc>
                  <a:txBody>
                    <a:bodyPr lIns="123825" tIns="76200" rIns="123825" bIns="76200">
                      <a:noAutofit/>
                    </a:bodyPr>
                    <a:lstStyle/>
                    <a:p>
                      <a:r>
                        <a:rPr sz="1800" b="0">
                          <a:solidFill>
                            <a:srgbClr val="17343C"/>
                          </a:solidFill>
                          <a:latin typeface="Arial"/>
                          <a:ea typeface="Arial"/>
                          <a:cs typeface="Arial"/>
                        </a:rPr>
                        <a:t>Every year</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Hosting [S11, S14. AF02–05]</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273.23</a:t>
                      </a:r>
                    </a:p>
                  </a:txBody>
                  <a:tcPr marL="91440" marR="91440" marT="45720" marB="45720" anchor="ctr">
                    <a:solidFill>
                      <a:srgbClr val="F0F4F3"/>
                    </a:solidFill>
                  </a:tcPr>
                </a:tc>
              </a:tr>
              <a:tr h="647700">
                <a:tc>
                  <a:txBody>
                    <a:bodyPr lIns="123825" tIns="76200" rIns="123825" bIns="76200">
                      <a:noAutofit/>
                    </a:bodyPr>
                    <a:lstStyle/>
                    <a:p>
                      <a:r>
                        <a:rPr sz="1800" b="0">
                          <a:solidFill>
                            <a:srgbClr val="17343C"/>
                          </a:solidFill>
                          <a:latin typeface="Arial"/>
                          <a:ea typeface="Arial"/>
                          <a:cs typeface="Arial"/>
                        </a:rPr>
                        <a:t>Every year</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AI cap [AF07], files/backup cap [AF08]</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661.05</a:t>
                      </a:r>
                    </a:p>
                  </a:txBody>
                  <a:tcPr marL="91440" marR="91440" marT="45720" marB="45720" anchor="ctr">
                    <a:solidFill>
                      <a:srgbClr val="FAFAF7"/>
                    </a:solidFill>
                  </a:tcPr>
                </a:tc>
              </a:tr>
              <a:tr h="609600">
                <a:tc>
                  <a:txBody>
                    <a:bodyPr lIns="123825" tIns="76200" rIns="123825" bIns="76200">
                      <a:noAutofit/>
                    </a:bodyPr>
                    <a:lstStyle/>
                    <a:p>
                      <a:r>
                        <a:rPr sz="1800" b="0">
                          <a:solidFill>
                            <a:srgbClr val="17343C"/>
                          </a:solidFill>
                          <a:latin typeface="Arial"/>
                          <a:ea typeface="Arial"/>
                          <a:cs typeface="Arial"/>
                        </a:rPr>
                        <a:t>Every year</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15% reserve on recurring base [AF10]</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140.14</a:t>
                      </a:r>
                    </a:p>
                  </a:txBody>
                  <a:tcPr marL="91440" marR="91440" marT="45720" marB="45720" anchor="ctr">
                    <a:solidFill>
                      <a:srgbClr val="F0F4F3"/>
                    </a:solidFill>
                  </a:tcPr>
                </a:tc>
              </a:tr>
              <a:tr h="628650">
                <a:tc>
                  <a:txBody>
                    <a:bodyPr lIns="123825" tIns="76200" rIns="123825" bIns="76200">
                      <a:noAutofit/>
                    </a:bodyPr>
                    <a:lstStyle/>
                    <a:p>
                      <a:r>
                        <a:rPr sz="1800" b="0">
                          <a:solidFill>
                            <a:srgbClr val="17343C"/>
                          </a:solidFill>
                          <a:latin typeface="Arial"/>
                          <a:ea typeface="Arial"/>
                          <a:cs typeface="Arial"/>
                        </a:rPr>
                        <a:t>Annual fixed total</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Recurring costs including reserve</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1,074.43</a:t>
                      </a:r>
                    </a:p>
                  </a:txBody>
                  <a:tcPr marL="91440" marR="91440" marT="45720" marB="45720" anchor="ctr">
                    <a:solidFill>
                      <a:srgbClr val="FAFAF7"/>
                    </a:solidFill>
                  </a:tcPr>
                </a:tc>
              </a:tr>
              <a:tr h="762000">
                <a:tc>
                  <a:txBody>
                    <a:bodyPr lIns="123825" tIns="76200" rIns="123825" bIns="76200">
                      <a:noAutofit/>
                    </a:bodyPr>
                    <a:lstStyle/>
                    <a:p>
                      <a:r>
                        <a:rPr sz="1800" b="0">
                          <a:solidFill>
                            <a:srgbClr val="17343C"/>
                          </a:solidFill>
                          <a:latin typeface="Arial"/>
                          <a:ea typeface="Arial"/>
                          <a:cs typeface="Arial"/>
                        </a:rPr>
                        <a:t>Per additional monitor</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Handling/materials, major repairs excluded [AF11]</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25.00</a:t>
                      </a:r>
                    </a:p>
                  </a:txBody>
                  <a:tcPr marL="91440" marR="91440" marT="45720" marB="45720" anchor="ctr">
                    <a:solidFill>
                      <a:srgbClr val="F0F4F3"/>
                    </a:solidFill>
                  </a:tcPr>
                </a:tc>
              </a:tr>
            </a:tbl>
          </a:graphicData>
        </a:graphic>
      </p:graphicFrame>
      <p:sp>
        <p:nvSpPr>
          <p:cNvPr id="5" name="cash-limits">
            <a:extLst xmlns:a="http://schemas.openxmlformats.org/drawingml/2006/main">
              <a:ext uri="{FF2B5EF4-FFF2-40B4-BE49-F238E27FC236}">
                <a16:creationId xmlns:a16="http://schemas.microsoft.com/office/drawing/2014/main" id="{D15D8E3D-CD04-4704-B398-20BB53C8C9A5}"/>
              </a:ext>
            </a:extLst>
          </p:cNvPr>
          <p:cNvSpPr>
            <a:spLocks xmlns:a="http://schemas.openxmlformats.org/drawingml/2006/main" noGrp="1"/>
          </p:cNvSpPr>
          <p:nvPr/>
        </p:nvSpPr>
        <p:spPr>
          <a:xfrm xmlns:a="http://schemas.openxmlformats.org/drawingml/2006/main">
            <a:off x="647700" y="6067425"/>
            <a:ext cx="10896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26264"/>
                </a:solidFill>
                <a:latin typeface="Arial"/>
                <a:ea typeface="Arial"/>
                <a:cs typeface="Arial"/>
              </a:defRPr>
            </a:pPr>
            <a:r>
              <a:rPr sz="1725" b="0">
                <a:solidFill>
                  <a:srgbClr val="526264"/>
                </a:solidFill>
                <a:latin typeface="Arial"/>
                <a:ea typeface="Arial"/>
                <a:cs typeface="Arial"/>
              </a:rPr>
              <a:t>Optional plan. Allowances are assumptions. Time and tax/fees are separate.</a:t>
            </a:r>
          </a:p>
        </p:txBody>
      </p:sp>
    </p:spTree>
    <p:extLst>
      <p:ext uri="{BB962C8B-B14F-4D97-AF65-F5344CB8AC3E}">
        <p14:creationId xmlns:p14="http://schemas.microsoft.com/office/powerpoint/2010/main" val="6935976"/>
      </p:ext>
    </p:extLst>
  </p:cSld>
</p:sld>
</file>

<file path=ppt/slides/slide30.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2FE4BCCD-BFCC-467B-B112-B076AC83D9F0}"/>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Our assumed starting point</a:t>
            </a:r>
          </a:p>
        </p:txBody>
      </p:sp>
      <p:sp>
        <p:nvSpPr>
          <p:cNvPr id="2" name="page">
            <a:extLst xmlns:a="http://schemas.openxmlformats.org/drawingml/2006/main">
              <a:ext uri="{FF2B5EF4-FFF2-40B4-BE49-F238E27FC236}">
                <a16:creationId xmlns:a16="http://schemas.microsoft.com/office/drawing/2014/main" id="{DD7902C3-E0BD-4FCB-A059-8CDF8D94CD72}"/>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30</a:t>
            </a:r>
          </a:p>
        </p:txBody>
      </p:sp>
      <p:sp>
        <p:nvSpPr>
          <p:cNvPr id="3" name="source">
            <a:extLst xmlns:a="http://schemas.openxmlformats.org/drawingml/2006/main">
              <a:ext uri="{FF2B5EF4-FFF2-40B4-BE49-F238E27FC236}">
                <a16:creationId xmlns:a16="http://schemas.microsoft.com/office/drawing/2014/main" id="{51522DF8-3751-454E-BFA8-EB1AA6006E57}"/>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[S15]</a:t>
            </a:r>
          </a:p>
        </p:txBody>
      </p:sp>
      <p:sp>
        <p:nvSpPr>
          <p:cNvPr id="4" name="baseline">
            <a:extLst xmlns:a="http://schemas.openxmlformats.org/drawingml/2006/main">
              <a:ext uri="{FF2B5EF4-FFF2-40B4-BE49-F238E27FC236}">
                <a16:creationId xmlns:a16="http://schemas.microsoft.com/office/drawing/2014/main" id="{E6532939-7754-4BC9-BDBC-BF971E388481}"/>
              </a:ext>
            </a:extLst>
          </p:cNvPr>
          <p:cNvSpPr>
            <a:spLocks xmlns:a="http://schemas.openxmlformats.org/drawingml/2006/main" noGrp="1"/>
          </p:cNvSpPr>
          <p:nvPr/>
        </p:nvSpPr>
        <p:spPr>
          <a:xfrm xmlns:a="http://schemas.openxmlformats.org/drawingml/2006/main">
            <a:off x="647700" y="1581150"/>
            <a:ext cx="108966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6746D"/>
                </a:solidFill>
                <a:latin typeface="Arial"/>
                <a:ea typeface="Arial"/>
                <a:cs typeface="Arial"/>
              </a:defRPr>
            </a:pPr>
            <a:r>
              <a:rPr sz="3225" b="1">
                <a:solidFill>
                  <a:srgbClr val="26746D"/>
                </a:solidFill>
                <a:latin typeface="Arial"/>
                <a:ea typeface="Arial"/>
                <a:cs typeface="Arial"/>
              </a:rPr>
              <a:t>5 departments × 8 purchases = 40 monitors/year</a:t>
            </a:r>
          </a:p>
        </p:txBody>
      </p:sp>
      <p:sp>
        <p:nvSpPr>
          <p:cNvPr id="5" name="remaining">
            <a:extLst xmlns:a="http://schemas.openxmlformats.org/drawingml/2006/main">
              <a:ext uri="{FF2B5EF4-FFF2-40B4-BE49-F238E27FC236}">
                <a16:creationId xmlns:a16="http://schemas.microsoft.com/office/drawing/2014/main" id="{BFE87D8F-F829-4FAC-8049-106FC2FD4F37}"/>
              </a:ext>
            </a:extLst>
          </p:cNvPr>
          <p:cNvSpPr>
            <a:spLocks xmlns:a="http://schemas.openxmlformats.org/drawingml/2006/main" noGrp="1"/>
          </p:cNvSpPr>
          <p:nvPr/>
        </p:nvSpPr>
        <p:spPr>
          <a:xfrm xmlns:a="http://schemas.openxmlformats.org/drawingml/2006/main">
            <a:off x="647700" y="2438400"/>
            <a:ext cx="108966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These are purchases remaining after the reuse that already happens.</a:t>
            </a:r>
          </a:p>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AF12 is a planning assumption. KU has not confirmed the count.</a:t>
            </a:r>
          </a:p>
        </p:txBody>
      </p:sp>
      <p:graphicFrame>
        <p:nvGraphicFramePr>
          <p:cNvPr id="13" name=""/>
          <p:cNvGraphicFramePr/>
          <p:nvPr/>
        </p:nvGraphicFramePr>
        <p:xfrm>
          <a:off xmlns:a="http://schemas.openxmlformats.org/drawingml/2006/main" x="647700" y="3648075"/>
          <a:ext xmlns:a="http://schemas.openxmlformats.org/drawingml/2006/main" cx="10896600" cy="2333625"/>
        </p:xfrm>
        <a:graphic xmlns:a="http://schemas.openxmlformats.org/drawingml/2006/main">
          <a:graphicData uri="http://schemas.openxmlformats.org/drawingml/2006/table">
            <a:tbl>
              <a:tblPr firstRow="0" firstCol="0" bandRow="0"/>
              <a:tblGrid>
                <a:gridCol w="4391025"/>
                <a:gridCol w="3657600"/>
                <a:gridCol w="2847975"/>
              </a:tblGrid>
              <a:tr h="533400">
                <a:tc>
                  <a:txBody>
                    <a:bodyPr lIns="123825" tIns="76200" rIns="123825" bIns="76200">
                      <a:noAutofit/>
                    </a:bodyPr>
                    <a:lstStyle/>
                    <a:p>
                      <a:r>
                        <a:rPr sz="1875" b="1">
                          <a:solidFill>
                            <a:srgbClr val="FFFFFF"/>
                          </a:solidFill>
                          <a:latin typeface="Arial"/>
                          <a:ea typeface="Arial"/>
                          <a:cs typeface="Arial"/>
                        </a:rPr>
                        <a:t>Scenario [AF13]</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Extra purchases avoided</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Share of assumed 40</a:t>
                      </a:r>
                    </a:p>
                  </a:txBody>
                  <a:tcPr marL="91440" marR="91440" marT="45720" marB="45720" anchor="ctr">
                    <a:solidFill>
                      <a:srgbClr val="17343C"/>
                    </a:solidFill>
                  </a:tcPr>
                </a:tc>
              </a:tr>
              <a:tr h="600075">
                <a:tc>
                  <a:txBody>
                    <a:bodyPr lIns="123825" tIns="76200" rIns="123825" bIns="76200">
                      <a:noAutofit/>
                    </a:bodyPr>
                    <a:lstStyle/>
                    <a:p>
                      <a:r>
                        <a:rPr sz="2025" b="0">
                          <a:solidFill>
                            <a:srgbClr val="17343C"/>
                          </a:solidFill>
                          <a:latin typeface="Arial"/>
                          <a:ea typeface="Arial"/>
                          <a:cs typeface="Arial"/>
                        </a:rPr>
                        <a:t>Conservative</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4 monitors/year</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10%</a:t>
                      </a:r>
                    </a:p>
                  </a:txBody>
                  <a:tcPr marL="91440" marR="91440" marT="45720" marB="45720" anchor="ctr">
                    <a:solidFill>
                      <a:srgbClr val="FAFAF7"/>
                    </a:solidFill>
                  </a:tcPr>
                </a:tc>
              </a:tr>
              <a:tr h="600075">
                <a:tc>
                  <a:txBody>
                    <a:bodyPr lIns="123825" tIns="76200" rIns="123825" bIns="76200">
                      <a:noAutofit/>
                    </a:bodyPr>
                    <a:lstStyle/>
                    <a:p>
                      <a:r>
                        <a:rPr sz="2025" b="0">
                          <a:solidFill>
                            <a:srgbClr val="17343C"/>
                          </a:solidFill>
                          <a:latin typeface="Arial"/>
                          <a:ea typeface="Arial"/>
                          <a:cs typeface="Arial"/>
                        </a:rPr>
                        <a:t>Base planning case</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8 monitors/year</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20%</a:t>
                      </a:r>
                    </a:p>
                  </a:txBody>
                  <a:tcPr marL="91440" marR="91440" marT="45720" marB="45720" anchor="ctr">
                    <a:solidFill>
                      <a:srgbClr val="F0F4F3"/>
                    </a:solidFill>
                  </a:tcPr>
                </a:tc>
              </a:tr>
              <a:tr h="600075">
                <a:tc>
                  <a:txBody>
                    <a:bodyPr lIns="123825" tIns="76200" rIns="123825" bIns="76200">
                      <a:noAutofit/>
                    </a:bodyPr>
                    <a:lstStyle/>
                    <a:p>
                      <a:r>
                        <a:rPr sz="2025" b="0">
                          <a:solidFill>
                            <a:srgbClr val="17343C"/>
                          </a:solidFill>
                          <a:latin typeface="Arial"/>
                          <a:ea typeface="Arial"/>
                          <a:cs typeface="Arial"/>
                        </a:rPr>
                        <a:t>Higher reuse</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12 monitors/year</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30%</a:t>
                      </a:r>
                    </a:p>
                  </a:txBody>
                  <a:tcPr marL="91440" marR="91440" marT="45720" marB="45720" anchor="ctr">
                    <a:solidFill>
                      <a:srgbClr val="FAFAF7"/>
                    </a:solidFill>
                  </a:tcPr>
                </a:tc>
              </a:tr>
            </a:tbl>
          </a:graphicData>
        </a:graphic>
      </p:graphicFrame>
      <p:sp>
        <p:nvSpPr>
          <p:cNvPr id="7" name="baseline-rule">
            <a:extLst xmlns:a="http://schemas.openxmlformats.org/drawingml/2006/main">
              <a:ext uri="{FF2B5EF4-FFF2-40B4-BE49-F238E27FC236}">
                <a16:creationId xmlns:a16="http://schemas.microsoft.com/office/drawing/2014/main" id="{4CFAE2E1-D5D3-4DBD-B5CF-03E6446D346E}"/>
              </a:ext>
            </a:extLst>
          </p:cNvPr>
          <p:cNvSpPr>
            <a:spLocks xmlns:a="http://schemas.openxmlformats.org/drawingml/2006/main" noGrp="1"/>
          </p:cNvSpPr>
          <p:nvPr/>
        </p:nvSpPr>
        <p:spPr>
          <a:xfrm xmlns:a="http://schemas.openxmlformats.org/drawingml/2006/main">
            <a:off x="647700" y="6162675"/>
            <a:ext cx="1089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6746D"/>
                </a:solidFill>
                <a:latin typeface="Arial"/>
                <a:ea typeface="Arial"/>
                <a:cs typeface="Arial"/>
              </a:defRPr>
            </a:pPr>
            <a:r>
              <a:rPr sz="1875" b="1">
                <a:solidFill>
                  <a:srgbClr val="26746D"/>
                </a:solidFill>
                <a:latin typeface="Arial"/>
                <a:ea typeface="Arial"/>
                <a:cs typeface="Arial"/>
              </a:rPr>
              <a:t>We count only extra reuse caused by the proposed process.</a:t>
            </a:r>
          </a:p>
        </p:txBody>
      </p:sp>
    </p:spTree>
    <p:extLst>
      <p:ext uri="{BB962C8B-B14F-4D97-AF65-F5344CB8AC3E}">
        <p14:creationId xmlns:p14="http://schemas.microsoft.com/office/powerpoint/2010/main" val="1739988974"/>
      </p:ext>
    </p:extLst>
  </p:cSld>
</p:sld>
</file>

<file path=ppt/slides/slide31.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6253BA98-E6CD-4BF2-9293-762240BBF51A}"/>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University reports support the reuse idea</a:t>
            </a:r>
          </a:p>
        </p:txBody>
      </p:sp>
      <p:sp>
        <p:nvSpPr>
          <p:cNvPr id="2" name="page">
            <a:extLst xmlns:a="http://schemas.openxmlformats.org/drawingml/2006/main">
              <a:ext uri="{FF2B5EF4-FFF2-40B4-BE49-F238E27FC236}">
                <a16:creationId xmlns:a16="http://schemas.microsoft.com/office/drawing/2014/main" id="{9E39EDC7-419B-484F-82DB-D6003E8C1275}"/>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31</a:t>
            </a:r>
          </a:p>
        </p:txBody>
      </p:sp>
      <p:sp>
        <p:nvSpPr>
          <p:cNvPr id="3" name="source">
            <a:extLst xmlns:a="http://schemas.openxmlformats.org/drawingml/2006/main">
              <a:ext uri="{FF2B5EF4-FFF2-40B4-BE49-F238E27FC236}">
                <a16:creationId xmlns:a16="http://schemas.microsoft.com/office/drawing/2014/main" id="{481F46D4-D198-45FD-85F6-7C9ADE23EE9E}"/>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[S26] [S27]</a:t>
            </a:r>
          </a:p>
        </p:txBody>
      </p:sp>
      <p:graphicFrame>
        <p:nvGraphicFramePr>
          <p:cNvPr id="9" name=""/>
          <p:cNvGraphicFramePr/>
          <p:nvPr/>
        </p:nvGraphicFramePr>
        <p:xfrm>
          <a:off xmlns:a="http://schemas.openxmlformats.org/drawingml/2006/main" x="647700" y="1685925"/>
          <a:ext xmlns:a="http://schemas.openxmlformats.org/drawingml/2006/main" cx="10896600" cy="3295650"/>
        </p:xfrm>
        <a:graphic xmlns:a="http://schemas.openxmlformats.org/drawingml/2006/main">
          <a:graphicData uri="http://schemas.openxmlformats.org/drawingml/2006/table">
            <a:tbl>
              <a:tblPr firstRow="0" firstCol="0" bandRow="0"/>
              <a:tblGrid>
                <a:gridCol w="3648075"/>
                <a:gridCol w="4257675"/>
                <a:gridCol w="2990850"/>
              </a:tblGrid>
              <a:tr h="552450">
                <a:tc>
                  <a:txBody>
                    <a:bodyPr lIns="123825" tIns="76200" rIns="123825" bIns="76200">
                      <a:noAutofit/>
                    </a:bodyPr>
                    <a:lstStyle/>
                    <a:p>
                      <a:r>
                        <a:rPr sz="1875" b="1">
                          <a:solidFill>
                            <a:srgbClr val="FFFFFF"/>
                          </a:solidFill>
                          <a:latin typeface="Arial"/>
                          <a:ea typeface="Arial"/>
                          <a:cs typeface="Arial"/>
                        </a:rPr>
                        <a:t>University report</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Reported result</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What it supports</a:t>
                      </a:r>
                    </a:p>
                  </a:txBody>
                  <a:tcPr marL="91440" marR="91440" marT="45720" marB="45720" anchor="ctr">
                    <a:solidFill>
                      <a:srgbClr val="17343C"/>
                    </a:solidFill>
                  </a:tcPr>
                </a:tc>
              </a:tr>
              <a:tr h="1371600">
                <a:tc>
                  <a:txBody>
                    <a:bodyPr lIns="123825" tIns="76200" rIns="123825" bIns="76200">
                      <a:noAutofit/>
                    </a:bodyPr>
                    <a:lstStyle/>
                    <a:p>
                      <a:r>
                        <a:rPr sz="2025" b="0">
                          <a:solidFill>
                            <a:srgbClr val="17343C"/>
                          </a:solidFill>
                          <a:latin typeface="Arial"/>
                          <a:ea typeface="Arial"/>
                          <a:cs typeface="Arial"/>
                        </a:rPr>
                        <a:t>Bristol Annual Report 2025 [S26]</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Nearly 800 furniture items reused</a:t>
                      </a:r>
                    </a:p>
                    <a:p>
                      <a:r>
                        <a:rPr sz="2025" b="0">
                          <a:solidFill>
                            <a:srgbClr val="17343C"/>
                          </a:solidFill>
                          <a:latin typeface="Arial"/>
                          <a:ea typeface="Arial"/>
                          <a:cs typeface="Arial"/>
                        </a:rPr>
                        <a:t>About GBP 92,000 purchase cost avoided</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Reuse can replace purchases</a:t>
                      </a:r>
                    </a:p>
                  </a:txBody>
                  <a:tcPr marL="91440" marR="91440" marT="45720" marB="45720" anchor="ctr">
                    <a:solidFill>
                      <a:srgbClr val="FAFAF7"/>
                    </a:solidFill>
                  </a:tcPr>
                </a:tc>
              </a:tr>
              <a:tr h="1371600">
                <a:tc>
                  <a:txBody>
                    <a:bodyPr lIns="123825" tIns="76200" rIns="123825" bIns="76200">
                      <a:noAutofit/>
                    </a:bodyPr>
                    <a:lstStyle/>
                    <a:p>
                      <a:r>
                        <a:rPr sz="2025" b="0">
                          <a:solidFill>
                            <a:srgbClr val="17343C"/>
                          </a:solidFill>
                          <a:latin typeface="Arial"/>
                          <a:ea typeface="Arial"/>
                          <a:cs typeface="Arial"/>
                        </a:rPr>
                        <a:t>Liverpool, first 12 months [S27]</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1,732 furniture items reused</a:t>
                      </a:r>
                    </a:p>
                    <a:p>
                      <a:r>
                        <a:rPr sz="2025" b="0">
                          <a:solidFill>
                            <a:srgbClr val="17343C"/>
                          </a:solidFill>
                          <a:latin typeface="Arial"/>
                          <a:ea typeface="Arial"/>
                          <a:cs typeface="Arial"/>
                        </a:rPr>
                        <a:t>GBP 300,442 reported savings</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A reuse service can operate</a:t>
                      </a:r>
                    </a:p>
                    <a:p>
                      <a:r>
                        <a:rPr sz="2025" b="0">
                          <a:solidFill>
                            <a:srgbClr val="17343C"/>
                          </a:solidFill>
                          <a:latin typeface="Arial"/>
                          <a:ea typeface="Arial"/>
                          <a:cs typeface="Arial"/>
                        </a:rPr>
                        <a:t>across university departments</a:t>
                      </a:r>
                    </a:p>
                  </a:txBody>
                  <a:tcPr marL="91440" marR="91440" marT="45720" marB="45720" anchor="ctr">
                    <a:solidFill>
                      <a:srgbClr val="F0F4F3"/>
                    </a:solidFill>
                  </a:tcPr>
                </a:tc>
              </a:tr>
            </a:tbl>
          </a:graphicData>
        </a:graphic>
      </p:graphicFrame>
      <p:sp>
        <p:nvSpPr>
          <p:cNvPr id="5" name="external-limit">
            <a:extLst xmlns:a="http://schemas.openxmlformats.org/drawingml/2006/main">
              <a:ext uri="{FF2B5EF4-FFF2-40B4-BE49-F238E27FC236}">
                <a16:creationId xmlns:a16="http://schemas.microsoft.com/office/drawing/2014/main" id="{BC2D4B13-ABCD-4D59-A418-69D940A1927C}"/>
              </a:ext>
            </a:extLst>
          </p:cNvPr>
          <p:cNvSpPr>
            <a:spLocks xmlns:a="http://schemas.openxmlformats.org/drawingml/2006/main" noGrp="1"/>
          </p:cNvSpPr>
          <p:nvPr/>
        </p:nvSpPr>
        <p:spPr>
          <a:xfrm xmlns:a="http://schemas.openxmlformats.org/drawingml/2006/main">
            <a:off x="647700" y="5448300"/>
            <a:ext cx="108966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26746D"/>
                </a:solidFill>
                <a:latin typeface="Arial"/>
                <a:ea typeface="Arial"/>
                <a:cs typeface="Arial"/>
              </a:defRPr>
            </a:pPr>
            <a:r>
              <a:rPr sz="2175" b="0">
                <a:solidFill>
                  <a:srgbClr val="26746D"/>
                </a:solidFill>
                <a:latin typeface="Arial"/>
                <a:ea typeface="Arial"/>
                <a:cs typeface="Arial"/>
              </a:rPr>
              <a:t>These figures describe those universities. They are not KU forecasts.</a:t>
            </a:r>
          </a:p>
          <a:p xmlns:a="http://schemas.openxmlformats.org/drawingml/2006/main">
            <a:pPr algn="l">
              <a:defRPr sz="2175" b="0">
                <a:solidFill>
                  <a:srgbClr val="26746D"/>
                </a:solidFill>
                <a:latin typeface="Arial"/>
                <a:ea typeface="Arial"/>
                <a:cs typeface="Arial"/>
              </a:defRPr>
            </a:pPr>
            <a:r>
              <a:rPr sz="2175" b="0">
                <a:solidFill>
                  <a:srgbClr val="26746D"/>
                </a:solidFill>
                <a:latin typeface="Arial"/>
                <a:ea typeface="Arial"/>
                <a:cs typeface="Arial"/>
              </a:rPr>
              <a:t>The reported savings do not establish full net system ROI.</a:t>
            </a:r>
          </a:p>
        </p:txBody>
      </p:sp>
    </p:spTree>
    <p:extLst>
      <p:ext uri="{BB962C8B-B14F-4D97-AF65-F5344CB8AC3E}">
        <p14:creationId xmlns:p14="http://schemas.microsoft.com/office/powerpoint/2010/main" val="1063017392"/>
      </p:ext>
    </p:extLst>
  </p:cSld>
</p:sld>
</file>

<file path=ppt/slides/slide32.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8EEF9E42-CF27-4282-B74C-27D3CEBA71C6}"/>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What counts as a financial benefit</a:t>
            </a:r>
          </a:p>
        </p:txBody>
      </p:sp>
      <p:sp>
        <p:nvSpPr>
          <p:cNvPr id="2" name="page">
            <a:extLst xmlns:a="http://schemas.openxmlformats.org/drawingml/2006/main">
              <a:ext uri="{FF2B5EF4-FFF2-40B4-BE49-F238E27FC236}">
                <a16:creationId xmlns:a16="http://schemas.microsoft.com/office/drawing/2014/main" id="{BFA39525-9123-4029-A19E-74437EC5880E}"/>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32</a:t>
            </a:r>
          </a:p>
        </p:txBody>
      </p:sp>
      <p:sp>
        <p:nvSpPr>
          <p:cNvPr id="3" name="source">
            <a:extLst xmlns:a="http://schemas.openxmlformats.org/drawingml/2006/main">
              <a:ext uri="{FF2B5EF4-FFF2-40B4-BE49-F238E27FC236}">
                <a16:creationId xmlns:a16="http://schemas.microsoft.com/office/drawing/2014/main" id="{99B293E8-91EA-4E33-BA6E-0101BDD2587B}"/>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[S15]</a:t>
            </a:r>
          </a:p>
        </p:txBody>
      </p:sp>
      <p:sp>
        <p:nvSpPr>
          <p:cNvPr id="4" name="request">
            <a:extLst xmlns:a="http://schemas.openxmlformats.org/drawingml/2006/main">
              <a:ext uri="{FF2B5EF4-FFF2-40B4-BE49-F238E27FC236}">
                <a16:creationId xmlns:a16="http://schemas.microsoft.com/office/drawing/2014/main" id="{E0D5F606-0860-4D92-800C-D2647C97C865}"/>
              </a:ext>
            </a:extLst>
          </p:cNvPr>
          <p:cNvSpPr>
            <a:spLocks xmlns:a="http://schemas.openxmlformats.org/drawingml/2006/main" noGrp="1"/>
          </p:cNvSpPr>
          <p:nvPr/>
        </p:nvSpPr>
        <p:spPr>
          <a:xfrm xmlns:a="http://schemas.openxmlformats.org/drawingml/2006/main">
            <a:off x="647700" y="1562100"/>
            <a:ext cx="108966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6746D"/>
                </a:solidFill>
                <a:latin typeface="Arial"/>
                <a:ea typeface="Arial"/>
                <a:cs typeface="Arial"/>
              </a:defRPr>
            </a:pPr>
            <a:r>
              <a:rPr sz="3225" b="1">
                <a:solidFill>
                  <a:srgbClr val="26746D"/>
                </a:solidFill>
                <a:latin typeface="Arial"/>
                <a:ea typeface="Arial"/>
                <a:cs typeface="Arial"/>
              </a:rPr>
              <a:t>Two-monitor example: 2 × AED 345 = AED 690</a:t>
            </a:r>
          </a:p>
        </p:txBody>
      </p:sp>
      <p:sp>
        <p:nvSpPr>
          <p:cNvPr id="5" name="annual">
            <a:extLst xmlns:a="http://schemas.openxmlformats.org/drawingml/2006/main">
              <a:ext uri="{FF2B5EF4-FFF2-40B4-BE49-F238E27FC236}">
                <a16:creationId xmlns:a16="http://schemas.microsoft.com/office/drawing/2014/main" id="{78776373-9871-46E2-8648-3B42736E78AE}"/>
              </a:ext>
            </a:extLst>
          </p:cNvPr>
          <p:cNvSpPr>
            <a:spLocks xmlns:a="http://schemas.openxmlformats.org/drawingml/2006/main" noGrp="1"/>
          </p:cNvSpPr>
          <p:nvPr/>
        </p:nvSpPr>
        <p:spPr>
          <a:xfrm xmlns:a="http://schemas.openxmlformats.org/drawingml/2006/main">
            <a:off x="647700" y="2571750"/>
            <a:ext cx="108966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343C"/>
                </a:solidFill>
                <a:latin typeface="Arial"/>
                <a:ea typeface="Arial"/>
                <a:cs typeface="Arial"/>
              </a:defRPr>
            </a:pPr>
            <a:r>
              <a:rPr sz="2775" b="1">
                <a:solidFill>
                  <a:srgbClr val="17343C"/>
                </a:solidFill>
                <a:latin typeface="Arial"/>
                <a:ea typeface="Arial"/>
                <a:cs typeface="Arial"/>
              </a:rPr>
              <a:t>Base year: 8 extra purchases avoided × AED 345</a:t>
            </a:r>
          </a:p>
          <a:p xmlns:a="http://schemas.openxmlformats.org/drawingml/2006/main">
            <a:pPr algn="l">
              <a:defRPr sz="2775" b="1">
                <a:solidFill>
                  <a:srgbClr val="17343C"/>
                </a:solidFill>
                <a:latin typeface="Arial"/>
                <a:ea typeface="Arial"/>
                <a:cs typeface="Arial"/>
              </a:defRPr>
            </a:pPr>
            <a:r>
              <a:rPr sz="2775" b="1">
                <a:solidFill>
                  <a:srgbClr val="17343C"/>
                </a:solidFill>
                <a:latin typeface="Arial"/>
                <a:ea typeface="Arial"/>
                <a:cs typeface="Arial"/>
              </a:rPr>
              <a:t>= AED 2,760.00 gross purchase avoidance</a:t>
            </a:r>
          </a:p>
        </p:txBody>
      </p:sp>
      <p:sp>
        <p:nvSpPr>
          <p:cNvPr id="6" name="benefit-conditions">
            <a:extLst xmlns:a="http://schemas.openxmlformats.org/drawingml/2006/main">
              <a:ext uri="{FF2B5EF4-FFF2-40B4-BE49-F238E27FC236}">
                <a16:creationId xmlns:a16="http://schemas.microsoft.com/office/drawing/2014/main" id="{3A8D6149-AB4B-4BBB-BC93-C9DE9B47ABF5}"/>
              </a:ext>
            </a:extLst>
          </p:cNvPr>
          <p:cNvSpPr>
            <a:spLocks xmlns:a="http://schemas.openxmlformats.org/drawingml/2006/main" noGrp="1"/>
          </p:cNvSpPr>
          <p:nvPr/>
        </p:nvSpPr>
        <p:spPr>
          <a:xfrm xmlns:a="http://schemas.openxmlformats.org/drawingml/2006/main">
            <a:off x="647700" y="3962400"/>
            <a:ext cx="108966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7343C"/>
                </a:solidFill>
                <a:latin typeface="Arial"/>
                <a:ea typeface="Arial"/>
                <a:cs typeface="Arial"/>
              </a:defRPr>
            </a:pPr>
            <a:r>
              <a:rPr sz="2250" b="0">
                <a:solidFill>
                  <a:srgbClr val="17343C"/>
                </a:solidFill>
                <a:latin typeface="Arial"/>
                <a:ea typeface="Arial"/>
                <a:cs typeface="Arial"/>
              </a:rPr>
              <a:t>Confirm that the new purchase would happen, the reused item is suitable</a:t>
            </a:r>
          </a:p>
          <a:p xmlns:a="http://schemas.openxmlformats.org/drawingml/2006/main">
            <a:pPr algn="l">
              <a:defRPr sz="2250" b="0">
                <a:solidFill>
                  <a:srgbClr val="17343C"/>
                </a:solidFill>
                <a:latin typeface="Arial"/>
                <a:ea typeface="Arial"/>
                <a:cs typeface="Arial"/>
              </a:defRPr>
            </a:pPr>
            <a:r>
              <a:rPr sz="2250" b="0">
                <a:solidFill>
                  <a:srgbClr val="17343C"/>
                </a:solidFill>
                <a:latin typeface="Arial"/>
                <a:ea typeface="Arial"/>
                <a:cs typeface="Arial"/>
              </a:rPr>
              <a:t>and the current process would not already meet the need.</a:t>
            </a:r>
          </a:p>
        </p:txBody>
      </p:sp>
      <p:sp>
        <p:nvSpPr>
          <p:cNvPr id="7" name="benefit-price">
            <a:extLst xmlns:a="http://schemas.openxmlformats.org/drawingml/2006/main">
              <a:ext uri="{FF2B5EF4-FFF2-40B4-BE49-F238E27FC236}">
                <a16:creationId xmlns:a16="http://schemas.microsoft.com/office/drawing/2014/main" id="{E2D6E544-C8A8-4446-8EE0-2045E01EF85C}"/>
              </a:ext>
            </a:extLst>
          </p:cNvPr>
          <p:cNvSpPr>
            <a:spLocks xmlns:a="http://schemas.openxmlformats.org/drawingml/2006/main" noGrp="1"/>
          </p:cNvSpPr>
          <p:nvPr/>
        </p:nvSpPr>
        <p:spPr>
          <a:xfrm xmlns:a="http://schemas.openxmlformats.org/drawingml/2006/main">
            <a:off x="647700" y="5391150"/>
            <a:ext cx="108966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526264"/>
                </a:solidFill>
                <a:latin typeface="Arial"/>
                <a:ea typeface="Arial"/>
                <a:cs typeface="Arial"/>
              </a:defRPr>
            </a:pPr>
            <a:r>
              <a:rPr sz="2100" b="0">
                <a:solidFill>
                  <a:srgbClr val="526264"/>
                </a:solidFill>
                <a:latin typeface="Arial"/>
                <a:ea typeface="Arial"/>
                <a:cs typeface="Arial"/>
              </a:rPr>
              <a:t>Price is a dated retail proxy [S15]. Quantity is our assumption [AF13].</a:t>
            </a:r>
          </a:p>
          <a:p xmlns:a="http://schemas.openxmlformats.org/drawingml/2006/main">
            <a:pPr algn="l">
              <a:defRPr sz="2100" b="0">
                <a:solidFill>
                  <a:srgbClr val="526264"/>
                </a:solidFill>
                <a:latin typeface="Arial"/>
                <a:ea typeface="Arial"/>
                <a:cs typeface="Arial"/>
              </a:defRPr>
            </a:pPr>
            <a:r>
              <a:rPr sz="2100" b="0">
                <a:solidFill>
                  <a:srgbClr val="526264"/>
                </a:solidFill>
                <a:latin typeface="Arial"/>
                <a:ea typeface="Arial"/>
                <a:cs typeface="Arial"/>
              </a:rPr>
              <a:t>Inspection, repair, transfer and system costs reduce the benefit.</a:t>
            </a:r>
          </a:p>
        </p:txBody>
      </p:sp>
    </p:spTree>
    <p:extLst>
      <p:ext uri="{BB962C8B-B14F-4D97-AF65-F5344CB8AC3E}">
        <p14:creationId xmlns:p14="http://schemas.microsoft.com/office/powerpoint/2010/main" val="816739280"/>
      </p:ext>
    </p:extLst>
  </p:cSld>
</p:sld>
</file>

<file path=ppt/slides/slide33.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71D73D3B-3F52-41B3-A27F-5D941E546904}"/>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Base case: first-year cash result</a:t>
            </a:r>
          </a:p>
        </p:txBody>
      </p:sp>
      <p:sp>
        <p:nvSpPr>
          <p:cNvPr id="2" name="page">
            <a:extLst xmlns:a="http://schemas.openxmlformats.org/drawingml/2006/main">
              <a:ext uri="{FF2B5EF4-FFF2-40B4-BE49-F238E27FC236}">
                <a16:creationId xmlns:a16="http://schemas.microsoft.com/office/drawing/2014/main" id="{88711F8F-AF0C-4233-8E14-813733EF86B1}"/>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33</a:t>
            </a:r>
          </a:p>
        </p:txBody>
      </p:sp>
      <p:sp>
        <p:nvSpPr>
          <p:cNvPr id="3" name="source">
            <a:extLst xmlns:a="http://schemas.openxmlformats.org/drawingml/2006/main">
              <a:ext uri="{FF2B5EF4-FFF2-40B4-BE49-F238E27FC236}">
                <a16:creationId xmlns:a16="http://schemas.microsoft.com/office/drawing/2014/main" id="{045398F5-C41B-48A2-AEAA-948A1856D5E1}"/>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[S15] [S16]</a:t>
            </a:r>
          </a:p>
        </p:txBody>
      </p:sp>
      <p:graphicFrame>
        <p:nvGraphicFramePr>
          <p:cNvPr id="10" name=""/>
          <p:cNvGraphicFramePr/>
          <p:nvPr/>
        </p:nvGraphicFramePr>
        <p:xfrm>
          <a:off xmlns:a="http://schemas.openxmlformats.org/drawingml/2006/main" x="647700" y="1476375"/>
          <a:ext xmlns:a="http://schemas.openxmlformats.org/drawingml/2006/main" cx="10896600" cy="3981450"/>
        </p:xfrm>
        <a:graphic xmlns:a="http://schemas.openxmlformats.org/drawingml/2006/main">
          <a:graphicData uri="http://schemas.openxmlformats.org/drawingml/2006/table">
            <a:tbl>
              <a:tblPr firstRow="0" firstCol="0" bandRow="0"/>
              <a:tblGrid>
                <a:gridCol w="8562975"/>
                <a:gridCol w="2333625"/>
              </a:tblGrid>
              <a:tr h="514350">
                <a:tc>
                  <a:txBody>
                    <a:bodyPr lIns="123825" tIns="76200" rIns="123825" bIns="76200">
                      <a:noAutofit/>
                    </a:bodyPr>
                    <a:lstStyle/>
                    <a:p>
                      <a:r>
                        <a:rPr sz="1875" b="1">
                          <a:solidFill>
                            <a:srgbClr val="FFFFFF"/>
                          </a:solidFill>
                          <a:latin typeface="Arial"/>
                          <a:ea typeface="Arial"/>
                          <a:cs typeface="Arial"/>
                        </a:rPr>
                        <a:t>First-year cash calculation</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AED</a:t>
                      </a:r>
                    </a:p>
                  </a:txBody>
                  <a:tcPr marL="91440" marR="91440" marT="45720" marB="45720" anchor="ctr">
                    <a:solidFill>
                      <a:srgbClr val="17343C"/>
                    </a:solidFill>
                  </a:tcPr>
                </a:tc>
              </a:tr>
              <a:tr h="561975">
                <a:tc>
                  <a:txBody>
                    <a:bodyPr lIns="123825" tIns="76200" rIns="123825" bIns="76200">
                      <a:noAutofit/>
                    </a:bodyPr>
                    <a:lstStyle/>
                    <a:p>
                      <a:r>
                        <a:rPr sz="1950" b="0">
                          <a:solidFill>
                            <a:srgbClr val="17343C"/>
                          </a:solidFill>
                          <a:latin typeface="Arial"/>
                          <a:ea typeface="Arial"/>
                          <a:cs typeface="Arial"/>
                        </a:rPr>
                        <a:t>Gross purchase avoidance: 8 × 345</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2,760.00</a:t>
                      </a:r>
                    </a:p>
                  </a:txBody>
                  <a:tcPr marL="91440" marR="91440" marT="45720" marB="45720" anchor="ctr">
                    <a:solidFill>
                      <a:srgbClr val="FAFAF7"/>
                    </a:solidFill>
                  </a:tcPr>
                </a:tc>
              </a:tr>
              <a:tr h="561975">
                <a:tc>
                  <a:txBody>
                    <a:bodyPr lIns="123825" tIns="76200" rIns="123825" bIns="76200">
                      <a:noAutofit/>
                    </a:bodyPr>
                    <a:lstStyle/>
                    <a:p>
                      <a:r>
                        <a:rPr sz="1950" b="0">
                          <a:solidFill>
                            <a:srgbClr val="17343C"/>
                          </a:solidFill>
                          <a:latin typeface="Arial"/>
                          <a:ea typeface="Arial"/>
                          <a:cs typeface="Arial"/>
                        </a:rPr>
                        <a:t>Less annual fixed cash</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1,074.43</a:t>
                      </a:r>
                    </a:p>
                  </a:txBody>
                  <a:tcPr marL="91440" marR="91440" marT="45720" marB="45720" anchor="ctr">
                    <a:solidFill>
                      <a:srgbClr val="F0F4F3"/>
                    </a:solidFill>
                  </a:tcPr>
                </a:tc>
              </a:tr>
              <a:tr h="561975">
                <a:tc>
                  <a:txBody>
                    <a:bodyPr lIns="123825" tIns="76200" rIns="123825" bIns="76200">
                      <a:noAutofit/>
                    </a:bodyPr>
                    <a:lstStyle/>
                    <a:p>
                      <a:r>
                        <a:rPr sz="1950" b="0">
                          <a:solidFill>
                            <a:srgbClr val="17343C"/>
                          </a:solidFill>
                          <a:latin typeface="Arial"/>
                          <a:ea typeface="Arial"/>
                          <a:cs typeface="Arial"/>
                        </a:rPr>
                        <a:t>Less handling: 8 × 25</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200.00</a:t>
                      </a:r>
                    </a:p>
                  </a:txBody>
                  <a:tcPr marL="91440" marR="91440" marT="45720" marB="45720" anchor="ctr">
                    <a:solidFill>
                      <a:srgbClr val="FAFAF7"/>
                    </a:solidFill>
                  </a:tcPr>
                </a:tc>
              </a:tr>
              <a:tr h="609600">
                <a:tc>
                  <a:txBody>
                    <a:bodyPr lIns="123825" tIns="76200" rIns="123825" bIns="76200">
                      <a:noAutofit/>
                    </a:bodyPr>
                    <a:lstStyle/>
                    <a:p>
                      <a:r>
                        <a:rPr sz="1950" b="0">
                          <a:solidFill>
                            <a:srgbClr val="17343C"/>
                          </a:solidFill>
                          <a:latin typeface="Arial"/>
                          <a:ea typeface="Arial"/>
                          <a:cs typeface="Arial"/>
                        </a:rPr>
                        <a:t>Annual net cash benefit</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1,485.57</a:t>
                      </a:r>
                    </a:p>
                  </a:txBody>
                  <a:tcPr marL="91440" marR="91440" marT="45720" marB="45720" anchor="ctr">
                    <a:solidFill>
                      <a:srgbClr val="F0F4F3"/>
                    </a:solidFill>
                  </a:tcPr>
                </a:tc>
              </a:tr>
              <a:tr h="561975">
                <a:tc>
                  <a:txBody>
                    <a:bodyPr lIns="123825" tIns="76200" rIns="123825" bIns="76200">
                      <a:noAutofit/>
                    </a:bodyPr>
                    <a:lstStyle/>
                    <a:p>
                      <a:r>
                        <a:rPr sz="1950" b="0">
                          <a:solidFill>
                            <a:srgbClr val="17343C"/>
                          </a:solidFill>
                          <a:latin typeface="Arial"/>
                          <a:ea typeface="Arial"/>
                          <a:cs typeface="Arial"/>
                        </a:rPr>
                        <a:t>Less one-time setup cash</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230.00</a:t>
                      </a:r>
                    </a:p>
                  </a:txBody>
                  <a:tcPr marL="91440" marR="91440" marT="45720" marB="45720" anchor="ctr">
                    <a:solidFill>
                      <a:srgbClr val="FAFAF7"/>
                    </a:solidFill>
                  </a:tcPr>
                </a:tc>
              </a:tr>
              <a:tr h="609600">
                <a:tc>
                  <a:txBody>
                    <a:bodyPr lIns="123825" tIns="76200" rIns="123825" bIns="76200">
                      <a:noAutofit/>
                    </a:bodyPr>
                    <a:lstStyle/>
                    <a:p>
                      <a:r>
                        <a:rPr sz="1950" b="0">
                          <a:solidFill>
                            <a:srgbClr val="17343C"/>
                          </a:solidFill>
                          <a:latin typeface="Arial"/>
                          <a:ea typeface="Arial"/>
                          <a:cs typeface="Arial"/>
                        </a:rPr>
                        <a:t>First-year net cash benefit</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1,255.57</a:t>
                      </a:r>
                    </a:p>
                  </a:txBody>
                  <a:tcPr marL="91440" marR="91440" marT="45720" marB="45720" anchor="ctr">
                    <a:solidFill>
                      <a:srgbClr val="F0F4F3"/>
                    </a:solidFill>
                  </a:tcPr>
                </a:tc>
              </a:tr>
            </a:tbl>
          </a:graphicData>
        </a:graphic>
      </p:graphicFrame>
      <p:sp>
        <p:nvSpPr>
          <p:cNvPr id="5" name="roi">
            <a:extLst xmlns:a="http://schemas.openxmlformats.org/drawingml/2006/main">
              <a:ext uri="{FF2B5EF4-FFF2-40B4-BE49-F238E27FC236}">
                <a16:creationId xmlns:a16="http://schemas.microsoft.com/office/drawing/2014/main" id="{F586E754-4D72-4A4C-A6CD-EE374CC84803}"/>
              </a:ext>
            </a:extLst>
          </p:cNvPr>
          <p:cNvSpPr>
            <a:spLocks xmlns:a="http://schemas.openxmlformats.org/drawingml/2006/main" noGrp="1"/>
          </p:cNvSpPr>
          <p:nvPr/>
        </p:nvSpPr>
        <p:spPr>
          <a:xfrm xmlns:a="http://schemas.openxmlformats.org/drawingml/2006/main">
            <a:off x="647700" y="5791200"/>
            <a:ext cx="108966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6746D"/>
                </a:solidFill>
                <a:latin typeface="Arial"/>
                <a:ea typeface="Arial"/>
                <a:cs typeface="Arial"/>
              </a:defRPr>
            </a:pPr>
            <a:r>
              <a:rPr sz="2250" b="1">
                <a:solidFill>
                  <a:srgbClr val="26746D"/>
                </a:solidFill>
                <a:latin typeface="Arial"/>
                <a:ea typeface="Arial"/>
                <a:cs typeface="Arial"/>
              </a:rPr>
              <a:t>First-year cash ROI = net / cost × 100 = 83.46%</a:t>
            </a:r>
          </a:p>
        </p:txBody>
      </p:sp>
      <p:sp>
        <p:nvSpPr>
          <p:cNvPr id="6" name="expected-label">
            <a:extLst xmlns:a="http://schemas.openxmlformats.org/drawingml/2006/main">
              <a:ext uri="{FF2B5EF4-FFF2-40B4-BE49-F238E27FC236}">
                <a16:creationId xmlns:a16="http://schemas.microsoft.com/office/drawing/2014/main" id="{9DC19BFC-A274-4CDD-8563-35AA21506501}"/>
              </a:ext>
            </a:extLst>
          </p:cNvPr>
          <p:cNvSpPr>
            <a:spLocks xmlns:a="http://schemas.openxmlformats.org/drawingml/2006/main" noGrp="1"/>
          </p:cNvSpPr>
          <p:nvPr/>
        </p:nvSpPr>
        <p:spPr>
          <a:xfrm xmlns:a="http://schemas.openxmlformats.org/drawingml/2006/main">
            <a:off x="647700" y="6200775"/>
            <a:ext cx="10896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264"/>
                </a:solidFill>
                <a:latin typeface="Arial"/>
                <a:ea typeface="Arial"/>
                <a:cs typeface="Arial"/>
              </a:defRPr>
            </a:pPr>
            <a:r>
              <a:rPr sz="1650" b="0">
                <a:solidFill>
                  <a:srgbClr val="526264"/>
                </a:solidFill>
                <a:latin typeface="Arial"/>
                <a:ea typeface="Arial"/>
                <a:cs typeface="Arial"/>
              </a:rPr>
              <a:t>Base planning case [AF12–13]. This cash view excludes the value of time.</a:t>
            </a:r>
          </a:p>
        </p:txBody>
      </p:sp>
    </p:spTree>
    <p:extLst>
      <p:ext uri="{BB962C8B-B14F-4D97-AF65-F5344CB8AC3E}">
        <p14:creationId xmlns:p14="http://schemas.microsoft.com/office/powerpoint/2010/main" val="347028790"/>
      </p:ext>
    </p:extLst>
  </p:cSld>
</p:sld>
</file>

<file path=ppt/slides/slide34.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0D5219EE-C621-4A43-9411-F63FF2B600FE}"/>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Cash ROI depends on extra reuse</a:t>
            </a:r>
          </a:p>
        </p:txBody>
      </p:sp>
      <p:sp>
        <p:nvSpPr>
          <p:cNvPr id="2" name="page">
            <a:extLst xmlns:a="http://schemas.openxmlformats.org/drawingml/2006/main">
              <a:ext uri="{FF2B5EF4-FFF2-40B4-BE49-F238E27FC236}">
                <a16:creationId xmlns:a16="http://schemas.microsoft.com/office/drawing/2014/main" id="{336896D1-3E89-465B-BE3C-CE934FB448C4}"/>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34</a:t>
            </a:r>
          </a:p>
        </p:txBody>
      </p:sp>
      <p:sp>
        <p:nvSpPr>
          <p:cNvPr id="3" name="source">
            <a:extLst xmlns:a="http://schemas.openxmlformats.org/drawingml/2006/main">
              <a:ext uri="{FF2B5EF4-FFF2-40B4-BE49-F238E27FC236}">
                <a16:creationId xmlns:a16="http://schemas.microsoft.com/office/drawing/2014/main" id="{46FB18EA-629D-4ED4-B604-EC3754712DD8}"/>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[S15] [S16]</a:t>
            </a:r>
          </a:p>
        </p:txBody>
      </p:sp>
      <p:graphicFrame>
        <p:nvGraphicFramePr>
          <p:cNvPr id="10" name=""/>
          <p:cNvGraphicFramePr/>
          <p:nvPr/>
        </p:nvGraphicFramePr>
        <p:xfrm>
          <a:off xmlns:a="http://schemas.openxmlformats.org/drawingml/2006/main" x="647700" y="1581150"/>
          <a:ext xmlns:a="http://schemas.openxmlformats.org/drawingml/2006/main" cx="10896600" cy="3419475"/>
        </p:xfrm>
        <a:graphic xmlns:a="http://schemas.openxmlformats.org/drawingml/2006/main">
          <a:graphicData uri="http://schemas.openxmlformats.org/drawingml/2006/table">
            <a:tbl>
              <a:tblPr firstRow="0" firstCol="0" bandRow="0"/>
              <a:tblGrid>
                <a:gridCol w="3257550"/>
                <a:gridCol w="2562225"/>
                <a:gridCol w="2686050"/>
                <a:gridCol w="2390775"/>
              </a:tblGrid>
              <a:tr h="752475">
                <a:tc>
                  <a:txBody>
                    <a:bodyPr lIns="123825" tIns="76200" rIns="123825" bIns="76200">
                      <a:noAutofit/>
                    </a:bodyPr>
                    <a:lstStyle/>
                    <a:p>
                      <a:r>
                        <a:rPr sz="1875" b="1">
                          <a:solidFill>
                            <a:srgbClr val="FFFFFF"/>
                          </a:solidFill>
                          <a:latin typeface="Arial"/>
                          <a:ea typeface="Arial"/>
                          <a:cs typeface="Arial"/>
                        </a:rPr>
                        <a:t>Extra purchases</a:t>
                      </a:r>
                    </a:p>
                    <a:p>
                      <a:r>
                        <a:rPr sz="1875" b="1">
                          <a:solidFill>
                            <a:srgbClr val="FFFFFF"/>
                          </a:solidFill>
                          <a:latin typeface="Arial"/>
                          <a:ea typeface="Arial"/>
                          <a:cs typeface="Arial"/>
                        </a:rPr>
                        <a:t>avoided / year</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Year 1 cash</a:t>
                      </a:r>
                    </a:p>
                    <a:p>
                      <a:r>
                        <a:rPr sz="1875" b="1">
                          <a:solidFill>
                            <a:srgbClr val="FFFFFF"/>
                          </a:solidFill>
                          <a:latin typeface="Arial"/>
                          <a:ea typeface="Arial"/>
                          <a:cs typeface="Arial"/>
                        </a:rPr>
                        <a:t>cost, AED</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Year 1 net</a:t>
                      </a:r>
                    </a:p>
                    <a:p>
                      <a:r>
                        <a:rPr sz="1875" b="1">
                          <a:solidFill>
                            <a:srgbClr val="FFFFFF"/>
                          </a:solidFill>
                          <a:latin typeface="Arial"/>
                          <a:ea typeface="Arial"/>
                          <a:cs typeface="Arial"/>
                        </a:rPr>
                        <a:t>benefit, AED</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Year 1</a:t>
                      </a:r>
                    </a:p>
                    <a:p>
                      <a:r>
                        <a:rPr sz="1875" b="1">
                          <a:solidFill>
                            <a:srgbClr val="FFFFFF"/>
                          </a:solidFill>
                          <a:latin typeface="Arial"/>
                          <a:ea typeface="Arial"/>
                          <a:cs typeface="Arial"/>
                        </a:rPr>
                        <a:t>cash ROI</a:t>
                      </a:r>
                    </a:p>
                  </a:txBody>
                  <a:tcPr marL="91440" marR="91440" marT="45720" marB="45720" anchor="ctr">
                    <a:solidFill>
                      <a:srgbClr val="17343C"/>
                    </a:solidFill>
                  </a:tcPr>
                </a:tc>
              </a:tr>
              <a:tr h="666750">
                <a:tc>
                  <a:txBody>
                    <a:bodyPr lIns="123825" tIns="76200" rIns="123825" bIns="76200">
                      <a:noAutofit/>
                    </a:bodyPr>
                    <a:lstStyle/>
                    <a:p>
                      <a:r>
                        <a:rPr sz="2025" b="0">
                          <a:solidFill>
                            <a:srgbClr val="17343C"/>
                          </a:solidFill>
                          <a:latin typeface="Arial"/>
                          <a:ea typeface="Arial"/>
                          <a:cs typeface="Arial"/>
                        </a:rPr>
                        <a:t>0</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1,304.43</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-1,304.43</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-100.00%</a:t>
                      </a:r>
                    </a:p>
                  </a:txBody>
                  <a:tcPr marL="91440" marR="91440" marT="45720" marB="45720" anchor="ctr">
                    <a:solidFill>
                      <a:srgbClr val="FAFAF7"/>
                    </a:solidFill>
                  </a:tcPr>
                </a:tc>
              </a:tr>
              <a:tr h="666750">
                <a:tc>
                  <a:txBody>
                    <a:bodyPr lIns="123825" tIns="76200" rIns="123825" bIns="76200">
                      <a:noAutofit/>
                    </a:bodyPr>
                    <a:lstStyle/>
                    <a:p>
                      <a:r>
                        <a:rPr sz="2025" b="0">
                          <a:solidFill>
                            <a:srgbClr val="17343C"/>
                          </a:solidFill>
                          <a:latin typeface="Arial"/>
                          <a:ea typeface="Arial"/>
                          <a:cs typeface="Arial"/>
                        </a:rPr>
                        <a:t>4</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1,404.43</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-24.43</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-1.74%</a:t>
                      </a:r>
                    </a:p>
                  </a:txBody>
                  <a:tcPr marL="91440" marR="91440" marT="45720" marB="45720" anchor="ctr">
                    <a:solidFill>
                      <a:srgbClr val="F0F4F3"/>
                    </a:solidFill>
                  </a:tcPr>
                </a:tc>
              </a:tr>
              <a:tr h="666750">
                <a:tc>
                  <a:txBody>
                    <a:bodyPr lIns="123825" tIns="76200" rIns="123825" bIns="76200">
                      <a:noAutofit/>
                    </a:bodyPr>
                    <a:lstStyle/>
                    <a:p>
                      <a:r>
                        <a:rPr sz="2025" b="0">
                          <a:solidFill>
                            <a:srgbClr val="17343C"/>
                          </a:solidFill>
                          <a:latin typeface="Arial"/>
                          <a:ea typeface="Arial"/>
                          <a:cs typeface="Arial"/>
                        </a:rPr>
                        <a:t>8</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1,504.43</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1,255.57</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83.46%</a:t>
                      </a:r>
                    </a:p>
                  </a:txBody>
                  <a:tcPr marL="91440" marR="91440" marT="45720" marB="45720" anchor="ctr">
                    <a:solidFill>
                      <a:srgbClr val="FAFAF7"/>
                    </a:solidFill>
                  </a:tcPr>
                </a:tc>
              </a:tr>
              <a:tr h="666750">
                <a:tc>
                  <a:txBody>
                    <a:bodyPr lIns="123825" tIns="76200" rIns="123825" bIns="76200">
                      <a:noAutofit/>
                    </a:bodyPr>
                    <a:lstStyle/>
                    <a:p>
                      <a:r>
                        <a:rPr sz="2025" b="0">
                          <a:solidFill>
                            <a:srgbClr val="17343C"/>
                          </a:solidFill>
                          <a:latin typeface="Arial"/>
                          <a:ea typeface="Arial"/>
                          <a:cs typeface="Arial"/>
                        </a:rPr>
                        <a:t>12</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1,604.43</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2,535.57</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158.04%</a:t>
                      </a:r>
                    </a:p>
                  </a:txBody>
                  <a:tcPr marL="91440" marR="91440" marT="45720" marB="45720" anchor="ctr">
                    <a:solidFill>
                      <a:srgbClr val="F0F4F3"/>
                    </a:solidFill>
                  </a:tcPr>
                </a:tc>
              </a:tr>
            </a:tbl>
          </a:graphicData>
        </a:graphic>
      </p:graphicFrame>
      <p:sp>
        <p:nvSpPr>
          <p:cNvPr id="5" name="cash-break">
            <a:extLst xmlns:a="http://schemas.openxmlformats.org/drawingml/2006/main">
              <a:ext uri="{FF2B5EF4-FFF2-40B4-BE49-F238E27FC236}">
                <a16:creationId xmlns:a16="http://schemas.microsoft.com/office/drawing/2014/main" id="{15A197EB-FF67-49A3-A5CC-24456602575E}"/>
              </a:ext>
            </a:extLst>
          </p:cNvPr>
          <p:cNvSpPr>
            <a:spLocks xmlns:a="http://schemas.openxmlformats.org/drawingml/2006/main" noGrp="1"/>
          </p:cNvSpPr>
          <p:nvPr/>
        </p:nvSpPr>
        <p:spPr>
          <a:xfrm xmlns:a="http://schemas.openxmlformats.org/drawingml/2006/main">
            <a:off x="647700" y="5467350"/>
            <a:ext cx="10896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First-year cash break-even: 5 additional monitors</a:t>
            </a:r>
          </a:p>
        </p:txBody>
      </p:sp>
      <p:sp>
        <p:nvSpPr>
          <p:cNvPr id="6" name="cash-break-caveat">
            <a:extLst xmlns:a="http://schemas.openxmlformats.org/drawingml/2006/main">
              <a:ext uri="{FF2B5EF4-FFF2-40B4-BE49-F238E27FC236}">
                <a16:creationId xmlns:a16="http://schemas.microsoft.com/office/drawing/2014/main" id="{315DDA1B-096C-433B-B68A-AB1FFFE34AD4}"/>
              </a:ext>
            </a:extLst>
          </p:cNvPr>
          <p:cNvSpPr>
            <a:spLocks xmlns:a="http://schemas.openxmlformats.org/drawingml/2006/main" noGrp="1"/>
          </p:cNvSpPr>
          <p:nvPr/>
        </p:nvSpPr>
        <p:spPr>
          <a:xfrm xmlns:a="http://schemas.openxmlformats.org/drawingml/2006/main">
            <a:off x="647700" y="6057900"/>
            <a:ext cx="10896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26264"/>
                </a:solidFill>
                <a:latin typeface="Arial"/>
                <a:ea typeface="Arial"/>
                <a:cs typeface="Arial"/>
              </a:defRPr>
            </a:pPr>
            <a:r>
              <a:rPr sz="1800" b="0">
                <a:solidFill>
                  <a:srgbClr val="526264"/>
                </a:solidFill>
                <a:latin typeface="Arial"/>
                <a:ea typeface="Arial"/>
                <a:cs typeface="Arial"/>
              </a:rPr>
              <a:t>ceil[(230 + 1,074.4266) / (345 − 25)] = 5. Assumptions [AF09–13].</a:t>
            </a:r>
          </a:p>
        </p:txBody>
      </p:sp>
    </p:spTree>
    <p:extLst>
      <p:ext uri="{BB962C8B-B14F-4D97-AF65-F5344CB8AC3E}">
        <p14:creationId xmlns:p14="http://schemas.microsoft.com/office/powerpoint/2010/main" val="1533471486"/>
      </p:ext>
    </p:extLst>
  </p:cSld>
</p:sld>
</file>

<file path=ppt/slides/slide35.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1" name="title">
            <a:extLst xmlns:a="http://schemas.openxmlformats.org/drawingml/2006/main">
              <a:ext uri="{FF2B5EF4-FFF2-40B4-BE49-F238E27FC236}">
                <a16:creationId xmlns:a16="http://schemas.microsoft.com/office/drawing/2014/main" id="{5DFF673D-A943-4BE7-8B81-BB2293CAEC63}"/>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Simple cash payback</a:t>
            </a:r>
          </a:p>
        </p:txBody>
      </p:sp>
      <p:sp>
        <p:nvSpPr>
          <p:cNvPr id="2" name="page">
            <a:extLst xmlns:a="http://schemas.openxmlformats.org/drawingml/2006/main">
              <a:ext uri="{FF2B5EF4-FFF2-40B4-BE49-F238E27FC236}">
                <a16:creationId xmlns:a16="http://schemas.microsoft.com/office/drawing/2014/main" id="{70CC0695-CEDD-4F09-BFB0-AF0172F7774D}"/>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35</a:t>
            </a:r>
          </a:p>
        </p:txBody>
      </p:sp>
      <p:sp>
        <p:nvSpPr>
          <p:cNvPr id="3" name="source">
            <a:extLst xmlns:a="http://schemas.openxmlformats.org/drawingml/2006/main">
              <a:ext uri="{FF2B5EF4-FFF2-40B4-BE49-F238E27FC236}">
                <a16:creationId xmlns:a16="http://schemas.microsoft.com/office/drawing/2014/main" id="{9346655D-AC89-45BC-873B-A4C9BF8BDD53}"/>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[S25]</a:t>
            </a:r>
          </a:p>
        </p:txBody>
      </p:sp>
      <p:sp>
        <p:nvSpPr>
          <p:cNvPr id="4" name="payback-formula">
            <a:extLst xmlns:a="http://schemas.openxmlformats.org/drawingml/2006/main">
              <a:ext uri="{FF2B5EF4-FFF2-40B4-BE49-F238E27FC236}">
                <a16:creationId xmlns:a16="http://schemas.microsoft.com/office/drawing/2014/main" id="{AEC1DEF5-0012-48A0-8866-A2D4FAFFB190}"/>
              </a:ext>
            </a:extLst>
          </p:cNvPr>
          <p:cNvSpPr>
            <a:spLocks xmlns:a="http://schemas.openxmlformats.org/drawingml/2006/main" noGrp="1"/>
          </p:cNvSpPr>
          <p:nvPr/>
        </p:nvSpPr>
        <p:spPr>
          <a:xfrm xmlns:a="http://schemas.openxmlformats.org/drawingml/2006/main">
            <a:off x="647700" y="1600200"/>
            <a:ext cx="10896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343C"/>
                </a:solidFill>
                <a:latin typeface="Arial"/>
                <a:ea typeface="Arial"/>
                <a:cs typeface="Arial"/>
              </a:defRPr>
            </a:pPr>
            <a:r>
              <a:rPr sz="2775" b="1">
                <a:solidFill>
                  <a:srgbClr val="17343C"/>
                </a:solidFill>
                <a:latin typeface="Arial"/>
                <a:ea typeface="Arial"/>
                <a:cs typeface="Arial"/>
              </a:rPr>
              <a:t>Payback = one-time cost / annual net benefit</a:t>
            </a:r>
          </a:p>
        </p:txBody>
      </p:sp>
      <p:sp>
        <p:nvSpPr>
          <p:cNvPr id="5" name="payback-number">
            <a:extLst xmlns:a="http://schemas.openxmlformats.org/drawingml/2006/main">
              <a:ext uri="{FF2B5EF4-FFF2-40B4-BE49-F238E27FC236}">
                <a16:creationId xmlns:a16="http://schemas.microsoft.com/office/drawing/2014/main" id="{89B6D08D-05AF-4C2F-AADD-3D8CD8AAC94C}"/>
              </a:ext>
            </a:extLst>
          </p:cNvPr>
          <p:cNvSpPr>
            <a:spLocks xmlns:a="http://schemas.openxmlformats.org/drawingml/2006/main" noGrp="1"/>
          </p:cNvSpPr>
          <p:nvPr/>
        </p:nvSpPr>
        <p:spPr>
          <a:xfrm xmlns:a="http://schemas.openxmlformats.org/drawingml/2006/main">
            <a:off x="647700" y="2438400"/>
            <a:ext cx="108966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26746D"/>
                </a:solidFill>
                <a:latin typeface="Arial"/>
                <a:ea typeface="Arial"/>
                <a:cs typeface="Arial"/>
              </a:defRPr>
            </a:pPr>
            <a:r>
              <a:rPr sz="3675" b="1">
                <a:solidFill>
                  <a:srgbClr val="26746D"/>
                </a:solidFill>
                <a:latin typeface="Arial"/>
                <a:ea typeface="Arial"/>
                <a:cs typeface="Arial"/>
              </a:rPr>
              <a:t>230 / 1,485.57 × 12 = 1.86 months</a:t>
            </a:r>
          </a:p>
        </p:txBody>
      </p:sp>
      <p:sp>
        <p:nvSpPr>
          <p:cNvPr id="6" name="left-title">
            <a:extLst xmlns:a="http://schemas.openxmlformats.org/drawingml/2006/main">
              <a:ext uri="{FF2B5EF4-FFF2-40B4-BE49-F238E27FC236}">
                <a16:creationId xmlns:a16="http://schemas.microsoft.com/office/drawing/2014/main" id="{2F15C300-C539-46CF-822B-87A77275326D}"/>
              </a:ext>
            </a:extLst>
          </p:cNvPr>
          <p:cNvSpPr>
            <a:spLocks xmlns:a="http://schemas.openxmlformats.org/drawingml/2006/main" noGrp="1"/>
          </p:cNvSpPr>
          <p:nvPr/>
        </p:nvSpPr>
        <p:spPr>
          <a:xfrm xmlns:a="http://schemas.openxmlformats.org/drawingml/2006/main">
            <a:off x="647700" y="3667125"/>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Uniform-flow assumption [AF17]</a:t>
            </a:r>
          </a:p>
        </p:txBody>
      </p:sp>
      <p:sp>
        <p:nvSpPr>
          <p:cNvPr id="7" name="left-body">
            <a:extLst xmlns:a="http://schemas.openxmlformats.org/drawingml/2006/main">
              <a:ext uri="{FF2B5EF4-FFF2-40B4-BE49-F238E27FC236}">
                <a16:creationId xmlns:a16="http://schemas.microsoft.com/office/drawing/2014/main" id="{C9F5EC6C-DA92-4CC1-8658-91BD5A2BE3CD}"/>
              </a:ext>
            </a:extLst>
          </p:cNvPr>
          <p:cNvSpPr>
            <a:spLocks xmlns:a="http://schemas.openxmlformats.org/drawingml/2006/main" noGrp="1"/>
          </p:cNvSpPr>
          <p:nvPr/>
        </p:nvSpPr>
        <p:spPr>
          <a:xfrm xmlns:a="http://schemas.openxmlformats.org/drawingml/2006/main">
            <a:off x="647700" y="4314825"/>
            <a:ext cx="5067300" cy="1847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This simplified result starts at go-live and spreads net benefit evenly across the year.</a:t>
            </a:r>
          </a:p>
        </p:txBody>
      </p:sp>
      <p:sp>
        <p:nvSpPr>
          <p:cNvPr id="8" name="right-title">
            <a:extLst xmlns:a="http://schemas.openxmlformats.org/drawingml/2006/main">
              <a:ext uri="{FF2B5EF4-FFF2-40B4-BE49-F238E27FC236}">
                <a16:creationId xmlns:a16="http://schemas.microsoft.com/office/drawing/2014/main" id="{E4832CEB-6896-48EF-ADD1-7EFE0A7BC088}"/>
              </a:ext>
            </a:extLst>
          </p:cNvPr>
          <p:cNvSpPr>
            <a:spLocks xmlns:a="http://schemas.openxmlformats.org/drawingml/2006/main" noGrp="1"/>
          </p:cNvSpPr>
          <p:nvPr/>
        </p:nvSpPr>
        <p:spPr>
          <a:xfrm xmlns:a="http://schemas.openxmlformats.org/drawingml/2006/main">
            <a:off x="6477000" y="3667125"/>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Discrete reuse transactions</a:t>
            </a:r>
          </a:p>
        </p:txBody>
      </p:sp>
      <p:sp>
        <p:nvSpPr>
          <p:cNvPr id="9" name="right-body">
            <a:extLst xmlns:a="http://schemas.openxmlformats.org/drawingml/2006/main">
              <a:ext uri="{FF2B5EF4-FFF2-40B4-BE49-F238E27FC236}">
                <a16:creationId xmlns:a16="http://schemas.microsoft.com/office/drawing/2014/main" id="{A2DFCA5E-1F30-4102-B267-B02AEB40399B}"/>
              </a:ext>
            </a:extLst>
          </p:cNvPr>
          <p:cNvSpPr>
            <a:spLocks xmlns:a="http://schemas.openxmlformats.org/drawingml/2006/main" noGrp="1"/>
          </p:cNvSpPr>
          <p:nvPr/>
        </p:nvSpPr>
        <p:spPr>
          <a:xfrm xmlns:a="http://schemas.openxmlformats.org/drawingml/2006/main">
            <a:off x="6477000" y="4314825"/>
            <a:ext cx="5067300" cy="1847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Real transfers happen on specific dates. With year-end recognition, recovery is first visible at the end of year 1.</a:t>
            </a:r>
          </a:p>
        </p:txBody>
      </p:sp>
      <p:sp>
        <p:nvSpPr>
          <p:cNvPr id="10" name="payback-time">
            <a:extLst xmlns:a="http://schemas.openxmlformats.org/drawingml/2006/main">
              <a:ext uri="{FF2B5EF4-FFF2-40B4-BE49-F238E27FC236}">
                <a16:creationId xmlns:a16="http://schemas.microsoft.com/office/drawing/2014/main" id="{8F4C9934-660D-4282-B444-BF34218E407C}"/>
              </a:ext>
            </a:extLst>
          </p:cNvPr>
          <p:cNvSpPr>
            <a:spLocks xmlns:a="http://schemas.openxmlformats.org/drawingml/2006/main" noGrp="1"/>
          </p:cNvSpPr>
          <p:nvPr/>
        </p:nvSpPr>
        <p:spPr>
          <a:xfrm xmlns:a="http://schemas.openxmlformats.org/drawingml/2006/main">
            <a:off x="647700" y="6076950"/>
            <a:ext cx="10896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26264"/>
                </a:solidFill>
                <a:latin typeface="Arial"/>
                <a:ea typeface="Arial"/>
                <a:cs typeface="Arial"/>
              </a:defRPr>
            </a:pPr>
            <a:r>
              <a:rPr sz="1950" b="0">
                <a:solidFill>
                  <a:srgbClr val="526264"/>
                </a:solidFill>
                <a:latin typeface="Arial"/>
                <a:ea typeface="Arial"/>
                <a:cs typeface="Arial"/>
              </a:rPr>
              <a:t>This cash payback excludes the value of development and staff time.</a:t>
            </a:r>
          </a:p>
        </p:txBody>
      </p:sp>
    </p:spTree>
    <p:extLst>
      <p:ext uri="{BB962C8B-B14F-4D97-AF65-F5344CB8AC3E}">
        <p14:creationId xmlns:p14="http://schemas.microsoft.com/office/powerpoint/2010/main" val="1747601230"/>
      </p:ext>
    </p:extLst>
  </p:cSld>
</p:sld>
</file>

<file path=ppt/slides/slide36.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F2833B45-F9D2-47F2-A644-717944440735}"/>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The value of time changes the result</a:t>
            </a:r>
          </a:p>
        </p:txBody>
      </p:sp>
      <p:sp>
        <p:nvSpPr>
          <p:cNvPr id="2" name="page">
            <a:extLst xmlns:a="http://schemas.openxmlformats.org/drawingml/2006/main">
              <a:ext uri="{FF2B5EF4-FFF2-40B4-BE49-F238E27FC236}">
                <a16:creationId xmlns:a16="http://schemas.microsoft.com/office/drawing/2014/main" id="{92B7EAC8-EC76-4D05-9505-3CB0DA99720D}"/>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36</a:t>
            </a:r>
          </a:p>
        </p:txBody>
      </p:sp>
      <p:sp>
        <p:nvSpPr>
          <p:cNvPr id="3" name="source">
            <a:extLst xmlns:a="http://schemas.openxmlformats.org/drawingml/2006/main">
              <a:ext uri="{FF2B5EF4-FFF2-40B4-BE49-F238E27FC236}">
                <a16:creationId xmlns:a16="http://schemas.microsoft.com/office/drawing/2014/main" id="{B3A1508F-1631-40BB-9EE2-7998B49AA1F6}"/>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[S24]</a:t>
            </a:r>
          </a:p>
        </p:txBody>
      </p:sp>
      <p:graphicFrame>
        <p:nvGraphicFramePr>
          <p:cNvPr id="9" name=""/>
          <p:cNvGraphicFramePr/>
          <p:nvPr/>
        </p:nvGraphicFramePr>
        <p:xfrm>
          <a:off xmlns:a="http://schemas.openxmlformats.org/drawingml/2006/main" x="647700" y="1581150"/>
          <a:ext xmlns:a="http://schemas.openxmlformats.org/drawingml/2006/main" cx="10896600" cy="4295775"/>
        </p:xfrm>
        <a:graphic xmlns:a="http://schemas.openxmlformats.org/drawingml/2006/main">
          <a:graphicData uri="http://schemas.openxmlformats.org/drawingml/2006/table">
            <a:tbl>
              <a:tblPr firstRow="0" firstCol="0" bandRow="0"/>
              <a:tblGrid>
                <a:gridCol w="4495800"/>
                <a:gridCol w="4286250"/>
                <a:gridCol w="2114550"/>
              </a:tblGrid>
              <a:tr h="561975">
                <a:tc>
                  <a:txBody>
                    <a:bodyPr lIns="123825" tIns="76200" rIns="123825" bIns="76200">
                      <a:noAutofit/>
                    </a:bodyPr>
                    <a:lstStyle/>
                    <a:p>
                      <a:r>
                        <a:rPr sz="1875" b="1">
                          <a:solidFill>
                            <a:srgbClr val="FFFFFF"/>
                          </a:solidFill>
                          <a:latin typeface="Arial"/>
                          <a:ea typeface="Arial"/>
                          <a:cs typeface="Arial"/>
                        </a:rPr>
                        <a:t>Time included</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Calculation</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AED value</a:t>
                      </a:r>
                    </a:p>
                  </a:txBody>
                  <a:tcPr marL="91440" marR="91440" marT="45720" marB="45720" anchor="ctr">
                    <a:solidFill>
                      <a:srgbClr val="17343C"/>
                    </a:solidFill>
                  </a:tcPr>
                </a:tc>
              </a:tr>
              <a:tr h="942975">
                <a:tc>
                  <a:txBody>
                    <a:bodyPr lIns="123825" tIns="76200" rIns="123825" bIns="76200">
                      <a:noAutofit/>
                    </a:bodyPr>
                    <a:lstStyle/>
                    <a:p>
                      <a:r>
                        <a:rPr sz="1950" b="0">
                          <a:solidFill>
                            <a:srgbClr val="17343C"/>
                          </a:solidFill>
                          <a:latin typeface="Arial"/>
                          <a:ea typeface="Arial"/>
                          <a:cs typeface="Arial"/>
                        </a:rPr>
                        <a:t>Development and setup work [AF14]</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207 h × assumed AED 30/h</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6,210.00</a:t>
                      </a:r>
                    </a:p>
                  </a:txBody>
                  <a:tcPr marL="91440" marR="91440" marT="45720" marB="45720" anchor="ctr">
                    <a:solidFill>
                      <a:srgbClr val="FAFAF7"/>
                    </a:solidFill>
                  </a:tcPr>
                </a:tc>
              </a:tr>
              <a:tr h="752475">
                <a:tc>
                  <a:txBody>
                    <a:bodyPr lIns="123825" tIns="76200" rIns="123825" bIns="76200">
                      <a:noAutofit/>
                    </a:bodyPr>
                    <a:lstStyle/>
                    <a:p>
                      <a:r>
                        <a:rPr sz="1950" b="0">
                          <a:solidFill>
                            <a:srgbClr val="17343C"/>
                          </a:solidFill>
                          <a:latin typeface="Arial"/>
                          <a:ea typeface="Arial"/>
                          <a:cs typeface="Arial"/>
                        </a:rPr>
                        <a:t>One-time total with cash</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6,210 + 230</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6,440.00</a:t>
                      </a:r>
                    </a:p>
                  </a:txBody>
                  <a:tcPr marL="91440" marR="91440" marT="45720" marB="45720" anchor="ctr">
                    <a:solidFill>
                      <a:srgbClr val="F0F4F3"/>
                    </a:solidFill>
                  </a:tcPr>
                </a:tc>
              </a:tr>
              <a:tr h="942975">
                <a:tc>
                  <a:txBody>
                    <a:bodyPr lIns="123825" tIns="76200" rIns="123825" bIns="76200">
                      <a:noAutofit/>
                    </a:bodyPr>
                    <a:lstStyle/>
                    <a:p>
                      <a:r>
                        <a:rPr sz="1950" b="0">
                          <a:solidFill>
                            <a:srgbClr val="17343C"/>
                          </a:solidFill>
                          <a:latin typeface="Arial"/>
                          <a:ea typeface="Arial"/>
                          <a:cs typeface="Arial"/>
                        </a:rPr>
                        <a:t>Annual support [AF15]</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24 h/year × assumed AED 30/h</a:t>
                      </a:r>
                    </a:p>
                  </a:txBody>
                  <a:tcPr marL="91440" marR="91440" marT="45720" marB="45720" anchor="ctr">
                    <a:solidFill>
                      <a:srgbClr val="FAFAF7"/>
                    </a:solidFill>
                  </a:tcPr>
                </a:tc>
                <a:tc>
                  <a:txBody>
                    <a:bodyPr lIns="123825" tIns="76200" rIns="123825" bIns="76200">
                      <a:noAutofit/>
                    </a:bodyPr>
                    <a:lstStyle/>
                    <a:p>
                      <a:r>
                        <a:rPr sz="1950" b="0">
                          <a:solidFill>
                            <a:srgbClr val="17343C"/>
                          </a:solidFill>
                          <a:latin typeface="Arial"/>
                          <a:ea typeface="Arial"/>
                          <a:cs typeface="Arial"/>
                        </a:rPr>
                        <a:t>720.00</a:t>
                      </a:r>
                    </a:p>
                  </a:txBody>
                  <a:tcPr marL="91440" marR="91440" marT="45720" marB="45720" anchor="ctr">
                    <a:solidFill>
                      <a:srgbClr val="FAFAF7"/>
                    </a:solidFill>
                  </a:tcPr>
                </a:tc>
              </a:tr>
              <a:tr h="1095375">
                <a:tc>
                  <a:txBody>
                    <a:bodyPr lIns="123825" tIns="76200" rIns="123825" bIns="76200">
                      <a:noAutofit/>
                    </a:bodyPr>
                    <a:lstStyle/>
                    <a:p>
                      <a:r>
                        <a:rPr sz="1950" b="0">
                          <a:solidFill>
                            <a:srgbClr val="17343C"/>
                          </a:solidFill>
                          <a:latin typeface="Arial"/>
                          <a:ea typeface="Arial"/>
                          <a:cs typeface="Arial"/>
                        </a:rPr>
                        <a:t>Additional handling time [AF16]</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0.5 extra staff h per monitor × AED 30/h</a:t>
                      </a:r>
                    </a:p>
                  </a:txBody>
                  <a:tcPr marL="91440" marR="91440" marT="45720" marB="45720" anchor="ctr">
                    <a:solidFill>
                      <a:srgbClr val="F0F4F3"/>
                    </a:solidFill>
                  </a:tcPr>
                </a:tc>
                <a:tc>
                  <a:txBody>
                    <a:bodyPr lIns="123825" tIns="76200" rIns="123825" bIns="76200">
                      <a:noAutofit/>
                    </a:bodyPr>
                    <a:lstStyle/>
                    <a:p>
                      <a:r>
                        <a:rPr sz="1950" b="0">
                          <a:solidFill>
                            <a:srgbClr val="17343C"/>
                          </a:solidFill>
                          <a:latin typeface="Arial"/>
                          <a:ea typeface="Arial"/>
                          <a:cs typeface="Arial"/>
                        </a:rPr>
                        <a:t>15.00 / monitor</a:t>
                      </a:r>
                    </a:p>
                  </a:txBody>
                  <a:tcPr marL="91440" marR="91440" marT="45720" marB="45720" anchor="ctr">
                    <a:solidFill>
                      <a:srgbClr val="F0F4F3"/>
                    </a:solidFill>
                  </a:tcPr>
                </a:tc>
              </a:tr>
            </a:tbl>
          </a:graphicData>
        </a:graphic>
      </p:graphicFrame>
      <p:sp>
        <p:nvSpPr>
          <p:cNvPr id="5" name="rate-assumption">
            <a:extLst xmlns:a="http://schemas.openxmlformats.org/drawingml/2006/main">
              <a:ext uri="{FF2B5EF4-FFF2-40B4-BE49-F238E27FC236}">
                <a16:creationId xmlns:a16="http://schemas.microsoft.com/office/drawing/2014/main" id="{952333B0-63A0-41AC-93DD-517633E58178}"/>
              </a:ext>
            </a:extLst>
          </p:cNvPr>
          <p:cNvSpPr>
            <a:spLocks xmlns:a="http://schemas.openxmlformats.org/drawingml/2006/main" noGrp="1"/>
          </p:cNvSpPr>
          <p:nvPr/>
        </p:nvSpPr>
        <p:spPr>
          <a:xfrm xmlns:a="http://schemas.openxmlformats.org/drawingml/2006/main">
            <a:off x="647700" y="6124575"/>
            <a:ext cx="10896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26746D"/>
                </a:solidFill>
                <a:latin typeface="Arial"/>
                <a:ea typeface="Arial"/>
                <a:cs typeface="Arial"/>
              </a:defRPr>
            </a:pPr>
            <a:r>
              <a:rPr sz="1800" b="1">
                <a:solidFill>
                  <a:srgbClr val="26746D"/>
                </a:solidFill>
                <a:latin typeface="Arial"/>
                <a:ea typeface="Arial"/>
                <a:cs typeface="Arial"/>
              </a:rPr>
              <a:t>AED 30/hour is a planning value of time. No salary or payment is claimed.</a:t>
            </a:r>
          </a:p>
        </p:txBody>
      </p:sp>
    </p:spTree>
    <p:extLst>
      <p:ext uri="{BB962C8B-B14F-4D97-AF65-F5344CB8AC3E}">
        <p14:creationId xmlns:p14="http://schemas.microsoft.com/office/powerpoint/2010/main" val="1585159897"/>
      </p:ext>
    </p:extLst>
  </p:cSld>
</p:sld>
</file>

<file path=ppt/slides/slide37.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4764B521-FF9F-4ABE-8BD9-A35A4EF7CAFB}"/>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Base case with time included</a:t>
            </a:r>
          </a:p>
        </p:txBody>
      </p:sp>
      <p:sp>
        <p:nvSpPr>
          <p:cNvPr id="2" name="page">
            <a:extLst xmlns:a="http://schemas.openxmlformats.org/drawingml/2006/main">
              <a:ext uri="{FF2B5EF4-FFF2-40B4-BE49-F238E27FC236}">
                <a16:creationId xmlns:a16="http://schemas.microsoft.com/office/drawing/2014/main" id="{521A742D-F1B5-4DFF-BE17-4F3AA09EC5BA}"/>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37</a:t>
            </a:r>
          </a:p>
        </p:txBody>
      </p:sp>
      <p:sp>
        <p:nvSpPr>
          <p:cNvPr id="3" name="source">
            <a:extLst xmlns:a="http://schemas.openxmlformats.org/drawingml/2006/main">
              <a:ext uri="{FF2B5EF4-FFF2-40B4-BE49-F238E27FC236}">
                <a16:creationId xmlns:a16="http://schemas.microsoft.com/office/drawing/2014/main" id="{831281ED-47B3-43C8-9B99-740DD211A2B5}"/>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[S16] [S24]</a:t>
            </a:r>
          </a:p>
        </p:txBody>
      </p:sp>
      <p:sp>
        <p:nvSpPr>
          <p:cNvPr id="4" name="economic-annual">
            <a:extLst xmlns:a="http://schemas.openxmlformats.org/drawingml/2006/main">
              <a:ext uri="{FF2B5EF4-FFF2-40B4-BE49-F238E27FC236}">
                <a16:creationId xmlns:a16="http://schemas.microsoft.com/office/drawing/2014/main" id="{1982B0F8-91B9-4EA9-9F5E-95D5EC9E11B3}"/>
              </a:ext>
            </a:extLst>
          </p:cNvPr>
          <p:cNvSpPr>
            <a:spLocks xmlns:a="http://schemas.openxmlformats.org/drawingml/2006/main" noGrp="1"/>
          </p:cNvSpPr>
          <p:nvPr/>
        </p:nvSpPr>
        <p:spPr>
          <a:xfrm xmlns:a="http://schemas.openxmlformats.org/drawingml/2006/main">
            <a:off x="647700" y="1581150"/>
            <a:ext cx="108966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26746D"/>
                </a:solidFill>
                <a:latin typeface="Arial"/>
                <a:ea typeface="Arial"/>
                <a:cs typeface="Arial"/>
              </a:defRPr>
            </a:pPr>
            <a:r>
              <a:rPr sz="2925" b="1">
                <a:solidFill>
                  <a:srgbClr val="26746D"/>
                </a:solidFill>
                <a:latin typeface="Arial"/>
                <a:ea typeface="Arial"/>
                <a:cs typeface="Arial"/>
              </a:rPr>
              <a:t>Annual net benefit = 2,760 − 2,114.43</a:t>
            </a:r>
          </a:p>
          <a:p xmlns:a="http://schemas.openxmlformats.org/drawingml/2006/main">
            <a:pPr algn="l">
              <a:defRPr sz="2925" b="1">
                <a:solidFill>
                  <a:srgbClr val="26746D"/>
                </a:solidFill>
                <a:latin typeface="Arial"/>
                <a:ea typeface="Arial"/>
                <a:cs typeface="Arial"/>
              </a:defRPr>
            </a:pPr>
            <a:r>
              <a:rPr sz="2925" b="1">
                <a:solidFill>
                  <a:srgbClr val="26746D"/>
                </a:solidFill>
                <a:latin typeface="Arial"/>
                <a:ea typeface="Arial"/>
                <a:cs typeface="Arial"/>
              </a:rPr>
              <a:t>= AED 645.57</a:t>
            </a:r>
          </a:p>
        </p:txBody>
      </p:sp>
      <p:graphicFrame>
        <p:nvGraphicFramePr>
          <p:cNvPr id="11" name=""/>
          <p:cNvGraphicFramePr/>
          <p:nvPr/>
        </p:nvGraphicFramePr>
        <p:xfrm>
          <a:off xmlns:a="http://schemas.openxmlformats.org/drawingml/2006/main" x="647700" y="3133725"/>
          <a:ext xmlns:a="http://schemas.openxmlformats.org/drawingml/2006/main" cx="10896600" cy="2466975"/>
        </p:xfrm>
        <a:graphic xmlns:a="http://schemas.openxmlformats.org/drawingml/2006/main">
          <a:graphicData uri="http://schemas.openxmlformats.org/drawingml/2006/table">
            <a:tbl>
              <a:tblPr firstRow="0" firstCol="0" bandRow="0"/>
              <a:tblGrid>
                <a:gridCol w="8420100"/>
                <a:gridCol w="2476500"/>
              </a:tblGrid>
              <a:tr h="523875">
                <a:tc>
                  <a:txBody>
                    <a:bodyPr lIns="123825" tIns="76200" rIns="123825" bIns="76200">
                      <a:noAutofit/>
                    </a:bodyPr>
                    <a:lstStyle/>
                    <a:p>
                      <a:r>
                        <a:rPr sz="1875" b="1">
                          <a:solidFill>
                            <a:srgbClr val="FFFFFF"/>
                          </a:solidFill>
                          <a:latin typeface="Arial"/>
                          <a:ea typeface="Arial"/>
                          <a:cs typeface="Arial"/>
                        </a:rPr>
                        <a:t>Three-year result</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AED</a:t>
                      </a:r>
                    </a:p>
                  </a:txBody>
                  <a:tcPr marL="91440" marR="91440" marT="45720" marB="45720" anchor="ctr">
                    <a:solidFill>
                      <a:srgbClr val="17343C"/>
                    </a:solidFill>
                  </a:tcPr>
                </a:tc>
              </a:tr>
              <a:tr h="647700">
                <a:tc>
                  <a:txBody>
                    <a:bodyPr lIns="123825" tIns="76200" rIns="123825" bIns="76200">
                      <a:noAutofit/>
                    </a:bodyPr>
                    <a:lstStyle/>
                    <a:p>
                      <a:r>
                        <a:rPr sz="2100" b="0">
                          <a:solidFill>
                            <a:srgbClr val="17343C"/>
                          </a:solidFill>
                          <a:latin typeface="Arial"/>
                          <a:ea typeface="Arial"/>
                          <a:cs typeface="Arial"/>
                        </a:rPr>
                        <a:t>Total benefit: 3 × 2,760</a:t>
                      </a:r>
                    </a:p>
                  </a:txBody>
                  <a:tcPr marL="91440" marR="91440" marT="45720" marB="45720" anchor="ctr">
                    <a:solidFill>
                      <a:srgbClr val="FAFAF7"/>
                    </a:solidFill>
                  </a:tcPr>
                </a:tc>
                <a:tc>
                  <a:txBody>
                    <a:bodyPr lIns="123825" tIns="76200" rIns="123825" bIns="76200">
                      <a:noAutofit/>
                    </a:bodyPr>
                    <a:lstStyle/>
                    <a:p>
                      <a:r>
                        <a:rPr sz="2100" b="0">
                          <a:solidFill>
                            <a:srgbClr val="17343C"/>
                          </a:solidFill>
                          <a:latin typeface="Arial"/>
                          <a:ea typeface="Arial"/>
                          <a:cs typeface="Arial"/>
                        </a:rPr>
                        <a:t>8,280.00</a:t>
                      </a:r>
                    </a:p>
                  </a:txBody>
                  <a:tcPr marL="91440" marR="91440" marT="45720" marB="45720" anchor="ctr">
                    <a:solidFill>
                      <a:srgbClr val="FAFAF7"/>
                    </a:solidFill>
                  </a:tcPr>
                </a:tc>
              </a:tr>
              <a:tr h="647700">
                <a:tc>
                  <a:txBody>
                    <a:bodyPr lIns="123825" tIns="76200" rIns="123825" bIns="76200">
                      <a:noAutofit/>
                    </a:bodyPr>
                    <a:lstStyle/>
                    <a:p>
                      <a:r>
                        <a:rPr sz="2100" b="0">
                          <a:solidFill>
                            <a:srgbClr val="17343C"/>
                          </a:solidFill>
                          <a:latin typeface="Arial"/>
                          <a:ea typeface="Arial"/>
                          <a:cs typeface="Arial"/>
                        </a:rPr>
                        <a:t>Total cost: setup + 3 years running</a:t>
                      </a:r>
                    </a:p>
                  </a:txBody>
                  <a:tcPr marL="91440" marR="91440" marT="45720" marB="45720" anchor="ctr">
                    <a:solidFill>
                      <a:srgbClr val="F0F4F3"/>
                    </a:solidFill>
                  </a:tcPr>
                </a:tc>
                <a:tc>
                  <a:txBody>
                    <a:bodyPr lIns="123825" tIns="76200" rIns="123825" bIns="76200">
                      <a:noAutofit/>
                    </a:bodyPr>
                    <a:lstStyle/>
                    <a:p>
                      <a:r>
                        <a:rPr sz="2100" b="0">
                          <a:solidFill>
                            <a:srgbClr val="17343C"/>
                          </a:solidFill>
                          <a:latin typeface="Arial"/>
                          <a:ea typeface="Arial"/>
                          <a:cs typeface="Arial"/>
                        </a:rPr>
                        <a:t>12,783.28</a:t>
                      </a:r>
                    </a:p>
                  </a:txBody>
                  <a:tcPr marL="91440" marR="91440" marT="45720" marB="45720" anchor="ctr">
                    <a:solidFill>
                      <a:srgbClr val="F0F4F3"/>
                    </a:solidFill>
                  </a:tcPr>
                </a:tc>
              </a:tr>
              <a:tr h="647700">
                <a:tc>
                  <a:txBody>
                    <a:bodyPr lIns="123825" tIns="76200" rIns="123825" bIns="76200">
                      <a:noAutofit/>
                    </a:bodyPr>
                    <a:lstStyle/>
                    <a:p>
                      <a:r>
                        <a:rPr sz="2100" b="0">
                          <a:solidFill>
                            <a:srgbClr val="17343C"/>
                          </a:solidFill>
                          <a:latin typeface="Arial"/>
                          <a:ea typeface="Arial"/>
                          <a:cs typeface="Arial"/>
                        </a:rPr>
                        <a:t>Net benefit</a:t>
                      </a:r>
                    </a:p>
                  </a:txBody>
                  <a:tcPr marL="91440" marR="91440" marT="45720" marB="45720" anchor="ctr">
                    <a:solidFill>
                      <a:srgbClr val="FAFAF7"/>
                    </a:solidFill>
                  </a:tcPr>
                </a:tc>
                <a:tc>
                  <a:txBody>
                    <a:bodyPr lIns="123825" tIns="76200" rIns="123825" bIns="76200">
                      <a:noAutofit/>
                    </a:bodyPr>
                    <a:lstStyle/>
                    <a:p>
                      <a:r>
                        <a:rPr sz="2100" b="0">
                          <a:solidFill>
                            <a:srgbClr val="17343C"/>
                          </a:solidFill>
                          <a:latin typeface="Arial"/>
                          <a:ea typeface="Arial"/>
                          <a:cs typeface="Arial"/>
                        </a:rPr>
                        <a:t>-4,503.28</a:t>
                      </a:r>
                    </a:p>
                  </a:txBody>
                  <a:tcPr marL="91440" marR="91440" marT="45720" marB="45720" anchor="ctr">
                    <a:solidFill>
                      <a:srgbClr val="FAFAF7"/>
                    </a:solidFill>
                  </a:tcPr>
                </a:tc>
              </a:tr>
            </a:tbl>
          </a:graphicData>
        </a:graphic>
      </p:graphicFrame>
      <p:sp>
        <p:nvSpPr>
          <p:cNvPr id="6" name="economic-roi">
            <a:extLst xmlns:a="http://schemas.openxmlformats.org/drawingml/2006/main">
              <a:ext uri="{FF2B5EF4-FFF2-40B4-BE49-F238E27FC236}">
                <a16:creationId xmlns:a16="http://schemas.microsoft.com/office/drawing/2014/main" id="{2907D743-04AE-460F-A93F-EC25805F5087}"/>
              </a:ext>
            </a:extLst>
          </p:cNvPr>
          <p:cNvSpPr>
            <a:spLocks xmlns:a="http://schemas.openxmlformats.org/drawingml/2006/main" noGrp="1"/>
          </p:cNvSpPr>
          <p:nvPr/>
        </p:nvSpPr>
        <p:spPr>
          <a:xfrm xmlns:a="http://schemas.openxmlformats.org/drawingml/2006/main">
            <a:off x="647700" y="5972175"/>
            <a:ext cx="108966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9A4D40"/>
                </a:solidFill>
                <a:latin typeface="Arial"/>
                <a:ea typeface="Arial"/>
                <a:cs typeface="Arial"/>
              </a:defRPr>
            </a:pPr>
            <a:r>
              <a:rPr sz="2325" b="1">
                <a:solidFill>
                  <a:srgbClr val="9A4D40"/>
                </a:solidFill>
                <a:latin typeface="Arial"/>
                <a:ea typeface="Arial"/>
                <a:cs typeface="Arial"/>
              </a:rPr>
              <a:t>Three-year ROI: -35.23%     No recovery within 3 years</a:t>
            </a:r>
          </a:p>
        </p:txBody>
      </p:sp>
    </p:spTree>
    <p:extLst>
      <p:ext uri="{BB962C8B-B14F-4D97-AF65-F5344CB8AC3E}">
        <p14:creationId xmlns:p14="http://schemas.microsoft.com/office/powerpoint/2010/main" val="85976678"/>
      </p:ext>
    </p:extLst>
  </p:cSld>
</p:sld>
</file>

<file path=ppt/slides/slide38.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2F92472D-EEA2-4D93-9CFA-A6B92149A678}"/>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Cash and time-inclusive results over three years</a:t>
            </a:r>
          </a:p>
        </p:txBody>
      </p:sp>
      <p:sp>
        <p:nvSpPr>
          <p:cNvPr id="2" name="page">
            <a:extLst xmlns:a="http://schemas.openxmlformats.org/drawingml/2006/main">
              <a:ext uri="{FF2B5EF4-FFF2-40B4-BE49-F238E27FC236}">
                <a16:creationId xmlns:a16="http://schemas.microsoft.com/office/drawing/2014/main" id="{D115B22A-DE9B-4DAE-BDCE-F96E852F9724}"/>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38</a:t>
            </a:r>
          </a:p>
        </p:txBody>
      </p:sp>
      <p:sp>
        <p:nvSpPr>
          <p:cNvPr id="3" name="source">
            <a:extLst xmlns:a="http://schemas.openxmlformats.org/drawingml/2006/main">
              <a:ext uri="{FF2B5EF4-FFF2-40B4-BE49-F238E27FC236}">
                <a16:creationId xmlns:a16="http://schemas.microsoft.com/office/drawing/2014/main" id="{BE6D323F-1AB1-443D-A7F6-DDF38A4DD3B8}"/>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[S16] [S24] [S25]</a:t>
            </a:r>
          </a:p>
        </p:txBody>
      </p:sp>
      <p:sp>
        <p:nvSpPr>
          <p:cNvPr id="4" name="cashflow-label">
            <a:extLst xmlns:a="http://schemas.openxmlformats.org/drawingml/2006/main">
              <a:ext uri="{FF2B5EF4-FFF2-40B4-BE49-F238E27FC236}">
                <a16:creationId xmlns:a16="http://schemas.microsoft.com/office/drawing/2014/main" id="{F79A9741-9639-4B96-8C39-DF578CA10AE0}"/>
              </a:ext>
            </a:extLst>
          </p:cNvPr>
          <p:cNvSpPr>
            <a:spLocks xmlns:a="http://schemas.openxmlformats.org/drawingml/2006/main" noGrp="1"/>
          </p:cNvSpPr>
          <p:nvPr/>
        </p:nvSpPr>
        <p:spPr>
          <a:xfrm xmlns:a="http://schemas.openxmlformats.org/drawingml/2006/main">
            <a:off x="647700" y="143827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26746D"/>
                </a:solidFill>
                <a:latin typeface="Arial"/>
                <a:ea typeface="Arial"/>
                <a:cs typeface="Arial"/>
              </a:defRPr>
            </a:pPr>
            <a:r>
              <a:rPr sz="2100" b="1">
                <a:solidFill>
                  <a:srgbClr val="26746D"/>
                </a:solidFill>
                <a:latin typeface="Arial"/>
                <a:ea typeface="Arial"/>
                <a:cs typeface="Arial"/>
              </a:rPr>
              <a:t>Cumulative net benefit, AED  /  base case: 8 extra monitors each year</a:t>
            </a:r>
          </a:p>
        </p:txBody>
      </p:sp>
      <p:graphicFrame>
        <p:nvGraphicFramePr>
          <p:cNvPr id="11" name="Chart"/>
          <p:cNvGraphicFramePr/>
          <p:nvPr/>
        </p:nvGraphicFramePr>
        <p:xfrm>
          <a:off xmlns:a="http://schemas.openxmlformats.org/drawingml/2006/main" x="809625" y="2028825"/>
          <a:ext xmlns:a="http://schemas.openxmlformats.org/drawingml/2006/main" cx="10734675" cy="3800475"/>
        </p:xfrm>
        <a:graphic xmlns:a="http://schemas.openxmlformats.org/drawingml/2006/main">
          <a:graphicData uri="http://schemas.openxmlformats.org/drawingml/2006/chart">
            <c:chart xmlns:r="http://schemas.openxmlformats.org/officeDocument/2006/relationships" xmlns:c="http://schemas.openxmlformats.org/drawingml/2006/chart" r:id="R730c5ad1c7a540ac"/>
          </a:graphicData>
        </a:graphic>
      </p:graphicFrame>
      <p:sp>
        <p:nvSpPr>
          <p:cNvPr id="6" name="cashflow-result">
            <a:extLst xmlns:a="http://schemas.openxmlformats.org/drawingml/2006/main">
              <a:ext uri="{FF2B5EF4-FFF2-40B4-BE49-F238E27FC236}">
                <a16:creationId xmlns:a16="http://schemas.microsoft.com/office/drawing/2014/main" id="{C4B54EA8-A499-4E2C-8E78-71420F41187E}"/>
              </a:ext>
            </a:extLst>
          </p:cNvPr>
          <p:cNvSpPr>
            <a:spLocks xmlns:a="http://schemas.openxmlformats.org/drawingml/2006/main" noGrp="1"/>
          </p:cNvSpPr>
          <p:nvPr/>
        </p:nvSpPr>
        <p:spPr>
          <a:xfrm xmlns:a="http://schemas.openxmlformats.org/drawingml/2006/main">
            <a:off x="647700" y="59721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343C"/>
                </a:solidFill>
                <a:latin typeface="Arial"/>
                <a:ea typeface="Arial"/>
                <a:cs typeface="Arial"/>
              </a:defRPr>
            </a:pPr>
            <a:r>
              <a:rPr sz="2100" b="1">
                <a:solidFill>
                  <a:srgbClr val="17343C"/>
                </a:solidFill>
                <a:latin typeface="Arial"/>
                <a:ea typeface="Arial"/>
                <a:cs typeface="Arial"/>
              </a:rPr>
              <a:t>At year 3: cash +AED 4,226.72. Including time −AED 4,503.28.</a:t>
            </a:r>
          </a:p>
        </p:txBody>
      </p:sp>
    </p:spTree>
    <p:extLst>
      <p:ext uri="{BB962C8B-B14F-4D97-AF65-F5344CB8AC3E}">
        <p14:creationId xmlns:p14="http://schemas.microsoft.com/office/powerpoint/2010/main" val="1150313535"/>
      </p:ext>
    </p:extLst>
  </p:cSld>
</p:sld>
</file>

<file path=ppt/slides/slide39.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CB3AA985-8A1C-433E-A301-5F7308F74382}"/>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What would justify a stronger financial case?</a:t>
            </a:r>
          </a:p>
        </p:txBody>
      </p:sp>
      <p:sp>
        <p:nvSpPr>
          <p:cNvPr id="2" name="page">
            <a:extLst xmlns:a="http://schemas.openxmlformats.org/drawingml/2006/main">
              <a:ext uri="{FF2B5EF4-FFF2-40B4-BE49-F238E27FC236}">
                <a16:creationId xmlns:a16="http://schemas.microsoft.com/office/drawing/2014/main" id="{7ECFD087-AB40-48B1-9E01-9EAB9B73DB83}"/>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39</a:t>
            </a:r>
          </a:p>
        </p:txBody>
      </p:sp>
      <p:sp>
        <p:nvSpPr>
          <p:cNvPr id="3" name="source">
            <a:extLst xmlns:a="http://schemas.openxmlformats.org/drawingml/2006/main">
              <a:ext uri="{FF2B5EF4-FFF2-40B4-BE49-F238E27FC236}">
                <a16:creationId xmlns:a16="http://schemas.microsoft.com/office/drawing/2014/main" id="{5DAB58D3-E1B7-425B-9CA8-53CEA3EADB5D}"/>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[S15] [S16] [S24]</a:t>
            </a:r>
          </a:p>
        </p:txBody>
      </p:sp>
      <p:sp>
        <p:nvSpPr>
          <p:cNvPr id="4" name="threshold">
            <a:extLst xmlns:a="http://schemas.openxmlformats.org/drawingml/2006/main">
              <a:ext uri="{FF2B5EF4-FFF2-40B4-BE49-F238E27FC236}">
                <a16:creationId xmlns:a16="http://schemas.microsoft.com/office/drawing/2014/main" id="{A1ED5812-4781-44A1-99B5-DCCF6A1A61BA}"/>
              </a:ext>
            </a:extLst>
          </p:cNvPr>
          <p:cNvSpPr>
            <a:spLocks xmlns:a="http://schemas.openxmlformats.org/drawingml/2006/main" noGrp="1"/>
          </p:cNvSpPr>
          <p:nvPr/>
        </p:nvSpPr>
        <p:spPr>
          <a:xfrm xmlns:a="http://schemas.openxmlformats.org/drawingml/2006/main">
            <a:off x="647700" y="1695450"/>
            <a:ext cx="10896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26746D"/>
                </a:solidFill>
                <a:latin typeface="Arial"/>
                <a:ea typeface="Arial"/>
                <a:cs typeface="Arial"/>
              </a:defRPr>
            </a:pPr>
            <a:r>
              <a:rPr sz="3900" b="1">
                <a:solidFill>
                  <a:srgbClr val="26746D"/>
                </a:solidFill>
                <a:latin typeface="Arial"/>
                <a:ea typeface="Arial"/>
                <a:cs typeface="Arial"/>
              </a:rPr>
              <a:t>13 additional monitors each year</a:t>
            </a:r>
          </a:p>
        </p:txBody>
      </p:sp>
      <p:sp>
        <p:nvSpPr>
          <p:cNvPr id="5" name="threshold-percent">
            <a:extLst xmlns:a="http://schemas.openxmlformats.org/drawingml/2006/main">
              <a:ext uri="{FF2B5EF4-FFF2-40B4-BE49-F238E27FC236}">
                <a16:creationId xmlns:a16="http://schemas.microsoft.com/office/drawing/2014/main" id="{6FF6F977-A682-4AD9-A740-D11F14DEBF23}"/>
              </a:ext>
            </a:extLst>
          </p:cNvPr>
          <p:cNvSpPr>
            <a:spLocks xmlns:a="http://schemas.openxmlformats.org/drawingml/2006/main" noGrp="1"/>
          </p:cNvSpPr>
          <p:nvPr/>
        </p:nvSpPr>
        <p:spPr>
          <a:xfrm xmlns:a="http://schemas.openxmlformats.org/drawingml/2006/main">
            <a:off x="647700" y="2657475"/>
            <a:ext cx="10896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343C"/>
                </a:solidFill>
                <a:latin typeface="Arial"/>
                <a:ea typeface="Arial"/>
                <a:cs typeface="Arial"/>
              </a:defRPr>
            </a:pPr>
            <a:r>
              <a:rPr sz="2550" b="1">
                <a:solidFill>
                  <a:srgbClr val="17343C"/>
                </a:solidFill>
                <a:latin typeface="Arial"/>
                <a:ea typeface="Arial"/>
                <a:cs typeface="Arial"/>
              </a:rPr>
              <a:t>32.5% of the assumed 40 remaining purchases</a:t>
            </a:r>
          </a:p>
        </p:txBody>
      </p:sp>
      <p:sp>
        <p:nvSpPr>
          <p:cNvPr id="6" name="threshold-meaning">
            <a:extLst xmlns:a="http://schemas.openxmlformats.org/drawingml/2006/main">
              <a:ext uri="{FF2B5EF4-FFF2-40B4-BE49-F238E27FC236}">
                <a16:creationId xmlns:a16="http://schemas.microsoft.com/office/drawing/2014/main" id="{5EC332D4-990C-490C-97FD-CB6866B3C62B}"/>
              </a:ext>
            </a:extLst>
          </p:cNvPr>
          <p:cNvSpPr>
            <a:spLocks xmlns:a="http://schemas.openxmlformats.org/drawingml/2006/main" noGrp="1"/>
          </p:cNvSpPr>
          <p:nvPr/>
        </p:nvSpPr>
        <p:spPr>
          <a:xfrm xmlns:a="http://schemas.openxmlformats.org/drawingml/2006/main">
            <a:off x="647700" y="3600450"/>
            <a:ext cx="108966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7343C"/>
                </a:solidFill>
                <a:latin typeface="Arial"/>
                <a:ea typeface="Arial"/>
                <a:cs typeface="Arial"/>
              </a:defRPr>
            </a:pPr>
            <a:r>
              <a:rPr sz="2325" b="0">
                <a:solidFill>
                  <a:srgbClr val="17343C"/>
                </a:solidFill>
                <a:latin typeface="Arial"/>
                <a:ea typeface="Arial"/>
                <a:cs typeface="Arial"/>
              </a:rPr>
              <a:t>This is the three-year break-even threshold when we include time.</a:t>
            </a:r>
          </a:p>
          <a:p xmlns:a="http://schemas.openxmlformats.org/drawingml/2006/main">
            <a:pPr algn="l">
              <a:defRPr sz="2325" b="0">
                <a:solidFill>
                  <a:srgbClr val="17343C"/>
                </a:solidFill>
                <a:latin typeface="Arial"/>
                <a:ea typeface="Arial"/>
                <a:cs typeface="Arial"/>
              </a:defRPr>
            </a:pPr>
            <a:r>
              <a:rPr sz="2325" b="0">
                <a:solidFill>
                  <a:srgbClr val="17343C"/>
                </a:solidFill>
                <a:latin typeface="Arial"/>
                <a:ea typeface="Arial"/>
                <a:cs typeface="Arial"/>
              </a:rPr>
              <a:t>It only holds for the stated price, costs and workload assumptions.</a:t>
            </a:r>
          </a:p>
        </p:txBody>
      </p:sp>
      <p:sp>
        <p:nvSpPr>
          <p:cNvPr id="7" name="decision-monitor">
            <a:extLst xmlns:a="http://schemas.openxmlformats.org/drawingml/2006/main">
              <a:ext uri="{FF2B5EF4-FFF2-40B4-BE49-F238E27FC236}">
                <a16:creationId xmlns:a16="http://schemas.microsoft.com/office/drawing/2014/main" id="{0A3179DF-91BB-4F19-A610-41CBC331E672}"/>
              </a:ext>
            </a:extLst>
          </p:cNvPr>
          <p:cNvSpPr>
            <a:spLocks xmlns:a="http://schemas.openxmlformats.org/drawingml/2006/main" noGrp="1"/>
          </p:cNvSpPr>
          <p:nvPr/>
        </p:nvSpPr>
        <p:spPr>
          <a:xfrm xmlns:a="http://schemas.openxmlformats.org/drawingml/2006/main">
            <a:off x="647700" y="5381625"/>
            <a:ext cx="108966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9A4D40"/>
                </a:solidFill>
                <a:latin typeface="Arial"/>
                <a:ea typeface="Arial"/>
                <a:cs typeface="Arial"/>
              </a:defRPr>
            </a:pPr>
            <a:r>
              <a:rPr sz="2325" b="0">
                <a:solidFill>
                  <a:srgbClr val="9A4D40"/>
                </a:solidFill>
                <a:latin typeface="Arial"/>
                <a:ea typeface="Arial"/>
                <a:cs typeface="Arial"/>
              </a:rPr>
              <a:t>The 8-monitor base case does not support a custom KU rollout.</a:t>
            </a:r>
          </a:p>
          <a:p xmlns:a="http://schemas.openxmlformats.org/drawingml/2006/main">
            <a:pPr algn="l">
              <a:defRPr sz="2325" b="0">
                <a:solidFill>
                  <a:srgbClr val="9A4D40"/>
                </a:solidFill>
                <a:latin typeface="Arial"/>
                <a:ea typeface="Arial"/>
                <a:cs typeface="Arial"/>
              </a:defRPr>
            </a:pPr>
            <a:r>
              <a:rPr sz="2325" b="0">
                <a:solidFill>
                  <a:srgbClr val="9A4D40"/>
                </a:solidFill>
                <a:latin typeface="Arial"/>
                <a:ea typeface="Arial"/>
                <a:cs typeface="Arial"/>
              </a:rPr>
              <a:t>A broader case needs verified demand and additional benefits.</a:t>
            </a:r>
          </a:p>
        </p:txBody>
      </p:sp>
    </p:spTree>
    <p:extLst>
      <p:ext uri="{BB962C8B-B14F-4D97-AF65-F5344CB8AC3E}">
        <p14:creationId xmlns:p14="http://schemas.microsoft.com/office/powerpoint/2010/main" val="1266800659"/>
      </p:ext>
    </p:extLst>
  </p:cSld>
</p:sld>
</file>

<file path=ppt/slides/slide40.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74951701-15C0-432C-92FB-B512D1763C59}"/>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Reusing software components reduces coding effort</a:t>
            </a:r>
          </a:p>
        </p:txBody>
      </p:sp>
      <p:sp>
        <p:nvSpPr>
          <p:cNvPr id="2" name="page">
            <a:extLst xmlns:a="http://schemas.openxmlformats.org/drawingml/2006/main">
              <a:ext uri="{FF2B5EF4-FFF2-40B4-BE49-F238E27FC236}">
                <a16:creationId xmlns:a16="http://schemas.microsoft.com/office/drawing/2014/main" id="{BE514491-602C-4287-9075-8F3329210A49}"/>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40</a:t>
            </a:r>
          </a:p>
        </p:txBody>
      </p:sp>
      <p:sp>
        <p:nvSpPr>
          <p:cNvPr id="3" name="source">
            <a:extLst xmlns:a="http://schemas.openxmlformats.org/drawingml/2006/main">
              <a:ext uri="{FF2B5EF4-FFF2-40B4-BE49-F238E27FC236}">
                <a16:creationId xmlns:a16="http://schemas.microsoft.com/office/drawing/2014/main" id="{7E96BE54-E3B9-42C5-9ACE-08514BCFA3F9}"/>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[S28] [S29]</a:t>
            </a:r>
          </a:p>
        </p:txBody>
      </p:sp>
      <p:graphicFrame>
        <p:nvGraphicFramePr>
          <p:cNvPr id="10" name=""/>
          <p:cNvGraphicFramePr/>
          <p:nvPr/>
        </p:nvGraphicFramePr>
        <p:xfrm>
          <a:off xmlns:a="http://schemas.openxmlformats.org/drawingml/2006/main" x="647700" y="1524000"/>
          <a:ext xmlns:a="http://schemas.openxmlformats.org/drawingml/2006/main" cx="10896600" cy="3400425"/>
        </p:xfrm>
        <a:graphic xmlns:a="http://schemas.openxmlformats.org/drawingml/2006/main">
          <a:graphicData uri="http://schemas.openxmlformats.org/drawingml/2006/table">
            <a:tbl>
              <a:tblPr firstRow="0" firstCol="0" bandRow="0"/>
              <a:tblGrid>
                <a:gridCol w="5219700"/>
                <a:gridCol w="1752600"/>
                <a:gridCol w="2057400"/>
                <a:gridCol w="1866900"/>
              </a:tblGrid>
              <a:tr h="533400">
                <a:tc>
                  <a:txBody>
                    <a:bodyPr lIns="123825" tIns="76200" rIns="123825" bIns="76200">
                      <a:noAutofit/>
                    </a:bodyPr>
                    <a:lstStyle/>
                    <a:p>
                      <a:r>
                        <a:rPr sz="1875" b="1">
                          <a:solidFill>
                            <a:srgbClr val="FFFFFF"/>
                          </a:solidFill>
                          <a:latin typeface="Arial"/>
                          <a:ea typeface="Arial"/>
                          <a:cs typeface="Arial"/>
                        </a:rPr>
                        <a:t>Component [AR01]</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Custom work</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Reuse + tests</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Hours avoided</a:t>
                      </a:r>
                    </a:p>
                  </a:txBody>
                  <a:tcPr marL="91440" marR="91440" marT="45720" marB="45720" anchor="ctr">
                    <a:solidFill>
                      <a:srgbClr val="17343C"/>
                    </a:solidFill>
                  </a:tcPr>
                </a:tc>
              </a:tr>
              <a:tr h="800100">
                <a:tc>
                  <a:txBody>
                    <a:bodyPr lIns="123825" tIns="76200" rIns="123825" bIns="76200">
                      <a:noAutofit/>
                    </a:bodyPr>
                    <a:lstStyle/>
                    <a:p>
                      <a:r>
                        <a:rPr sz="1875" b="0">
                          <a:solidFill>
                            <a:srgbClr val="17343C"/>
                          </a:solidFill>
                          <a:latin typeface="Arial"/>
                          <a:ea typeface="Arial"/>
                          <a:cs typeface="Arial"/>
                        </a:rPr>
                        <a:t>Accounts and basic administration</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28 h</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12 h</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16 h</a:t>
                      </a:r>
                    </a:p>
                  </a:txBody>
                  <a:tcPr marL="91440" marR="91440" marT="45720" marB="45720" anchor="ctr">
                    <a:solidFill>
                      <a:srgbClr val="FAFAF7"/>
                    </a:solidFill>
                  </a:tcPr>
                </a:tc>
              </a:tr>
              <a:tr h="752475">
                <a:tc>
                  <a:txBody>
                    <a:bodyPr lIns="123825" tIns="76200" rIns="123825" bIns="76200">
                      <a:noAutofit/>
                    </a:bodyPr>
                    <a:lstStyle/>
                    <a:p>
                      <a:r>
                        <a:rPr sz="1875" b="0">
                          <a:solidFill>
                            <a:srgbClr val="17343C"/>
                          </a:solidFill>
                          <a:latin typeface="Arial"/>
                          <a:ea typeface="Arial"/>
                          <a:cs typeface="Arial"/>
                        </a:rPr>
                        <a:t>Data forms and validation</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24 h</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12 h</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12 h</a:t>
                      </a:r>
                    </a:p>
                  </a:txBody>
                  <a:tcPr marL="91440" marR="91440" marT="45720" marB="45720" anchor="ctr">
                    <a:solidFill>
                      <a:srgbClr val="F0F4F3"/>
                    </a:solidFill>
                  </a:tcPr>
                </a:tc>
              </a:tr>
              <a:tr h="752475">
                <a:tc>
                  <a:txBody>
                    <a:bodyPr lIns="123825" tIns="76200" rIns="123825" bIns="76200">
                      <a:noAutofit/>
                    </a:bodyPr>
                    <a:lstStyle/>
                    <a:p>
                      <a:r>
                        <a:rPr sz="1875" b="0">
                          <a:solidFill>
                            <a:srgbClr val="17343C"/>
                          </a:solidFill>
                          <a:latin typeface="Arial"/>
                          <a:ea typeface="Arial"/>
                          <a:cs typeface="Arial"/>
                        </a:rPr>
                        <a:t>Record lists and filters</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16 h</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8 h</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8 h</a:t>
                      </a:r>
                    </a:p>
                  </a:txBody>
                  <a:tcPr marL="91440" marR="91440" marT="45720" marB="45720" anchor="ctr">
                    <a:solidFill>
                      <a:srgbClr val="FAFAF7"/>
                    </a:solidFill>
                  </a:tcPr>
                </a:tc>
              </a:tr>
              <a:tr h="561975">
                <a:tc>
                  <a:txBody>
                    <a:bodyPr lIns="123825" tIns="76200" rIns="123825" bIns="76200">
                      <a:noAutofit/>
                    </a:bodyPr>
                    <a:lstStyle/>
                    <a:p>
                      <a:r>
                        <a:rPr sz="1875" b="0">
                          <a:solidFill>
                            <a:srgbClr val="17343C"/>
                          </a:solidFill>
                          <a:latin typeface="Arial"/>
                          <a:ea typeface="Arial"/>
                          <a:cs typeface="Arial"/>
                        </a:rPr>
                        <a:t>Total</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68 h</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32 h</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36 h</a:t>
                      </a:r>
                    </a:p>
                  </a:txBody>
                  <a:tcPr marL="91440" marR="91440" marT="45720" marB="45720" anchor="ctr">
                    <a:solidFill>
                      <a:srgbClr val="F0F4F3"/>
                    </a:solidFill>
                  </a:tcPr>
                </a:tc>
              </a:tr>
            </a:tbl>
          </a:graphicData>
        </a:graphic>
      </p:graphicFrame>
      <p:sp>
        <p:nvSpPr>
          <p:cNvPr id="5" name="reuse-project">
            <a:extLst xmlns:a="http://schemas.openxmlformats.org/drawingml/2006/main">
              <a:ext uri="{FF2B5EF4-FFF2-40B4-BE49-F238E27FC236}">
                <a16:creationId xmlns:a16="http://schemas.microsoft.com/office/drawing/2014/main" id="{89D6BDCF-0DA0-40FA-BA8F-6C0624846612}"/>
              </a:ext>
            </a:extLst>
          </p:cNvPr>
          <p:cNvSpPr>
            <a:spLocks xmlns:a="http://schemas.openxmlformats.org/drawingml/2006/main" noGrp="1"/>
          </p:cNvSpPr>
          <p:nvPr/>
        </p:nvSpPr>
        <p:spPr>
          <a:xfrm xmlns:a="http://schemas.openxmlformats.org/drawingml/2006/main">
            <a:off x="647700" y="5267325"/>
            <a:ext cx="10896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6746D"/>
                </a:solidFill>
                <a:latin typeface="Arial"/>
                <a:ea typeface="Arial"/>
                <a:cs typeface="Arial"/>
              </a:defRPr>
            </a:pPr>
            <a:r>
              <a:rPr sz="2400" b="1">
                <a:solidFill>
                  <a:srgbClr val="26746D"/>
                </a:solidFill>
                <a:latin typeface="Arial"/>
                <a:ea typeface="Arial"/>
                <a:cs typeface="Arial"/>
              </a:rPr>
              <a:t>Whole project: 216 h to 180 h = 16.7% less estimated effort</a:t>
            </a:r>
          </a:p>
        </p:txBody>
      </p:sp>
      <p:sp>
        <p:nvSpPr>
          <p:cNvPr id="6" name="reuse-count">
            <a:extLst xmlns:a="http://schemas.openxmlformats.org/drawingml/2006/main">
              <a:ext uri="{FF2B5EF4-FFF2-40B4-BE49-F238E27FC236}">
                <a16:creationId xmlns:a16="http://schemas.microsoft.com/office/drawing/2014/main" id="{5DAFD190-B7DA-4886-9D78-4906F9ED7B6E}"/>
              </a:ext>
            </a:extLst>
          </p:cNvPr>
          <p:cNvSpPr>
            <a:spLocks xmlns:a="http://schemas.openxmlformats.org/drawingml/2006/main" noGrp="1"/>
          </p:cNvSpPr>
          <p:nvPr/>
        </p:nvSpPr>
        <p:spPr>
          <a:xfrm xmlns:a="http://schemas.openxmlformats.org/drawingml/2006/main">
            <a:off x="647700" y="5876925"/>
            <a:ext cx="108966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26264"/>
                </a:solidFill>
                <a:latin typeface="Arial"/>
                <a:ea typeface="Arial"/>
                <a:cs typeface="Arial"/>
              </a:defRPr>
            </a:pPr>
            <a:r>
              <a:rPr sz="1800" b="0">
                <a:solidFill>
                  <a:srgbClr val="526264"/>
                </a:solidFill>
                <a:latin typeface="Arial"/>
                <a:ea typeface="Arial"/>
                <a:cs typeface="Arial"/>
              </a:rPr>
              <a:t>The 180 h base / 207 h with reserve already includes this saving [AR02].</a:t>
            </a:r>
          </a:p>
          <a:p xmlns:a="http://schemas.openxmlformats.org/drawingml/2006/main">
            <a:pPr algn="l">
              <a:defRPr sz="1800" b="0">
                <a:solidFill>
                  <a:srgbClr val="526264"/>
                </a:solidFill>
                <a:latin typeface="Arial"/>
                <a:ea typeface="Arial"/>
                <a:cs typeface="Arial"/>
              </a:defRPr>
            </a:pPr>
            <a:r>
              <a:rPr sz="1800" b="0">
                <a:solidFill>
                  <a:srgbClr val="526264"/>
                </a:solidFill>
                <a:latin typeface="Arial"/>
                <a:ea typeface="Arial"/>
                <a:cs typeface="Arial"/>
              </a:rPr>
              <a:t>These are planning estimates. We must check them in a small implementation trial.</a:t>
            </a:r>
          </a:p>
        </p:txBody>
      </p:sp>
    </p:spTree>
    <p:extLst>
      <p:ext uri="{BB962C8B-B14F-4D97-AF65-F5344CB8AC3E}">
        <p14:creationId xmlns:p14="http://schemas.microsoft.com/office/powerpoint/2010/main" val="979797866"/>
      </p:ext>
    </p:extLst>
  </p:cSld>
</p:sld>
</file>

<file path=ppt/slides/slide41.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017499DC-132A-4E1B-B186-75F55EB0B615}"/>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The schedule needs a capacity check</a:t>
            </a:r>
          </a:p>
        </p:txBody>
      </p:sp>
      <p:sp>
        <p:nvSpPr>
          <p:cNvPr id="2" name="page">
            <a:extLst xmlns:a="http://schemas.openxmlformats.org/drawingml/2006/main">
              <a:ext uri="{FF2B5EF4-FFF2-40B4-BE49-F238E27FC236}">
                <a16:creationId xmlns:a16="http://schemas.microsoft.com/office/drawing/2014/main" id="{B0A10FB2-64D2-451C-B12F-3FCE9B0FC127}"/>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41</a:t>
            </a:r>
          </a:p>
        </p:txBody>
      </p:sp>
      <p:sp>
        <p:nvSpPr>
          <p:cNvPr id="3" name="source">
            <a:extLst xmlns:a="http://schemas.openxmlformats.org/drawingml/2006/main">
              <a:ext uri="{FF2B5EF4-FFF2-40B4-BE49-F238E27FC236}">
                <a16:creationId xmlns:a16="http://schemas.microsoft.com/office/drawing/2014/main" id="{561E762B-7B69-4C87-9483-FFEB5D4CC9E3}"/>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[S02]</a:t>
            </a:r>
          </a:p>
        </p:txBody>
      </p:sp>
      <p:graphicFrame>
        <p:nvGraphicFramePr>
          <p:cNvPr id="11" name=""/>
          <p:cNvGraphicFramePr/>
          <p:nvPr/>
        </p:nvGraphicFramePr>
        <p:xfrm>
          <a:off xmlns:a="http://schemas.openxmlformats.org/drawingml/2006/main" x="647700" y="1457325"/>
          <a:ext xmlns:a="http://schemas.openxmlformats.org/drawingml/2006/main" cx="10896600" cy="4124325"/>
        </p:xfrm>
        <a:graphic xmlns:a="http://schemas.openxmlformats.org/drawingml/2006/main">
          <a:graphicData uri="http://schemas.openxmlformats.org/drawingml/2006/table">
            <a:tbl>
              <a:tblPr firstRow="0" firstCol="0" bandRow="0"/>
              <a:tblGrid>
                <a:gridCol w="5895975"/>
                <a:gridCol w="2838450"/>
                <a:gridCol w="2162175"/>
              </a:tblGrid>
              <a:tr h="504825">
                <a:tc>
                  <a:txBody>
                    <a:bodyPr lIns="123825" tIns="76200" rIns="123825" bIns="76200">
                      <a:noAutofit/>
                    </a:bodyPr>
                    <a:lstStyle/>
                    <a:p>
                      <a:r>
                        <a:rPr sz="1875" b="1">
                          <a:solidFill>
                            <a:srgbClr val="FFFFFF"/>
                          </a:solidFill>
                          <a:latin typeface="Arial"/>
                          <a:ea typeface="Arial"/>
                          <a:cs typeface="Arial"/>
                        </a:rPr>
                        <a:t>Work remaining</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Owner</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Hours, low–high</a:t>
                      </a:r>
                    </a:p>
                  </a:txBody>
                  <a:tcPr marL="91440" marR="91440" marT="45720" marB="45720" anchor="ctr">
                    <a:solidFill>
                      <a:srgbClr val="17343C"/>
                    </a:solidFill>
                  </a:tcPr>
                </a:tc>
              </a:tr>
              <a:tr h="533400">
                <a:tc>
                  <a:txBody>
                    <a:bodyPr lIns="123825" tIns="76200" rIns="123825" bIns="76200">
                      <a:noAutofit/>
                    </a:bodyPr>
                    <a:lstStyle/>
                    <a:p>
                      <a:r>
                        <a:rPr sz="1875" b="0">
                          <a:solidFill>
                            <a:srgbClr val="17343C"/>
                          </a:solidFill>
                          <a:latin typeface="Arial"/>
                          <a:ea typeface="Arial"/>
                          <a:cs typeface="Arial"/>
                        </a:rPr>
                        <a:t>Requirements and design</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Zayed with all</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20–28</a:t>
                      </a:r>
                    </a:p>
                  </a:txBody>
                  <a:tcPr marL="91440" marR="91440" marT="45720" marB="45720" anchor="ctr">
                    <a:solidFill>
                      <a:srgbClr val="FAFAF7"/>
                    </a:solidFill>
                  </a:tcPr>
                </a:tc>
              </a:tr>
              <a:tr h="619125">
                <a:tc>
                  <a:txBody>
                    <a:bodyPr lIns="123825" tIns="76200" rIns="123825" bIns="76200">
                      <a:noAutofit/>
                    </a:bodyPr>
                    <a:lstStyle/>
                    <a:p>
                      <a:r>
                        <a:rPr sz="1875" b="0">
                          <a:solidFill>
                            <a:srgbClr val="17343C"/>
                          </a:solidFill>
                          <a:latin typeface="Arial"/>
                          <a:ea typeface="Arial"/>
                          <a:cs typeface="Arial"/>
                        </a:rPr>
                        <a:t>Core inventory and approval workflows</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Sultan</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36–48</a:t>
                      </a:r>
                    </a:p>
                  </a:txBody>
                  <a:tcPr marL="91440" marR="91440" marT="45720" marB="45720" anchor="ctr">
                    <a:solidFill>
                      <a:srgbClr val="F0F4F3"/>
                    </a:solidFill>
                  </a:tcPr>
                </a:tc>
              </a:tr>
              <a:tr h="619125">
                <a:tc>
                  <a:txBody>
                    <a:bodyPr lIns="123825" tIns="76200" rIns="123825" bIns="76200">
                      <a:noAutofit/>
                    </a:bodyPr>
                    <a:lstStyle/>
                    <a:p>
                      <a:r>
                        <a:rPr sz="1875" b="0">
                          <a:solidFill>
                            <a:srgbClr val="17343C"/>
                          </a:solidFill>
                          <a:latin typeface="Arial"/>
                          <a:ea typeface="Arial"/>
                          <a:cs typeface="Arial"/>
                        </a:rPr>
                        <a:t>Maintenance, life cycle and reports</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Sultan and Zayed</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24–32</a:t>
                      </a:r>
                    </a:p>
                  </a:txBody>
                  <a:tcPr marL="91440" marR="91440" marT="45720" marB="45720" anchor="ctr">
                    <a:solidFill>
                      <a:srgbClr val="FAFAF7"/>
                    </a:solidFill>
                  </a:tcPr>
                </a:tc>
              </a:tr>
              <a:tr h="609600">
                <a:tc>
                  <a:txBody>
                    <a:bodyPr lIns="123825" tIns="76200" rIns="123825" bIns="76200">
                      <a:noAutofit/>
                    </a:bodyPr>
                    <a:lstStyle/>
                    <a:p>
                      <a:r>
                        <a:rPr sz="1875" b="0">
                          <a:solidFill>
                            <a:srgbClr val="17343C"/>
                          </a:solidFill>
                          <a:latin typeface="Arial"/>
                          <a:ea typeface="Arial"/>
                          <a:cs typeface="Arial"/>
                        </a:rPr>
                        <a:t>AI functions and evaluation</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Ghaith</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30–44</a:t>
                      </a:r>
                    </a:p>
                  </a:txBody>
                  <a:tcPr marL="91440" marR="91440" marT="45720" marB="45720" anchor="ctr">
                    <a:solidFill>
                      <a:srgbClr val="F0F4F3"/>
                    </a:solidFill>
                  </a:tcPr>
                </a:tc>
              </a:tr>
              <a:tr h="619125">
                <a:tc>
                  <a:txBody>
                    <a:bodyPr lIns="123825" tIns="76200" rIns="123825" bIns="76200">
                      <a:noAutofit/>
                    </a:bodyPr>
                    <a:lstStyle/>
                    <a:p>
                      <a:r>
                        <a:rPr sz="1875" b="0">
                          <a:solidFill>
                            <a:srgbClr val="17343C"/>
                          </a:solidFill>
                          <a:latin typeface="Arial"/>
                          <a:ea typeface="Arial"/>
                          <a:cs typeface="Arial"/>
                        </a:rPr>
                        <a:t>Deployment, uploads and security</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Ghaith and Sultan</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16–24</a:t>
                      </a:r>
                    </a:p>
                  </a:txBody>
                  <a:tcPr marL="91440" marR="91440" marT="45720" marB="45720" anchor="ctr">
                    <a:solidFill>
                      <a:srgbClr val="FAFAF7"/>
                    </a:solidFill>
                  </a:tcPr>
                </a:tc>
              </a:tr>
              <a:tr h="619125">
                <a:tc>
                  <a:txBody>
                    <a:bodyPr lIns="123825" tIns="76200" rIns="123825" bIns="76200">
                      <a:noAutofit/>
                    </a:bodyPr>
                    <a:lstStyle/>
                    <a:p>
                      <a:r>
                        <a:rPr sz="1875" b="0">
                          <a:solidFill>
                            <a:srgbClr val="17343C"/>
                          </a:solidFill>
                          <a:latin typeface="Arial"/>
                          <a:ea typeface="Arial"/>
                          <a:cs typeface="Arial"/>
                        </a:rPr>
                        <a:t>Tests, integration and documentation</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All</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24–34</a:t>
                      </a:r>
                    </a:p>
                  </a:txBody>
                  <a:tcPr marL="91440" marR="91440" marT="45720" marB="45720" anchor="ctr">
                    <a:solidFill>
                      <a:srgbClr val="F0F4F3"/>
                    </a:solidFill>
                  </a:tcPr>
                </a:tc>
              </a:tr>
            </a:tbl>
          </a:graphicData>
        </a:graphic>
      </p:graphicFrame>
      <p:sp>
        <p:nvSpPr>
          <p:cNvPr id="5" name="hours">
            <a:extLst xmlns:a="http://schemas.openxmlformats.org/drawingml/2006/main">
              <a:ext uri="{FF2B5EF4-FFF2-40B4-BE49-F238E27FC236}">
                <a16:creationId xmlns:a16="http://schemas.microsoft.com/office/drawing/2014/main" id="{8C818753-9594-4857-8164-5C90218998E7}"/>
              </a:ext>
            </a:extLst>
          </p:cNvPr>
          <p:cNvSpPr>
            <a:spLocks xmlns:a="http://schemas.openxmlformats.org/drawingml/2006/main" noGrp="1"/>
          </p:cNvSpPr>
          <p:nvPr/>
        </p:nvSpPr>
        <p:spPr>
          <a:xfrm xmlns:a="http://schemas.openxmlformats.org/drawingml/2006/main">
            <a:off x="647700" y="5743575"/>
            <a:ext cx="701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26746D"/>
                </a:solidFill>
                <a:latin typeface="Arial"/>
                <a:ea typeface="Arial"/>
                <a:cs typeface="Arial"/>
              </a:defRPr>
            </a:pPr>
            <a:r>
              <a:rPr sz="2175" b="1">
                <a:solidFill>
                  <a:srgbClr val="26746D"/>
                </a:solidFill>
                <a:latin typeface="Arial"/>
                <a:ea typeface="Arial"/>
                <a:cs typeface="Arial"/>
              </a:rPr>
              <a:t>150–210 h + 15% reserve = 172.5–241.5 h</a:t>
            </a:r>
          </a:p>
        </p:txBody>
      </p:sp>
      <p:sp>
        <p:nvSpPr>
          <p:cNvPr id="6" name="capacity">
            <a:extLst xmlns:a="http://schemas.openxmlformats.org/drawingml/2006/main">
              <a:ext uri="{FF2B5EF4-FFF2-40B4-BE49-F238E27FC236}">
                <a16:creationId xmlns:a16="http://schemas.microsoft.com/office/drawing/2014/main" id="{9DF8A8B9-4209-43BF-93B8-2C5C92D41829}"/>
              </a:ext>
            </a:extLst>
          </p:cNvPr>
          <p:cNvSpPr>
            <a:spLocks xmlns:a="http://schemas.openxmlformats.org/drawingml/2006/main" noGrp="1"/>
          </p:cNvSpPr>
          <p:nvPr/>
        </p:nvSpPr>
        <p:spPr>
          <a:xfrm xmlns:a="http://schemas.openxmlformats.org/drawingml/2006/main">
            <a:off x="7905750" y="5762625"/>
            <a:ext cx="3638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7343C"/>
                </a:solidFill>
                <a:latin typeface="Arial"/>
                <a:ea typeface="Arial"/>
                <a:cs typeface="Arial"/>
              </a:defRPr>
            </a:pPr>
            <a:r>
              <a:rPr sz="1875" b="1">
                <a:solidFill>
                  <a:srgbClr val="17343C"/>
                </a:solidFill>
                <a:latin typeface="Arial"/>
                <a:ea typeface="Arial"/>
                <a:cs typeface="Arial"/>
              </a:rPr>
              <a:t>Capacity case: 192 h [AS01]</a:t>
            </a:r>
          </a:p>
        </p:txBody>
      </p:sp>
      <p:sp>
        <p:nvSpPr>
          <p:cNvPr id="7" name="capacity-inputs">
            <a:extLst xmlns:a="http://schemas.openxmlformats.org/drawingml/2006/main">
              <a:ext uri="{FF2B5EF4-FFF2-40B4-BE49-F238E27FC236}">
                <a16:creationId xmlns:a16="http://schemas.microsoft.com/office/drawing/2014/main" id="{C522C117-0148-4C3F-9EA3-B41F97D06900}"/>
              </a:ext>
            </a:extLst>
          </p:cNvPr>
          <p:cNvSpPr>
            <a:spLocks xmlns:a="http://schemas.openxmlformats.org/drawingml/2006/main" noGrp="1"/>
          </p:cNvSpPr>
          <p:nvPr/>
        </p:nvSpPr>
        <p:spPr>
          <a:xfrm xmlns:a="http://schemas.openxmlformats.org/drawingml/2006/main">
            <a:off x="647700" y="6200775"/>
            <a:ext cx="10896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264"/>
                </a:solidFill>
                <a:latin typeface="Arial"/>
                <a:ea typeface="Arial"/>
                <a:cs typeface="Arial"/>
              </a:defRPr>
            </a:pPr>
            <a:r>
              <a:rPr sz="1575" b="0">
                <a:solidFill>
                  <a:srgbClr val="526264"/>
                </a:solidFill>
                <a:latin typeface="Arial"/>
                <a:ea typeface="Arial"/>
                <a:cs typeface="Arial"/>
              </a:rPr>
              <a:t>AS01: 8 weeks × 3 members × 8 h/week. AS02: effort ranges need owner review.</a:t>
            </a:r>
          </a:p>
        </p:txBody>
      </p:sp>
    </p:spTree>
    <p:extLst>
      <p:ext uri="{BB962C8B-B14F-4D97-AF65-F5344CB8AC3E}">
        <p14:creationId xmlns:p14="http://schemas.microsoft.com/office/powerpoint/2010/main" val="501551575"/>
      </p:ext>
    </p:extLst>
  </p:cSld>
</p:sld>
</file>

<file path=ppt/slides/slide42.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0895BC7F-1108-49CE-876C-941D515D231A}"/>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How we score risks</a:t>
            </a:r>
          </a:p>
        </p:txBody>
      </p:sp>
      <p:sp>
        <p:nvSpPr>
          <p:cNvPr id="2" name="page">
            <a:extLst xmlns:a="http://schemas.openxmlformats.org/drawingml/2006/main">
              <a:ext uri="{FF2B5EF4-FFF2-40B4-BE49-F238E27FC236}">
                <a16:creationId xmlns:a16="http://schemas.microsoft.com/office/drawing/2014/main" id="{B3B7253C-04CF-4B58-9E70-A9FB0D8BEA45}"/>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42</a:t>
            </a:r>
          </a:p>
        </p:txBody>
      </p:sp>
      <p:sp>
        <p:nvSpPr>
          <p:cNvPr id="3" name="source">
            <a:extLst xmlns:a="http://schemas.openxmlformats.org/drawingml/2006/main">
              <a:ext uri="{FF2B5EF4-FFF2-40B4-BE49-F238E27FC236}">
                <a16:creationId xmlns:a16="http://schemas.microsoft.com/office/drawing/2014/main" id="{656339C6-B7F9-4C48-8FFD-CC91177A7325}"/>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[S17] [S18]</a:t>
            </a:r>
          </a:p>
        </p:txBody>
      </p:sp>
      <p:sp>
        <p:nvSpPr>
          <p:cNvPr id="4" name="risk-formula">
            <a:extLst xmlns:a="http://schemas.openxmlformats.org/drawingml/2006/main">
              <a:ext uri="{FF2B5EF4-FFF2-40B4-BE49-F238E27FC236}">
                <a16:creationId xmlns:a16="http://schemas.microsoft.com/office/drawing/2014/main" id="{F0BF560E-6211-4B79-B724-004FE18067C9}"/>
              </a:ext>
            </a:extLst>
          </p:cNvPr>
          <p:cNvSpPr>
            <a:spLocks xmlns:a="http://schemas.openxmlformats.org/drawingml/2006/main" noGrp="1"/>
          </p:cNvSpPr>
          <p:nvPr/>
        </p:nvSpPr>
        <p:spPr>
          <a:xfrm xmlns:a="http://schemas.openxmlformats.org/drawingml/2006/main">
            <a:off x="647700" y="1400175"/>
            <a:ext cx="10896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6746D"/>
                </a:solidFill>
                <a:latin typeface="Arial"/>
                <a:ea typeface="Arial"/>
                <a:cs typeface="Arial"/>
              </a:defRPr>
            </a:pPr>
            <a:r>
              <a:rPr sz="2400" b="1">
                <a:solidFill>
                  <a:srgbClr val="26746D"/>
                </a:solidFill>
                <a:latin typeface="Arial"/>
                <a:ea typeface="Arial"/>
                <a:cs typeface="Arial"/>
              </a:rPr>
              <a:t>Priority score = likelihood (1–5) × impact (1–5)</a:t>
            </a:r>
          </a:p>
        </p:txBody>
      </p:sp>
      <p:sp>
        <p:nvSpPr>
          <p:cNvPr id="5" name="risk-bands">
            <a:extLst xmlns:a="http://schemas.openxmlformats.org/drawingml/2006/main">
              <a:ext uri="{FF2B5EF4-FFF2-40B4-BE49-F238E27FC236}">
                <a16:creationId xmlns:a16="http://schemas.microsoft.com/office/drawing/2014/main" id="{9066C31E-6DFB-497A-8794-3C1D3A30B7D8}"/>
              </a:ext>
            </a:extLst>
          </p:cNvPr>
          <p:cNvSpPr>
            <a:spLocks xmlns:a="http://schemas.openxmlformats.org/drawingml/2006/main" noGrp="1"/>
          </p:cNvSpPr>
          <p:nvPr/>
        </p:nvSpPr>
        <p:spPr>
          <a:xfrm xmlns:a="http://schemas.openxmlformats.org/drawingml/2006/main">
            <a:off x="647700" y="1981200"/>
            <a:ext cx="10896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26264"/>
                </a:solidFill>
                <a:latin typeface="Arial"/>
                <a:ea typeface="Arial"/>
                <a:cs typeface="Arial"/>
              </a:defRPr>
            </a:pPr>
            <a:r>
              <a:rPr sz="1725" b="0">
                <a:solidFill>
                  <a:srgbClr val="526264"/>
                </a:solidFill>
                <a:latin typeface="Arial"/>
                <a:ea typeface="Arial"/>
                <a:cs typeface="Arial"/>
              </a:rPr>
              <a:t>Bands: 1–4 low, 5–9 medium, 10–16 high, 17–25 critical</a:t>
            </a:r>
          </a:p>
        </p:txBody>
      </p:sp>
      <p:graphicFrame>
        <p:nvGraphicFramePr>
          <p:cNvPr id="14" name=""/>
          <p:cNvGraphicFramePr/>
          <p:nvPr/>
        </p:nvGraphicFramePr>
        <p:xfrm>
          <a:off xmlns:a="http://schemas.openxmlformats.org/drawingml/2006/main" x="647700" y="2324100"/>
          <a:ext xmlns:a="http://schemas.openxmlformats.org/drawingml/2006/main" cx="10896600" cy="2819400"/>
        </p:xfrm>
        <a:graphic xmlns:a="http://schemas.openxmlformats.org/drawingml/2006/main">
          <a:graphicData uri="http://schemas.openxmlformats.org/drawingml/2006/table">
            <a:tbl>
              <a:tblPr firstRow="0" firstCol="0" bandRow="0"/>
              <a:tblGrid>
                <a:gridCol w="3105150"/>
                <a:gridCol w="1552575"/>
                <a:gridCol w="1552575"/>
                <a:gridCol w="1562100"/>
                <a:gridCol w="1562100"/>
                <a:gridCol w="1562100"/>
              </a:tblGrid>
              <a:tr h="485775">
                <a:tc>
                  <a:txBody>
                    <a:bodyPr lIns="123825" tIns="76200" rIns="123825" bIns="76200">
                      <a:noAutofit/>
                    </a:bodyPr>
                    <a:lstStyle/>
                    <a:p>
                      <a:r>
                        <a:rPr sz="1875" b="1">
                          <a:solidFill>
                            <a:srgbClr val="FFFFFF"/>
                          </a:solidFill>
                          <a:latin typeface="Arial"/>
                          <a:ea typeface="Arial"/>
                          <a:cs typeface="Arial"/>
                        </a:rPr>
                        <a:t>Likelihood / impact</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1</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2</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3</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4</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5</a:t>
                      </a:r>
                    </a:p>
                  </a:txBody>
                  <a:tcPr marL="91440" marR="91440" marT="45720" marB="45720" anchor="ctr">
                    <a:solidFill>
                      <a:srgbClr val="17343C"/>
                    </a:solidFill>
                  </a:tcPr>
                </a:tc>
              </a:tr>
              <a:tr h="466725">
                <a:tc>
                  <a:txBody>
                    <a:bodyPr lIns="123825" tIns="76200" rIns="123825" bIns="76200">
                      <a:noAutofit/>
                    </a:bodyPr>
                    <a:lstStyle/>
                    <a:p>
                      <a:r>
                        <a:rPr sz="2025" b="0">
                          <a:solidFill>
                            <a:srgbClr val="17343C"/>
                          </a:solidFill>
                          <a:latin typeface="Arial"/>
                          <a:ea typeface="Arial"/>
                          <a:cs typeface="Arial"/>
                        </a:rPr>
                        <a:t>5</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5</a:t>
                      </a:r>
                    </a:p>
                  </a:txBody>
                  <a:tcPr marL="91440" marR="91440" marT="45720" marB="45720" anchor="ctr">
                    <a:solidFill>
                      <a:srgbClr val="F3EDCA"/>
                    </a:solidFill>
                  </a:tcPr>
                </a:tc>
                <a:tc>
                  <a:txBody>
                    <a:bodyPr lIns="123825" tIns="76200" rIns="123825" bIns="76200">
                      <a:noAutofit/>
                    </a:bodyPr>
                    <a:lstStyle/>
                    <a:p>
                      <a:r>
                        <a:rPr sz="2025" b="0">
                          <a:solidFill>
                            <a:srgbClr val="17343C"/>
                          </a:solidFill>
                          <a:latin typeface="Arial"/>
                          <a:ea typeface="Arial"/>
                          <a:cs typeface="Arial"/>
                        </a:rPr>
                        <a:t>10</a:t>
                      </a:r>
                    </a:p>
                  </a:txBody>
                  <a:tcPr marL="91440" marR="91440" marT="45720" marB="45720" anchor="ctr">
                    <a:solidFill>
                      <a:srgbClr val="F3D6BD"/>
                    </a:solidFill>
                  </a:tcPr>
                </a:tc>
                <a:tc>
                  <a:txBody>
                    <a:bodyPr lIns="123825" tIns="76200" rIns="123825" bIns="76200">
                      <a:noAutofit/>
                    </a:bodyPr>
                    <a:lstStyle/>
                    <a:p>
                      <a:r>
                        <a:rPr sz="2025" b="0">
                          <a:solidFill>
                            <a:srgbClr val="17343C"/>
                          </a:solidFill>
                          <a:latin typeface="Arial"/>
                          <a:ea typeface="Arial"/>
                          <a:cs typeface="Arial"/>
                        </a:rPr>
                        <a:t>15</a:t>
                      </a:r>
                    </a:p>
                  </a:txBody>
                  <a:tcPr marL="91440" marR="91440" marT="45720" marB="45720" anchor="ctr">
                    <a:solidFill>
                      <a:srgbClr val="F3D6BD"/>
                    </a:solidFill>
                  </a:tcPr>
                </a:tc>
                <a:tc>
                  <a:txBody>
                    <a:bodyPr lIns="123825" tIns="76200" rIns="123825" bIns="76200">
                      <a:noAutofit/>
                    </a:bodyPr>
                    <a:lstStyle/>
                    <a:p>
                      <a:r>
                        <a:rPr sz="2025" b="0">
                          <a:solidFill>
                            <a:srgbClr val="17343C"/>
                          </a:solidFill>
                          <a:latin typeface="Arial"/>
                          <a:ea typeface="Arial"/>
                          <a:cs typeface="Arial"/>
                        </a:rPr>
                        <a:t>20</a:t>
                      </a:r>
                    </a:p>
                  </a:txBody>
                  <a:tcPr marL="91440" marR="91440" marT="45720" marB="45720" anchor="ctr">
                    <a:solidFill>
                      <a:srgbClr val="E5B5A8"/>
                    </a:solidFill>
                  </a:tcPr>
                </a:tc>
                <a:tc>
                  <a:txBody>
                    <a:bodyPr lIns="123825" tIns="76200" rIns="123825" bIns="76200">
                      <a:noAutofit/>
                    </a:bodyPr>
                    <a:lstStyle/>
                    <a:p>
                      <a:r>
                        <a:rPr sz="2025" b="0">
                          <a:solidFill>
                            <a:srgbClr val="17343C"/>
                          </a:solidFill>
                          <a:latin typeface="Arial"/>
                          <a:ea typeface="Arial"/>
                          <a:cs typeface="Arial"/>
                        </a:rPr>
                        <a:t>25</a:t>
                      </a:r>
                    </a:p>
                  </a:txBody>
                  <a:tcPr marL="91440" marR="91440" marT="45720" marB="45720" anchor="ctr">
                    <a:solidFill>
                      <a:srgbClr val="E5B5A8"/>
                    </a:solidFill>
                  </a:tcPr>
                </a:tc>
              </a:tr>
              <a:tr h="466725">
                <a:tc>
                  <a:txBody>
                    <a:bodyPr lIns="123825" tIns="76200" rIns="123825" bIns="76200">
                      <a:noAutofit/>
                    </a:bodyPr>
                    <a:lstStyle/>
                    <a:p>
                      <a:r>
                        <a:rPr sz="2025" b="0">
                          <a:solidFill>
                            <a:srgbClr val="17343C"/>
                          </a:solidFill>
                          <a:latin typeface="Arial"/>
                          <a:ea typeface="Arial"/>
                          <a:cs typeface="Arial"/>
                        </a:rPr>
                        <a:t>4</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4</a:t>
                      </a:r>
                    </a:p>
                  </a:txBody>
                  <a:tcPr marL="91440" marR="91440" marT="45720" marB="45720" anchor="ctr">
                    <a:solidFill>
                      <a:srgbClr val="DEEDE6"/>
                    </a:solidFill>
                  </a:tcPr>
                </a:tc>
                <a:tc>
                  <a:txBody>
                    <a:bodyPr lIns="123825" tIns="76200" rIns="123825" bIns="76200">
                      <a:noAutofit/>
                    </a:bodyPr>
                    <a:lstStyle/>
                    <a:p>
                      <a:r>
                        <a:rPr sz="2025" b="0">
                          <a:solidFill>
                            <a:srgbClr val="17343C"/>
                          </a:solidFill>
                          <a:latin typeface="Arial"/>
                          <a:ea typeface="Arial"/>
                          <a:cs typeface="Arial"/>
                        </a:rPr>
                        <a:t>8</a:t>
                      </a:r>
                    </a:p>
                  </a:txBody>
                  <a:tcPr marL="91440" marR="91440" marT="45720" marB="45720" anchor="ctr">
                    <a:solidFill>
                      <a:srgbClr val="F3EDCA"/>
                    </a:solidFill>
                  </a:tcPr>
                </a:tc>
                <a:tc>
                  <a:txBody>
                    <a:bodyPr lIns="123825" tIns="76200" rIns="123825" bIns="76200">
                      <a:noAutofit/>
                    </a:bodyPr>
                    <a:lstStyle/>
                    <a:p>
                      <a:r>
                        <a:rPr sz="2025" b="0">
                          <a:solidFill>
                            <a:srgbClr val="17343C"/>
                          </a:solidFill>
                          <a:latin typeface="Arial"/>
                          <a:ea typeface="Arial"/>
                          <a:cs typeface="Arial"/>
                        </a:rPr>
                        <a:t>12</a:t>
                      </a:r>
                    </a:p>
                  </a:txBody>
                  <a:tcPr marL="91440" marR="91440" marT="45720" marB="45720" anchor="ctr">
                    <a:solidFill>
                      <a:srgbClr val="F3D6BD"/>
                    </a:solidFill>
                  </a:tcPr>
                </a:tc>
                <a:tc>
                  <a:txBody>
                    <a:bodyPr lIns="123825" tIns="76200" rIns="123825" bIns="76200">
                      <a:noAutofit/>
                    </a:bodyPr>
                    <a:lstStyle/>
                    <a:p>
                      <a:r>
                        <a:rPr sz="2025" b="0">
                          <a:solidFill>
                            <a:srgbClr val="17343C"/>
                          </a:solidFill>
                          <a:latin typeface="Arial"/>
                          <a:ea typeface="Arial"/>
                          <a:cs typeface="Arial"/>
                        </a:rPr>
                        <a:t>16</a:t>
                      </a:r>
                    </a:p>
                  </a:txBody>
                  <a:tcPr marL="91440" marR="91440" marT="45720" marB="45720" anchor="ctr">
                    <a:solidFill>
                      <a:srgbClr val="F3D6BD"/>
                    </a:solidFill>
                  </a:tcPr>
                </a:tc>
                <a:tc>
                  <a:txBody>
                    <a:bodyPr lIns="123825" tIns="76200" rIns="123825" bIns="76200">
                      <a:noAutofit/>
                    </a:bodyPr>
                    <a:lstStyle/>
                    <a:p>
                      <a:r>
                        <a:rPr sz="2025" b="0">
                          <a:solidFill>
                            <a:srgbClr val="17343C"/>
                          </a:solidFill>
                          <a:latin typeface="Arial"/>
                          <a:ea typeface="Arial"/>
                          <a:cs typeface="Arial"/>
                        </a:rPr>
                        <a:t>20</a:t>
                      </a:r>
                    </a:p>
                  </a:txBody>
                  <a:tcPr marL="91440" marR="91440" marT="45720" marB="45720" anchor="ctr">
                    <a:solidFill>
                      <a:srgbClr val="E5B5A8"/>
                    </a:solidFill>
                  </a:tcPr>
                </a:tc>
              </a:tr>
              <a:tr h="466725">
                <a:tc>
                  <a:txBody>
                    <a:bodyPr lIns="123825" tIns="76200" rIns="123825" bIns="76200">
                      <a:noAutofit/>
                    </a:bodyPr>
                    <a:lstStyle/>
                    <a:p>
                      <a:r>
                        <a:rPr sz="2025" b="0">
                          <a:solidFill>
                            <a:srgbClr val="17343C"/>
                          </a:solidFill>
                          <a:latin typeface="Arial"/>
                          <a:ea typeface="Arial"/>
                          <a:cs typeface="Arial"/>
                        </a:rPr>
                        <a:t>3</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3</a:t>
                      </a:r>
                    </a:p>
                  </a:txBody>
                  <a:tcPr marL="91440" marR="91440" marT="45720" marB="45720" anchor="ctr">
                    <a:solidFill>
                      <a:srgbClr val="DEEDE6"/>
                    </a:solidFill>
                  </a:tcPr>
                </a:tc>
                <a:tc>
                  <a:txBody>
                    <a:bodyPr lIns="123825" tIns="76200" rIns="123825" bIns="76200">
                      <a:noAutofit/>
                    </a:bodyPr>
                    <a:lstStyle/>
                    <a:p>
                      <a:r>
                        <a:rPr sz="2025" b="0">
                          <a:solidFill>
                            <a:srgbClr val="17343C"/>
                          </a:solidFill>
                          <a:latin typeface="Arial"/>
                          <a:ea typeface="Arial"/>
                          <a:cs typeface="Arial"/>
                        </a:rPr>
                        <a:t>6</a:t>
                      </a:r>
                    </a:p>
                  </a:txBody>
                  <a:tcPr marL="91440" marR="91440" marT="45720" marB="45720" anchor="ctr">
                    <a:solidFill>
                      <a:srgbClr val="F3EDCA"/>
                    </a:solidFill>
                  </a:tcPr>
                </a:tc>
                <a:tc>
                  <a:txBody>
                    <a:bodyPr lIns="123825" tIns="76200" rIns="123825" bIns="76200">
                      <a:noAutofit/>
                    </a:bodyPr>
                    <a:lstStyle/>
                    <a:p>
                      <a:r>
                        <a:rPr sz="2025" b="0">
                          <a:solidFill>
                            <a:srgbClr val="17343C"/>
                          </a:solidFill>
                          <a:latin typeface="Arial"/>
                          <a:ea typeface="Arial"/>
                          <a:cs typeface="Arial"/>
                        </a:rPr>
                        <a:t>9</a:t>
                      </a:r>
                    </a:p>
                  </a:txBody>
                  <a:tcPr marL="91440" marR="91440" marT="45720" marB="45720" anchor="ctr">
                    <a:solidFill>
                      <a:srgbClr val="F3EDCA"/>
                    </a:solidFill>
                  </a:tcPr>
                </a:tc>
                <a:tc>
                  <a:txBody>
                    <a:bodyPr lIns="123825" tIns="76200" rIns="123825" bIns="76200">
                      <a:noAutofit/>
                    </a:bodyPr>
                    <a:lstStyle/>
                    <a:p>
                      <a:r>
                        <a:rPr sz="2025" b="0">
                          <a:solidFill>
                            <a:srgbClr val="17343C"/>
                          </a:solidFill>
                          <a:latin typeface="Arial"/>
                          <a:ea typeface="Arial"/>
                          <a:cs typeface="Arial"/>
                        </a:rPr>
                        <a:t>12</a:t>
                      </a:r>
                    </a:p>
                  </a:txBody>
                  <a:tcPr marL="91440" marR="91440" marT="45720" marB="45720" anchor="ctr">
                    <a:solidFill>
                      <a:srgbClr val="F3D6BD"/>
                    </a:solidFill>
                  </a:tcPr>
                </a:tc>
                <a:tc>
                  <a:txBody>
                    <a:bodyPr lIns="123825" tIns="76200" rIns="123825" bIns="76200">
                      <a:noAutofit/>
                    </a:bodyPr>
                    <a:lstStyle/>
                    <a:p>
                      <a:r>
                        <a:rPr sz="2025" b="0">
                          <a:solidFill>
                            <a:srgbClr val="17343C"/>
                          </a:solidFill>
                          <a:latin typeface="Arial"/>
                          <a:ea typeface="Arial"/>
                          <a:cs typeface="Arial"/>
                        </a:rPr>
                        <a:t>15</a:t>
                      </a:r>
                    </a:p>
                  </a:txBody>
                  <a:tcPr marL="91440" marR="91440" marT="45720" marB="45720" anchor="ctr">
                    <a:solidFill>
                      <a:srgbClr val="F3D6BD"/>
                    </a:solidFill>
                  </a:tcPr>
                </a:tc>
              </a:tr>
              <a:tr h="466725">
                <a:tc>
                  <a:txBody>
                    <a:bodyPr lIns="123825" tIns="76200" rIns="123825" bIns="76200">
                      <a:noAutofit/>
                    </a:bodyPr>
                    <a:lstStyle/>
                    <a:p>
                      <a:r>
                        <a:rPr sz="2025" b="0">
                          <a:solidFill>
                            <a:srgbClr val="17343C"/>
                          </a:solidFill>
                          <a:latin typeface="Arial"/>
                          <a:ea typeface="Arial"/>
                          <a:cs typeface="Arial"/>
                        </a:rPr>
                        <a:t>2</a:t>
                      </a:r>
                    </a:p>
                  </a:txBody>
                  <a:tcPr marL="91440" marR="91440" marT="45720" marB="45720" anchor="ctr">
                    <a:solidFill>
                      <a:srgbClr val="F0F4F3"/>
                    </a:solidFill>
                  </a:tcPr>
                </a:tc>
                <a:tc>
                  <a:txBody>
                    <a:bodyPr lIns="123825" tIns="76200" rIns="123825" bIns="76200">
                      <a:noAutofit/>
                    </a:bodyPr>
                    <a:lstStyle/>
                    <a:p>
                      <a:r>
                        <a:rPr sz="2025" b="0">
                          <a:solidFill>
                            <a:srgbClr val="17343C"/>
                          </a:solidFill>
                          <a:latin typeface="Arial"/>
                          <a:ea typeface="Arial"/>
                          <a:cs typeface="Arial"/>
                        </a:rPr>
                        <a:t>2</a:t>
                      </a:r>
                    </a:p>
                  </a:txBody>
                  <a:tcPr marL="91440" marR="91440" marT="45720" marB="45720" anchor="ctr">
                    <a:solidFill>
                      <a:srgbClr val="DEEDE6"/>
                    </a:solidFill>
                  </a:tcPr>
                </a:tc>
                <a:tc>
                  <a:txBody>
                    <a:bodyPr lIns="123825" tIns="76200" rIns="123825" bIns="76200">
                      <a:noAutofit/>
                    </a:bodyPr>
                    <a:lstStyle/>
                    <a:p>
                      <a:r>
                        <a:rPr sz="2025" b="0">
                          <a:solidFill>
                            <a:srgbClr val="17343C"/>
                          </a:solidFill>
                          <a:latin typeface="Arial"/>
                          <a:ea typeface="Arial"/>
                          <a:cs typeface="Arial"/>
                        </a:rPr>
                        <a:t>4</a:t>
                      </a:r>
                    </a:p>
                  </a:txBody>
                  <a:tcPr marL="91440" marR="91440" marT="45720" marB="45720" anchor="ctr">
                    <a:solidFill>
                      <a:srgbClr val="DEEDE6"/>
                    </a:solidFill>
                  </a:tcPr>
                </a:tc>
                <a:tc>
                  <a:txBody>
                    <a:bodyPr lIns="123825" tIns="76200" rIns="123825" bIns="76200">
                      <a:noAutofit/>
                    </a:bodyPr>
                    <a:lstStyle/>
                    <a:p>
                      <a:r>
                        <a:rPr sz="2025" b="0">
                          <a:solidFill>
                            <a:srgbClr val="17343C"/>
                          </a:solidFill>
                          <a:latin typeface="Arial"/>
                          <a:ea typeface="Arial"/>
                          <a:cs typeface="Arial"/>
                        </a:rPr>
                        <a:t>6</a:t>
                      </a:r>
                    </a:p>
                  </a:txBody>
                  <a:tcPr marL="91440" marR="91440" marT="45720" marB="45720" anchor="ctr">
                    <a:solidFill>
                      <a:srgbClr val="F3EDCA"/>
                    </a:solidFill>
                  </a:tcPr>
                </a:tc>
                <a:tc>
                  <a:txBody>
                    <a:bodyPr lIns="123825" tIns="76200" rIns="123825" bIns="76200">
                      <a:noAutofit/>
                    </a:bodyPr>
                    <a:lstStyle/>
                    <a:p>
                      <a:r>
                        <a:rPr sz="2025" b="0">
                          <a:solidFill>
                            <a:srgbClr val="17343C"/>
                          </a:solidFill>
                          <a:latin typeface="Arial"/>
                          <a:ea typeface="Arial"/>
                          <a:cs typeface="Arial"/>
                        </a:rPr>
                        <a:t>8</a:t>
                      </a:r>
                    </a:p>
                  </a:txBody>
                  <a:tcPr marL="91440" marR="91440" marT="45720" marB="45720" anchor="ctr">
                    <a:solidFill>
                      <a:srgbClr val="F3EDCA"/>
                    </a:solidFill>
                  </a:tcPr>
                </a:tc>
                <a:tc>
                  <a:txBody>
                    <a:bodyPr lIns="123825" tIns="76200" rIns="123825" bIns="76200">
                      <a:noAutofit/>
                    </a:bodyPr>
                    <a:lstStyle/>
                    <a:p>
                      <a:r>
                        <a:rPr sz="2025" b="0">
                          <a:solidFill>
                            <a:srgbClr val="17343C"/>
                          </a:solidFill>
                          <a:latin typeface="Arial"/>
                          <a:ea typeface="Arial"/>
                          <a:cs typeface="Arial"/>
                        </a:rPr>
                        <a:t>10</a:t>
                      </a:r>
                    </a:p>
                  </a:txBody>
                  <a:tcPr marL="91440" marR="91440" marT="45720" marB="45720" anchor="ctr">
                    <a:solidFill>
                      <a:srgbClr val="F3D6BD"/>
                    </a:solidFill>
                  </a:tcPr>
                </a:tc>
              </a:tr>
              <a:tr h="466725">
                <a:tc>
                  <a:txBody>
                    <a:bodyPr lIns="123825" tIns="76200" rIns="123825" bIns="76200">
                      <a:noAutofit/>
                    </a:bodyPr>
                    <a:lstStyle/>
                    <a:p>
                      <a:r>
                        <a:rPr sz="2025" b="0">
                          <a:solidFill>
                            <a:srgbClr val="17343C"/>
                          </a:solidFill>
                          <a:latin typeface="Arial"/>
                          <a:ea typeface="Arial"/>
                          <a:cs typeface="Arial"/>
                        </a:rPr>
                        <a:t>1</a:t>
                      </a:r>
                    </a:p>
                  </a:txBody>
                  <a:tcPr marL="91440" marR="91440" marT="45720" marB="45720" anchor="ctr">
                    <a:solidFill>
                      <a:srgbClr val="FAFAF7"/>
                    </a:solidFill>
                  </a:tcPr>
                </a:tc>
                <a:tc>
                  <a:txBody>
                    <a:bodyPr lIns="123825" tIns="76200" rIns="123825" bIns="76200">
                      <a:noAutofit/>
                    </a:bodyPr>
                    <a:lstStyle/>
                    <a:p>
                      <a:r>
                        <a:rPr sz="2025" b="0">
                          <a:solidFill>
                            <a:srgbClr val="17343C"/>
                          </a:solidFill>
                          <a:latin typeface="Arial"/>
                          <a:ea typeface="Arial"/>
                          <a:cs typeface="Arial"/>
                        </a:rPr>
                        <a:t>1</a:t>
                      </a:r>
                    </a:p>
                  </a:txBody>
                  <a:tcPr marL="91440" marR="91440" marT="45720" marB="45720" anchor="ctr">
                    <a:solidFill>
                      <a:srgbClr val="DEEDE6"/>
                    </a:solidFill>
                  </a:tcPr>
                </a:tc>
                <a:tc>
                  <a:txBody>
                    <a:bodyPr lIns="123825" tIns="76200" rIns="123825" bIns="76200">
                      <a:noAutofit/>
                    </a:bodyPr>
                    <a:lstStyle/>
                    <a:p>
                      <a:r>
                        <a:rPr sz="2025" b="0">
                          <a:solidFill>
                            <a:srgbClr val="17343C"/>
                          </a:solidFill>
                          <a:latin typeface="Arial"/>
                          <a:ea typeface="Arial"/>
                          <a:cs typeface="Arial"/>
                        </a:rPr>
                        <a:t>2</a:t>
                      </a:r>
                    </a:p>
                  </a:txBody>
                  <a:tcPr marL="91440" marR="91440" marT="45720" marB="45720" anchor="ctr">
                    <a:solidFill>
                      <a:srgbClr val="DEEDE6"/>
                    </a:solidFill>
                  </a:tcPr>
                </a:tc>
                <a:tc>
                  <a:txBody>
                    <a:bodyPr lIns="123825" tIns="76200" rIns="123825" bIns="76200">
                      <a:noAutofit/>
                    </a:bodyPr>
                    <a:lstStyle/>
                    <a:p>
                      <a:r>
                        <a:rPr sz="2025" b="0">
                          <a:solidFill>
                            <a:srgbClr val="17343C"/>
                          </a:solidFill>
                          <a:latin typeface="Arial"/>
                          <a:ea typeface="Arial"/>
                          <a:cs typeface="Arial"/>
                        </a:rPr>
                        <a:t>3</a:t>
                      </a:r>
                    </a:p>
                  </a:txBody>
                  <a:tcPr marL="91440" marR="91440" marT="45720" marB="45720" anchor="ctr">
                    <a:solidFill>
                      <a:srgbClr val="DEEDE6"/>
                    </a:solidFill>
                  </a:tcPr>
                </a:tc>
                <a:tc>
                  <a:txBody>
                    <a:bodyPr lIns="123825" tIns="76200" rIns="123825" bIns="76200">
                      <a:noAutofit/>
                    </a:bodyPr>
                    <a:lstStyle/>
                    <a:p>
                      <a:r>
                        <a:rPr sz="2025" b="0">
                          <a:solidFill>
                            <a:srgbClr val="17343C"/>
                          </a:solidFill>
                          <a:latin typeface="Arial"/>
                          <a:ea typeface="Arial"/>
                          <a:cs typeface="Arial"/>
                        </a:rPr>
                        <a:t>4</a:t>
                      </a:r>
                    </a:p>
                  </a:txBody>
                  <a:tcPr marL="91440" marR="91440" marT="45720" marB="45720" anchor="ctr">
                    <a:solidFill>
                      <a:srgbClr val="DEEDE6"/>
                    </a:solidFill>
                  </a:tcPr>
                </a:tc>
                <a:tc>
                  <a:txBody>
                    <a:bodyPr lIns="123825" tIns="76200" rIns="123825" bIns="76200">
                      <a:noAutofit/>
                    </a:bodyPr>
                    <a:lstStyle/>
                    <a:p>
                      <a:r>
                        <a:rPr sz="2025" b="0">
                          <a:solidFill>
                            <a:srgbClr val="17343C"/>
                          </a:solidFill>
                          <a:latin typeface="Arial"/>
                          <a:ea typeface="Arial"/>
                          <a:cs typeface="Arial"/>
                        </a:rPr>
                        <a:t>5</a:t>
                      </a:r>
                    </a:p>
                  </a:txBody>
                  <a:tcPr marL="91440" marR="91440" marT="45720" marB="45720" anchor="ctr">
                    <a:solidFill>
                      <a:srgbClr val="F3EDCA"/>
                    </a:solidFill>
                  </a:tcPr>
                </a:tc>
              </a:tr>
            </a:tbl>
          </a:graphicData>
        </a:graphic>
      </p:graphicFrame>
      <p:sp>
        <p:nvSpPr>
          <p:cNvPr id="7" name="risk-anchors">
            <a:extLst xmlns:a="http://schemas.openxmlformats.org/drawingml/2006/main">
              <a:ext uri="{FF2B5EF4-FFF2-40B4-BE49-F238E27FC236}">
                <a16:creationId xmlns:a16="http://schemas.microsoft.com/office/drawing/2014/main" id="{8400D3F0-D451-4CFE-BFCE-794968D48681}"/>
              </a:ext>
            </a:extLst>
          </p:cNvPr>
          <p:cNvSpPr>
            <a:spLocks xmlns:a="http://schemas.openxmlformats.org/drawingml/2006/main" noGrp="1"/>
          </p:cNvSpPr>
          <p:nvPr/>
        </p:nvSpPr>
        <p:spPr>
          <a:xfrm xmlns:a="http://schemas.openxmlformats.org/drawingml/2006/main">
            <a:off x="647700" y="5353050"/>
            <a:ext cx="108966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7343C"/>
                </a:solidFill>
                <a:latin typeface="Arial"/>
                <a:ea typeface="Arial"/>
                <a:cs typeface="Arial"/>
              </a:defRPr>
            </a:pPr>
            <a:r>
              <a:rPr sz="1875" b="0">
                <a:solidFill>
                  <a:srgbClr val="17343C"/>
                </a:solidFill>
                <a:latin typeface="Arial"/>
                <a:ea typeface="Arial"/>
                <a:cs typeface="Arial"/>
              </a:rPr>
              <a:t>Likelihood: 1 unlikely with proven controls, 3 plausible, 5 almost certain</a:t>
            </a:r>
          </a:p>
          <a:p xmlns:a="http://schemas.openxmlformats.org/drawingml/2006/main">
            <a:pPr algn="l">
              <a:defRPr sz="1875" b="0">
                <a:solidFill>
                  <a:srgbClr val="17343C"/>
                </a:solidFill>
                <a:latin typeface="Arial"/>
                <a:ea typeface="Arial"/>
                <a:cs typeface="Arial"/>
              </a:defRPr>
            </a:pPr>
            <a:r>
              <a:rPr sz="1875" b="0">
                <a:solidFill>
                  <a:srgbClr val="17343C"/>
                </a:solidFill>
                <a:latin typeface="Arial"/>
                <a:ea typeface="Arial"/>
                <a:cs typeface="Arial"/>
              </a:rPr>
              <a:t>Impact: 1 &lt;2 h, 3 =2–3 days, 5 &gt;7 days, missed deadline or data breach</a:t>
            </a:r>
          </a:p>
        </p:txBody>
      </p:sp>
      <p:sp>
        <p:nvSpPr>
          <p:cNvPr id="8" name="risk-caution">
            <a:extLst xmlns:a="http://schemas.openxmlformats.org/drawingml/2006/main">
              <a:ext uri="{FF2B5EF4-FFF2-40B4-BE49-F238E27FC236}">
                <a16:creationId xmlns:a16="http://schemas.microsoft.com/office/drawing/2014/main" id="{D541A31F-19F1-4AEF-88CA-8BC2150569B0}"/>
              </a:ext>
            </a:extLst>
          </p:cNvPr>
          <p:cNvSpPr>
            <a:spLocks xmlns:a="http://schemas.openxmlformats.org/drawingml/2006/main" noGrp="1"/>
          </p:cNvSpPr>
          <p:nvPr/>
        </p:nvSpPr>
        <p:spPr>
          <a:xfrm xmlns:a="http://schemas.openxmlformats.org/drawingml/2006/main">
            <a:off x="647700" y="6191250"/>
            <a:ext cx="10896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264"/>
                </a:solidFill>
                <a:latin typeface="Arial"/>
                <a:ea typeface="Arial"/>
                <a:cs typeface="Arial"/>
              </a:defRPr>
            </a:pPr>
            <a:r>
              <a:rPr sz="1650" b="0">
                <a:solidFill>
                  <a:srgbClr val="526264"/>
                </a:solidFill>
                <a:latin typeface="Arial"/>
                <a:ea typeface="Arial"/>
                <a:cs typeface="Arial"/>
              </a:rPr>
              <a:t>Team-defined scoring bands. Scores rank attention. They are not percentages or cash loss.</a:t>
            </a:r>
          </a:p>
        </p:txBody>
      </p:sp>
    </p:spTree>
    <p:extLst>
      <p:ext uri="{BB962C8B-B14F-4D97-AF65-F5344CB8AC3E}">
        <p14:creationId xmlns:p14="http://schemas.microsoft.com/office/powerpoint/2010/main" val="1249620187"/>
      </p:ext>
    </p:extLst>
  </p:cSld>
</p:sld>
</file>

<file path=ppt/slides/slide43.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A31DDF0B-3ADD-4F5A-84B0-87437FF2D7C1}"/>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Initial risk ratings</a:t>
            </a:r>
          </a:p>
        </p:txBody>
      </p:sp>
      <p:sp>
        <p:nvSpPr>
          <p:cNvPr id="2" name="page">
            <a:extLst xmlns:a="http://schemas.openxmlformats.org/drawingml/2006/main">
              <a:ext uri="{FF2B5EF4-FFF2-40B4-BE49-F238E27FC236}">
                <a16:creationId xmlns:a16="http://schemas.microsoft.com/office/drawing/2014/main" id="{80284BCF-33FD-4A12-83A3-9118DEFA89D9}"/>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43</a:t>
            </a:r>
          </a:p>
        </p:txBody>
      </p:sp>
      <p:sp>
        <p:nvSpPr>
          <p:cNvPr id="3" name="source">
            <a:extLst xmlns:a="http://schemas.openxmlformats.org/drawingml/2006/main">
              <a:ext uri="{FF2B5EF4-FFF2-40B4-BE49-F238E27FC236}">
                <a16:creationId xmlns:a16="http://schemas.microsoft.com/office/drawing/2014/main" id="{68B9B366-B9EE-4184-8D50-D2A91E2A89EA}"/>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[S17] [S18]</a:t>
            </a:r>
          </a:p>
        </p:txBody>
      </p:sp>
      <p:graphicFrame>
        <p:nvGraphicFramePr>
          <p:cNvPr id="9" name=""/>
          <p:cNvGraphicFramePr/>
          <p:nvPr/>
        </p:nvGraphicFramePr>
        <p:xfrm>
          <a:off xmlns:a="http://schemas.openxmlformats.org/drawingml/2006/main" x="647700" y="1476375"/>
          <a:ext xmlns:a="http://schemas.openxmlformats.org/drawingml/2006/main" cx="10896600" cy="4238625"/>
        </p:xfrm>
        <a:graphic xmlns:a="http://schemas.openxmlformats.org/drawingml/2006/main">
          <a:graphicData uri="http://schemas.openxmlformats.org/drawingml/2006/table">
            <a:tbl>
              <a:tblPr firstRow="0" firstCol="0" bandRow="0"/>
              <a:tblGrid>
                <a:gridCol w="5410200"/>
                <a:gridCol w="1133475"/>
                <a:gridCol w="895350"/>
                <a:gridCol w="1343025"/>
                <a:gridCol w="2114550"/>
              </a:tblGrid>
              <a:tr h="523875">
                <a:tc>
                  <a:txBody>
                    <a:bodyPr lIns="123825" tIns="76200" rIns="123825" bIns="76200">
                      <a:noAutofit/>
                    </a:bodyPr>
                    <a:lstStyle/>
                    <a:p>
                      <a:r>
                        <a:rPr sz="1875" b="1">
                          <a:solidFill>
                            <a:srgbClr val="FFFFFF"/>
                          </a:solidFill>
                          <a:latin typeface="Arial"/>
                          <a:ea typeface="Arial"/>
                          <a:cs typeface="Arial"/>
                        </a:rPr>
                        <a:t>Risk</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L × I</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Score</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Owner</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Target score</a:t>
                      </a:r>
                    </a:p>
                  </a:txBody>
                  <a:tcPr marL="91440" marR="91440" marT="45720" marB="45720" anchor="ctr">
                    <a:solidFill>
                      <a:srgbClr val="17343C"/>
                    </a:solidFill>
                  </a:tcPr>
                </a:tc>
              </a:tr>
              <a:tr h="619125">
                <a:tc>
                  <a:txBody>
                    <a:bodyPr lIns="123825" tIns="76200" rIns="123825" bIns="76200">
                      <a:noAutofit/>
                    </a:bodyPr>
                    <a:lstStyle/>
                    <a:p>
                      <a:r>
                        <a:rPr sz="1800" b="0">
                          <a:solidFill>
                            <a:srgbClr val="17343C"/>
                          </a:solidFill>
                          <a:latin typeface="Arial"/>
                          <a:ea typeface="Arial"/>
                          <a:cs typeface="Arial"/>
                        </a:rPr>
                        <a:t>R1  KU baseline and access unconfirmed</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4 × 4</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16</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Zayed</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2 × 4 = 8</a:t>
                      </a:r>
                    </a:p>
                  </a:txBody>
                  <a:tcPr marL="91440" marR="91440" marT="45720" marB="45720" anchor="ctr">
                    <a:solidFill>
                      <a:srgbClr val="FAFAF7"/>
                    </a:solidFill>
                  </a:tcPr>
                </a:tc>
              </a:tr>
              <a:tr h="619125">
                <a:tc>
                  <a:txBody>
                    <a:bodyPr lIns="123825" tIns="76200" rIns="123825" bIns="76200">
                      <a:noAutofit/>
                    </a:bodyPr>
                    <a:lstStyle/>
                    <a:p>
                      <a:r>
                        <a:rPr sz="1800" b="0">
                          <a:solidFill>
                            <a:srgbClr val="17343C"/>
                          </a:solidFill>
                          <a:latin typeface="Arial"/>
                          <a:ea typeface="Arial"/>
                          <a:cs typeface="Arial"/>
                        </a:rPr>
                        <a:t>R2  AI recommends unsuitable items</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3 × 4</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12</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Ghaith</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2 × 4 = 8</a:t>
                      </a:r>
                    </a:p>
                  </a:txBody>
                  <a:tcPr marL="91440" marR="91440" marT="45720" marB="45720" anchor="ctr">
                    <a:solidFill>
                      <a:srgbClr val="F0F4F3"/>
                    </a:solidFill>
                  </a:tcPr>
                </a:tc>
              </a:tr>
              <a:tr h="619125">
                <a:tc>
                  <a:txBody>
                    <a:bodyPr lIns="123825" tIns="76200" rIns="123825" bIns="76200">
                      <a:noAutofit/>
                    </a:bodyPr>
                    <a:lstStyle/>
                    <a:p>
                      <a:r>
                        <a:rPr sz="1800" b="0">
                          <a:solidFill>
                            <a:srgbClr val="17343C"/>
                          </a:solidFill>
                          <a:latin typeface="Arial"/>
                          <a:ea typeface="Arial"/>
                          <a:cs typeface="Arial"/>
                        </a:rPr>
                        <a:t>R3  Restricted data or credentials exposed</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3 × 5</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15</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Ghaith</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1 × 5 = 5</a:t>
                      </a:r>
                    </a:p>
                  </a:txBody>
                  <a:tcPr marL="91440" marR="91440" marT="45720" marB="45720" anchor="ctr">
                    <a:solidFill>
                      <a:srgbClr val="FAFAF7"/>
                    </a:solidFill>
                  </a:tcPr>
                </a:tc>
              </a:tr>
              <a:tr h="619125">
                <a:tc>
                  <a:txBody>
                    <a:bodyPr lIns="123825" tIns="76200" rIns="123825" bIns="76200">
                      <a:noAutofit/>
                    </a:bodyPr>
                    <a:lstStyle/>
                    <a:p>
                      <a:r>
                        <a:rPr sz="1800" b="0">
                          <a:solidFill>
                            <a:srgbClr val="17343C"/>
                          </a:solidFill>
                          <a:latin typeface="Arial"/>
                          <a:ea typeface="Arial"/>
                          <a:cs typeface="Arial"/>
                        </a:rPr>
                        <a:t>R4  Duplicate work removes the benefit</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3 × 4</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12</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Zayed</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2 × 4 = 8</a:t>
                      </a:r>
                    </a:p>
                  </a:txBody>
                  <a:tcPr marL="91440" marR="91440" marT="45720" marB="45720" anchor="ctr">
                    <a:solidFill>
                      <a:srgbClr val="F0F4F3"/>
                    </a:solidFill>
                  </a:tcPr>
                </a:tc>
              </a:tr>
              <a:tr h="619125">
                <a:tc>
                  <a:txBody>
                    <a:bodyPr lIns="123825" tIns="76200" rIns="123825" bIns="76200">
                      <a:noAutofit/>
                    </a:bodyPr>
                    <a:lstStyle/>
                    <a:p>
                      <a:r>
                        <a:rPr sz="1800" b="0">
                          <a:solidFill>
                            <a:srgbClr val="17343C"/>
                          </a:solidFill>
                          <a:latin typeface="Arial"/>
                          <a:ea typeface="Arial"/>
                          <a:cs typeface="Arial"/>
                        </a:rPr>
                        <a:t>R5  Hosting or AI limits interrupt work</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3 × 3</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9</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Sultan</a:t>
                      </a:r>
                    </a:p>
                  </a:txBody>
                  <a:tcPr marL="91440" marR="91440" marT="45720" marB="45720" anchor="ctr">
                    <a:solidFill>
                      <a:srgbClr val="FAFAF7"/>
                    </a:solidFill>
                  </a:tcPr>
                </a:tc>
                <a:tc>
                  <a:txBody>
                    <a:bodyPr lIns="123825" tIns="76200" rIns="123825" bIns="76200">
                      <a:noAutofit/>
                    </a:bodyPr>
                    <a:lstStyle/>
                    <a:p>
                      <a:r>
                        <a:rPr sz="1800" b="0">
                          <a:solidFill>
                            <a:srgbClr val="17343C"/>
                          </a:solidFill>
                          <a:latin typeface="Arial"/>
                          <a:ea typeface="Arial"/>
                          <a:cs typeface="Arial"/>
                        </a:rPr>
                        <a:t>2 × 2 = 4</a:t>
                      </a:r>
                    </a:p>
                  </a:txBody>
                  <a:tcPr marL="91440" marR="91440" marT="45720" marB="45720" anchor="ctr">
                    <a:solidFill>
                      <a:srgbClr val="FAFAF7"/>
                    </a:solidFill>
                  </a:tcPr>
                </a:tc>
              </a:tr>
              <a:tr h="619125">
                <a:tc>
                  <a:txBody>
                    <a:bodyPr lIns="123825" tIns="76200" rIns="123825" bIns="76200">
                      <a:noAutofit/>
                    </a:bodyPr>
                    <a:lstStyle/>
                    <a:p>
                      <a:r>
                        <a:rPr sz="1800" b="0">
                          <a:solidFill>
                            <a:srgbClr val="17343C"/>
                          </a:solidFill>
                          <a:latin typeface="Arial"/>
                          <a:ea typeface="Arial"/>
                          <a:cs typeface="Arial"/>
                        </a:rPr>
                        <a:t>R6  Work exceeds available time</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3 × 5</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15</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Sultan</a:t>
                      </a:r>
                    </a:p>
                  </a:txBody>
                  <a:tcPr marL="91440" marR="91440" marT="45720" marB="45720" anchor="ctr">
                    <a:solidFill>
                      <a:srgbClr val="F0F4F3"/>
                    </a:solidFill>
                  </a:tcPr>
                </a:tc>
                <a:tc>
                  <a:txBody>
                    <a:bodyPr lIns="123825" tIns="76200" rIns="123825" bIns="76200">
                      <a:noAutofit/>
                    </a:bodyPr>
                    <a:lstStyle/>
                    <a:p>
                      <a:r>
                        <a:rPr sz="1800" b="0">
                          <a:solidFill>
                            <a:srgbClr val="17343C"/>
                          </a:solidFill>
                          <a:latin typeface="Arial"/>
                          <a:ea typeface="Arial"/>
                          <a:cs typeface="Arial"/>
                        </a:rPr>
                        <a:t>2 × 5 = 10</a:t>
                      </a:r>
                    </a:p>
                  </a:txBody>
                  <a:tcPr marL="91440" marR="91440" marT="45720" marB="45720" anchor="ctr">
                    <a:solidFill>
                      <a:srgbClr val="F0F4F3"/>
                    </a:solidFill>
                  </a:tcPr>
                </a:tc>
              </a:tr>
            </a:tbl>
          </a:graphicData>
        </a:graphic>
      </p:graphicFrame>
      <p:sp>
        <p:nvSpPr>
          <p:cNvPr id="5" name="risk-note">
            <a:extLst xmlns:a="http://schemas.openxmlformats.org/drawingml/2006/main">
              <a:ext uri="{FF2B5EF4-FFF2-40B4-BE49-F238E27FC236}">
                <a16:creationId xmlns:a16="http://schemas.microsoft.com/office/drawing/2014/main" id="{CEA5D91E-22A7-448C-9152-393FD0039A8C}"/>
              </a:ext>
            </a:extLst>
          </p:cNvPr>
          <p:cNvSpPr>
            <a:spLocks xmlns:a="http://schemas.openxmlformats.org/drawingml/2006/main" noGrp="1"/>
          </p:cNvSpPr>
          <p:nvPr/>
        </p:nvSpPr>
        <p:spPr>
          <a:xfrm xmlns:a="http://schemas.openxmlformats.org/drawingml/2006/main">
            <a:off x="647700" y="5895975"/>
            <a:ext cx="108966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26264"/>
                </a:solidFill>
                <a:latin typeface="Arial"/>
                <a:ea typeface="Arial"/>
                <a:cs typeface="Arial"/>
              </a:defRPr>
            </a:pPr>
            <a:r>
              <a:rPr sz="1725" b="0">
                <a:solidFill>
                  <a:srgbClr val="526264"/>
                </a:solidFill>
                <a:latin typeface="Arial"/>
                <a:ea typeface="Arial"/>
                <a:cs typeface="Arial"/>
              </a:rPr>
              <a:t>Ratings reflect unverified access, untested controls and uncertain capacity.</a:t>
            </a:r>
          </a:p>
          <a:p xmlns:a="http://schemas.openxmlformats.org/drawingml/2006/main">
            <a:pPr algn="l">
              <a:defRPr sz="1725" b="0">
                <a:solidFill>
                  <a:srgbClr val="526264"/>
                </a:solidFill>
                <a:latin typeface="Arial"/>
                <a:ea typeface="Arial"/>
                <a:cs typeface="Arial"/>
              </a:defRPr>
            </a:pPr>
            <a:r>
              <a:rPr sz="1725" b="0">
                <a:solidFill>
                  <a:srgbClr val="526264"/>
                </a:solidFill>
                <a:latin typeface="Arial"/>
                <a:ea typeface="Arial"/>
                <a:cs typeface="Arial"/>
              </a:rPr>
              <a:t>Targets only apply after the control works. Review every impact-5 risk explicitly.</a:t>
            </a:r>
          </a:p>
        </p:txBody>
      </p:sp>
    </p:spTree>
    <p:extLst>
      <p:ext uri="{BB962C8B-B14F-4D97-AF65-F5344CB8AC3E}">
        <p14:creationId xmlns:p14="http://schemas.microsoft.com/office/powerpoint/2010/main" val="182978746"/>
      </p:ext>
    </p:extLst>
  </p:cSld>
</p:sld>
</file>

<file path=ppt/slides/slide44.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A4567257-48E3-4945-A804-7594C6424C25}"/>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Risk responses: data, AI and access</a:t>
            </a:r>
          </a:p>
        </p:txBody>
      </p:sp>
      <p:sp>
        <p:nvSpPr>
          <p:cNvPr id="2" name="page">
            <a:extLst xmlns:a="http://schemas.openxmlformats.org/drawingml/2006/main">
              <a:ext uri="{FF2B5EF4-FFF2-40B4-BE49-F238E27FC236}">
                <a16:creationId xmlns:a16="http://schemas.microsoft.com/office/drawing/2014/main" id="{B96005AC-8E02-4AD5-91AE-4D46D5882C82}"/>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44</a:t>
            </a:r>
          </a:p>
        </p:txBody>
      </p:sp>
      <p:sp>
        <p:nvSpPr>
          <p:cNvPr id="3" name="source">
            <a:extLst xmlns:a="http://schemas.openxmlformats.org/drawingml/2006/main">
              <a:ext uri="{FF2B5EF4-FFF2-40B4-BE49-F238E27FC236}">
                <a16:creationId xmlns:a16="http://schemas.microsoft.com/office/drawing/2014/main" id="{B23BA4BB-A750-4414-AF83-E122F758846B}"/>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[S17]</a:t>
            </a:r>
          </a:p>
        </p:txBody>
      </p:sp>
      <p:graphicFrame>
        <p:nvGraphicFramePr>
          <p:cNvPr id="8" name=""/>
          <p:cNvGraphicFramePr/>
          <p:nvPr/>
        </p:nvGraphicFramePr>
        <p:xfrm>
          <a:off xmlns:a="http://schemas.openxmlformats.org/drawingml/2006/main" x="647700" y="1628775"/>
          <a:ext xmlns:a="http://schemas.openxmlformats.org/drawingml/2006/main" cx="10896600" cy="4457700"/>
        </p:xfrm>
        <a:graphic xmlns:a="http://schemas.openxmlformats.org/drawingml/2006/main">
          <a:graphicData uri="http://schemas.openxmlformats.org/drawingml/2006/table">
            <a:tbl>
              <a:tblPr firstRow="0" firstCol="0" bandRow="0"/>
              <a:tblGrid>
                <a:gridCol w="2381250"/>
                <a:gridCol w="4162425"/>
                <a:gridCol w="4352925"/>
              </a:tblGrid>
              <a:tr h="561975">
                <a:tc>
                  <a:txBody>
                    <a:bodyPr lIns="123825" tIns="76200" rIns="123825" bIns="76200">
                      <a:noAutofit/>
                    </a:bodyPr>
                    <a:lstStyle/>
                    <a:p>
                      <a:r>
                        <a:rPr sz="1875" b="1">
                          <a:solidFill>
                            <a:srgbClr val="FFFFFF"/>
                          </a:solidFill>
                          <a:latin typeface="Arial"/>
                          <a:ea typeface="Arial"/>
                          <a:cs typeface="Arial"/>
                        </a:rPr>
                        <a:t>Risk / owner</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Mitigation before the event</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Trigger and contingency</a:t>
                      </a:r>
                    </a:p>
                  </a:txBody>
                  <a:tcPr marL="91440" marR="91440" marT="45720" marB="45720" anchor="ctr">
                    <a:solidFill>
                      <a:srgbClr val="17343C"/>
                    </a:solidFill>
                  </a:tcPr>
                </a:tc>
              </a:tr>
              <a:tr h="1257300">
                <a:tc>
                  <a:txBody>
                    <a:bodyPr lIns="123825" tIns="76200" rIns="123825" bIns="76200">
                      <a:noAutofit/>
                    </a:bodyPr>
                    <a:lstStyle/>
                    <a:p>
                      <a:r>
                        <a:rPr sz="1875" b="0">
                          <a:solidFill>
                            <a:srgbClr val="17343C"/>
                          </a:solidFill>
                          <a:latin typeface="Arial"/>
                          <a:ea typeface="Arial"/>
                          <a:cs typeface="Arial"/>
                        </a:rPr>
                        <a:t>R1  KU evidence</a:t>
                      </a:r>
                    </a:p>
                    <a:p>
                      <a:r>
                        <a:rPr sz="1875" b="0">
                          <a:solidFill>
                            <a:srgbClr val="17343C"/>
                          </a:solidFill>
                          <a:latin typeface="Arial"/>
                          <a:ea typeface="Arial"/>
                          <a:cs typeface="Arial"/>
                        </a:rPr>
                        <a:t>Zayed</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Validate the role-play findings</a:t>
                      </a:r>
                    </a:p>
                    <a:p>
                      <a:r>
                        <a:rPr sz="1875" b="0">
                          <a:solidFill>
                            <a:srgbClr val="17343C"/>
                          </a:solidFill>
                          <a:latin typeface="Arial"/>
                          <a:ea typeface="Arial"/>
                          <a:cs typeface="Arial"/>
                        </a:rPr>
                        <a:t>with permitted KU records</a:t>
                      </a:r>
                    </a:p>
                    <a:p>
                      <a:r>
                        <a:rPr sz="1875" b="0">
                          <a:solidFill>
                            <a:srgbClr val="17343C"/>
                          </a:solidFill>
                          <a:latin typeface="Arial"/>
                          <a:ea typeface="Arial"/>
                          <a:cs typeface="Arial"/>
                        </a:rPr>
                        <a:t>and authorised staff.</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No verified baseline:</a:t>
                      </a:r>
                    </a:p>
                    <a:p>
                      <a:r>
                        <a:rPr sz="1875" b="0">
                          <a:solidFill>
                            <a:srgbClr val="17343C"/>
                          </a:solidFill>
                          <a:latin typeface="Arial"/>
                          <a:ea typeface="Arial"/>
                          <a:cs typeface="Arial"/>
                        </a:rPr>
                        <a:t>use labelled synthetic cases and</a:t>
                      </a:r>
                    </a:p>
                    <a:p>
                      <a:r>
                        <a:rPr sz="1875" b="0">
                          <a:solidFill>
                            <a:srgbClr val="17343C"/>
                          </a:solidFill>
                          <a:latin typeface="Arial"/>
                          <a:ea typeface="Arial"/>
                          <a:cs typeface="Arial"/>
                        </a:rPr>
                        <a:t>keep KU benefit unverified.</a:t>
                      </a:r>
                    </a:p>
                  </a:txBody>
                  <a:tcPr marL="91440" marR="91440" marT="45720" marB="45720" anchor="ctr">
                    <a:solidFill>
                      <a:srgbClr val="FAFAF7"/>
                    </a:solidFill>
                  </a:tcPr>
                </a:tc>
              </a:tr>
              <a:tr h="1257300">
                <a:tc>
                  <a:txBody>
                    <a:bodyPr lIns="123825" tIns="76200" rIns="123825" bIns="76200">
                      <a:noAutofit/>
                    </a:bodyPr>
                    <a:lstStyle/>
                    <a:p>
                      <a:r>
                        <a:rPr sz="1875" b="0">
                          <a:solidFill>
                            <a:srgbClr val="17343C"/>
                          </a:solidFill>
                          <a:latin typeface="Arial"/>
                          <a:ea typeface="Arial"/>
                          <a:cs typeface="Arial"/>
                        </a:rPr>
                        <a:t>R2  AI suitability</a:t>
                      </a:r>
                    </a:p>
                    <a:p>
                      <a:r>
                        <a:rPr sz="1875" b="0">
                          <a:solidFill>
                            <a:srgbClr val="17343C"/>
                          </a:solidFill>
                          <a:latin typeface="Arial"/>
                          <a:ea typeface="Arial"/>
                          <a:cs typeface="Arial"/>
                        </a:rPr>
                        <a:t>Ghaith</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Filter eligible items first.</a:t>
                      </a:r>
                    </a:p>
                    <a:p>
                      <a:r>
                        <a:rPr sz="1875" b="0">
                          <a:solidFill>
                            <a:srgbClr val="17343C"/>
                          </a:solidFill>
                          <a:latin typeface="Arial"/>
                          <a:ea typeface="Arial"/>
                          <a:cs typeface="Arial"/>
                        </a:rPr>
                        <a:t>Freeze labels and check results.</a:t>
                      </a:r>
                    </a:p>
                    <a:p>
                      <a:r>
                        <a:rPr sz="1875" b="0">
                          <a:solidFill>
                            <a:srgbClr val="17343C"/>
                          </a:solidFill>
                          <a:latin typeface="Arial"/>
                          <a:ea typeface="Arial"/>
                          <a:cs typeface="Arial"/>
                        </a:rPr>
                        <a:t>Keep staff review.</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Ineligible result or missed target:</a:t>
                      </a:r>
                    </a:p>
                    <a:p>
                      <a:r>
                        <a:rPr sz="1875" b="0">
                          <a:solidFill>
                            <a:srgbClr val="17343C"/>
                          </a:solidFill>
                          <a:latin typeface="Arial"/>
                          <a:ea typeface="Arial"/>
                          <a:cs typeface="Arial"/>
                        </a:rPr>
                        <a:t>use classic search, investigate</a:t>
                      </a:r>
                    </a:p>
                    <a:p>
                      <a:r>
                        <a:rPr sz="1875" b="0">
                          <a:solidFill>
                            <a:srgbClr val="17343C"/>
                          </a:solidFill>
                          <a:latin typeface="Arial"/>
                          <a:ea typeface="Arial"/>
                          <a:cs typeface="Arial"/>
                        </a:rPr>
                        <a:t>and retest AI.</a:t>
                      </a:r>
                    </a:p>
                  </a:txBody>
                  <a:tcPr marL="91440" marR="91440" marT="45720" marB="45720" anchor="ctr">
                    <a:solidFill>
                      <a:srgbClr val="F0F4F3"/>
                    </a:solidFill>
                  </a:tcPr>
                </a:tc>
              </a:tr>
              <a:tr h="1381125">
                <a:tc>
                  <a:txBody>
                    <a:bodyPr lIns="123825" tIns="76200" rIns="123825" bIns="76200">
                      <a:noAutofit/>
                    </a:bodyPr>
                    <a:lstStyle/>
                    <a:p>
                      <a:r>
                        <a:rPr sz="1875" b="0">
                          <a:solidFill>
                            <a:srgbClr val="17343C"/>
                          </a:solidFill>
                          <a:latin typeface="Arial"/>
                          <a:ea typeface="Arial"/>
                          <a:cs typeface="Arial"/>
                        </a:rPr>
                        <a:t>R3  Data exposure</a:t>
                      </a:r>
                    </a:p>
                    <a:p>
                      <a:r>
                        <a:rPr sz="1875" b="0">
                          <a:solidFill>
                            <a:srgbClr val="17343C"/>
                          </a:solidFill>
                          <a:latin typeface="Arial"/>
                          <a:ea typeface="Arial"/>
                          <a:cs typeface="Arial"/>
                        </a:rPr>
                        <a:t>Ghaith</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Use synthetic data and minimal</a:t>
                      </a:r>
                    </a:p>
                    <a:p>
                      <a:r>
                        <a:rPr sz="1875" b="0">
                          <a:solidFill>
                            <a:srgbClr val="17343C"/>
                          </a:solidFill>
                          <a:latin typeface="Arial"/>
                          <a:ea typeface="Arial"/>
                          <a:cs typeface="Arial"/>
                        </a:rPr>
                        <a:t>fields. Protect secrets and</a:t>
                      </a:r>
                    </a:p>
                    <a:p>
                      <a:r>
                        <a:rPr sz="1875" b="0">
                          <a:solidFill>
                            <a:srgbClr val="17343C"/>
                          </a:solidFill>
                          <a:latin typeface="Arial"/>
                          <a:ea typeface="Arial"/>
                          <a:cs typeface="Arial"/>
                        </a:rPr>
                        <a:t>test permissions.</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Unauthorised access or key leak:</a:t>
                      </a:r>
                    </a:p>
                    <a:p>
                      <a:r>
                        <a:rPr sz="1875" b="0">
                          <a:solidFill>
                            <a:srgbClr val="17343C"/>
                          </a:solidFill>
                          <a:latin typeface="Arial"/>
                          <a:ea typeface="Arial"/>
                          <a:cs typeface="Arial"/>
                        </a:rPr>
                        <a:t>stop the route, revoke access</a:t>
                      </a:r>
                    </a:p>
                    <a:p>
                      <a:r>
                        <a:rPr sz="1875" b="0">
                          <a:solidFill>
                            <a:srgbClr val="17343C"/>
                          </a:solidFill>
                          <a:latin typeface="Arial"/>
                          <a:ea typeface="Arial"/>
                          <a:cs typeface="Arial"/>
                        </a:rPr>
                        <a:t>and involve the authorised owner.</a:t>
                      </a:r>
                    </a:p>
                  </a:txBody>
                  <a:tcPr marL="91440" marR="91440" marT="45720" marB="45720" anchor="ctr">
                    <a:solidFill>
                      <a:srgbClr val="FAFAF7"/>
                    </a:solidFill>
                  </a:tcPr>
                </a:tc>
              </a:tr>
            </a:tbl>
          </a:graphicData>
        </a:graphic>
      </p:graphicFrame>
    </p:spTree>
    <p:extLst>
      <p:ext uri="{BB962C8B-B14F-4D97-AF65-F5344CB8AC3E}">
        <p14:creationId xmlns:p14="http://schemas.microsoft.com/office/powerpoint/2010/main" val="1993761899"/>
      </p:ext>
    </p:extLst>
  </p:cSld>
</p:sld>
</file>

<file path=ppt/slides/slide45.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A7B1812A-2B90-47E0-A9BE-993A39F2777D}"/>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Risk responses: work, hosting and time</a:t>
            </a:r>
          </a:p>
        </p:txBody>
      </p:sp>
      <p:sp>
        <p:nvSpPr>
          <p:cNvPr id="2" name="page">
            <a:extLst xmlns:a="http://schemas.openxmlformats.org/drawingml/2006/main">
              <a:ext uri="{FF2B5EF4-FFF2-40B4-BE49-F238E27FC236}">
                <a16:creationId xmlns:a16="http://schemas.microsoft.com/office/drawing/2014/main" id="{E325942D-BEF1-459C-BC60-9658EEF8AE56}"/>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45</a:t>
            </a:r>
          </a:p>
        </p:txBody>
      </p:sp>
      <p:sp>
        <p:nvSpPr>
          <p:cNvPr id="3" name="source">
            <a:extLst xmlns:a="http://schemas.openxmlformats.org/drawingml/2006/main">
              <a:ext uri="{FF2B5EF4-FFF2-40B4-BE49-F238E27FC236}">
                <a16:creationId xmlns:a16="http://schemas.microsoft.com/office/drawing/2014/main" id="{B61676DA-0F77-4309-8834-9DC1AB31BA58}"/>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[S17]</a:t>
            </a:r>
          </a:p>
        </p:txBody>
      </p:sp>
      <p:graphicFrame>
        <p:nvGraphicFramePr>
          <p:cNvPr id="8" name=""/>
          <p:cNvGraphicFramePr/>
          <p:nvPr/>
        </p:nvGraphicFramePr>
        <p:xfrm>
          <a:off xmlns:a="http://schemas.openxmlformats.org/drawingml/2006/main" x="647700" y="1571625"/>
          <a:ext xmlns:a="http://schemas.openxmlformats.org/drawingml/2006/main" cx="10896600" cy="4581525"/>
        </p:xfrm>
        <a:graphic xmlns:a="http://schemas.openxmlformats.org/drawingml/2006/main">
          <a:graphicData uri="http://schemas.openxmlformats.org/drawingml/2006/table">
            <a:tbl>
              <a:tblPr firstRow="0" firstCol="0" bandRow="0"/>
              <a:tblGrid>
                <a:gridCol w="2381250"/>
                <a:gridCol w="4162425"/>
                <a:gridCol w="4352925"/>
              </a:tblGrid>
              <a:tr h="561975">
                <a:tc>
                  <a:txBody>
                    <a:bodyPr lIns="123825" tIns="76200" rIns="123825" bIns="76200">
                      <a:noAutofit/>
                    </a:bodyPr>
                    <a:lstStyle/>
                    <a:p>
                      <a:r>
                        <a:rPr sz="1875" b="1">
                          <a:solidFill>
                            <a:srgbClr val="FFFFFF"/>
                          </a:solidFill>
                          <a:latin typeface="Arial"/>
                          <a:ea typeface="Arial"/>
                          <a:cs typeface="Arial"/>
                        </a:rPr>
                        <a:t>Risk / owner</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Mitigation before the event</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Trigger and contingency</a:t>
                      </a:r>
                    </a:p>
                  </a:txBody>
                  <a:tcPr marL="91440" marR="91440" marT="45720" marB="45720" anchor="ctr">
                    <a:solidFill>
                      <a:srgbClr val="17343C"/>
                    </a:solidFill>
                  </a:tcPr>
                </a:tc>
              </a:tr>
              <a:tr h="1381125">
                <a:tc>
                  <a:txBody>
                    <a:bodyPr lIns="123825" tIns="76200" rIns="123825" bIns="76200">
                      <a:noAutofit/>
                    </a:bodyPr>
                    <a:lstStyle/>
                    <a:p>
                      <a:r>
                        <a:rPr sz="1875" b="0">
                          <a:solidFill>
                            <a:srgbClr val="17343C"/>
                          </a:solidFill>
                          <a:latin typeface="Arial"/>
                          <a:ea typeface="Arial"/>
                          <a:cs typeface="Arial"/>
                        </a:rPr>
                        <a:t>R4  Extra work</a:t>
                      </a:r>
                    </a:p>
                    <a:p>
                      <a:r>
                        <a:rPr sz="1875" b="0">
                          <a:solidFill>
                            <a:srgbClr val="17343C"/>
                          </a:solidFill>
                          <a:latin typeface="Arial"/>
                          <a:ea typeface="Arial"/>
                          <a:cs typeface="Arial"/>
                        </a:rPr>
                        <a:t>Zayed</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Count the whole task, including</a:t>
                      </a:r>
                    </a:p>
                    <a:p>
                      <a:r>
                        <a:rPr sz="1875" b="0">
                          <a:solidFill>
                            <a:srgbClr val="17343C"/>
                          </a:solidFill>
                          <a:latin typeface="Arial"/>
                          <a:ea typeface="Arial"/>
                          <a:cs typeface="Arial"/>
                        </a:rPr>
                        <a:t>review, handover and</a:t>
                      </a:r>
                    </a:p>
                    <a:p>
                      <a:r>
                        <a:rPr sz="1875" b="0">
                          <a:solidFill>
                            <a:srgbClr val="17343C"/>
                          </a:solidFill>
                          <a:latin typeface="Arial"/>
                          <a:ea typeface="Arial"/>
                          <a:cs typeface="Arial"/>
                        </a:rPr>
                        <a:t>record reconciliation.</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No effort benefit or staff reject it:</a:t>
                      </a:r>
                    </a:p>
                    <a:p>
                      <a:r>
                        <a:rPr sz="1875" b="0">
                          <a:solidFill>
                            <a:srgbClr val="17343C"/>
                          </a:solidFill>
                          <a:latin typeface="Arial"/>
                          <a:ea typeface="Arial"/>
                          <a:cs typeface="Arial"/>
                        </a:rPr>
                        <a:t>redesign around verified work</a:t>
                      </a:r>
                    </a:p>
                    <a:p>
                      <a:r>
                        <a:rPr sz="1875" b="0">
                          <a:solidFill>
                            <a:srgbClr val="17343C"/>
                          </a:solidFill>
                          <a:latin typeface="Arial"/>
                          <a:ea typeface="Arial"/>
                          <a:cs typeface="Arial"/>
                        </a:rPr>
                        <a:t>or reconsider an existing tool.</a:t>
                      </a:r>
                    </a:p>
                  </a:txBody>
                  <a:tcPr marL="91440" marR="91440" marT="45720" marB="45720" anchor="ctr">
                    <a:solidFill>
                      <a:srgbClr val="FAFAF7"/>
                    </a:solidFill>
                  </a:tcPr>
                </a:tc>
              </a:tr>
              <a:tr h="1381125">
                <a:tc>
                  <a:txBody>
                    <a:bodyPr lIns="123825" tIns="76200" rIns="123825" bIns="76200">
                      <a:noAutofit/>
                    </a:bodyPr>
                    <a:lstStyle/>
                    <a:p>
                      <a:r>
                        <a:rPr sz="1875" b="0">
                          <a:solidFill>
                            <a:srgbClr val="17343C"/>
                          </a:solidFill>
                          <a:latin typeface="Arial"/>
                          <a:ea typeface="Arial"/>
                          <a:cs typeface="Arial"/>
                        </a:rPr>
                        <a:t>R5  Service limits</a:t>
                      </a:r>
                    </a:p>
                    <a:p>
                      <a:r>
                        <a:rPr sz="1875" b="0">
                          <a:solidFill>
                            <a:srgbClr val="17343C"/>
                          </a:solidFill>
                          <a:latin typeface="Arial"/>
                          <a:ea typeface="Arial"/>
                          <a:cs typeface="Arial"/>
                        </a:rPr>
                        <a:t>Sultan</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Agree a cap. Measure usage.</a:t>
                      </a:r>
                    </a:p>
                    <a:p>
                      <a:r>
                        <a:rPr sz="1875" b="0">
                          <a:solidFill>
                            <a:srgbClr val="17343C"/>
                          </a:solidFill>
                          <a:latin typeface="Arial"/>
                          <a:ea typeface="Arial"/>
                          <a:cs typeface="Arial"/>
                        </a:rPr>
                        <a:t>Test storage, backup and</a:t>
                      </a:r>
                    </a:p>
                    <a:p>
                      <a:r>
                        <a:rPr sz="1875" b="0">
                          <a:solidFill>
                            <a:srgbClr val="17343C"/>
                          </a:solidFill>
                          <a:latin typeface="Arial"/>
                          <a:ea typeface="Arial"/>
                          <a:cs typeface="Arial"/>
                        </a:rPr>
                        <a:t>AI fallback.</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Failed service or cap exceeded:</a:t>
                      </a:r>
                    </a:p>
                    <a:p>
                      <a:r>
                        <a:rPr sz="1875" b="0">
                          <a:solidFill>
                            <a:srgbClr val="17343C"/>
                          </a:solidFill>
                          <a:latin typeface="Arial"/>
                          <a:ea typeface="Arial"/>
                          <a:cs typeface="Arial"/>
                        </a:rPr>
                        <a:t>recover or move to a tested option.</a:t>
                      </a:r>
                    </a:p>
                    <a:p>
                      <a:r>
                        <a:rPr sz="1875" b="0">
                          <a:solidFill>
                            <a:srgbClr val="17343C"/>
                          </a:solidFill>
                          <a:latin typeface="Arial"/>
                          <a:ea typeface="Arial"/>
                          <a:cs typeface="Arial"/>
                        </a:rPr>
                        <a:t>Local demo is only temporary.</a:t>
                      </a:r>
                    </a:p>
                  </a:txBody>
                  <a:tcPr marL="91440" marR="91440" marT="45720" marB="45720" anchor="ctr">
                    <a:solidFill>
                      <a:srgbClr val="F0F4F3"/>
                    </a:solidFill>
                  </a:tcPr>
                </a:tc>
              </a:tr>
              <a:tr h="1257300">
                <a:tc>
                  <a:txBody>
                    <a:bodyPr lIns="123825" tIns="76200" rIns="123825" bIns="76200">
                      <a:noAutofit/>
                    </a:bodyPr>
                    <a:lstStyle/>
                    <a:p>
                      <a:r>
                        <a:rPr sz="1875" b="0">
                          <a:solidFill>
                            <a:srgbClr val="17343C"/>
                          </a:solidFill>
                          <a:latin typeface="Arial"/>
                          <a:ea typeface="Arial"/>
                          <a:cs typeface="Arial"/>
                        </a:rPr>
                        <a:t>R6  Time shortage</a:t>
                      </a:r>
                    </a:p>
                    <a:p>
                      <a:r>
                        <a:rPr sz="1875" b="0">
                          <a:solidFill>
                            <a:srgbClr val="17343C"/>
                          </a:solidFill>
                          <a:latin typeface="Arial"/>
                          <a:ea typeface="Arial"/>
                          <a:cs typeface="Arial"/>
                        </a:rPr>
                        <a:t>Sultan</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Confirm member hours and</a:t>
                      </a:r>
                    </a:p>
                    <a:p>
                      <a:r>
                        <a:rPr sz="1875" b="0">
                          <a:solidFill>
                            <a:srgbClr val="17343C"/>
                          </a:solidFill>
                          <a:latin typeface="Arial"/>
                          <a:ea typeface="Arial"/>
                          <a:cs typeface="Arial"/>
                        </a:rPr>
                        <a:t>dependencies. Integrate early</a:t>
                      </a:r>
                    </a:p>
                    <a:p>
                      <a:r>
                        <a:rPr sz="1875" b="0">
                          <a:solidFill>
                            <a:srgbClr val="17343C"/>
                          </a:solidFill>
                          <a:latin typeface="Arial"/>
                          <a:ea typeface="Arial"/>
                          <a:cs typeface="Arial"/>
                        </a:rPr>
                        <a:t>and review weekly.</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Work exceeds capacity:</a:t>
                      </a:r>
                    </a:p>
                    <a:p>
                      <a:r>
                        <a:rPr sz="1875" b="0">
                          <a:solidFill>
                            <a:srgbClr val="17343C"/>
                          </a:solidFill>
                          <a:latin typeface="Arial"/>
                          <a:ea typeface="Arial"/>
                          <a:cs typeface="Arial"/>
                        </a:rPr>
                        <a:t>redistribute and discuss any</a:t>
                      </a:r>
                    </a:p>
                    <a:p>
                      <a:r>
                        <a:rPr sz="1875" b="0">
                          <a:solidFill>
                            <a:srgbClr val="17343C"/>
                          </a:solidFill>
                          <a:latin typeface="Arial"/>
                          <a:ea typeface="Arial"/>
                          <a:cs typeface="Arial"/>
                        </a:rPr>
                        <a:t>scope change with the instructor.</a:t>
                      </a:r>
                    </a:p>
                  </a:txBody>
                  <a:tcPr marL="91440" marR="91440" marT="45720" marB="45720" anchor="ctr">
                    <a:solidFill>
                      <a:srgbClr val="FAFAF7"/>
                    </a:solidFill>
                  </a:tcPr>
                </a:tc>
              </a:tr>
            </a:tbl>
          </a:graphicData>
        </a:graphic>
      </p:graphicFrame>
    </p:spTree>
    <p:extLst>
      <p:ext uri="{BB962C8B-B14F-4D97-AF65-F5344CB8AC3E}">
        <p14:creationId xmlns:p14="http://schemas.microsoft.com/office/powerpoint/2010/main" val="1591432517"/>
      </p:ext>
    </p:extLst>
  </p:cSld>
</p:sld>
</file>

<file path=ppt/slides/slide46.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28F82AE1-4D34-46D1-9FC0-5648E5FB26FD}"/>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Our decision and next actions</a:t>
            </a:r>
          </a:p>
        </p:txBody>
      </p:sp>
      <p:sp>
        <p:nvSpPr>
          <p:cNvPr id="2" name="page">
            <a:extLst xmlns:a="http://schemas.openxmlformats.org/drawingml/2006/main">
              <a:ext uri="{FF2B5EF4-FFF2-40B4-BE49-F238E27FC236}">
                <a16:creationId xmlns:a16="http://schemas.microsoft.com/office/drawing/2014/main" id="{C44E7C2F-F231-4633-ACA8-12AEB5D84B5E}"/>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46</a:t>
            </a:r>
          </a:p>
        </p:txBody>
      </p:sp>
      <p:sp>
        <p:nvSpPr>
          <p:cNvPr id="3" name="source">
            <a:extLst xmlns:a="http://schemas.openxmlformats.org/drawingml/2006/main">
              <a:ext uri="{FF2B5EF4-FFF2-40B4-BE49-F238E27FC236}">
                <a16:creationId xmlns:a16="http://schemas.microsoft.com/office/drawing/2014/main" id="{1C39C5C6-7169-4327-9078-4CD8B73CD2A0}"/>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[S02]</a:t>
            </a:r>
          </a:p>
        </p:txBody>
      </p:sp>
      <p:sp>
        <p:nvSpPr>
          <p:cNvPr id="4" name="final-decision">
            <a:extLst xmlns:a="http://schemas.openxmlformats.org/drawingml/2006/main">
              <a:ext uri="{FF2B5EF4-FFF2-40B4-BE49-F238E27FC236}">
                <a16:creationId xmlns:a16="http://schemas.microsoft.com/office/drawing/2014/main" id="{082DFCCC-79FD-4CB3-8178-E7CAFA3901BB}"/>
              </a:ext>
            </a:extLst>
          </p:cNvPr>
          <p:cNvSpPr>
            <a:spLocks xmlns:a="http://schemas.openxmlformats.org/drawingml/2006/main" noGrp="1"/>
          </p:cNvSpPr>
          <p:nvPr/>
        </p:nvSpPr>
        <p:spPr>
          <a:xfrm xmlns:a="http://schemas.openxmlformats.org/drawingml/2006/main">
            <a:off x="647700" y="1457325"/>
            <a:ext cx="108966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26746D"/>
                </a:solidFill>
                <a:latin typeface="Arial"/>
                <a:ea typeface="Arial"/>
                <a:cs typeface="Arial"/>
              </a:defRPr>
            </a:pPr>
            <a:r>
              <a:rPr sz="2775" b="1">
                <a:solidFill>
                  <a:srgbClr val="26746D"/>
                </a:solidFill>
                <a:latin typeface="Arial"/>
                <a:ea typeface="Arial"/>
                <a:cs typeface="Arial"/>
              </a:rPr>
              <a:t>Proceed with the academic prototype investigation</a:t>
            </a:r>
          </a:p>
        </p:txBody>
      </p:sp>
      <p:graphicFrame>
        <p:nvGraphicFramePr>
          <p:cNvPr id="11" name=""/>
          <p:cNvGraphicFramePr/>
          <p:nvPr/>
        </p:nvGraphicFramePr>
        <p:xfrm>
          <a:off xmlns:a="http://schemas.openxmlformats.org/drawingml/2006/main" x="647700" y="2400300"/>
          <a:ext xmlns:a="http://schemas.openxmlformats.org/drawingml/2006/main" cx="10896600" cy="3105150"/>
        </p:xfrm>
        <a:graphic xmlns:a="http://schemas.openxmlformats.org/drawingml/2006/main">
          <a:graphicData uri="http://schemas.openxmlformats.org/drawingml/2006/table">
            <a:tbl>
              <a:tblPr firstRow="0" firstCol="0" bandRow="0"/>
              <a:tblGrid>
                <a:gridCol w="2295525"/>
                <a:gridCol w="8601075"/>
              </a:tblGrid>
              <a:tr h="533400">
                <a:tc>
                  <a:txBody>
                    <a:bodyPr lIns="123825" tIns="76200" rIns="123825" bIns="76200">
                      <a:noAutofit/>
                    </a:bodyPr>
                    <a:lstStyle/>
                    <a:p>
                      <a:r>
                        <a:rPr sz="1875" b="1">
                          <a:solidFill>
                            <a:srgbClr val="FFFFFF"/>
                          </a:solidFill>
                          <a:latin typeface="Arial"/>
                          <a:ea typeface="Arial"/>
                          <a:cs typeface="Arial"/>
                        </a:rPr>
                        <a:t>Lead</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Next validation work</a:t>
                      </a:r>
                    </a:p>
                  </a:txBody>
                  <a:tcPr marL="91440" marR="91440" marT="45720" marB="45720" anchor="ctr">
                    <a:solidFill>
                      <a:srgbClr val="17343C"/>
                    </a:solidFill>
                  </a:tcPr>
                </a:tc>
              </a:tr>
              <a:tr h="857250">
                <a:tc>
                  <a:txBody>
                    <a:bodyPr lIns="123825" tIns="76200" rIns="123825" bIns="76200">
                      <a:noAutofit/>
                    </a:bodyPr>
                    <a:lstStyle/>
                    <a:p>
                      <a:r>
                        <a:rPr sz="2100" b="0">
                          <a:solidFill>
                            <a:srgbClr val="17343C"/>
                          </a:solidFill>
                          <a:latin typeface="Arial"/>
                          <a:ea typeface="Arial"/>
                          <a:cs typeface="Arial"/>
                        </a:rPr>
                        <a:t>Zayed</a:t>
                      </a:r>
                    </a:p>
                  </a:txBody>
                  <a:tcPr marL="91440" marR="91440" marT="45720" marB="45720" anchor="ctr">
                    <a:solidFill>
                      <a:srgbClr val="FAFAF7"/>
                    </a:solidFill>
                  </a:tcPr>
                </a:tc>
                <a:tc>
                  <a:txBody>
                    <a:bodyPr lIns="123825" tIns="76200" rIns="123825" bIns="76200">
                      <a:noAutofit/>
                    </a:bodyPr>
                    <a:lstStyle/>
                    <a:p>
                      <a:r>
                        <a:rPr sz="2100" b="0">
                          <a:solidFill>
                            <a:srgbClr val="17343C"/>
                          </a:solidFill>
                          <a:latin typeface="Arial"/>
                          <a:ea typeface="Arial"/>
                          <a:cs typeface="Arial"/>
                        </a:rPr>
                        <a:t>Validate role-play findings against KU records, staff needs and policy</a:t>
                      </a:r>
                    </a:p>
                  </a:txBody>
                  <a:tcPr marL="91440" marR="91440" marT="45720" marB="45720" anchor="ctr">
                    <a:solidFill>
                      <a:srgbClr val="FAFAF7"/>
                    </a:solidFill>
                  </a:tcPr>
                </a:tc>
              </a:tr>
              <a:tr h="857250">
                <a:tc>
                  <a:txBody>
                    <a:bodyPr lIns="123825" tIns="76200" rIns="123825" bIns="76200">
                      <a:noAutofit/>
                    </a:bodyPr>
                    <a:lstStyle/>
                    <a:p>
                      <a:r>
                        <a:rPr sz="2100" b="0">
                          <a:solidFill>
                            <a:srgbClr val="17343C"/>
                          </a:solidFill>
                          <a:latin typeface="Arial"/>
                          <a:ea typeface="Arial"/>
                          <a:cs typeface="Arial"/>
                        </a:rPr>
                        <a:t>Ghaith</a:t>
                      </a:r>
                    </a:p>
                  </a:txBody>
                  <a:tcPr marL="91440" marR="91440" marT="45720" marB="45720" anchor="ctr">
                    <a:solidFill>
                      <a:srgbClr val="F0F4F3"/>
                    </a:solidFill>
                  </a:tcPr>
                </a:tc>
                <a:tc>
                  <a:txBody>
                    <a:bodyPr lIns="123825" tIns="76200" rIns="123825" bIns="76200">
                      <a:noAutofit/>
                    </a:bodyPr>
                    <a:lstStyle/>
                    <a:p>
                      <a:r>
                        <a:rPr sz="2100" b="0">
                          <a:solidFill>
                            <a:srgbClr val="17343C"/>
                          </a:solidFill>
                          <a:latin typeface="Arial"/>
                          <a:ea typeface="Arial"/>
                          <a:cs typeface="Arial"/>
                        </a:rPr>
                        <a:t>Run technology and AI trials, including permissions, fallback and persistence</a:t>
                      </a:r>
                    </a:p>
                  </a:txBody>
                  <a:tcPr marL="91440" marR="91440" marT="45720" marB="45720" anchor="ctr">
                    <a:solidFill>
                      <a:srgbClr val="F0F4F3"/>
                    </a:solidFill>
                  </a:tcPr>
                </a:tc>
              </a:tr>
              <a:tr h="857250">
                <a:tc>
                  <a:txBody>
                    <a:bodyPr lIns="123825" tIns="76200" rIns="123825" bIns="76200">
                      <a:noAutofit/>
                    </a:bodyPr>
                    <a:lstStyle/>
                    <a:p>
                      <a:r>
                        <a:rPr sz="2100" b="0">
                          <a:solidFill>
                            <a:srgbClr val="17343C"/>
                          </a:solidFill>
                          <a:latin typeface="Arial"/>
                          <a:ea typeface="Arial"/>
                          <a:cs typeface="Arial"/>
                        </a:rPr>
                        <a:t>Sultan</a:t>
                      </a:r>
                    </a:p>
                  </a:txBody>
                  <a:tcPr marL="91440" marR="91440" marT="45720" marB="45720" anchor="ctr">
                    <a:solidFill>
                      <a:srgbClr val="FAFAF7"/>
                    </a:solidFill>
                  </a:tcPr>
                </a:tc>
                <a:tc>
                  <a:txBody>
                    <a:bodyPr lIns="123825" tIns="76200" rIns="123825" bIns="76200">
                      <a:noAutofit/>
                    </a:bodyPr>
                    <a:lstStyle/>
                    <a:p>
                      <a:r>
                        <a:rPr sz="2100" b="0">
                          <a:solidFill>
                            <a:srgbClr val="17343C"/>
                          </a:solidFill>
                          <a:latin typeface="Arial"/>
                          <a:ea typeface="Arial"/>
                          <a:cs typeface="Arial"/>
                        </a:rPr>
                        <a:t>Replace cost and benefit assumptions with evidence and confirm capacity</a:t>
                      </a:r>
                    </a:p>
                  </a:txBody>
                  <a:tcPr marL="91440" marR="91440" marT="45720" marB="45720" anchor="ctr">
                    <a:solidFill>
                      <a:srgbClr val="FAFAF7"/>
                    </a:solidFill>
                  </a:tcPr>
                </a:tc>
              </a:tr>
            </a:tbl>
          </a:graphicData>
        </a:graphic>
      </p:graphicFrame>
      <p:sp>
        <p:nvSpPr>
          <p:cNvPr id="6" name="adoption">
            <a:extLst xmlns:a="http://schemas.openxmlformats.org/drawingml/2006/main">
              <a:ext uri="{FF2B5EF4-FFF2-40B4-BE49-F238E27FC236}">
                <a16:creationId xmlns:a16="http://schemas.microsoft.com/office/drawing/2014/main" id="{1FDCCDE0-B562-4025-AB3A-4E988AD841B1}"/>
              </a:ext>
            </a:extLst>
          </p:cNvPr>
          <p:cNvSpPr>
            <a:spLocks xmlns:a="http://schemas.openxmlformats.org/drawingml/2006/main" noGrp="1"/>
          </p:cNvSpPr>
          <p:nvPr/>
        </p:nvSpPr>
        <p:spPr>
          <a:xfrm xmlns:a="http://schemas.openxmlformats.org/drawingml/2006/main">
            <a:off x="647700" y="5924550"/>
            <a:ext cx="108966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343C"/>
                </a:solidFill>
                <a:latin typeface="Arial"/>
                <a:ea typeface="Arial"/>
                <a:cs typeface="Arial"/>
              </a:defRPr>
            </a:pPr>
            <a:r>
              <a:rPr sz="2175" b="1">
                <a:solidFill>
                  <a:srgbClr val="17343C"/>
                </a:solidFill>
                <a:latin typeface="Arial"/>
                <a:ea typeface="Arial"/>
                <a:cs typeface="Arial"/>
              </a:rPr>
              <a:t>The monitor case alone does not justify a custom KU rollout.</a:t>
            </a:r>
          </a:p>
        </p:txBody>
      </p:sp>
    </p:spTree>
    <p:extLst>
      <p:ext uri="{BB962C8B-B14F-4D97-AF65-F5344CB8AC3E}">
        <p14:creationId xmlns:p14="http://schemas.microsoft.com/office/powerpoint/2010/main" val="121428574"/>
      </p:ext>
    </p:extLst>
  </p:cSld>
</p:sld>
</file>

<file path=ppt/slides/slide47.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27280CC5-2755-4E35-A090-A7B92FCE5EF0}"/>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Evidence status and AI use</a:t>
            </a:r>
          </a:p>
        </p:txBody>
      </p:sp>
      <p:sp>
        <p:nvSpPr>
          <p:cNvPr id="2" name="page">
            <a:extLst xmlns:a="http://schemas.openxmlformats.org/drawingml/2006/main">
              <a:ext uri="{FF2B5EF4-FFF2-40B4-BE49-F238E27FC236}">
                <a16:creationId xmlns:a16="http://schemas.microsoft.com/office/drawing/2014/main" id="{E0CD8980-E9EE-45ED-9A32-7986C4BB1700}"/>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47</a:t>
            </a:r>
          </a:p>
        </p:txBody>
      </p:sp>
      <p:sp>
        <p:nvSpPr>
          <p:cNvPr id="3" name="source">
            <a:extLst xmlns:a="http://schemas.openxmlformats.org/drawingml/2006/main">
              <a:ext uri="{FF2B5EF4-FFF2-40B4-BE49-F238E27FC236}">
                <a16:creationId xmlns:a16="http://schemas.microsoft.com/office/drawing/2014/main" id="{D052883B-AF98-4BE1-9DF6-87AC02AD5335}"/>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[S02]</a:t>
            </a:r>
          </a:p>
        </p:txBody>
      </p:sp>
      <p:sp>
        <p:nvSpPr>
          <p:cNvPr id="4" name="left-title">
            <a:extLst xmlns:a="http://schemas.openxmlformats.org/drawingml/2006/main">
              <a:ext uri="{FF2B5EF4-FFF2-40B4-BE49-F238E27FC236}">
                <a16:creationId xmlns:a16="http://schemas.microsoft.com/office/drawing/2014/main" id="{247CF737-8ACB-45B1-A733-D49B18A12227}"/>
              </a:ext>
            </a:extLst>
          </p:cNvPr>
          <p:cNvSpPr>
            <a:spLocks xmlns:a="http://schemas.openxmlformats.org/drawingml/2006/main" noGrp="1"/>
          </p:cNvSpPr>
          <p:nvPr/>
        </p:nvSpPr>
        <p:spPr>
          <a:xfrm xmlns:a="http://schemas.openxmlformats.org/drawingml/2006/main">
            <a:off x="647700" y="1657350"/>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Included in this submission</a:t>
            </a:r>
          </a:p>
        </p:txBody>
      </p:sp>
      <p:sp>
        <p:nvSpPr>
          <p:cNvPr id="5" name="left-body">
            <a:extLst xmlns:a="http://schemas.openxmlformats.org/drawingml/2006/main">
              <a:ext uri="{FF2B5EF4-FFF2-40B4-BE49-F238E27FC236}">
                <a16:creationId xmlns:a16="http://schemas.microsoft.com/office/drawing/2014/main" id="{54554B84-8951-42A0-9F97-067C14E1563C}"/>
              </a:ext>
            </a:extLst>
          </p:cNvPr>
          <p:cNvSpPr>
            <a:spLocks xmlns:a="http://schemas.openxmlformats.org/drawingml/2006/main" noGrp="1"/>
          </p:cNvSpPr>
          <p:nvPr/>
        </p:nvSpPr>
        <p:spPr>
          <a:xfrm xmlns:a="http://schemas.openxmlformats.org/drawingml/2006/main">
            <a:off x="647700" y="2305050"/>
            <a:ext cx="5067300" cy="3209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7343C"/>
                </a:solidFill>
                <a:latin typeface="Arial"/>
                <a:ea typeface="Arial"/>
                <a:cs typeface="Arial"/>
              </a:defRPr>
            </a:pPr>
            <a:r>
              <a:rPr sz="2025" b="0">
                <a:solidFill>
                  <a:srgbClr val="17343C"/>
                </a:solidFill>
                <a:latin typeface="Arial"/>
                <a:ea typeface="Arial"/>
                <a:cs typeface="Arial"/>
              </a:rPr>
              <a:t>Desk research and traced calculations.</a:t>
            </a:r>
          </a:p>
          <a:p xmlns:a="http://schemas.openxmlformats.org/drawingml/2006/main">
            <a:r>
              <a:t/>
            </a:r>
          </a:p>
          <a:p xmlns:a="http://schemas.openxmlformats.org/drawingml/2006/main">
            <a:pPr algn="l">
              <a:defRPr sz="2025" b="0">
                <a:solidFill>
                  <a:srgbClr val="17343C"/>
                </a:solidFill>
                <a:latin typeface="Arial"/>
                <a:ea typeface="Arial"/>
                <a:cs typeface="Arial"/>
              </a:defRPr>
            </a:pPr>
            <a:r>
              <a:rPr sz="2025" b="0">
                <a:solidFill>
                  <a:srgbClr val="17343C"/>
                </a:solidFill>
                <a:latin typeface="Arial"/>
                <a:ea typeface="Arial"/>
                <a:cs typeface="Arial"/>
              </a:rPr>
              <a:t>Two labelled AI role-play interviews completed on 29 September.</a:t>
            </a:r>
          </a:p>
          <a:p xmlns:a="http://schemas.openxmlformats.org/drawingml/2006/main">
            <a:r>
              <a:t/>
            </a:r>
          </a:p>
          <a:p xmlns:a="http://schemas.openxmlformats.org/drawingml/2006/main">
            <a:pPr algn="l">
              <a:defRPr sz="2025" b="0">
                <a:solidFill>
                  <a:srgbClr val="17343C"/>
                </a:solidFill>
                <a:latin typeface="Arial"/>
                <a:ea typeface="Arial"/>
                <a:cs typeface="Arial"/>
              </a:defRPr>
            </a:pPr>
            <a:r>
              <a:rPr sz="2025" b="0">
                <a:solidFill>
                  <a:srgbClr val="17343C"/>
                </a:solidFill>
                <a:latin typeface="Arial"/>
                <a:ea typeface="Arial"/>
                <a:cs typeface="Arial"/>
              </a:rPr>
              <a:t>Planned technical acceptance checks.</a:t>
            </a:r>
          </a:p>
        </p:txBody>
      </p:sp>
      <p:sp>
        <p:nvSpPr>
          <p:cNvPr id="6" name="right-title">
            <a:extLst xmlns:a="http://schemas.openxmlformats.org/drawingml/2006/main">
              <a:ext uri="{FF2B5EF4-FFF2-40B4-BE49-F238E27FC236}">
                <a16:creationId xmlns:a16="http://schemas.microsoft.com/office/drawing/2014/main" id="{DB2F7438-42BF-4F61-AA57-62406411073E}"/>
              </a:ext>
            </a:extLst>
          </p:cNvPr>
          <p:cNvSpPr>
            <a:spLocks xmlns:a="http://schemas.openxmlformats.org/drawingml/2006/main" noGrp="1"/>
          </p:cNvSpPr>
          <p:nvPr/>
        </p:nvSpPr>
        <p:spPr>
          <a:xfrm xmlns:a="http://schemas.openxmlformats.org/drawingml/2006/main">
            <a:off x="6477000" y="1657350"/>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6746D"/>
                </a:solidFill>
                <a:latin typeface="Arial"/>
                <a:ea typeface="Arial"/>
                <a:cs typeface="Arial"/>
              </a:defRPr>
            </a:pPr>
            <a:r>
              <a:rPr sz="2475" b="1">
                <a:solidFill>
                  <a:srgbClr val="26746D"/>
                </a:solidFill>
                <a:latin typeface="Arial"/>
                <a:ea typeface="Arial"/>
                <a:cs typeface="Arial"/>
              </a:rPr>
              <a:t>AI assistance and responsibility</a:t>
            </a:r>
          </a:p>
        </p:txBody>
      </p:sp>
      <p:sp>
        <p:nvSpPr>
          <p:cNvPr id="7" name="right-body">
            <a:extLst xmlns:a="http://schemas.openxmlformats.org/drawingml/2006/main">
              <a:ext uri="{FF2B5EF4-FFF2-40B4-BE49-F238E27FC236}">
                <a16:creationId xmlns:a16="http://schemas.microsoft.com/office/drawing/2014/main" id="{CE903BE7-2457-47EE-B3D9-650FE75EC793}"/>
              </a:ext>
            </a:extLst>
          </p:cNvPr>
          <p:cNvSpPr>
            <a:spLocks xmlns:a="http://schemas.openxmlformats.org/drawingml/2006/main" noGrp="1"/>
          </p:cNvSpPr>
          <p:nvPr/>
        </p:nvSpPr>
        <p:spPr>
          <a:xfrm xmlns:a="http://schemas.openxmlformats.org/drawingml/2006/main">
            <a:off x="6477000" y="2305050"/>
            <a:ext cx="5067300" cy="3209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7343C"/>
                </a:solidFill>
                <a:latin typeface="Arial"/>
                <a:ea typeface="Arial"/>
                <a:cs typeface="Arial"/>
              </a:defRPr>
            </a:pPr>
            <a:r>
              <a:rPr sz="2025" b="0">
                <a:solidFill>
                  <a:srgbClr val="17343C"/>
                </a:solidFill>
                <a:latin typeface="Arial"/>
                <a:ea typeface="Arial"/>
                <a:cs typeface="Arial"/>
              </a:rPr>
              <a:t>Claude and Codex supported drafting, research, calculations and preparation. AI also produced the role-play and conceptual visuals.</a:t>
            </a:r>
          </a:p>
          <a:p xmlns:a="http://schemas.openxmlformats.org/drawingml/2006/main">
            <a:r>
              <a:t/>
            </a:r>
          </a:p>
          <a:p xmlns:a="http://schemas.openxmlformats.org/drawingml/2006/main">
            <a:pPr algn="l">
              <a:defRPr sz="2025" b="0">
                <a:solidFill>
                  <a:srgbClr val="17343C"/>
                </a:solidFill>
                <a:latin typeface="Arial"/>
                <a:ea typeface="Arial"/>
                <a:cs typeface="Arial"/>
              </a:defRPr>
            </a:pPr>
            <a:r>
              <a:rPr sz="2025" b="0">
                <a:solidFill>
                  <a:srgbClr val="17343C"/>
                </a:solidFill>
                <a:latin typeface="Arial"/>
                <a:ea typeface="Arial"/>
                <a:cs typeface="Arial"/>
              </a:rPr>
              <a:t>The student team is responsible for the submitted work.</a:t>
            </a:r>
          </a:p>
        </p:txBody>
      </p:sp>
      <p:sp>
        <p:nvSpPr>
          <p:cNvPr id="8" name="evidence-limits">
            <a:extLst xmlns:a="http://schemas.openxmlformats.org/drawingml/2006/main">
              <a:ext uri="{FF2B5EF4-FFF2-40B4-BE49-F238E27FC236}">
                <a16:creationId xmlns:a16="http://schemas.microsoft.com/office/drawing/2014/main" id="{42C6B699-C74C-4CA6-89C6-832AC05A540E}"/>
              </a:ext>
            </a:extLst>
          </p:cNvPr>
          <p:cNvSpPr>
            <a:spLocks xmlns:a="http://schemas.openxmlformats.org/drawingml/2006/main" noGrp="1"/>
          </p:cNvSpPr>
          <p:nvPr/>
        </p:nvSpPr>
        <p:spPr>
          <a:xfrm xmlns:a="http://schemas.openxmlformats.org/drawingml/2006/main">
            <a:off x="647700" y="5924550"/>
            <a:ext cx="10896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26746D"/>
                </a:solidFill>
                <a:latin typeface="Arial"/>
                <a:ea typeface="Arial"/>
                <a:cs typeface="Arial"/>
              </a:defRPr>
            </a:pPr>
            <a:r>
              <a:rPr sz="1950" b="1">
                <a:solidFill>
                  <a:srgbClr val="26746D"/>
                </a:solidFill>
                <a:latin typeface="Arial"/>
                <a:ea typeface="Arial"/>
                <a:cs typeface="Arial"/>
              </a:rPr>
              <a:t>Actual KU workflows, staff acceptance, technical results and savings remain unmeasured.</a:t>
            </a:r>
          </a:p>
        </p:txBody>
      </p:sp>
    </p:spTree>
    <p:extLst>
      <p:ext uri="{BB962C8B-B14F-4D97-AF65-F5344CB8AC3E}">
        <p14:creationId xmlns:p14="http://schemas.microsoft.com/office/powerpoint/2010/main" val="1168595511"/>
      </p:ext>
    </p:extLst>
  </p:cSld>
</p:sld>
</file>

<file path=ppt/slides/slide48.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B887F30F-0CBF-4BD6-B6FB-9CB0444352E1}"/>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References 1 of 5</a:t>
            </a:r>
          </a:p>
        </p:txBody>
      </p:sp>
      <p:sp>
        <p:nvSpPr>
          <p:cNvPr id="2" name="page">
            <a:extLst xmlns:a="http://schemas.openxmlformats.org/drawingml/2006/main">
              <a:ext uri="{FF2B5EF4-FFF2-40B4-BE49-F238E27FC236}">
                <a16:creationId xmlns:a16="http://schemas.microsoft.com/office/drawing/2014/main" id="{9926EAB7-808E-4FDE-98E2-FE82EE62C46D}"/>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48</a:t>
            </a:r>
          </a:p>
        </p:txBody>
      </p:sp>
      <p:sp>
        <p:nvSpPr>
          <p:cNvPr id="3" name="source">
            <a:extLst xmlns:a="http://schemas.openxmlformats.org/drawingml/2006/main">
              <a:ext uri="{FF2B5EF4-FFF2-40B4-BE49-F238E27FC236}">
                <a16:creationId xmlns:a16="http://schemas.microsoft.com/office/drawing/2014/main" id="{4910DC2C-DA02-4B03-9579-A078BF18A187}"/>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[S01] [S02] [S03] [S04] [S05] [S06] [S07] [S08]</a:t>
            </a:r>
          </a:p>
        </p:txBody>
      </p:sp>
      <p:graphicFrame>
        <p:nvGraphicFramePr>
          <p:cNvPr id="9" name=""/>
          <p:cNvGraphicFramePr/>
          <p:nvPr/>
        </p:nvGraphicFramePr>
        <p:xfrm>
          <a:off xmlns:a="http://schemas.openxmlformats.org/drawingml/2006/main" x="647700" y="1447800"/>
          <a:ext xmlns:a="http://schemas.openxmlformats.org/drawingml/2006/main" cx="10896600" cy="4619625"/>
        </p:xfrm>
        <a:graphic xmlns:a="http://schemas.openxmlformats.org/drawingml/2006/main">
          <a:graphicData uri="http://schemas.openxmlformats.org/drawingml/2006/table">
            <a:tbl>
              <a:tblPr firstRow="0" firstCol="0" bandRow="0"/>
              <a:tblGrid>
                <a:gridCol w="971550"/>
                <a:gridCol w="6219825"/>
                <a:gridCol w="3705225"/>
              </a:tblGrid>
              <a:tr h="504825">
                <a:tc>
                  <a:txBody>
                    <a:bodyPr lIns="123825" tIns="76200" rIns="123825" bIns="76200">
                      <a:noAutofit/>
                    </a:bodyPr>
                    <a:lstStyle/>
                    <a:p>
                      <a:r>
                        <a:rPr sz="1875" b="1">
                          <a:solidFill>
                            <a:srgbClr val="FFFFFF"/>
                          </a:solidFill>
                          <a:latin typeface="Arial"/>
                          <a:ea typeface="Arial"/>
                          <a:cs typeface="Arial"/>
                        </a:rPr>
                        <a:t>ID</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Source</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Location</a:t>
                      </a:r>
                    </a:p>
                  </a:txBody>
                  <a:tcPr marL="91440" marR="91440" marT="45720" marB="45720" anchor="ctr">
                    <a:solidFill>
                      <a:srgbClr val="17343C"/>
                    </a:solidFill>
                  </a:tcPr>
                </a:tc>
              </a:tr>
              <a:tr h="514350">
                <a:tc>
                  <a:txBody>
                    <a:bodyPr lIns="123825" tIns="76200" rIns="123825" bIns="76200">
                      <a:noAutofit/>
                    </a:bodyPr>
                    <a:lstStyle/>
                    <a:p>
                      <a:r>
                        <a:rPr sz="1875" b="0">
                          <a:solidFill>
                            <a:srgbClr val="17343C"/>
                          </a:solidFill>
                          <a:latin typeface="Arial"/>
                          <a:ea typeface="Arial"/>
                          <a:cs typeface="Arial"/>
                        </a:rPr>
                        <a:t>S01</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Course description, page 7</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github.com</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S02</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Group 4 scope and success criteria</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github.com</a:t>
                      </a:r>
                    </a:p>
                  </a:txBody>
                  <a:tcPr marL="91440" marR="91440" marT="45720" marB="45720" anchor="ctr">
                    <a:solidFill>
                      <a:srgbClr val="F0F4F3"/>
                    </a:solidFill>
                  </a:tcPr>
                </a:tc>
              </a:tr>
              <a:tr h="514350">
                <a:tc>
                  <a:txBody>
                    <a:bodyPr lIns="123825" tIns="76200" rIns="123825" bIns="76200">
                      <a:noAutofit/>
                    </a:bodyPr>
                    <a:lstStyle/>
                    <a:p>
                      <a:r>
                        <a:rPr sz="1875" b="0">
                          <a:solidFill>
                            <a:srgbClr val="17343C"/>
                          </a:solidFill>
                          <a:latin typeface="Arial"/>
                          <a:ea typeface="Arial"/>
                          <a:cs typeface="Arial"/>
                        </a:rPr>
                        <a:t>S03</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KU ISO certificates</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ku.ac.ae</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S04</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Rheaply internal reuse</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rheaply.com</a:t>
                      </a:r>
                    </a:p>
                  </a:txBody>
                  <a:tcPr marL="91440" marR="91440" marT="45720" marB="45720" anchor="ctr">
                    <a:solidFill>
                      <a:srgbClr val="F0F4F3"/>
                    </a:solidFill>
                  </a:tcPr>
                </a:tc>
              </a:tr>
              <a:tr h="514350">
                <a:tc>
                  <a:txBody>
                    <a:bodyPr lIns="123825" tIns="76200" rIns="123825" bIns="76200">
                      <a:noAutofit/>
                    </a:bodyPr>
                    <a:lstStyle/>
                    <a:p>
                      <a:r>
                        <a:rPr sz="1875" b="0">
                          <a:solidFill>
                            <a:srgbClr val="17343C"/>
                          </a:solidFill>
                          <a:latin typeface="Arial"/>
                          <a:ea typeface="Arial"/>
                          <a:cs typeface="Arial"/>
                        </a:rPr>
                        <a:t>S05</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Rheaply AI suggestions</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support.rheaply.com</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S06</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Warp It product tour</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warp-it.co.uk</a:t>
                      </a:r>
                    </a:p>
                  </a:txBody>
                  <a:tcPr marL="91440" marR="91440" marT="45720" marB="45720" anchor="ctr">
                    <a:solidFill>
                      <a:srgbClr val="F0F4F3"/>
                    </a:solidFill>
                  </a:tcPr>
                </a:tc>
              </a:tr>
              <a:tr h="514350">
                <a:tc>
                  <a:txBody>
                    <a:bodyPr lIns="123825" tIns="76200" rIns="123825" bIns="76200">
                      <a:noAutofit/>
                    </a:bodyPr>
                    <a:lstStyle/>
                    <a:p>
                      <a:r>
                        <a:rPr sz="1875" b="0">
                          <a:solidFill>
                            <a:srgbClr val="17343C"/>
                          </a:solidFill>
                          <a:latin typeface="Arial"/>
                          <a:ea typeface="Arial"/>
                          <a:cs typeface="Arial"/>
                        </a:rPr>
                        <a:t>S07</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Snipe-IT product and pricing</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snipeitapp.com</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S08</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UC Berkeley Rheaply showroom</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property.berkeley.edu</a:t>
                      </a:r>
                    </a:p>
                  </a:txBody>
                  <a:tcPr marL="91440" marR="91440" marT="45720" marB="45720" anchor="ctr">
                    <a:solidFill>
                      <a:srgbClr val="F0F4F3"/>
                    </a:solidFill>
                  </a:tcPr>
                </a:tc>
              </a:tr>
            </a:tbl>
          </a:graphicData>
        </a:graphic>
      </p:graphicFrame>
      <p:sp>
        <p:nvSpPr>
          <p:cNvPr id="5" name="ref-details">
            <a:extLst xmlns:a="http://schemas.openxmlformats.org/drawingml/2006/main">
              <a:ext uri="{FF2B5EF4-FFF2-40B4-BE49-F238E27FC236}">
                <a16:creationId xmlns:a16="http://schemas.microsoft.com/office/drawing/2014/main" id="{95995CAF-7D9B-4ACB-AF45-B7D9D7CFF03C}"/>
              </a:ext>
            </a:extLst>
          </p:cNvPr>
          <p:cNvSpPr>
            <a:spLocks xmlns:a="http://schemas.openxmlformats.org/drawingml/2006/main" noGrp="1"/>
          </p:cNvSpPr>
          <p:nvPr/>
        </p:nvSpPr>
        <p:spPr>
          <a:xfrm xmlns:a="http://schemas.openxmlformats.org/drawingml/2006/main">
            <a:off x="647700" y="6124575"/>
            <a:ext cx="1089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26264"/>
                </a:solidFill>
                <a:latin typeface="Arial"/>
                <a:ea typeface="Arial"/>
                <a:cs typeface="Arial"/>
              </a:defRPr>
            </a:pPr>
            <a:r>
              <a:rPr sz="1725" b="0">
                <a:solidFill>
                  <a:srgbClr val="526264"/>
                </a:solidFill>
                <a:latin typeface="Arial"/>
                <a:ea typeface="Arial"/>
                <a:cs typeface="Arial"/>
              </a:rPr>
              <a:t>Full source links, baseline dates and claim coverage are in slide notes.</a:t>
            </a:r>
          </a:p>
        </p:txBody>
      </p:sp>
    </p:spTree>
    <p:extLst>
      <p:ext uri="{BB962C8B-B14F-4D97-AF65-F5344CB8AC3E}">
        <p14:creationId xmlns:p14="http://schemas.microsoft.com/office/powerpoint/2010/main" val="1825473115"/>
      </p:ext>
    </p:extLst>
  </p:cSld>
</p:sld>
</file>

<file path=ppt/slides/slide49.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04027ECF-3C9E-440D-9324-0DC7E169A159}"/>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References 2 of 5</a:t>
            </a:r>
          </a:p>
        </p:txBody>
      </p:sp>
      <p:sp>
        <p:nvSpPr>
          <p:cNvPr id="2" name="page">
            <a:extLst xmlns:a="http://schemas.openxmlformats.org/drawingml/2006/main">
              <a:ext uri="{FF2B5EF4-FFF2-40B4-BE49-F238E27FC236}">
                <a16:creationId xmlns:a16="http://schemas.microsoft.com/office/drawing/2014/main" id="{5E14A6B0-C8C1-4B4F-B966-012CEF7DC9C7}"/>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49</a:t>
            </a:r>
          </a:p>
        </p:txBody>
      </p:sp>
      <p:sp>
        <p:nvSpPr>
          <p:cNvPr id="3" name="source">
            <a:extLst xmlns:a="http://schemas.openxmlformats.org/drawingml/2006/main">
              <a:ext uri="{FF2B5EF4-FFF2-40B4-BE49-F238E27FC236}">
                <a16:creationId xmlns:a16="http://schemas.microsoft.com/office/drawing/2014/main" id="{17F46D3D-52EA-43AB-AD0B-6C5C447CEEBA}"/>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[S09] [S10] [S11] [S12] [S13] [S14] [S15] [S16]</a:t>
            </a:r>
          </a:p>
        </p:txBody>
      </p:sp>
      <p:graphicFrame>
        <p:nvGraphicFramePr>
          <p:cNvPr id="9" name=""/>
          <p:cNvGraphicFramePr/>
          <p:nvPr/>
        </p:nvGraphicFramePr>
        <p:xfrm>
          <a:off xmlns:a="http://schemas.openxmlformats.org/drawingml/2006/main" x="647700" y="1447800"/>
          <a:ext xmlns:a="http://schemas.openxmlformats.org/drawingml/2006/main" cx="10896600" cy="4619625"/>
        </p:xfrm>
        <a:graphic xmlns:a="http://schemas.openxmlformats.org/drawingml/2006/main">
          <a:graphicData uri="http://schemas.openxmlformats.org/drawingml/2006/table">
            <a:tbl>
              <a:tblPr firstRow="0" firstCol="0" bandRow="0"/>
              <a:tblGrid>
                <a:gridCol w="971550"/>
                <a:gridCol w="6219825"/>
                <a:gridCol w="3705225"/>
              </a:tblGrid>
              <a:tr h="504825">
                <a:tc>
                  <a:txBody>
                    <a:bodyPr lIns="123825" tIns="76200" rIns="123825" bIns="76200">
                      <a:noAutofit/>
                    </a:bodyPr>
                    <a:lstStyle/>
                    <a:p>
                      <a:r>
                        <a:rPr sz="1875" b="1">
                          <a:solidFill>
                            <a:srgbClr val="FFFFFF"/>
                          </a:solidFill>
                          <a:latin typeface="Arial"/>
                          <a:ea typeface="Arial"/>
                          <a:cs typeface="Arial"/>
                        </a:rPr>
                        <a:t>ID</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Source</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Location</a:t>
                      </a:r>
                    </a:p>
                  </a:txBody>
                  <a:tcPr marL="91440" marR="91440" marT="45720" marB="45720" anchor="ctr">
                    <a:solidFill>
                      <a:srgbClr val="17343C"/>
                    </a:solidFill>
                  </a:tcPr>
                </a:tc>
              </a:tr>
              <a:tr h="514350">
                <a:tc>
                  <a:txBody>
                    <a:bodyPr lIns="123825" tIns="76200" rIns="123825" bIns="76200">
                      <a:noAutofit/>
                    </a:bodyPr>
                    <a:lstStyle/>
                    <a:p>
                      <a:r>
                        <a:rPr sz="1875" b="0">
                          <a:solidFill>
                            <a:srgbClr val="17343C"/>
                          </a:solidFill>
                          <a:latin typeface="Arial"/>
                          <a:ea typeface="Arial"/>
                          <a:cs typeface="Arial"/>
                        </a:rPr>
                        <a:t>S09</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Django framework and login</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djangoproject.com</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S10</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PostgreSQL overview</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postgresql.org</a:t>
                      </a:r>
                    </a:p>
                  </a:txBody>
                  <a:tcPr marL="91440" marR="91440" marT="45720" marB="45720" anchor="ctr">
                    <a:solidFill>
                      <a:srgbClr val="F0F4F3"/>
                    </a:solidFill>
                  </a:tcPr>
                </a:tc>
              </a:tr>
              <a:tr h="514350">
                <a:tc>
                  <a:txBody>
                    <a:bodyPr lIns="123825" tIns="76200" rIns="123825" bIns="76200">
                      <a:noAutofit/>
                    </a:bodyPr>
                    <a:lstStyle/>
                    <a:p>
                      <a:r>
                        <a:rPr sz="1875" b="0">
                          <a:solidFill>
                            <a:srgbClr val="17343C"/>
                          </a:solidFill>
                          <a:latin typeface="Arial"/>
                          <a:ea typeface="Arial"/>
                          <a:cs typeface="Arial"/>
                        </a:rPr>
                        <a:t>S11</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Railway pricing and billing</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docs.railway.com</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S12</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Render free services</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render.com</a:t>
                      </a:r>
                    </a:p>
                  </a:txBody>
                  <a:tcPr marL="91440" marR="91440" marT="45720" marB="45720" anchor="ctr">
                    <a:solidFill>
                      <a:srgbClr val="F0F4F3"/>
                    </a:solidFill>
                  </a:tcPr>
                </a:tc>
              </a:tr>
              <a:tr h="514350">
                <a:tc>
                  <a:txBody>
                    <a:bodyPr lIns="123825" tIns="76200" rIns="123825" bIns="76200">
                      <a:noAutofit/>
                    </a:bodyPr>
                    <a:lstStyle/>
                    <a:p>
                      <a:r>
                        <a:rPr sz="1875" b="0">
                          <a:solidFill>
                            <a:srgbClr val="17343C"/>
                          </a:solidFill>
                          <a:latin typeface="Arial"/>
                          <a:ea typeface="Arial"/>
                          <a:cs typeface="Arial"/>
                        </a:rPr>
                        <a:t>S13</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Neon official free-plan documentation</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github.com</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S14</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CBUAE reference exchange rates</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centralbank.ae</a:t>
                      </a:r>
                    </a:p>
                  </a:txBody>
                  <a:tcPr marL="91440" marR="91440" marT="45720" marB="45720" anchor="ctr">
                    <a:solidFill>
                      <a:srgbClr val="F0F4F3"/>
                    </a:solidFill>
                  </a:tcPr>
                </a:tc>
              </a:tr>
              <a:tr h="514350">
                <a:tc>
                  <a:txBody>
                    <a:bodyPr lIns="123825" tIns="76200" rIns="123825" bIns="76200">
                      <a:noAutofit/>
                    </a:bodyPr>
                    <a:lstStyle/>
                    <a:p>
                      <a:r>
                        <a:rPr sz="1875" b="0">
                          <a:solidFill>
                            <a:srgbClr val="17343C"/>
                          </a:solidFill>
                          <a:latin typeface="Arial"/>
                          <a:ea typeface="Arial"/>
                          <a:cs typeface="Arial"/>
                        </a:rPr>
                        <a:t>S15</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Sharaf DG Samsung monitor listing</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uae.sharafdg.com</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S16</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NHS measurement and ROI, page 26</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england.nhs.uk</a:t>
                      </a:r>
                    </a:p>
                  </a:txBody>
                  <a:tcPr marL="91440" marR="91440" marT="45720" marB="45720" anchor="ctr">
                    <a:solidFill>
                      <a:srgbClr val="F0F4F3"/>
                    </a:solidFill>
                  </a:tcPr>
                </a:tc>
              </a:tr>
            </a:tbl>
          </a:graphicData>
        </a:graphic>
      </p:graphicFrame>
      <p:sp>
        <p:nvSpPr>
          <p:cNvPr id="5" name="ref-details">
            <a:extLst xmlns:a="http://schemas.openxmlformats.org/drawingml/2006/main">
              <a:ext uri="{FF2B5EF4-FFF2-40B4-BE49-F238E27FC236}">
                <a16:creationId xmlns:a16="http://schemas.microsoft.com/office/drawing/2014/main" id="{5C1293EA-0C23-4030-B7F9-946F9A371AF9}"/>
              </a:ext>
            </a:extLst>
          </p:cNvPr>
          <p:cNvSpPr>
            <a:spLocks xmlns:a="http://schemas.openxmlformats.org/drawingml/2006/main" noGrp="1"/>
          </p:cNvSpPr>
          <p:nvPr/>
        </p:nvSpPr>
        <p:spPr>
          <a:xfrm xmlns:a="http://schemas.openxmlformats.org/drawingml/2006/main">
            <a:off x="647700" y="6124575"/>
            <a:ext cx="1089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26264"/>
                </a:solidFill>
                <a:latin typeface="Arial"/>
                <a:ea typeface="Arial"/>
                <a:cs typeface="Arial"/>
              </a:defRPr>
            </a:pPr>
            <a:r>
              <a:rPr sz="1725" b="0">
                <a:solidFill>
                  <a:srgbClr val="526264"/>
                </a:solidFill>
                <a:latin typeface="Arial"/>
                <a:ea typeface="Arial"/>
                <a:cs typeface="Arial"/>
              </a:rPr>
              <a:t>Full source links, baseline dates and claim coverage are in slide notes.</a:t>
            </a:r>
          </a:p>
        </p:txBody>
      </p:sp>
    </p:spTree>
    <p:extLst>
      <p:ext uri="{BB962C8B-B14F-4D97-AF65-F5344CB8AC3E}">
        <p14:creationId xmlns:p14="http://schemas.microsoft.com/office/powerpoint/2010/main" val="1299297479"/>
      </p:ext>
    </p:extLst>
  </p:cSld>
</p:sld>
</file>

<file path=ppt/slides/slide50.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23964C73-D200-4DF0-995A-71E080154B95}"/>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References 3 of 5</a:t>
            </a:r>
          </a:p>
        </p:txBody>
      </p:sp>
      <p:sp>
        <p:nvSpPr>
          <p:cNvPr id="2" name="page">
            <a:extLst xmlns:a="http://schemas.openxmlformats.org/drawingml/2006/main">
              <a:ext uri="{FF2B5EF4-FFF2-40B4-BE49-F238E27FC236}">
                <a16:creationId xmlns:a16="http://schemas.microsoft.com/office/drawing/2014/main" id="{4B87F68D-62CE-4B85-A774-5B8445F33AC0}"/>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50</a:t>
            </a:r>
          </a:p>
        </p:txBody>
      </p:sp>
      <p:sp>
        <p:nvSpPr>
          <p:cNvPr id="3" name="source">
            <a:extLst xmlns:a="http://schemas.openxmlformats.org/drawingml/2006/main">
              <a:ext uri="{FF2B5EF4-FFF2-40B4-BE49-F238E27FC236}">
                <a16:creationId xmlns:a16="http://schemas.microsoft.com/office/drawing/2014/main" id="{998B40E3-5A40-4567-B43B-FAEA95327320}"/>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[S17] [S18] [S19] [S20] [S21] [S22] [S23] [S24]</a:t>
            </a:r>
          </a:p>
        </p:txBody>
      </p:sp>
      <p:graphicFrame>
        <p:nvGraphicFramePr>
          <p:cNvPr id="9" name=""/>
          <p:cNvGraphicFramePr/>
          <p:nvPr/>
        </p:nvGraphicFramePr>
        <p:xfrm>
          <a:off xmlns:a="http://schemas.openxmlformats.org/drawingml/2006/main" x="647700" y="1447800"/>
          <a:ext xmlns:a="http://schemas.openxmlformats.org/drawingml/2006/main" cx="10896600" cy="4619625"/>
        </p:xfrm>
        <a:graphic xmlns:a="http://schemas.openxmlformats.org/drawingml/2006/main">
          <a:graphicData uri="http://schemas.openxmlformats.org/drawingml/2006/table">
            <a:tbl>
              <a:tblPr firstRow="0" firstCol="0" bandRow="0"/>
              <a:tblGrid>
                <a:gridCol w="971550"/>
                <a:gridCol w="6219825"/>
                <a:gridCol w="3705225"/>
              </a:tblGrid>
              <a:tr h="504825">
                <a:tc>
                  <a:txBody>
                    <a:bodyPr lIns="123825" tIns="76200" rIns="123825" bIns="76200">
                      <a:noAutofit/>
                    </a:bodyPr>
                    <a:lstStyle/>
                    <a:p>
                      <a:r>
                        <a:rPr sz="1875" b="1">
                          <a:solidFill>
                            <a:srgbClr val="FFFFFF"/>
                          </a:solidFill>
                          <a:latin typeface="Arial"/>
                          <a:ea typeface="Arial"/>
                          <a:cs typeface="Arial"/>
                        </a:rPr>
                        <a:t>ID</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Source</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Location</a:t>
                      </a:r>
                    </a:p>
                  </a:txBody>
                  <a:tcPr marL="91440" marR="91440" marT="45720" marB="45720" anchor="ctr">
                    <a:solidFill>
                      <a:srgbClr val="17343C"/>
                    </a:solidFill>
                  </a:tcPr>
                </a:tc>
              </a:tr>
              <a:tr h="514350">
                <a:tc>
                  <a:txBody>
                    <a:bodyPr lIns="123825" tIns="76200" rIns="123825" bIns="76200">
                      <a:noAutofit/>
                    </a:bodyPr>
                    <a:lstStyle/>
                    <a:p>
                      <a:r>
                        <a:rPr sz="1875" b="0">
                          <a:solidFill>
                            <a:srgbClr val="17343C"/>
                          </a:solidFill>
                          <a:latin typeface="Arial"/>
                          <a:ea typeface="Arial"/>
                          <a:cs typeface="Arial"/>
                        </a:rPr>
                        <a:t>S17</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NASA SWE-086 risk management</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swehb.nasa.gov</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S18</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NIST IR 8286Ar1 risk analysis</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tsapps.nist.gov</a:t>
                      </a:r>
                    </a:p>
                  </a:txBody>
                  <a:tcPr marL="91440" marR="91440" marT="45720" marB="45720" anchor="ctr">
                    <a:solidFill>
                      <a:srgbClr val="F0F4F3"/>
                    </a:solidFill>
                  </a:tcPr>
                </a:tc>
              </a:tr>
              <a:tr h="514350">
                <a:tc>
                  <a:txBody>
                    <a:bodyPr lIns="123825" tIns="76200" rIns="123825" bIns="76200">
                      <a:noAutofit/>
                    </a:bodyPr>
                    <a:lstStyle/>
                    <a:p>
                      <a:r>
                        <a:rPr sz="1875" b="0">
                          <a:solidFill>
                            <a:srgbClr val="17343C"/>
                          </a:solidFill>
                          <a:latin typeface="Arial"/>
                          <a:ea typeface="Arial"/>
                          <a:cs typeface="Arial"/>
                        </a:rPr>
                        <a:t>S19</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NIST AI RMF Playbook: Measure</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airc.nist.gov</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S20</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Stanford ranked retrieval evaluation</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nlp.stanford.edu</a:t>
                      </a:r>
                    </a:p>
                  </a:txBody>
                  <a:tcPr marL="91440" marR="91440" marT="45720" marB="45720" anchor="ctr">
                    <a:solidFill>
                      <a:srgbClr val="F0F4F3"/>
                    </a:solidFill>
                  </a:tcPr>
                </a:tc>
              </a:tr>
              <a:tr h="514350">
                <a:tc>
                  <a:txBody>
                    <a:bodyPr lIns="123825" tIns="76200" rIns="123825" bIns="76200">
                      <a:noAutofit/>
                    </a:bodyPr>
                    <a:lstStyle/>
                    <a:p>
                      <a:r>
                        <a:rPr sz="1875" b="0">
                          <a:solidFill>
                            <a:srgbClr val="17343C"/>
                          </a:solidFill>
                          <a:latin typeface="Arial"/>
                          <a:ea typeface="Arial"/>
                          <a:cs typeface="Arial"/>
                        </a:rPr>
                        <a:t>S21</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scikit-learn zero-one loss</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scikit-learn.org</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S22</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Act on Heat TELOS workflow</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actionheat.eu</a:t>
                      </a:r>
                    </a:p>
                  </a:txBody>
                  <a:tcPr marL="91440" marR="91440" marT="45720" marB="45720" anchor="ctr">
                    <a:solidFill>
                      <a:srgbClr val="F0F4F3"/>
                    </a:solidFill>
                  </a:tcPr>
                </a:tc>
              </a:tr>
              <a:tr h="514350">
                <a:tc>
                  <a:txBody>
                    <a:bodyPr lIns="123825" tIns="76200" rIns="123825" bIns="76200">
                      <a:noAutofit/>
                    </a:bodyPr>
                    <a:lstStyle/>
                    <a:p>
                      <a:r>
                        <a:rPr sz="1875" b="0">
                          <a:solidFill>
                            <a:srgbClr val="17343C"/>
                          </a:solidFill>
                          <a:latin typeface="Arial"/>
                          <a:ea typeface="Arial"/>
                          <a:cs typeface="Arial"/>
                        </a:rPr>
                        <a:t>S23</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Warp It UK pricing</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warp-it.co.uk</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S24</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GAO cost estimating guide</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gao.gov</a:t>
                      </a:r>
                    </a:p>
                  </a:txBody>
                  <a:tcPr marL="91440" marR="91440" marT="45720" marB="45720" anchor="ctr">
                    <a:solidFill>
                      <a:srgbClr val="F0F4F3"/>
                    </a:solidFill>
                  </a:tcPr>
                </a:tc>
              </a:tr>
            </a:tbl>
          </a:graphicData>
        </a:graphic>
      </p:graphicFrame>
      <p:sp>
        <p:nvSpPr>
          <p:cNvPr id="5" name="ref-details">
            <a:extLst xmlns:a="http://schemas.openxmlformats.org/drawingml/2006/main">
              <a:ext uri="{FF2B5EF4-FFF2-40B4-BE49-F238E27FC236}">
                <a16:creationId xmlns:a16="http://schemas.microsoft.com/office/drawing/2014/main" id="{8AC953AA-0CD6-41D1-83F4-22EDB72CC63A}"/>
              </a:ext>
            </a:extLst>
          </p:cNvPr>
          <p:cNvSpPr>
            <a:spLocks xmlns:a="http://schemas.openxmlformats.org/drawingml/2006/main" noGrp="1"/>
          </p:cNvSpPr>
          <p:nvPr/>
        </p:nvSpPr>
        <p:spPr>
          <a:xfrm xmlns:a="http://schemas.openxmlformats.org/drawingml/2006/main">
            <a:off x="647700" y="6124575"/>
            <a:ext cx="1089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26264"/>
                </a:solidFill>
                <a:latin typeface="Arial"/>
                <a:ea typeface="Arial"/>
                <a:cs typeface="Arial"/>
              </a:defRPr>
            </a:pPr>
            <a:r>
              <a:rPr sz="1725" b="0">
                <a:solidFill>
                  <a:srgbClr val="526264"/>
                </a:solidFill>
                <a:latin typeface="Arial"/>
                <a:ea typeface="Arial"/>
                <a:cs typeface="Arial"/>
              </a:rPr>
              <a:t>Full source links, baseline dates and claim coverage are in slide notes.</a:t>
            </a:r>
          </a:p>
        </p:txBody>
      </p:sp>
    </p:spTree>
    <p:extLst>
      <p:ext uri="{BB962C8B-B14F-4D97-AF65-F5344CB8AC3E}">
        <p14:creationId xmlns:p14="http://schemas.microsoft.com/office/powerpoint/2010/main" val="2033712560"/>
      </p:ext>
    </p:extLst>
  </p:cSld>
</p:sld>
</file>

<file path=ppt/slides/slide51.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D37A8931-BA08-4857-B020-05057961392B}"/>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References 4 of 5</a:t>
            </a:r>
          </a:p>
        </p:txBody>
      </p:sp>
      <p:sp>
        <p:nvSpPr>
          <p:cNvPr id="2" name="page">
            <a:extLst xmlns:a="http://schemas.openxmlformats.org/drawingml/2006/main">
              <a:ext uri="{FF2B5EF4-FFF2-40B4-BE49-F238E27FC236}">
                <a16:creationId xmlns:a16="http://schemas.microsoft.com/office/drawing/2014/main" id="{07143894-93D2-4E08-AA3B-EF8FFAD865C7}"/>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51</a:t>
            </a:r>
          </a:p>
        </p:txBody>
      </p:sp>
      <p:sp>
        <p:nvSpPr>
          <p:cNvPr id="3" name="source">
            <a:extLst xmlns:a="http://schemas.openxmlformats.org/drawingml/2006/main">
              <a:ext uri="{FF2B5EF4-FFF2-40B4-BE49-F238E27FC236}">
                <a16:creationId xmlns:a16="http://schemas.microsoft.com/office/drawing/2014/main" id="{720ECA0A-5A5C-46EF-A365-41C2D375675C}"/>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[S25] [S26] [S27] [S28] [S29] [S30] [S31] [S32]</a:t>
            </a:r>
          </a:p>
        </p:txBody>
      </p:sp>
      <p:graphicFrame>
        <p:nvGraphicFramePr>
          <p:cNvPr id="9" name=""/>
          <p:cNvGraphicFramePr/>
          <p:nvPr/>
        </p:nvGraphicFramePr>
        <p:xfrm>
          <a:off xmlns:a="http://schemas.openxmlformats.org/drawingml/2006/main" x="647700" y="1447800"/>
          <a:ext xmlns:a="http://schemas.openxmlformats.org/drawingml/2006/main" cx="10896600" cy="4619625"/>
        </p:xfrm>
        <a:graphic xmlns:a="http://schemas.openxmlformats.org/drawingml/2006/main">
          <a:graphicData uri="http://schemas.openxmlformats.org/drawingml/2006/table">
            <a:tbl>
              <a:tblPr firstRow="0" firstCol="0" bandRow="0"/>
              <a:tblGrid>
                <a:gridCol w="971550"/>
                <a:gridCol w="6219825"/>
                <a:gridCol w="3705225"/>
              </a:tblGrid>
              <a:tr h="504825">
                <a:tc>
                  <a:txBody>
                    <a:bodyPr lIns="123825" tIns="76200" rIns="123825" bIns="76200">
                      <a:noAutofit/>
                    </a:bodyPr>
                    <a:lstStyle/>
                    <a:p>
                      <a:r>
                        <a:rPr sz="1875" b="1">
                          <a:solidFill>
                            <a:srgbClr val="FFFFFF"/>
                          </a:solidFill>
                          <a:latin typeface="Arial"/>
                          <a:ea typeface="Arial"/>
                          <a:cs typeface="Arial"/>
                        </a:rPr>
                        <a:t>ID</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Source</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Location</a:t>
                      </a:r>
                    </a:p>
                  </a:txBody>
                  <a:tcPr marL="91440" marR="91440" marT="45720" marB="45720" anchor="ctr">
                    <a:solidFill>
                      <a:srgbClr val="17343C"/>
                    </a:solidFill>
                  </a:tcPr>
                </a:tc>
              </a:tr>
              <a:tr h="514350">
                <a:tc>
                  <a:txBody>
                    <a:bodyPr lIns="123825" tIns="76200" rIns="123825" bIns="76200">
                      <a:noAutofit/>
                    </a:bodyPr>
                    <a:lstStyle/>
                    <a:p>
                      <a:r>
                        <a:rPr sz="1875" b="0">
                          <a:solidFill>
                            <a:srgbClr val="17343C"/>
                          </a:solidFill>
                          <a:latin typeface="Arial"/>
                          <a:ea typeface="Arial"/>
                          <a:cs typeface="Arial"/>
                        </a:rPr>
                        <a:t>S25</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NIST investment analysis and payback</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nvlpubs.nist.gov</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S26</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Bristol Annual Report 2025, p.34</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bristol.ac.uk</a:t>
                      </a:r>
                    </a:p>
                  </a:txBody>
                  <a:tcPr marL="91440" marR="91440" marT="45720" marB="45720" anchor="ctr">
                    <a:solidFill>
                      <a:srgbClr val="F0F4F3"/>
                    </a:solidFill>
                  </a:tcPr>
                </a:tc>
              </a:tr>
              <a:tr h="514350">
                <a:tc>
                  <a:txBody>
                    <a:bodyPr lIns="123825" tIns="76200" rIns="123825" bIns="76200">
                      <a:noAutofit/>
                    </a:bodyPr>
                    <a:lstStyle/>
                    <a:p>
                      <a:r>
                        <a:rPr sz="1875" b="0">
                          <a:solidFill>
                            <a:srgbClr val="17343C"/>
                          </a:solidFill>
                          <a:latin typeface="Arial"/>
                          <a:ea typeface="Arial"/>
                          <a:cs typeface="Arial"/>
                        </a:rPr>
                        <a:t>S27</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Liverpool reuse results, 24 Feb 2026</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liverpool.ac.uk</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S28</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Django reusable components</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djangoproject.com</a:t>
                      </a:r>
                    </a:p>
                  </a:txBody>
                  <a:tcPr marL="91440" marR="91440" marT="45720" marB="45720" anchor="ctr">
                    <a:solidFill>
                      <a:srgbClr val="F0F4F3"/>
                    </a:solidFill>
                  </a:tcPr>
                </a:tc>
              </a:tr>
              <a:tr h="514350">
                <a:tc>
                  <a:txBody>
                    <a:bodyPr lIns="123825" tIns="76200" rIns="123825" bIns="76200">
                      <a:noAutofit/>
                    </a:bodyPr>
                    <a:lstStyle/>
                    <a:p>
                      <a:r>
                        <a:rPr sz="1875" b="0">
                          <a:solidFill>
                            <a:srgbClr val="17343C"/>
                          </a:solidFill>
                          <a:latin typeface="Arial"/>
                          <a:ea typeface="Arial"/>
                          <a:cs typeface="Arial"/>
                        </a:rPr>
                        <a:t>S29</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PostgreSQL and Django licences</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postgresql.org</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S30</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OpenAI GPT-4.1 mini documentation</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developers.openai.com</a:t>
                      </a:r>
                    </a:p>
                  </a:txBody>
                  <a:tcPr marL="91440" marR="91440" marT="45720" marB="45720" anchor="ctr">
                    <a:solidFill>
                      <a:srgbClr val="F0F4F3"/>
                    </a:solidFill>
                  </a:tcPr>
                </a:tc>
              </a:tr>
              <a:tr h="514350">
                <a:tc>
                  <a:txBody>
                    <a:bodyPr lIns="123825" tIns="76200" rIns="123825" bIns="76200">
                      <a:noAutofit/>
                    </a:bodyPr>
                    <a:lstStyle/>
                    <a:p>
                      <a:r>
                        <a:rPr sz="1875" b="0">
                          <a:solidFill>
                            <a:srgbClr val="17343C"/>
                          </a:solidFill>
                          <a:latin typeface="Arial"/>
                          <a:ea typeface="Arial"/>
                          <a:cs typeface="Arial"/>
                        </a:rPr>
                        <a:t>S31</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OpenAI text embedding model</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developers.openai.com</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S32</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Sentence Transformers MiniLM model card</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huggingface.co</a:t>
                      </a:r>
                    </a:p>
                  </a:txBody>
                  <a:tcPr marL="91440" marR="91440" marT="45720" marB="45720" anchor="ctr">
                    <a:solidFill>
                      <a:srgbClr val="F0F4F3"/>
                    </a:solidFill>
                  </a:tcPr>
                </a:tc>
              </a:tr>
            </a:tbl>
          </a:graphicData>
        </a:graphic>
      </p:graphicFrame>
      <p:sp>
        <p:nvSpPr>
          <p:cNvPr id="5" name="ref-details">
            <a:extLst xmlns:a="http://schemas.openxmlformats.org/drawingml/2006/main">
              <a:ext uri="{FF2B5EF4-FFF2-40B4-BE49-F238E27FC236}">
                <a16:creationId xmlns:a16="http://schemas.microsoft.com/office/drawing/2014/main" id="{7F7D98A0-1864-49B2-B6D8-FEB72AF27FDD}"/>
              </a:ext>
            </a:extLst>
          </p:cNvPr>
          <p:cNvSpPr>
            <a:spLocks xmlns:a="http://schemas.openxmlformats.org/drawingml/2006/main" noGrp="1"/>
          </p:cNvSpPr>
          <p:nvPr/>
        </p:nvSpPr>
        <p:spPr>
          <a:xfrm xmlns:a="http://schemas.openxmlformats.org/drawingml/2006/main">
            <a:off x="647700" y="6124575"/>
            <a:ext cx="1089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26264"/>
                </a:solidFill>
                <a:latin typeface="Arial"/>
                <a:ea typeface="Arial"/>
                <a:cs typeface="Arial"/>
              </a:defRPr>
            </a:pPr>
            <a:r>
              <a:rPr sz="1725" b="0">
                <a:solidFill>
                  <a:srgbClr val="526264"/>
                </a:solidFill>
                <a:latin typeface="Arial"/>
                <a:ea typeface="Arial"/>
                <a:cs typeface="Arial"/>
              </a:rPr>
              <a:t>Full source links, baseline dates and claim coverage are in slide notes.</a:t>
            </a:r>
          </a:p>
        </p:txBody>
      </p:sp>
    </p:spTree>
    <p:extLst>
      <p:ext uri="{BB962C8B-B14F-4D97-AF65-F5344CB8AC3E}">
        <p14:creationId xmlns:p14="http://schemas.microsoft.com/office/powerpoint/2010/main" val="815005193"/>
      </p:ext>
    </p:extLst>
  </p:cSld>
</p:sld>
</file>

<file path=ppt/slides/slide52.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A32F42E0-10EE-4BEE-A399-7B41240BAA28}"/>
              </a:ext>
            </a:extLst>
          </p:cNvPr>
          <p:cNvSpPr>
            <a:spLocks xmlns:a="http://schemas.openxmlformats.org/drawingml/2006/main" noGrp="1"/>
          </p:cNvSpPr>
          <p:nvPr/>
        </p:nvSpPr>
        <p:spPr>
          <a:xfrm xmlns:a="http://schemas.openxmlformats.org/drawingml/2006/main">
            <a:off x="647700" y="447675"/>
            <a:ext cx="10896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343C"/>
                </a:solidFill>
                <a:latin typeface="Arial"/>
                <a:ea typeface="Arial"/>
                <a:cs typeface="Arial"/>
              </a:defRPr>
            </a:pPr>
            <a:r>
              <a:rPr sz="3375" b="1">
                <a:solidFill>
                  <a:srgbClr val="17343C"/>
                </a:solidFill>
                <a:latin typeface="Arial"/>
                <a:ea typeface="Arial"/>
                <a:cs typeface="Arial"/>
              </a:rPr>
              <a:t>References 5 of 5</a:t>
            </a:r>
          </a:p>
        </p:txBody>
      </p:sp>
      <p:sp>
        <p:nvSpPr>
          <p:cNvPr id="2" name="page">
            <a:extLst xmlns:a="http://schemas.openxmlformats.org/drawingml/2006/main">
              <a:ext uri="{FF2B5EF4-FFF2-40B4-BE49-F238E27FC236}">
                <a16:creationId xmlns:a16="http://schemas.microsoft.com/office/drawing/2014/main" id="{D3D0BDCD-6E84-41A8-B425-3DF760C5ECBC}"/>
              </a:ext>
            </a:extLst>
          </p:cNvPr>
          <p:cNvSpPr>
            <a:spLocks xmlns:a="http://schemas.openxmlformats.org/drawingml/2006/main" noGrp="1"/>
          </p:cNvSpPr>
          <p:nvPr/>
        </p:nvSpPr>
        <p:spPr>
          <a:xfrm xmlns:a="http://schemas.openxmlformats.org/drawingml/2006/main">
            <a:off x="9810750" y="64960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Group 4  /  52</a:t>
            </a:r>
          </a:p>
        </p:txBody>
      </p:sp>
      <p:sp>
        <p:nvSpPr>
          <p:cNvPr id="3" name="source">
            <a:extLst xmlns:a="http://schemas.openxmlformats.org/drawingml/2006/main">
              <a:ext uri="{FF2B5EF4-FFF2-40B4-BE49-F238E27FC236}">
                <a16:creationId xmlns:a16="http://schemas.microsoft.com/office/drawing/2014/main" id="{100791A3-501A-4C3D-888B-C97AB190F926}"/>
              </a:ext>
            </a:extLst>
          </p:cNvPr>
          <p:cNvSpPr>
            <a:spLocks xmlns:a="http://schemas.openxmlformats.org/drawingml/2006/main" noGrp="1"/>
          </p:cNvSpPr>
          <p:nvPr/>
        </p:nvSpPr>
        <p:spPr>
          <a:xfrm xmlns:a="http://schemas.openxmlformats.org/drawingml/2006/main">
            <a:off x="647700" y="6496050"/>
            <a:ext cx="897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264"/>
                </a:solidFill>
                <a:latin typeface="Arial"/>
                <a:ea typeface="Arial"/>
                <a:cs typeface="Arial"/>
              </a:defRPr>
            </a:pPr>
            <a:r>
              <a:rPr sz="1350" b="0">
                <a:solidFill>
                  <a:srgbClr val="526264"/>
                </a:solidFill>
                <a:latin typeface="Arial"/>
                <a:ea typeface="Arial"/>
                <a:cs typeface="Arial"/>
              </a:rPr>
              <a:t>[S33] [S34] [S35] [S36] [S37] [S38]</a:t>
            </a:r>
          </a:p>
        </p:txBody>
      </p:sp>
      <p:graphicFrame>
        <p:nvGraphicFramePr>
          <p:cNvPr id="9" name=""/>
          <p:cNvGraphicFramePr/>
          <p:nvPr/>
        </p:nvGraphicFramePr>
        <p:xfrm>
          <a:off xmlns:a="http://schemas.openxmlformats.org/drawingml/2006/main" x="647700" y="1447800"/>
          <a:ext xmlns:a="http://schemas.openxmlformats.org/drawingml/2006/main" cx="10896600" cy="3590925"/>
        </p:xfrm>
        <a:graphic xmlns:a="http://schemas.openxmlformats.org/drawingml/2006/main">
          <a:graphicData uri="http://schemas.openxmlformats.org/drawingml/2006/table">
            <a:tbl>
              <a:tblPr firstRow="0" firstCol="0" bandRow="0"/>
              <a:tblGrid>
                <a:gridCol w="971550"/>
                <a:gridCol w="6219825"/>
                <a:gridCol w="3705225"/>
              </a:tblGrid>
              <a:tr h="504825">
                <a:tc>
                  <a:txBody>
                    <a:bodyPr lIns="123825" tIns="76200" rIns="123825" bIns="76200">
                      <a:noAutofit/>
                    </a:bodyPr>
                    <a:lstStyle/>
                    <a:p>
                      <a:r>
                        <a:rPr sz="1875" b="1">
                          <a:solidFill>
                            <a:srgbClr val="FFFFFF"/>
                          </a:solidFill>
                          <a:latin typeface="Arial"/>
                          <a:ea typeface="Arial"/>
                          <a:cs typeface="Arial"/>
                        </a:rPr>
                        <a:t>ID</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Source</a:t>
                      </a:r>
                    </a:p>
                  </a:txBody>
                  <a:tcPr marL="91440" marR="91440" marT="45720" marB="45720" anchor="ctr">
                    <a:solidFill>
                      <a:srgbClr val="17343C"/>
                    </a:solidFill>
                  </a:tcPr>
                </a:tc>
                <a:tc>
                  <a:txBody>
                    <a:bodyPr lIns="123825" tIns="76200" rIns="123825" bIns="76200">
                      <a:noAutofit/>
                    </a:bodyPr>
                    <a:lstStyle/>
                    <a:p>
                      <a:r>
                        <a:rPr sz="1875" b="1">
                          <a:solidFill>
                            <a:srgbClr val="FFFFFF"/>
                          </a:solidFill>
                          <a:latin typeface="Arial"/>
                          <a:ea typeface="Arial"/>
                          <a:cs typeface="Arial"/>
                        </a:rPr>
                        <a:t>Location</a:t>
                      </a:r>
                    </a:p>
                  </a:txBody>
                  <a:tcPr marL="91440" marR="91440" marT="45720" marB="45720" anchor="ctr">
                    <a:solidFill>
                      <a:srgbClr val="17343C"/>
                    </a:solidFill>
                  </a:tcPr>
                </a:tc>
              </a:tr>
              <a:tr h="514350">
                <a:tc>
                  <a:txBody>
                    <a:bodyPr lIns="123825" tIns="76200" rIns="123825" bIns="76200">
                      <a:noAutofit/>
                    </a:bodyPr>
                    <a:lstStyle/>
                    <a:p>
                      <a:r>
                        <a:rPr sz="1875" b="0">
                          <a:solidFill>
                            <a:srgbClr val="17343C"/>
                          </a:solidFill>
                          <a:latin typeface="Arial"/>
                          <a:ea typeface="Arial"/>
                          <a:cs typeface="Arial"/>
                        </a:rPr>
                        <a:t>S33</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Django supported release schedule</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djangoproject.com</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S34</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OpenAI API data controls</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developers.openai.com</a:t>
                      </a:r>
                    </a:p>
                  </a:txBody>
                  <a:tcPr marL="91440" marR="91440" marT="45720" marB="45720" anchor="ctr">
                    <a:solidFill>
                      <a:srgbClr val="F0F4F3"/>
                    </a:solidFill>
                  </a:tcPr>
                </a:tc>
              </a:tr>
              <a:tr h="514350">
                <a:tc>
                  <a:txBody>
                    <a:bodyPr lIns="123825" tIns="76200" rIns="123825" bIns="76200">
                      <a:noAutofit/>
                    </a:bodyPr>
                    <a:lstStyle/>
                    <a:p>
                      <a:r>
                        <a:rPr sz="1875" b="0">
                          <a:solidFill>
                            <a:srgbClr val="17343C"/>
                          </a:solidFill>
                          <a:latin typeface="Arial"/>
                          <a:ea typeface="Arial"/>
                          <a:cs typeface="Arial"/>
                        </a:rPr>
                        <a:t>S35</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KU Procurement and Contracts</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ku.ac.ae</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S36</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KU Environmental Sustainability Policy</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ku.ac.ae</a:t>
                      </a:r>
                    </a:p>
                  </a:txBody>
                  <a:tcPr marL="91440" marR="91440" marT="45720" marB="45720" anchor="ctr">
                    <a:solidFill>
                      <a:srgbClr val="F0F4F3"/>
                    </a:solidFill>
                  </a:tcPr>
                </a:tc>
              </a:tr>
              <a:tr h="514350">
                <a:tc>
                  <a:txBody>
                    <a:bodyPr lIns="123825" tIns="76200" rIns="123825" bIns="76200">
                      <a:noAutofit/>
                    </a:bodyPr>
                    <a:lstStyle/>
                    <a:p>
                      <a:r>
                        <a:rPr sz="1875" b="0">
                          <a:solidFill>
                            <a:srgbClr val="17343C"/>
                          </a:solidFill>
                          <a:latin typeface="Arial"/>
                          <a:ea typeface="Arial"/>
                          <a:cs typeface="Arial"/>
                        </a:rPr>
                        <a:t>S37</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KU sustainability initiatives</a:t>
                      </a:r>
                    </a:p>
                  </a:txBody>
                  <a:tcPr marL="91440" marR="91440" marT="45720" marB="45720" anchor="ctr">
                    <a:solidFill>
                      <a:srgbClr val="FAFAF7"/>
                    </a:solidFill>
                  </a:tcPr>
                </a:tc>
                <a:tc>
                  <a:txBody>
                    <a:bodyPr lIns="123825" tIns="76200" rIns="123825" bIns="76200">
                      <a:noAutofit/>
                    </a:bodyPr>
                    <a:lstStyle/>
                    <a:p>
                      <a:r>
                        <a:rPr sz="1875" b="0">
                          <a:solidFill>
                            <a:srgbClr val="17343C"/>
                          </a:solidFill>
                          <a:latin typeface="Arial"/>
                          <a:ea typeface="Arial"/>
                          <a:cs typeface="Arial"/>
                        </a:rPr>
                        <a:t>ku.ac.ae</a:t>
                      </a:r>
                    </a:p>
                  </a:txBody>
                  <a:tcPr marL="91440" marR="91440" marT="45720" marB="45720" anchor="ctr">
                    <a:solidFill>
                      <a:srgbClr val="FAFAF7"/>
                    </a:solidFill>
                  </a:tcPr>
                </a:tc>
              </a:tr>
              <a:tr h="514350">
                <a:tc>
                  <a:txBody>
                    <a:bodyPr lIns="123825" tIns="76200" rIns="123825" bIns="76200">
                      <a:noAutofit/>
                    </a:bodyPr>
                    <a:lstStyle/>
                    <a:p>
                      <a:r>
                        <a:rPr sz="1875" b="0">
                          <a:solidFill>
                            <a:srgbClr val="17343C"/>
                          </a:solidFill>
                          <a:latin typeface="Arial"/>
                          <a:ea typeface="Arial"/>
                          <a:cs typeface="Arial"/>
                        </a:rPr>
                        <a:t>S38</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Abu Dhabi Procurement Standards</a:t>
                      </a:r>
                    </a:p>
                  </a:txBody>
                  <a:tcPr marL="91440" marR="91440" marT="45720" marB="45720" anchor="ctr">
                    <a:solidFill>
                      <a:srgbClr val="F0F4F3"/>
                    </a:solidFill>
                  </a:tcPr>
                </a:tc>
                <a:tc>
                  <a:txBody>
                    <a:bodyPr lIns="123825" tIns="76200" rIns="123825" bIns="76200">
                      <a:noAutofit/>
                    </a:bodyPr>
                    <a:lstStyle/>
                    <a:p>
                      <a:r>
                        <a:rPr sz="1875" b="0">
                          <a:solidFill>
                            <a:srgbClr val="17343C"/>
                          </a:solidFill>
                          <a:latin typeface="Arial"/>
                          <a:ea typeface="Arial"/>
                          <a:cs typeface="Arial"/>
                        </a:rPr>
                        <a:t>ku.ac.ae</a:t>
                      </a:r>
                    </a:p>
                  </a:txBody>
                  <a:tcPr marL="91440" marR="91440" marT="45720" marB="45720" anchor="ctr">
                    <a:solidFill>
                      <a:srgbClr val="F0F4F3"/>
                    </a:solidFill>
                  </a:tcPr>
                </a:tc>
              </a:tr>
            </a:tbl>
          </a:graphicData>
        </a:graphic>
      </p:graphicFrame>
      <p:sp>
        <p:nvSpPr>
          <p:cNvPr id="5" name="ref-details">
            <a:extLst xmlns:a="http://schemas.openxmlformats.org/drawingml/2006/main">
              <a:ext uri="{FF2B5EF4-FFF2-40B4-BE49-F238E27FC236}">
                <a16:creationId xmlns:a16="http://schemas.microsoft.com/office/drawing/2014/main" id="{35409BE9-1E24-487F-B93C-311A7A2324EE}"/>
              </a:ext>
            </a:extLst>
          </p:cNvPr>
          <p:cNvSpPr>
            <a:spLocks xmlns:a="http://schemas.openxmlformats.org/drawingml/2006/main" noGrp="1"/>
          </p:cNvSpPr>
          <p:nvPr/>
        </p:nvSpPr>
        <p:spPr>
          <a:xfrm xmlns:a="http://schemas.openxmlformats.org/drawingml/2006/main">
            <a:off x="647700" y="6124575"/>
            <a:ext cx="1089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26264"/>
                </a:solidFill>
                <a:latin typeface="Arial"/>
                <a:ea typeface="Arial"/>
                <a:cs typeface="Arial"/>
              </a:defRPr>
            </a:pPr>
            <a:r>
              <a:rPr sz="1725" b="0">
                <a:solidFill>
                  <a:srgbClr val="526264"/>
                </a:solidFill>
                <a:latin typeface="Arial"/>
                <a:ea typeface="Arial"/>
                <a:cs typeface="Arial"/>
              </a:rPr>
              <a:t>Full source links, baseline dates and claim coverage are in slide notes.</a:t>
            </a:r>
          </a:p>
        </p:txBody>
      </p:sp>
    </p:spTree>
    <p:extLst>
      <p:ext uri="{BB962C8B-B14F-4D97-AF65-F5344CB8AC3E}">
        <p14:creationId xmlns:p14="http://schemas.microsoft.com/office/powerpoint/2010/main" val="4294880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2026-09-29T10:24:52.4640000Z</dcterms:created>
  <dcterms:modified xsi:type="dcterms:W3CDTF">2026-09-29T10:24:52.4640000Z</dcterms:modified>
</coreProperties>
</file>