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040e2e478b48c2" /><Relationship Type="http://schemas.openxmlformats.org/officeDocument/2006/relationships/extended-properties" Target="/docProps/app.xml" Id="R400de136e2a94ee6" /><Relationship Type="http://schemas.openxmlformats.org/officeDocument/2006/relationships/officeDocument" Target="/ppt/presentation.xml" Id="R447bb8d2dea84660" /></Relationships>
</file>

<file path=ppt/presentation.xml><?xml version="1.0" encoding="utf-8"?>
<p:presentation xmlns:p="http://schemas.openxmlformats.org/presentationml/2006/main">
  <p:sldMasterIdLst>
    <p:sldMasterId xmlns:r="http://schemas.openxmlformats.org/officeDocument/2006/relationships" id="2147483648" r:id="R8167a1be8f9e410d"/>
  </p:sldMasterIdLst>
  <p:notesMasterIdLst>
    <p:notesMasterId xmlns:r="http://schemas.openxmlformats.org/officeDocument/2006/relationships" r:id="Rfbb83aec82dd4372"/>
  </p:notesMasterIdLst>
  <p:sldIdLst>
    <p:sldId xmlns:r="http://schemas.openxmlformats.org/officeDocument/2006/relationships" id="256" r:id="R5f6fea2769b940b8"/>
    <p:sldId xmlns:r="http://schemas.openxmlformats.org/officeDocument/2006/relationships" id="257" r:id="Rfed339036e4d4e12"/>
    <p:sldId xmlns:r="http://schemas.openxmlformats.org/officeDocument/2006/relationships" id="258" r:id="R5fefd43efdea4e91"/>
    <p:sldId xmlns:r="http://schemas.openxmlformats.org/officeDocument/2006/relationships" id="259" r:id="Rf6f7b1cf07f24746"/>
    <p:sldId xmlns:r="http://schemas.openxmlformats.org/officeDocument/2006/relationships" id="260" r:id="Rd9e3187c0367428b"/>
    <p:sldId xmlns:r="http://schemas.openxmlformats.org/officeDocument/2006/relationships" id="261" r:id="Rd6c2b44fbab74b8c"/>
    <p:sldId xmlns:r="http://schemas.openxmlformats.org/officeDocument/2006/relationships" id="262" r:id="Rf23f6f2278244841"/>
    <p:sldId xmlns:r="http://schemas.openxmlformats.org/officeDocument/2006/relationships" id="263" r:id="Ra4877e55f66f455b"/>
    <p:sldId xmlns:r="http://schemas.openxmlformats.org/officeDocument/2006/relationships" id="264" r:id="Rea5aa13439b948e1"/>
    <p:sldId xmlns:r="http://schemas.openxmlformats.org/officeDocument/2006/relationships" id="265" r:id="R9fff86bd84414f50"/>
    <p:sldId xmlns:r="http://schemas.openxmlformats.org/officeDocument/2006/relationships" id="266" r:id="Rf4271942ab30408e"/>
    <p:sldId xmlns:r="http://schemas.openxmlformats.org/officeDocument/2006/relationships" id="267" r:id="Red47f53eba6347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8dc4daacec48f0" /><Relationship Type="http://schemas.openxmlformats.org/officeDocument/2006/relationships/slideMaster" Target="/ppt/slideMasters/slideMaster1.xml" Id="R8167a1be8f9e410d" /><Relationship Type="http://schemas.openxmlformats.org/officeDocument/2006/relationships/notesMaster" Target="/ppt/notesMasters/notesMaster1.xml" Id="Rfbb83aec82dd4372" /><Relationship Type="http://schemas.openxmlformats.org/officeDocument/2006/relationships/presProps" Target="/ppt/presProps.xml" Id="Rf5c69139a0374d59" /><Relationship Type="http://schemas.openxmlformats.org/officeDocument/2006/relationships/tableStyles" Target="/ppt/tableStyles.xml" Id="Red4cd26e3eea4f1b" /><Relationship Type="http://schemas.openxmlformats.org/officeDocument/2006/relationships/slide" Target="/ppt/slides/slide1.xml" Id="R5f6fea2769b940b8" /><Relationship Type="http://schemas.openxmlformats.org/officeDocument/2006/relationships/slide" Target="/ppt/slides/slide2.xml" Id="Rfed339036e4d4e12" /><Relationship Type="http://schemas.openxmlformats.org/officeDocument/2006/relationships/slide" Target="/ppt/slides/slide3.xml" Id="R5fefd43efdea4e91" /><Relationship Type="http://schemas.openxmlformats.org/officeDocument/2006/relationships/slide" Target="/ppt/slides/slide4.xml" Id="Rf6f7b1cf07f24746" /><Relationship Type="http://schemas.openxmlformats.org/officeDocument/2006/relationships/slide" Target="/ppt/slides/slide5.xml" Id="Rd9e3187c0367428b" /><Relationship Type="http://schemas.openxmlformats.org/officeDocument/2006/relationships/slide" Target="/ppt/slides/slide6.xml" Id="Rd6c2b44fbab74b8c" /><Relationship Type="http://schemas.openxmlformats.org/officeDocument/2006/relationships/slide" Target="/ppt/slides/slide7.xml" Id="Rf23f6f2278244841" /><Relationship Type="http://schemas.openxmlformats.org/officeDocument/2006/relationships/slide" Target="/ppt/slides/slide8.xml" Id="Ra4877e55f66f455b" /><Relationship Type="http://schemas.openxmlformats.org/officeDocument/2006/relationships/slide" Target="/ppt/slides/slide9.xml" Id="Rea5aa13439b948e1" /><Relationship Type="http://schemas.openxmlformats.org/officeDocument/2006/relationships/slide" Target="/ppt/slides/slide10.xml" Id="R9fff86bd84414f50" /><Relationship Type="http://schemas.openxmlformats.org/officeDocument/2006/relationships/slide" Target="/ppt/slides/slide11.xml" Id="Rf4271942ab30408e" /><Relationship Type="http://schemas.openxmlformats.org/officeDocument/2006/relationships/slide" Target="/ppt/slides/slide12.xml" Id="Red47f53eba6347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b7ccd799864e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cf7670974b42e7" /><Relationship Type="http://schemas.openxmlformats.org/officeDocument/2006/relationships/notesMaster" Target="/ppt/notesMasters/notesMaster1.xml" Id="R6d9a45eb045442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f81348c5784c2b" /><Relationship Type="http://schemas.openxmlformats.org/officeDocument/2006/relationships/notesMaster" Target="/ppt/notesMasters/notesMaster1.xml" Id="Rf342e17d5c4e48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ab179b29a648c9" /><Relationship Type="http://schemas.openxmlformats.org/officeDocument/2006/relationships/notesMaster" Target="/ppt/notesMasters/notesMaster1.xml" Id="R235d7027328b48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1756cb98ca4177" /><Relationship Type="http://schemas.openxmlformats.org/officeDocument/2006/relationships/notesMaster" Target="/ppt/notesMasters/notesMaster1.xml" Id="R38b5a2046ad448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0514cd83454a73" /><Relationship Type="http://schemas.openxmlformats.org/officeDocument/2006/relationships/notesMaster" Target="/ppt/notesMasters/notesMaster1.xml" Id="R670e428039fd4b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0422352afd24094" /><Relationship Type="http://schemas.openxmlformats.org/officeDocument/2006/relationships/notesMaster" Target="/ppt/notesMasters/notesMaster1.xml" Id="R1ecadd0b0e4b4e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957d707fcd4ccf" /><Relationship Type="http://schemas.openxmlformats.org/officeDocument/2006/relationships/notesMaster" Target="/ppt/notesMasters/notesMaster1.xml" Id="Ra534f41352e947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01cd9236384772" /><Relationship Type="http://schemas.openxmlformats.org/officeDocument/2006/relationships/notesMaster" Target="/ppt/notesMasters/notesMaster1.xml" Id="R20096bbbda004c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41e384b5e94be5" /><Relationship Type="http://schemas.openxmlformats.org/officeDocument/2006/relationships/notesMaster" Target="/ppt/notesMasters/notesMaster1.xml" Id="R9be3373bd903443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8643289ed7449f" /><Relationship Type="http://schemas.openxmlformats.org/officeDocument/2006/relationships/notesMaster" Target="/ppt/notesMasters/notesMaster1.xml" Id="R4e10be2a576f46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1af790885b4c2f" /><Relationship Type="http://schemas.openxmlformats.org/officeDocument/2006/relationships/notesMaster" Target="/ppt/notesMasters/notesMaster1.xml" Id="Raa6fb9f4a00b45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210159c9db84349" /><Relationship Type="http://schemas.openxmlformats.org/officeDocument/2006/relationships/notesMaster" Target="/ppt/notesMasters/notesMaster1.xml" Id="R5d06233ffb694a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 for the final Phase 2 report, 29 September 2026. Financial prices and rates retain the 22 September baseline. KU sources S35–S38 were added on 28 September. Render hosting limitations were rechecked on 29 September. All project cost, benefit, effort and test-target inputs are planning assumptions unless explicitly attributed to a source. No technical or institutional trial result is claimed.</a:t>
            </a:r>
          </a:p>
          <a:p xmlns:a="http://schemas.openxmlformats.org/drawingml/2006/main">
            <a:r>
              <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Evidence and calculation context</a:t>
            </a:r>
          </a:p>
          <a:p xmlns:a="http://schemas.openxmlformats.org/drawingml/2006/main">
            <a:r>
              <a:t>Dawra Campus is the student project brand. The image tool produced the conceptual logo. It is not official KU branding. This 12-slide classroom summary draws from the final 33-page Word report. The report retains the full analysis and 38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 for the final Phase 2 report, 29 September 2026. Financial prices and rates retain the 22 September baseline. KU sources S35–S38 were added on 28 September. Render hosting limitations were rechecked on 29 September. All project cost, benefit, effort and test-target inputs are planning assumptions unless explicitly attributed to a source. No technical or institutional trial result is claimed.</a:t>
            </a:r>
          </a:p>
          <a:p xmlns:a="http://schemas.openxmlformats.org/drawingml/2006/main">
            <a:r>
              <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Evidence and calculation context</a:t>
            </a:r>
          </a:p>
          <a:p xmlns:a="http://schemas.openxmlformats.org/drawingml/2006/main">
            <a:r>
              <a:t>Scope is the full semester system, not only monitor transfer. Nine system roles cover maintenance, sustainability, procurement, department representatives, lab instructors, system administrator, business administrator, student developers and department staff. Live ERP, finance and procurement integrations are simulated. Collection and delivery records remain in scope although physical logistics do not. Human approval remains mandatory.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 for the final Phase 2 report, 29 September 2026. Financial prices and rates retain the 22 September baseline. KU sources S35–S38 were added on 28 September. Render hosting limitations were rechecked on 29 September. All project cost, benefit, effort and test-target inputs are planning assumptions unless explicitly attributed to a source. No technical or institutional trial result is claimed.</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[S03] KU ISO certificates</a:t>
            </a:r>
          </a:p>
          <a:p xmlns:a="http://schemas.openxmlformats.org/drawingml/2006/main">
            <a:r>
              <a:t>https://www.ku.ac.ae/iso-certificates</a:t>
            </a:r>
          </a:p>
          <a:p xmlns:a="http://schemas.openxmlformats.org/drawingml/2006/main">
            <a:r>
              <a:t>Lists asset management under Facilities Management. Supports a proposed owner, not confirmed software ownership.</a:t>
            </a:r>
          </a:p>
          <a:p xmlns:a="http://schemas.openxmlformats.org/drawingml/2006/main">
            <a:r>
              <a:t/>
            </a:r>
          </a:p>
          <a:p xmlns:a="http://schemas.openxmlformats.org/drawingml/2006/main">
            <a:r>
              <a:t>[S35] KU Procurement and Contracts Department</a:t>
            </a:r>
          </a:p>
          <a:p xmlns:a="http://schemas.openxmlformats.org/drawingml/2006/main">
            <a:r>
              <a:t>https://www.ku.ac.ae/about/procurement-and-contracts-department</a:t>
            </a:r>
          </a:p>
          <a:p xmlns:a="http://schemas.openxmlformats.org/drawingml/2006/main">
            <a:r>
              <a:t>Public purchasing responsibilities, scope and procurement links. Added from the 28 September team review.</a:t>
            </a:r>
          </a:p>
          <a:p xmlns:a="http://schemas.openxmlformats.org/drawingml/2006/main">
            <a:r>
              <a:t/>
            </a:r>
          </a:p>
          <a:p xmlns:a="http://schemas.openxmlformats.org/drawingml/2006/main">
            <a:r>
              <a:t>[S36] KU Environmental Sustainability Policy EHS 7600</a:t>
            </a:r>
          </a:p>
          <a:p xmlns:a="http://schemas.openxmlformats.org/drawingml/2006/main">
            <a:r>
              <a:t>https://www.ku.ac.ae/sustainability/assets/attachments/EHS_7600_Environmental_Sustainability_Policy.pdf</a:t>
            </a:r>
          </a:p>
          <a:p xmlns:a="http://schemas.openxmlformats.org/drawingml/2006/main">
            <a:r>
              <a:t>Sections 5.1.1 and 6 support EHS consultation on waste and recycling. Public policy is not evidence of acceptance of Dawra Campus.</a:t>
            </a:r>
          </a:p>
          <a:p xmlns:a="http://schemas.openxmlformats.org/drawingml/2006/main">
            <a:r>
              <a:t/>
            </a:r>
          </a:p>
          <a:p xmlns:a="http://schemas.openxmlformats.org/drawingml/2006/main">
            <a:r>
              <a:t>Evidence and calculation context</a:t>
            </a:r>
          </a:p>
          <a:p xmlns:a="http://schemas.openxmlformats.org/drawingml/2006/main">
            <a:r>
              <a:t>Illustrative request for two suitable monitors. No completed KU request is claimed. Suitability includes connector, condition, quantity, availability, date and permission. Staff request the items, releasing and receiving departments approve, and procurement or finance approves wherever policy requires. Custodians inspect and record handover. Facilities Management is a proposed functional owner supported by KU asset-management context, subject to confirmation. Procurement and EHS are relevant consultation stakeholders. EHS is not an added system role.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 for the final Phase 2 report, 29 September 2026. Financial prices and rates retain the 22 September baseline. KU sources S35–S38 were added on 28 September. Render hosting limitations were rechecked on 29 September. All project cost, benefit, effort and test-target inputs are planning assumptions unless explicitly attributed to a source. No technical or institutional trial result is claimed.</a:t>
            </a:r>
          </a:p>
          <a:p xmlns:a="http://schemas.openxmlformats.org/drawingml/2006/main">
            <a:r>
              <a:t/>
            </a:r>
          </a:p>
          <a:p xmlns:a="http://schemas.openxmlformats.org/drawingml/2006/main">
            <a:r>
              <a:t>[S04] Rheaply internal reuse</a:t>
            </a:r>
          </a:p>
          <a:p xmlns:a="http://schemas.openxmlformats.org/drawingml/2006/main">
            <a:r>
              <a:t>https://rheaply.com/internal-reuse/</a:t>
            </a:r>
          </a:p>
          <a:p xmlns:a="http://schemas.openxmlformats.org/drawingml/2006/main">
            <a:r>
              <a:t>Vendor-described marketplace, inventory, approvals and impact reporting.</a:t>
            </a:r>
          </a:p>
          <a:p xmlns:a="http://schemas.openxmlformats.org/drawingml/2006/main">
            <a:r>
              <a:t/>
            </a:r>
          </a:p>
          <a:p xmlns:a="http://schemas.openxmlformats.org/drawingml/2006/main">
            <a:r>
              <a:t>[S05] Rheaply AI suggestions</a:t>
            </a:r>
          </a:p>
          <a:p xmlns:a="http://schemas.openxmlformats.org/drawingml/2006/main">
            <a:r>
              <a:t>https://support.rheaply.com/en/articles/7967928-use-ai-powered-suggestions-to-create-and-backfill-listings</a:t>
            </a:r>
          </a:p>
          <a:p xmlns:a="http://schemas.openxmlformats.org/drawingml/2006/main">
            <a:r>
              <a:t>AI-assisted listing details with human review.</a:t>
            </a:r>
          </a:p>
          <a:p xmlns:a="http://schemas.openxmlformats.org/drawingml/2006/main">
            <a:r>
              <a:t/>
            </a:r>
          </a:p>
          <a:p xmlns:a="http://schemas.openxmlformats.org/drawingml/2006/main">
            <a:r>
              <a:t>[S06] Warp It product tour</a:t>
            </a:r>
          </a:p>
          <a:p xmlns:a="http://schemas.openxmlformats.org/drawingml/2006/main">
            <a:r>
              <a:t>https://www.warp-it.co.uk/portal/warpit/tour</a:t>
            </a:r>
          </a:p>
          <a:p xmlns:a="http://schemas.openxmlformats.org/drawingml/2006/main">
            <a:r>
              <a:t>Vendor-described reuse workflow and reports. Homepage https://www.warp-it.co.uk/ describes AI photo-based listing.</a:t>
            </a:r>
          </a:p>
          <a:p xmlns:a="http://schemas.openxmlformats.org/drawingml/2006/main">
            <a:r>
              <a:t/>
            </a:r>
          </a:p>
          <a:p xmlns:a="http://schemas.openxmlformats.org/drawingml/2006/main">
            <a:r>
              <a:t>[S07] Snipe-IT product and pricing</a:t>
            </a:r>
          </a:p>
          <a:p xmlns:a="http://schemas.openxmlformats.org/drawingml/2006/main">
            <a:r>
              <a:t>https://snipeitapp.com/product</a:t>
            </a:r>
          </a:p>
          <a:p xmlns:a="http://schemas.openxmlformats.org/drawingml/2006/main">
            <a:r>
              <a:t>Inventory/custody, requests, history, permissions and API. Pricing: https://snipeitapp.com/pricing .</a:t>
            </a:r>
          </a:p>
          <a:p xmlns:a="http://schemas.openxmlformats.org/drawingml/2006/main">
            <a:r>
              <a:t/>
            </a:r>
          </a:p>
          <a:p xmlns:a="http://schemas.openxmlformats.org/drawingml/2006/main">
            <a:r>
              <a:t>[S23] Warp It UK pricing</a:t>
            </a:r>
          </a:p>
          <a:p xmlns:a="http://schemas.openxmlformats.org/drawingml/2006/main">
            <a:r>
              <a:t>https://www.warp-it.co.uk/portal/warpit/pricing</a:t>
            </a:r>
          </a:p>
          <a:p xmlns:a="http://schemas.openxmlformats.org/drawingml/2006/main">
            <a:r>
              <a:t>Published UK bands are not a KU quotation. Confirm local eligibility and taxes before cost comparison.</a:t>
            </a:r>
          </a:p>
          <a:p xmlns:a="http://schemas.openxmlformats.org/drawingml/2006/main">
            <a:r>
              <a:t/>
            </a:r>
          </a:p>
          <a:p xmlns:a="http://schemas.openxmlformats.org/drawingml/2006/main">
            <a:r>
              <a:t>[S35] KU Procurement and Contracts Department</a:t>
            </a:r>
          </a:p>
          <a:p xmlns:a="http://schemas.openxmlformats.org/drawingml/2006/main">
            <a:r>
              <a:t>https://www.ku.ac.ae/about/procurement-and-contracts-department</a:t>
            </a:r>
          </a:p>
          <a:p xmlns:a="http://schemas.openxmlformats.org/drawingml/2006/main">
            <a:r>
              <a:t>Public purchasing responsibilities, scope and procurement links. Added from the 28 September team review.</a:t>
            </a:r>
          </a:p>
          <a:p xmlns:a="http://schemas.openxmlformats.org/drawingml/2006/main">
            <a:r>
              <a:t/>
            </a:r>
          </a:p>
          <a:p xmlns:a="http://schemas.openxmlformats.org/drawingml/2006/main">
            <a:r>
              <a:t>[S38] Abu Dhabi Procurement Standards linked by KU</a:t>
            </a:r>
          </a:p>
          <a:p xmlns:a="http://schemas.openxmlformats.org/drawingml/2006/main">
            <a:r>
              <a:t>https://www.ku.ac.ae/wp-content/uploads/2025/01/Abu-Dhabi-Procurement-Standards.pdf</a:t>
            </a:r>
          </a:p>
          <a:p xmlns:a="http://schemas.openxmlformats.org/drawingml/2006/main">
            <a:r>
              <a:t>Institutional procurement framework linked from S35. No inference is made about the name or functions of the internal KU asset system.</a:t>
            </a:r>
          </a:p>
          <a:p xmlns:a="http://schemas.openxmlformats.org/drawingml/2006/main">
            <a:r>
              <a:t/>
            </a:r>
          </a:p>
          <a:p xmlns:a="http://schemas.openxmlformats.org/drawingml/2006/main">
            <a:r>
              <a:t>Evidence and calculation context</a:t>
            </a:r>
          </a:p>
          <a:p xmlns:a="http://schemas.openxmlformats.org/drawingml/2006/main">
            <a:r>
              <a:t>Vendor capabilities are descriptions from official sources, not independent product tests. Rheaply requires a quotation. Warp It published UK price bands require UAE eligibility and KU quotation checks. Snipe-IT offers free self-hosted software and paid hosting. Features absent from reviewed pages remain unverified rather than proven absent. KU public procurement and sustainability sources establish institutional relevance, not the internal surplus register or actual unmet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 for the final Phase 2 report, 29 September 2026. Financial prices and rates retain the 22 September baseline. KU sources S35–S38 were added on 28 September. Render hosting limitations were rechecked on 29 September. All project cost, benefit, effort and test-target inputs are planning assumptions unless explicitly attributed to a source. No technical or institutional trial result is claimed.</a:t>
            </a:r>
          </a:p>
          <a:p xmlns:a="http://schemas.openxmlformats.org/drawingml/2006/main">
            <a:r>
              <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Evidence and calculation context</a:t>
            </a:r>
          </a:p>
          <a:p xmlns:a="http://schemas.openxmlformats.org/drawingml/2006/main">
            <a:r>
              <a:t>Sources: final report sections 3A–3C and blackboard_build/simulated_interviews.md, 29 September 2026. AI played a fictional procurement/asset coordinator and a fictional department/laboratory requester under instructor permission reported by the team. No real KU employee participated. Each simulation contains five questions and answers. The coordinator highlighted verified availability, ID/location/condition, release and receipt approvals, record reconciliation, added checking effort and purchase-displacement evidence. The requester highlighted compatible connections, quantity, required date, eligibility, honest status, prevention of duplicate allocation, correcting or cancelling assistant drafts, support and no-match handling. These simulations refine requirements but cannot prove actual procedures, demand, staff acceptance or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 for the final Phase 2 report, 29 September 2026. Financial prices and rates retain the 22 September baseline. KU sources S35–S38 were added on 28 September. Render hosting limitations were rechecked on 29 September. All project cost, benefit, effort and test-target inputs are planning assumptions unless explicitly attributed to a source. No technical or institutional trial result is claimed.</a:t>
            </a:r>
          </a:p>
          <a:p xmlns:a="http://schemas.openxmlformats.org/drawingml/2006/main">
            <a:r>
              <a:t/>
            </a:r>
          </a:p>
          <a:p xmlns:a="http://schemas.openxmlformats.org/drawingml/2006/main">
            <a:r>
              <a:t>[S09] Django overview and authentication</a:t>
            </a:r>
          </a:p>
          <a:p xmlns:a="http://schemas.openxmlformats.org/drawingml/2006/main">
            <a:r>
              <a:t>https://www.djangoproject.com/start/overview/</a:t>
            </a:r>
          </a:p>
          <a:p xmlns:a="http://schemas.openxmlformats.org/drawingml/2006/main">
            <a:r>
              <a:t>Framework facilities. Permissions: https://docs.djangoproject.com/en/stable/topics/auth/default/ . Department/item rules still need application code.</a:t>
            </a:r>
          </a:p>
          <a:p xmlns:a="http://schemas.openxmlformats.org/drawingml/2006/main">
            <a:r>
              <a:t/>
            </a:r>
          </a:p>
          <a:p xmlns:a="http://schemas.openxmlformats.org/drawingml/2006/main">
            <a:r>
              <a:t>[S10] PostgreSQL overview</a:t>
            </a:r>
          </a:p>
          <a:p xmlns:a="http://schemas.openxmlformats.org/drawingml/2006/main">
            <a:r>
              <a:t>https://www.postgresql.org/about/</a:t>
            </a:r>
          </a:p>
          <a:p xmlns:a="http://schemas.openxmlformats.org/drawingml/2006/main">
            <a:r>
              <a:t>Relational database candidate. Proposed stack remains untested.</a:t>
            </a:r>
          </a:p>
          <a:p xmlns:a="http://schemas.openxmlformats.org/drawingml/2006/main">
            <a:r>
              <a:t/>
            </a:r>
          </a:p>
          <a:p xmlns:a="http://schemas.openxmlformats.org/drawingml/2006/main">
            <a:r>
              <a:t>[S12] Render free services</a:t>
            </a:r>
          </a:p>
          <a:p xmlns:a="http://schemas.openxmlformats.org/drawingml/2006/main">
            <a:r>
              <a:t>https://render.com/docs/free</a:t>
            </a:r>
          </a:p>
          <a:p xmlns:a="http://schemas.openxmlformats.org/drawingml/2006/main">
            <a:r>
              <a:t>Idle sleep and nonpersistent local files. A lasting upload store is still required. Hosting limitations rechecked against the official Render documentation on 29 September 2026.</a:t>
            </a:r>
          </a:p>
          <a:p xmlns:a="http://schemas.openxmlformats.org/drawingml/2006/main">
            <a:r>
              <a:t/>
            </a:r>
          </a:p>
          <a:p xmlns:a="http://schemas.openxmlformats.org/drawingml/2006/main">
            <a:r>
              <a:t>[S28] Django built-in application components</a:t>
            </a:r>
          </a:p>
          <a:p xmlns:a="http://schemas.openxmlformats.org/drawingml/2006/main">
            <a:r>
              <a:t>https://www.djangoproject.com/start/</a:t>
            </a:r>
          </a:p>
          <a:p xmlns:a="http://schemas.openxmlformats.org/drawingml/2006/main">
            <a:r>
              <a:t>Official forms, authentication and administration facilities. Supports reuse availability, not our estimated hours.</a:t>
            </a:r>
          </a:p>
          <a:p xmlns:a="http://schemas.openxmlformats.org/drawingml/2006/main">
            <a:r>
              <a:t/>
            </a:r>
          </a:p>
          <a:p xmlns:a="http://schemas.openxmlformats.org/drawingml/2006/main">
            <a:r>
              <a:t>[S29] PostgreSQL and Django licence information</a:t>
            </a:r>
          </a:p>
          <a:p xmlns:a="http://schemas.openxmlformats.org/drawingml/2006/main">
            <a:r>
              <a:t>https://www.postgresql.org/about/licence/</a:t>
            </a:r>
          </a:p>
          <a:p xmlns:a="http://schemas.openxmlformats.org/drawingml/2006/main">
            <a:r>
              <a:t>PostgreSQL permits use without a licence fee subject to its notice conditions. Django BSD licence: https://docs.djangoproject.com/en/5.2/faq/general/#how-is-django-licensed . Hosting and maintenance still cost resources.</a:t>
            </a:r>
          </a:p>
          <a:p xmlns:a="http://schemas.openxmlformats.org/drawingml/2006/main">
            <a:r>
              <a:t/>
            </a:r>
          </a:p>
          <a:p xmlns:a="http://schemas.openxmlformats.org/drawingml/2006/main">
            <a:r>
              <a:t>[S30] OpenAI GPT 4.1 mini model documentation</a:t>
            </a:r>
          </a:p>
          <a:p xmlns:a="http://schemas.openxmlformats.org/drawingml/2006/main">
            <a:r>
              <a:t>https://developers.openai.com/api/docs/models/gpt-4.1-mini</a:t>
            </a:r>
          </a:p>
          <a:p xmlns:a="http://schemas.openxmlformats.org/drawingml/2006/main">
            <a:r>
              <a:t>Provisional text-model candidate gpt-4.1-mini-2025-04-14. Standard uncached text rates: USD 0.40 per million input tokens, USD 1.60 per million output tokens. Access and suitability untested.</a:t>
            </a:r>
          </a:p>
          <a:p xmlns:a="http://schemas.openxmlformats.org/drawingml/2006/main">
            <a:r>
              <a:t/>
            </a:r>
          </a:p>
          <a:p xmlns:a="http://schemas.openxmlformats.org/drawingml/2006/main">
            <a:r>
              <a:t>[S31] OpenAI text embedding 3 small documentation</a:t>
            </a:r>
          </a:p>
          <a:p xmlns:a="http://schemas.openxmlformats.org/drawingml/2006/main">
            <a:r>
              <a:t>https://developers.openai.com/api/docs/models/text-embedding-3-small</a:t>
            </a:r>
          </a:p>
          <a:p xmlns:a="http://schemas.openxmlformats.org/drawingml/2006/main">
            <a:r>
              <a:t>Provisional hosted semantic-search candidate. USD 0.02 per million input tokens. Token volume remains unmeasured.</a:t>
            </a:r>
          </a:p>
          <a:p xmlns:a="http://schemas.openxmlformats.org/drawingml/2006/main">
            <a:r>
              <a:t/>
            </a:r>
          </a:p>
          <a:p xmlns:a="http://schemas.openxmlformats.org/drawingml/2006/main">
            <a:r>
              <a:t>[S33] Django supported release schedule</a:t>
            </a:r>
          </a:p>
          <a:p xmlns:a="http://schemas.openxmlformats.org/drawingml/2006/main">
            <a:r>
              <a:t>https://www.djangoproject.com/download/</a:t>
            </a:r>
          </a:p>
          <a:p xmlns:a="http://schemas.openxmlformats.org/drawingml/2006/main">
            <a:r>
              <a:t>Django 5.2 LTS is the selected branch for a prototype trial. Official support table lists extended support through April 2028. Pin a current patched release at implementation.</a:t>
            </a:r>
          </a:p>
          <a:p xmlns:a="http://schemas.openxmlformats.org/drawingml/2006/main">
            <a:r>
              <a:t/>
            </a:r>
          </a:p>
          <a:p xmlns:a="http://schemas.openxmlformats.org/drawingml/2006/main">
            <a:r>
              <a:t>Evidence and calculation context</a:t>
            </a:r>
          </a:p>
          <a:p xmlns:a="http://schemas.openxmlformats.org/drawingml/2006/main">
            <a:r>
              <a:t>Proposed stack is Django 5.2 LTS, PostgreSQL and a responsive web interface. React/Express remains the comparison alternative. Pin a patched framework version at implementation. GPT-4.1 mini is a provisional text-model candidate, with hosted embeddings for matching and a local MiniLM alternative subject to memory and quality tests. Six AI families are classification, matching, sustainable-action suggestions, descriptions/explanations, assistant chat with confirmed request submission, and editable analytical reports. No AI may authorise business actions. Reuse AR01 compares 68 foundation hours custom with 32 using framework components including adaptation/testing, avoiding 36 hours. With other work held at 148 hours, the whole project is 216 versus 180 hours, a 16.7% reduction. The 180-hour estimate and 207 hours including reserve already contain this saving. Render free services sleep after 15 minutes idle and may take about a minute to wake. Local files are not durable. Persistent uploads, restart and recovery require tests. A server cold start is separate from the 15-second AI fallback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 for the final Phase 2 report, 29 September 2026. Financial prices and rates retain the 22 September baseline. KU sources S35–S38 were added on 28 September. Render hosting limitations were rechecked on 29 September. All project cost, benefit, effort and test-target inputs are planning assumptions unless explicitly attributed to a source. No technical or institutional trial result is claimed.</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[S19] NIST AI RMF Playbook Measure</a:t>
            </a:r>
          </a:p>
          <a:p xmlns:a="http://schemas.openxmlformats.org/drawingml/2006/main">
            <a:r>
              <a:t>https://airc.nist.gov/airmf-resources/playbook/measure/</a:t>
            </a:r>
          </a:p>
          <a:p xmlns:a="http://schemas.openxmlformats.org/drawingml/2006/main">
            <a:r>
              <a:t>Context-specific metrics, limitations and corrective action. No prescribed sample sizes here.</a:t>
            </a:r>
          </a:p>
          <a:p xmlns:a="http://schemas.openxmlformats.org/drawingml/2006/main">
            <a:r>
              <a:t/>
            </a:r>
          </a:p>
          <a:p xmlns:a="http://schemas.openxmlformats.org/drawingml/2006/main">
            <a:r>
              <a:t>[S20] Introduction to Information Retrieval ranked evaluation</a:t>
            </a:r>
          </a:p>
          <a:p xmlns:a="http://schemas.openxmlformats.org/drawingml/2006/main">
            <a:r>
              <a:t>https://nlp.stanford.edu/IR-book/html/htmledition/evaluation-of-ranked-retrieval-results-1.html</a:t>
            </a:r>
          </a:p>
          <a:p xmlns:a="http://schemas.openxmlformats.org/drawingml/2006/main">
            <a:r>
              <a:t>Ranked retrieval evaluation background. Our request-level Hit@3 is a stated operational definition.</a:t>
            </a:r>
          </a:p>
          <a:p xmlns:a="http://schemas.openxmlformats.org/drawingml/2006/main">
            <a:r>
              <a:t/>
            </a:r>
          </a:p>
          <a:p xmlns:a="http://schemas.openxmlformats.org/drawingml/2006/main">
            <a:r>
              <a:t>[S21] scikit-learn zero one loss</a:t>
            </a:r>
          </a:p>
          <a:p xmlns:a="http://schemas.openxmlformats.org/drawingml/2006/main">
            <a:r>
              <a:t>https://scikit-learn.org/stable/modules/generated/sklearn.metrics.zero_one_loss.html</a:t>
            </a:r>
          </a:p>
          <a:p xmlns:a="http://schemas.openxmlformats.org/drawingml/2006/main">
            <a:r>
              <a:t>Normalised zero-one loss is the fraction of misclassifications.</a:t>
            </a:r>
          </a:p>
          <a:p xmlns:a="http://schemas.openxmlformats.org/drawingml/2006/main">
            <a:r>
              <a:t/>
            </a:r>
          </a:p>
          <a:p xmlns:a="http://schemas.openxmlformats.org/drawingml/2006/main">
            <a:r>
              <a:t>Evidence and calculation context</a:t>
            </a:r>
          </a:p>
          <a:p xmlns:a="http://schemas.openxmlformats.org/drawingml/2006/main">
            <a:r>
              <a:t>All targets are proposed acceptance criteria and none is an achieved result. Matching uses the same frozen set of 20 eligible requests for AI and classic search. Request-level Hit@3 is the number with at least one reviewer-labelled useful item in the top three divided by all 20 eligible requests. Failed AI responses remain in the denominator and fallback is not AI success. AI must reach at least 16/20 and improve at least 10 percentage points, equal to two requests, over classic search. All actionable recommendations pass eligibility. Two team members independently judge usefulness and resolve disagreement. Classification uses a separate set of 20 new asset submissions: at least 16 correct and normalised zero-one loss at most 4/20=0.20. Permission tests comprise 14 cases, one authorised and one unauthorised for each of seven actions. Fallback tests comprise five failure cases, each reaching a usable classic path within 15 seconds while preserving user work and avoiding duplicates. Other report targets cover five assistant cases, 20 factual explanations and five editable reports. The team further proposes five no-suitable cases and five sustainable-action cases, separate from matching Hit@3. Fairness comparisons require per-department sample counts and relevant denominators. Acceptance means confirmed selection among eligible shown suggestions, excludes unauthorised or rejected actions and does not prove business approval. Synthetic 500-asset/10-department/50-request data are proposed test volumes, not KU statistics.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 for the final Phase 2 report, 29 September 2026. Financial prices and rates retain the 22 September baseline. KU sources S35–S38 were added on 28 September. Render hosting limitations were rechecked on 29 September. All project cost, benefit, effort and test-target inputs are planning assumptions unless explicitly attributed to a source. No technical or institutional trial result is claimed.</a:t>
            </a:r>
          </a:p>
          <a:p xmlns:a="http://schemas.openxmlformats.org/drawingml/2006/main">
            <a:r>
              <a:t/>
            </a:r>
          </a:p>
          <a:p xmlns:a="http://schemas.openxmlformats.org/drawingml/2006/main">
            <a:r>
              <a:t>[S11] Railway pricing and billing</a:t>
            </a:r>
          </a:p>
          <a:p xmlns:a="http://schemas.openxmlformats.org/drawingml/2006/main">
            <a:r>
              <a:t>https://docs.railway.com/pricing</a:t>
            </a:r>
          </a:p>
          <a:p xmlns:a="http://schemas.openxmlformats.org/drawingml/2006/main">
            <a:r>
              <a:t>Rates and Hobby minimum. Billing: https://docs.railway.com/pricing/understanding-your-bill .</a:t>
            </a:r>
          </a:p>
          <a:p xmlns:a="http://schemas.openxmlformats.org/drawingml/2006/main">
            <a:r>
              <a:t/>
            </a:r>
          </a:p>
          <a:p xmlns:a="http://schemas.openxmlformats.org/drawingml/2006/main">
            <a:r>
              <a:t>[S14] CBUAE reference exchange rates</a:t>
            </a:r>
          </a:p>
          <a:p xmlns:a="http://schemas.openxmlformats.org/drawingml/2006/main">
            <a:r>
              <a:t>https://centralbank.ae/umbraco/Surface/Exchange/GetExchangeRateAllCurrency</a:t>
            </a:r>
          </a:p>
          <a:p xmlns:a="http://schemas.openxmlformats.org/drawingml/2006/main">
            <a:r>
              <a:t>Table updated 21 September 2026: USD 1 = AED 3.6725. Reference rate, not card fees.</a:t>
            </a:r>
          </a:p>
          <a:p xmlns:a="http://schemas.openxmlformats.org/drawingml/2006/main">
            <a:r>
              <a:t/>
            </a:r>
          </a:p>
          <a:p xmlns:a="http://schemas.openxmlformats.org/drawingml/2006/main">
            <a:r>
              <a:t>[S24] GAO Cost Estimating and Assessment Guide</a:t>
            </a:r>
          </a:p>
          <a:p xmlns:a="http://schemas.openxmlformats.org/drawingml/2006/main">
            <a:r>
              <a:t>https://www.gao.gov/assets/d20195G.pdf</a:t>
            </a:r>
          </a:p>
          <a:p xmlns:a="http://schemas.openxmlformats.org/drawingml/2006/main">
            <a:r>
              <a:t>GAO-20-195G (2020), printed pages 94–95: recurring/nonrecurring cost categories. Page 123: double-counting checks. Our project amounts are assumptions.</a:t>
            </a:r>
          </a:p>
          <a:p xmlns:a="http://schemas.openxmlformats.org/drawingml/2006/main">
            <a:r>
              <a:t/>
            </a:r>
          </a:p>
          <a:p xmlns:a="http://schemas.openxmlformats.org/drawingml/2006/main">
            <a:r>
              <a:t>Evidence and calculation context</a:t>
            </a:r>
          </a:p>
          <a:p xmlns:a="http://schemas.openxmlformats.org/drawingml/2006/main">
            <a:r>
              <a:t>Financial model unchanged from final report finance_v3. Cash setup is AED200 plus 15% reserve, AED230. Annual fixed cash: hosting273.234, AI allowance440.70 and files/backup220.35 sum934.284 plus15%=1074.4266. Eight monitors add8×25=AED200 handling, giving1274.4266 cash per year. The optional Railway usage scenario is USD6.20/month at USD1=AED3.6725. Usage and allowances are not measured bills. Development207h×assumedAED30/h=AED6210, giving initial time-inclusive6440. Support24h/year×30=720, plus8×0.5h×30=120 extra transfer effort, giving annual time value840. Annual time-inclusive cost2114.4266. The rate is a planning value, not a KU salary. No spending is approved. Unconfirmed taxes, card charges and institution-specific overhead are not included. Do not count staff effort or the software reuse saving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 for the final Phase 2 report, 29 September 2026. Financial prices and rates retain the 22 September baseline. KU sources S35–S38 were added on 28 September. Render hosting limitations were rechecked on 29 September. All project cost, benefit, effort and test-target inputs are planning assumptions unless explicitly attributed to a source. No technical or institutional trial result is claimed.</a:t>
            </a:r>
          </a:p>
          <a:p xmlns:a="http://schemas.openxmlformats.org/drawingml/2006/main">
            <a:r>
              <a:t/>
            </a:r>
          </a:p>
          <a:p xmlns:a="http://schemas.openxmlformats.org/drawingml/2006/main">
            <a:r>
              <a:t>[S15] Sharaf DG Samsung S3 S33GF monitor listing</a:t>
            </a:r>
          </a:p>
          <a:p xmlns:a="http://schemas.openxmlformats.org/drawingml/2006/main">
            <a:r>
              <a:t>https://uae.sharafdg.com/product/samsung-s3-s33gf-essential-fhd-monitor-24inch-ls24f330eamxue/</a:t>
            </a:r>
          </a:p>
          <a:p xmlns:a="http://schemas.openxmlformats.org/drawingml/2006/main">
            <a:r>
              <a:t>22 September 2026 listing: AED 345 incl. VAT, ENGAGE seller, 24-inch FHD with HDMI. Retail proxy, not KU quote. Delivery excluded.</a:t>
            </a:r>
          </a:p>
          <a:p xmlns:a="http://schemas.openxmlformats.org/drawingml/2006/main">
            <a:r>
              <a:t/>
            </a:r>
          </a:p>
          <a:p xmlns:a="http://schemas.openxmlformats.org/drawingml/2006/main">
            <a:r>
              <a:t>[S16] NHS Measurement for Improvement and Return on Investment</a:t>
            </a:r>
          </a:p>
          <a:p xmlns:a="http://schemas.openxmlformats.org/drawingml/2006/main">
            <a:r>
              <a:t>https://www.england.nhs.uk/improvement-hub/wp-content/uploads/sites/44/2017/11/2010-Measurement-for-Improvement-and-ROI.pdf</a:t>
            </a:r>
          </a:p>
          <a:p xmlns:a="http://schemas.openxmlformats.org/drawingml/2006/main">
            <a:r>
              <a:t>Printed page 26: ROI = net benefits / costs x 100. Project inputs are separate assumptions.</a:t>
            </a:r>
          </a:p>
          <a:p xmlns:a="http://schemas.openxmlformats.org/drawingml/2006/main">
            <a:r>
              <a:t/>
            </a:r>
          </a:p>
          <a:p xmlns:a="http://schemas.openxmlformats.org/drawingml/2006/main">
            <a:r>
              <a:t>Evidence and calculation context</a:t>
            </a:r>
          </a:p>
          <a:p xmlns:a="http://schemas.openxmlformats.org/drawingml/2006/main">
            <a:r>
              <a:t>AF12 assumes40 annual new monitor purchases remain after current reuse. AF13 selects8 additional single-monitor purchases displaced by the prototype, 20% of40. This is a planning case, not measured KU demand or a 20% measured reduction. The dated retail proxy from S15 is AED345 including VAT, seller ENGAGE, checked22September2026, not a KU procurement quote. Annual gross avoidance is8×345=2760. Count only a suitable, permitted, inspected reuse that meets a real need which otherwise would lead to a purchase. Existing-process reuse cannot count again. A two-monitor request is only a scenario example and the annual count is per monitor. Inspection, repair, transfer, support and system cost reduce gross avoidance. The Word report retains scenarios of0,4,8,12extra monitors, university examples and the13-monitor/year time-inclusive three-year break-even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 for the final Phase 2 report, 29 September 2026. Financial prices and rates retain the 22 September baseline. KU sources S35–S38 were added on 28 September. Render hosting limitations were rechecked on 29 September. All project cost, benefit, effort and test-target inputs are planning assumptions unless explicitly attributed to a source. No technical or institutional trial result is claimed.</a:t>
            </a:r>
          </a:p>
          <a:p xmlns:a="http://schemas.openxmlformats.org/drawingml/2006/main">
            <a:r>
              <a:t/>
            </a:r>
          </a:p>
          <a:p xmlns:a="http://schemas.openxmlformats.org/drawingml/2006/main">
            <a:r>
              <a:t>[S16] NHS Measurement for Improvement and Return on Investment</a:t>
            </a:r>
          </a:p>
          <a:p xmlns:a="http://schemas.openxmlformats.org/drawingml/2006/main">
            <a:r>
              <a:t>https://www.england.nhs.uk/improvement-hub/wp-content/uploads/sites/44/2017/11/2010-Measurement-for-Improvement-and-ROI.pdf</a:t>
            </a:r>
          </a:p>
          <a:p xmlns:a="http://schemas.openxmlformats.org/drawingml/2006/main">
            <a:r>
              <a:t>Printed page 26: ROI = net benefits / costs x 100. Project inputs are separate assumptions.</a:t>
            </a:r>
          </a:p>
          <a:p xmlns:a="http://schemas.openxmlformats.org/drawingml/2006/main">
            <a:r>
              <a:t/>
            </a:r>
          </a:p>
          <a:p xmlns:a="http://schemas.openxmlformats.org/drawingml/2006/main">
            <a:r>
              <a:t>[S24] GAO Cost Estimating and Assessment Guide</a:t>
            </a:r>
          </a:p>
          <a:p xmlns:a="http://schemas.openxmlformats.org/drawingml/2006/main">
            <a:r>
              <a:t>https://www.gao.gov/assets/d20195G.pdf</a:t>
            </a:r>
          </a:p>
          <a:p xmlns:a="http://schemas.openxmlformats.org/drawingml/2006/main">
            <a:r>
              <a:t>GAO-20-195G (2020), printed pages 94–95: recurring/nonrecurring cost categories. Page 123: double-counting checks. Our project amounts are assumptions.</a:t>
            </a:r>
          </a:p>
          <a:p xmlns:a="http://schemas.openxmlformats.org/drawingml/2006/main">
            <a:r>
              <a:t/>
            </a:r>
          </a:p>
          <a:p xmlns:a="http://schemas.openxmlformats.org/drawingml/2006/main">
            <a:r>
              <a:t>[S25] NIST investment analysis guide</a:t>
            </a:r>
          </a:p>
          <a:p xmlns:a="http://schemas.openxmlformats.org/drawingml/2006/main">
            <a:r>
              <a:t>https://nvlpubs.nist.gov/nistpubs/ams/NIST.AMS.200-11.pdf</a:t>
            </a:r>
          </a:p>
          <a:p xmlns:a="http://schemas.openxmlformats.org/drawingml/2006/main">
            <a:r>
              <a:t>Appendix A1.3, printed page 25 equation 7: simple payback from initial investment and uniform annual net inflow. Page 26 discusses limitations. Our inputs are scenarios.</a:t>
            </a:r>
          </a:p>
          <a:p xmlns:a="http://schemas.openxmlformats.org/drawingml/2006/main">
            <a:r>
              <a:t/>
            </a:r>
          </a:p>
          <a:p xmlns:a="http://schemas.openxmlformats.org/drawingml/2006/main">
            <a:r>
              <a:t>Evidence and calculation context</a:t>
            </a:r>
          </a:p>
          <a:p xmlns:a="http://schemas.openxmlformats.org/drawingml/2006/main">
            <a:r>
              <a:t>Base case is8extra monitors per year atAED345. ROI=net benefit/cost×100. First-year cash benefit2760, cost230+1274.4266=1504.4266, net1255.5734, ROI83.4586014366%. Annual net cash1485.5734. Simple payback230/1485.5734×12=1.85786848months. It starts at go-live and assumes uniform net benefit under AF17. Actual reuse is discrete and year-end recognition first becomes positive at end ofyear1. Time-inclusive three-year benefit8280, cost6440+3×2114.4266=12783.2798, net−4503.2798, ROI−35.22789042%. No recovery within the three-year horizon. Do not extrapolate beyond that horizon as a supported viable payback. Constant inputs, no discounting, inflation or residual value. The cash and time-inclusive ROI use deliberately different explicit horizons.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 for the final Phase 2 report, 29 September 2026. Financial prices and rates retain the 22 September baseline. KU sources S35–S38 were added on 28 September. Render hosting limitations were rechecked on 29 September. All project cost, benefit, effort and test-target inputs are planning assumptions unless explicitly attributed to a source. No technical or institutional trial result is claimed.</a:t>
            </a:r>
          </a:p>
          <a:p xmlns:a="http://schemas.openxmlformats.org/drawingml/2006/main">
            <a:r>
              <a:t/>
            </a:r>
          </a:p>
          <a:p xmlns:a="http://schemas.openxmlformats.org/drawingml/2006/main">
            <a:r>
              <a:t>[S17] NASA Software Engineering Handbook SWE-086</a:t>
            </a:r>
          </a:p>
          <a:p xmlns:a="http://schemas.openxmlformats.org/drawingml/2006/main">
            <a:r>
              <a:t>https://swehb.nasa.gov/spaces/SWEHBVD/pages/102695470/SWE-086%2B-%2BContinuous%2BRisk%2BManagement</a:t>
            </a:r>
          </a:p>
          <a:p xmlns:a="http://schemas.openxmlformats.org/drawingml/2006/main">
            <a:r>
              <a:t>Risk assessment, owners, mitigation, triggers and continuing review. Our numeric rubric is a team adaptation.</a:t>
            </a:r>
          </a:p>
          <a:p xmlns:a="http://schemas.openxmlformats.org/drawingml/2006/main">
            <a:r>
              <a:t/>
            </a:r>
          </a:p>
          <a:p xmlns:a="http://schemas.openxmlformats.org/drawingml/2006/main">
            <a:r>
              <a:t>[S18] NIST IR 8286Ar1</a:t>
            </a:r>
          </a:p>
          <a:p xmlns:a="http://schemas.openxmlformats.org/drawingml/2006/main">
            <a:r>
              <a:t>https://tsapps.nist.gov/publication/get_pdf.cfm?pub_id=933223</a:t>
            </a:r>
          </a:p>
          <a:p xmlns:a="http://schemas.openxmlformats.org/drawingml/2006/main">
            <a:r>
              <a:t>Printed pages 55–56 and 59: probability and monetary impact support quantitative risk exposure. Ordinal scores are not probabilities.</a:t>
            </a:r>
          </a:p>
          <a:p xmlns:a="http://schemas.openxmlformats.org/drawingml/2006/main">
            <a:r>
              <a:t/>
            </a:r>
          </a:p>
          <a:p xmlns:a="http://schemas.openxmlformats.org/drawingml/2006/main">
            <a:r>
              <a:t>Evidence and calculation context</a:t>
            </a:r>
          </a:p>
          <a:p xmlns:a="http://schemas.openxmlformats.org/drawingml/2006/main">
            <a:r>
              <a:t>The team rubric is likelihood1–5 times impact1–5. Ordinal scores rank attention, not probability or money. Bands1–4low,5–9medium,10–16high,17–25critical. Review all impact5risks. Initial six-risk register: R1 KU baseline and access unconfirmed, 4×4=16, owner Zayed. Mitigation: Use the two simulated interviews to refine requirements. Confirm the actual workflow, owner and permitted records before a live pilot. Trigger: No verified baseline by the agreed evidence cut-off. Contingency: Use labelled synthetic cases and state that KU benefit remains unverified. Seek instructor direction. Target after effective controls 2×4=8.</a:t>
            </a:r>
          </a:p>
          <a:p xmlns:a="http://schemas.openxmlformats.org/drawingml/2006/main">
            <a:r>
              <a:t>R2 AI recommends unsuitable items, 3×4=12, owner Ghaith. Mitigation: Filter eligibility before ranking. Freeze labels, check outputs and require staff review. Trigger: Any ineligible actionable result or failure of the matching targets. Contingency: Use classic search for task completion, investigate and retest AI. Keep the unmet requirement visible. Target after effective controls 2×4=8.</a:t>
            </a:r>
          </a:p>
          <a:p xmlns:a="http://schemas.openxmlformats.org/drawingml/2006/main">
            <a:r>
              <a:t>R3 Restricted data or credentials exposed, 3×5=15, owner Ghaith. Mitigation: Synthetic data first, minimal fields, permission tests and protected secrets. Trigger: Any unauthorised access, restricted prompt or exposed key. Contingency: Stop the affected route, revoke keys and preserve relevant logs. Involve the authorised owner where applicable. Target after effective controls 1×5=5.</a:t>
            </a:r>
          </a:p>
          <a:p xmlns:a="http://schemas.openxmlformats.org/drawingml/2006/main">
            <a:r>
              <a:t>R4 Duplicate work removes the benefit, 3×4=12, owner Zayed. Mitigation: Measure the whole request, including review, handover and reconciliation. Trigger: No lower total handling effort or staff reject the workflow. Contingency: Redesign around the verified process or reconsider an existing product. Retain required approvals. Target after effective controls 2×4=8.</a:t>
            </a:r>
          </a:p>
          <a:p xmlns:a="http://schemas.openxmlformats.org/drawingml/2006/main">
            <a:r>
              <a:t>R5 Hosting or AI limits interrupt work, 3×3=9, owner Sultan. Mitigation: Agree a spending cap. Measure usage and test storage, backup and fallback. Trigger: Failed availability check or projected spend exceeds the approved cap. Contingency: Recover or move to a tested option. A temporary local demo does not complete hosted deployment. Target after effective controls 2×2=4.</a:t>
            </a:r>
          </a:p>
          <a:p xmlns:a="http://schemas.openxmlformats.org/drawingml/2006/main">
            <a:r>
              <a:t>R6 Work exceeds available time, 3×5=15, owner Sultan. Mitigation: Estimate dependencies with each owner. Integrate early and review weekly. Trigger: Remaining effort exceeds confirmed capacity or a dependent task slips. Contingency: Reassign work and seek instructor agreement for any required-scope change. Record deadline risk. Target after effective controls 2×5=10. AS01 assumes8weeks×3members×8hours/week=192h. AS02 estimates150–210h plus15%reserve=172.5–241.5h. Midpoint180h plusreserve=207h,15h above capacity. Confirm availability and actual remaining weeks. Any required-scope change needs instructor agreement. These hours are project estimates, not the slide presentation duration.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notes for the final Phase 2 report, 29 September 2026. Financial prices and rates retain the 22 September baseline. KU sources S35–S38 were added on 28 September. Render hosting limitations were rechecked on 29 September. All project cost, benefit, effort and test-target inputs are planning assumptions unless explicitly attributed to a source. No technical or institutional trial result is claimed.</a:t>
            </a:r>
          </a:p>
          <a:p xmlns:a="http://schemas.openxmlformats.org/drawingml/2006/main">
            <a:r>
              <a:t/>
            </a:r>
          </a:p>
          <a:p xmlns:a="http://schemas.openxmlformats.org/drawingml/2006/main">
            <a:r>
              <a:t>[S01] COSC336 course project description</a:t>
            </a:r>
          </a:p>
          <a:p xmlns:a="http://schemas.openxmlformats.org/drawingml/2006/main">
            <a:r>
              <a:t>https://github.com/duqins/ITS/blob/main/docs/reference/Project-September2026.pdf</a:t>
            </a:r>
          </a:p>
          <a:p xmlns:a="http://schemas.openxmlformats.org/drawingml/2006/main">
            <a:r>
              <a:t>Page 7: six feasibility areas. Page 5: classic and AI comparison.</a:t>
            </a:r>
          </a:p>
          <a:p xmlns:a="http://schemas.openxmlformats.org/drawingml/2006/main">
            <a:r>
              <a:t/>
            </a:r>
          </a:p>
          <a:p xmlns:a="http://schemas.openxmlformats.org/drawingml/2006/main">
            <a:r>
              <a:t>[S02] Group 4 Phase 1 scope and success criteria</a:t>
            </a:r>
          </a:p>
          <a:p xmlns:a="http://schemas.openxmlformats.org/drawingml/2006/main">
            <a:r>
              <a:t>https://github.com/duqins/ITS/blob/main/docs/phase1/sections/07-success-criteria.md</a:t>
            </a:r>
          </a:p>
          <a:p xmlns:a="http://schemas.openxmlformats.org/drawingml/2006/main">
            <a:r>
              <a:t>Team-defined prototype targets, not achieved results. Scope: https://github.com/duqins/ITS/blob/main/docs/phase1/sections/02-project-overview.md . Effort and budget: https://github.com/duqins/ITS/blob/main/docs/phase1/sections/08-project-plan.md .</a:t>
            </a:r>
          </a:p>
          <a:p xmlns:a="http://schemas.openxmlformats.org/drawingml/2006/main">
            <a:r>
              <a:t/>
            </a:r>
          </a:p>
          <a:p xmlns:a="http://schemas.openxmlformats.org/drawingml/2006/main">
            <a:r>
              <a:t>[S03] KU ISO certificates</a:t>
            </a:r>
          </a:p>
          <a:p xmlns:a="http://schemas.openxmlformats.org/drawingml/2006/main">
            <a:r>
              <a:t>https://www.ku.ac.ae/iso-certificates</a:t>
            </a:r>
          </a:p>
          <a:p xmlns:a="http://schemas.openxmlformats.org/drawingml/2006/main">
            <a:r>
              <a:t>Lists asset management under Facilities Management. Supports a proposed owner, not confirmed software ownership.</a:t>
            </a:r>
          </a:p>
          <a:p xmlns:a="http://schemas.openxmlformats.org/drawingml/2006/main">
            <a:r>
              <a:t/>
            </a:r>
          </a:p>
          <a:p xmlns:a="http://schemas.openxmlformats.org/drawingml/2006/main">
            <a:r>
              <a:t>[S04] Rheaply internal reuse</a:t>
            </a:r>
          </a:p>
          <a:p xmlns:a="http://schemas.openxmlformats.org/drawingml/2006/main">
            <a:r>
              <a:t>https://rheaply.com/internal-reuse/</a:t>
            </a:r>
          </a:p>
          <a:p xmlns:a="http://schemas.openxmlformats.org/drawingml/2006/main">
            <a:r>
              <a:t>Vendor-described marketplace, inventory, approvals and impact reporting.</a:t>
            </a:r>
          </a:p>
          <a:p xmlns:a="http://schemas.openxmlformats.org/drawingml/2006/main">
            <a:r>
              <a:t/>
            </a:r>
          </a:p>
          <a:p xmlns:a="http://schemas.openxmlformats.org/drawingml/2006/main">
            <a:r>
              <a:t>[S05] Rheaply AI suggestions</a:t>
            </a:r>
          </a:p>
          <a:p xmlns:a="http://schemas.openxmlformats.org/drawingml/2006/main">
            <a:r>
              <a:t>https://support.rheaply.com/en/articles/7967928-use-ai-powered-suggestions-to-create-and-backfill-listings</a:t>
            </a:r>
          </a:p>
          <a:p xmlns:a="http://schemas.openxmlformats.org/drawingml/2006/main">
            <a:r>
              <a:t>AI-assisted listing details with human review.</a:t>
            </a:r>
          </a:p>
          <a:p xmlns:a="http://schemas.openxmlformats.org/drawingml/2006/main">
            <a:r>
              <a:t/>
            </a:r>
          </a:p>
          <a:p xmlns:a="http://schemas.openxmlformats.org/drawingml/2006/main">
            <a:r>
              <a:t>[S06] Warp It product tour</a:t>
            </a:r>
          </a:p>
          <a:p xmlns:a="http://schemas.openxmlformats.org/drawingml/2006/main">
            <a:r>
              <a:t>https://www.warp-it.co.uk/portal/warpit/tour</a:t>
            </a:r>
          </a:p>
          <a:p xmlns:a="http://schemas.openxmlformats.org/drawingml/2006/main">
            <a:r>
              <a:t>Vendor-described reuse workflow and reports. Homepage https://www.warp-it.co.uk/ describes AI photo-based listing.</a:t>
            </a:r>
          </a:p>
          <a:p xmlns:a="http://schemas.openxmlformats.org/drawingml/2006/main">
            <a:r>
              <a:t/>
            </a:r>
          </a:p>
          <a:p xmlns:a="http://schemas.openxmlformats.org/drawingml/2006/main">
            <a:r>
              <a:t>[S07] Snipe-IT product and pricing</a:t>
            </a:r>
          </a:p>
          <a:p xmlns:a="http://schemas.openxmlformats.org/drawingml/2006/main">
            <a:r>
              <a:t>https://snipeitapp.com/product</a:t>
            </a:r>
          </a:p>
          <a:p xmlns:a="http://schemas.openxmlformats.org/drawingml/2006/main">
            <a:r>
              <a:t>Inventory/custody, requests, history, permissions and API. Pricing: https://snipeitapp.com/pricing .</a:t>
            </a:r>
          </a:p>
          <a:p xmlns:a="http://schemas.openxmlformats.org/drawingml/2006/main">
            <a:r>
              <a:t/>
            </a:r>
          </a:p>
          <a:p xmlns:a="http://schemas.openxmlformats.org/drawingml/2006/main">
            <a:r>
              <a:t>[S08] UC Berkeley Rheaply showroom</a:t>
            </a:r>
          </a:p>
          <a:p xmlns:a="http://schemas.openxmlformats.org/drawingml/2006/main">
            <a:r>
              <a:t>https://property.berkeley.edu/surplus/campus/rheaply-online-showroom-inventory</a:t>
            </a:r>
          </a:p>
          <a:p xmlns:a="http://schemas.openxmlformats.org/drawingml/2006/main">
            <a:r>
              <a:t>Institutional use elsewhere supports relevance, not KU demand or savings.</a:t>
            </a:r>
          </a:p>
          <a:p xmlns:a="http://schemas.openxmlformats.org/drawingml/2006/main">
            <a:r>
              <a:t/>
            </a:r>
          </a:p>
          <a:p xmlns:a="http://schemas.openxmlformats.org/drawingml/2006/main">
            <a:r>
              <a:t>[S09] Django overview and authentication</a:t>
            </a:r>
          </a:p>
          <a:p xmlns:a="http://schemas.openxmlformats.org/drawingml/2006/main">
            <a:r>
              <a:t>https://www.djangoproject.com/start/overview/</a:t>
            </a:r>
          </a:p>
          <a:p xmlns:a="http://schemas.openxmlformats.org/drawingml/2006/main">
            <a:r>
              <a:t>Framework facilities. Permissions: https://docs.djangoproject.com/en/stable/topics/auth/default/ . Department/item rules still need application code.</a:t>
            </a:r>
          </a:p>
          <a:p xmlns:a="http://schemas.openxmlformats.org/drawingml/2006/main">
            <a:r>
              <a:t/>
            </a:r>
          </a:p>
          <a:p xmlns:a="http://schemas.openxmlformats.org/drawingml/2006/main">
            <a:r>
              <a:t>[S10] PostgreSQL overview</a:t>
            </a:r>
          </a:p>
          <a:p xmlns:a="http://schemas.openxmlformats.org/drawingml/2006/main">
            <a:r>
              <a:t>https://www.postgresql.org/about/</a:t>
            </a:r>
          </a:p>
          <a:p xmlns:a="http://schemas.openxmlformats.org/drawingml/2006/main">
            <a:r>
              <a:t>Relational database candidate. Proposed stack remains untested.</a:t>
            </a:r>
          </a:p>
          <a:p xmlns:a="http://schemas.openxmlformats.org/drawingml/2006/main">
            <a:r>
              <a:t/>
            </a:r>
          </a:p>
          <a:p xmlns:a="http://schemas.openxmlformats.org/drawingml/2006/main">
            <a:r>
              <a:t>[S11] Railway pricing and billing</a:t>
            </a:r>
          </a:p>
          <a:p xmlns:a="http://schemas.openxmlformats.org/drawingml/2006/main">
            <a:r>
              <a:t>https://docs.railway.com/pricing</a:t>
            </a:r>
          </a:p>
          <a:p xmlns:a="http://schemas.openxmlformats.org/drawingml/2006/main">
            <a:r>
              <a:t>Rates and Hobby minimum. Billing: https://docs.railway.com/pricing/understanding-your-bill .</a:t>
            </a:r>
          </a:p>
          <a:p xmlns:a="http://schemas.openxmlformats.org/drawingml/2006/main">
            <a:r>
              <a:t/>
            </a:r>
          </a:p>
          <a:p xmlns:a="http://schemas.openxmlformats.org/drawingml/2006/main">
            <a:r>
              <a:t>[S12] Render free services</a:t>
            </a:r>
          </a:p>
          <a:p xmlns:a="http://schemas.openxmlformats.org/drawingml/2006/main">
            <a:r>
              <a:t>https://render.com/docs/free</a:t>
            </a:r>
          </a:p>
          <a:p xmlns:a="http://schemas.openxmlformats.org/drawingml/2006/main">
            <a:r>
              <a:t>Idle sleep and nonpersistent local files. A lasting upload store is still required. Hosting limitations rechecked against the official Render documentation on 29 September 2026.</a:t>
            </a:r>
          </a:p>
          <a:p xmlns:a="http://schemas.openxmlformats.org/drawingml/2006/main">
            <a:r>
              <a:t/>
            </a:r>
          </a:p>
          <a:p xmlns:a="http://schemas.openxmlformats.org/drawingml/2006/main">
            <a:r>
              <a:t>[S13] Neon official plan documentation source</a:t>
            </a:r>
          </a:p>
          <a:p xmlns:a="http://schemas.openxmlformats.org/drawingml/2006/main">
            <a:r>
              <a:t>https://github.com/neondatabase/website/blob/main/content/docs/introduction/plans.md</a:t>
            </a:r>
          </a:p>
          <a:p xmlns:a="http://schemas.openxmlformats.org/drawingml/2006/main">
            <a:r>
              <a:t>Free allowances: 0.5 GB storage, 100 CU-hours and 5 GB public transfer per project/month.</a:t>
            </a:r>
          </a:p>
          <a:p xmlns:a="http://schemas.openxmlformats.org/drawingml/2006/main">
            <a:r>
              <a:t/>
            </a:r>
          </a:p>
          <a:p xmlns:a="http://schemas.openxmlformats.org/drawingml/2006/main">
            <a:r>
              <a:t>[S14] CBUAE reference exchange rates</a:t>
            </a:r>
          </a:p>
          <a:p xmlns:a="http://schemas.openxmlformats.org/drawingml/2006/main">
            <a:r>
              <a:t>https://centralbank.ae/umbraco/Surface/Exchange/GetExchangeRateAllCurrency</a:t>
            </a:r>
          </a:p>
          <a:p xmlns:a="http://schemas.openxmlformats.org/drawingml/2006/main">
            <a:r>
              <a:t>Table updated 21 September 2026: USD 1 = AED 3.6725. Reference rate, not card fees.</a:t>
            </a:r>
          </a:p>
          <a:p xmlns:a="http://schemas.openxmlformats.org/drawingml/2006/main">
            <a:r>
              <a:t/>
            </a:r>
          </a:p>
          <a:p xmlns:a="http://schemas.openxmlformats.org/drawingml/2006/main">
            <a:r>
              <a:t>[S15] Sharaf DG Samsung S3 S33GF monitor listing</a:t>
            </a:r>
          </a:p>
          <a:p xmlns:a="http://schemas.openxmlformats.org/drawingml/2006/main">
            <a:r>
              <a:t>https://uae.sharafdg.com/product/samsung-s3-s33gf-essential-fhd-monitor-24inch-ls24f330eamxue/</a:t>
            </a:r>
          </a:p>
          <a:p xmlns:a="http://schemas.openxmlformats.org/drawingml/2006/main">
            <a:r>
              <a:t>22 September 2026 listing: AED 345 incl. VAT, ENGAGE seller, 24-inch FHD with HDMI. Retail proxy, not KU quote. Delivery excluded.</a:t>
            </a:r>
          </a:p>
          <a:p xmlns:a="http://schemas.openxmlformats.org/drawingml/2006/main">
            <a:r>
              <a:t/>
            </a:r>
          </a:p>
          <a:p xmlns:a="http://schemas.openxmlformats.org/drawingml/2006/main">
            <a:r>
              <a:t>[S16] NHS Measurement for Improvement and Return on Investment</a:t>
            </a:r>
          </a:p>
          <a:p xmlns:a="http://schemas.openxmlformats.org/drawingml/2006/main">
            <a:r>
              <a:t>https://www.england.nhs.uk/improvement-hub/wp-content/uploads/sites/44/2017/11/2010-Measurement-for-Improvement-and-ROI.pdf</a:t>
            </a:r>
          </a:p>
          <a:p xmlns:a="http://schemas.openxmlformats.org/drawingml/2006/main">
            <a:r>
              <a:t>Printed page 26: ROI = net benefits / costs x 100. Project inputs are separate assumptions.</a:t>
            </a:r>
          </a:p>
          <a:p xmlns:a="http://schemas.openxmlformats.org/drawingml/2006/main">
            <a:r>
              <a:t/>
            </a:r>
          </a:p>
          <a:p xmlns:a="http://schemas.openxmlformats.org/drawingml/2006/main">
            <a:r>
              <a:t>[S17] NASA Software Engineering Handbook SWE-086</a:t>
            </a:r>
          </a:p>
          <a:p xmlns:a="http://schemas.openxmlformats.org/drawingml/2006/main">
            <a:r>
              <a:t>https://swehb.nasa.gov/spaces/SWEHBVD/pages/102695470/SWE-086%2B-%2BContinuous%2BRisk%2BManagement</a:t>
            </a:r>
          </a:p>
          <a:p xmlns:a="http://schemas.openxmlformats.org/drawingml/2006/main">
            <a:r>
              <a:t>Risk assessment, owners, mitigation, triggers and continuing review. Our numeric rubric is a team adaptation.</a:t>
            </a:r>
          </a:p>
          <a:p xmlns:a="http://schemas.openxmlformats.org/drawingml/2006/main">
            <a:r>
              <a:t/>
            </a:r>
          </a:p>
          <a:p xmlns:a="http://schemas.openxmlformats.org/drawingml/2006/main">
            <a:r>
              <a:t>[S18] NIST IR 8286Ar1</a:t>
            </a:r>
          </a:p>
          <a:p xmlns:a="http://schemas.openxmlformats.org/drawingml/2006/main">
            <a:r>
              <a:t>https://tsapps.nist.gov/publication/get_pdf.cfm?pub_id=933223</a:t>
            </a:r>
          </a:p>
          <a:p xmlns:a="http://schemas.openxmlformats.org/drawingml/2006/main">
            <a:r>
              <a:t>Printed pages 55–56 and 59: probability and monetary impact support quantitative risk exposure. Ordinal scores are not probabilities.</a:t>
            </a:r>
          </a:p>
          <a:p xmlns:a="http://schemas.openxmlformats.org/drawingml/2006/main">
            <a:r>
              <a:t/>
            </a:r>
          </a:p>
          <a:p xmlns:a="http://schemas.openxmlformats.org/drawingml/2006/main">
            <a:r>
              <a:t>[S19] NIST AI RMF Playbook Measure</a:t>
            </a:r>
          </a:p>
          <a:p xmlns:a="http://schemas.openxmlformats.org/drawingml/2006/main">
            <a:r>
              <a:t>https://airc.nist.gov/airmf-resources/playbook/measure/</a:t>
            </a:r>
          </a:p>
          <a:p xmlns:a="http://schemas.openxmlformats.org/drawingml/2006/main">
            <a:r>
              <a:t>Context-specific metrics, limitations and corrective action. No prescribed sample sizes here.</a:t>
            </a:r>
          </a:p>
          <a:p xmlns:a="http://schemas.openxmlformats.org/drawingml/2006/main">
            <a:r>
              <a:t/>
            </a:r>
          </a:p>
          <a:p xmlns:a="http://schemas.openxmlformats.org/drawingml/2006/main">
            <a:r>
              <a:t>[S20] Introduction to Information Retrieval ranked evaluation</a:t>
            </a:r>
          </a:p>
          <a:p xmlns:a="http://schemas.openxmlformats.org/drawingml/2006/main">
            <a:r>
              <a:t>https://nlp.stanford.edu/IR-book/html/htmledition/evaluation-of-ranked-retrieval-results-1.html</a:t>
            </a:r>
          </a:p>
          <a:p xmlns:a="http://schemas.openxmlformats.org/drawingml/2006/main">
            <a:r>
              <a:t>Ranked retrieval evaluation background. Our request-level Hit@3 is a stated operational definition.</a:t>
            </a:r>
          </a:p>
          <a:p xmlns:a="http://schemas.openxmlformats.org/drawingml/2006/main">
            <a:r>
              <a:t/>
            </a:r>
          </a:p>
          <a:p xmlns:a="http://schemas.openxmlformats.org/drawingml/2006/main">
            <a:r>
              <a:t>[S21] scikit-learn zero one loss</a:t>
            </a:r>
          </a:p>
          <a:p xmlns:a="http://schemas.openxmlformats.org/drawingml/2006/main">
            <a:r>
              <a:t>https://scikit-learn.org/stable/modules/generated/sklearn.metrics.zero_one_loss.html</a:t>
            </a:r>
          </a:p>
          <a:p xmlns:a="http://schemas.openxmlformats.org/drawingml/2006/main">
            <a:r>
              <a:t>Normalised zero-one loss is the fraction of misclassifications.</a:t>
            </a:r>
          </a:p>
          <a:p xmlns:a="http://schemas.openxmlformats.org/drawingml/2006/main">
            <a:r>
              <a:t/>
            </a:r>
          </a:p>
          <a:p xmlns:a="http://schemas.openxmlformats.org/drawingml/2006/main">
            <a:r>
              <a:t>[S22] Act on Heat TELOS workflow</a:t>
            </a:r>
          </a:p>
          <a:p xmlns:a="http://schemas.openxmlformats.org/drawingml/2006/main">
            <a:r>
              <a:t>https://actionheat.eu/workflow-step-8</a:t>
            </a:r>
          </a:p>
          <a:p xmlns:a="http://schemas.openxmlformats.org/drawingml/2006/main">
            <a:r>
              <a:t>Technical, economic, legal, operational and scheduling framework. Data/AI added separately by course.</a:t>
            </a:r>
          </a:p>
          <a:p xmlns:a="http://schemas.openxmlformats.org/drawingml/2006/main">
            <a:r>
              <a:t/>
            </a:r>
          </a:p>
          <a:p xmlns:a="http://schemas.openxmlformats.org/drawingml/2006/main">
            <a:r>
              <a:t>[S23] Warp It UK pricing</a:t>
            </a:r>
          </a:p>
          <a:p xmlns:a="http://schemas.openxmlformats.org/drawingml/2006/main">
            <a:r>
              <a:t>https://www.warp-it.co.uk/portal/warpit/pricing</a:t>
            </a:r>
          </a:p>
          <a:p xmlns:a="http://schemas.openxmlformats.org/drawingml/2006/main">
            <a:r>
              <a:t>Published UK bands are not a KU quotation. Confirm local eligibility and taxes before cost comparison.</a:t>
            </a:r>
          </a:p>
          <a:p xmlns:a="http://schemas.openxmlformats.org/drawingml/2006/main">
            <a:r>
              <a:t/>
            </a:r>
          </a:p>
          <a:p xmlns:a="http://schemas.openxmlformats.org/drawingml/2006/main">
            <a:r>
              <a:t>[S24] GAO Cost Estimating and Assessment Guide</a:t>
            </a:r>
          </a:p>
          <a:p xmlns:a="http://schemas.openxmlformats.org/drawingml/2006/main">
            <a:r>
              <a:t>https://www.gao.gov/assets/d20195G.pdf</a:t>
            </a:r>
          </a:p>
          <a:p xmlns:a="http://schemas.openxmlformats.org/drawingml/2006/main">
            <a:r>
              <a:t>GAO-20-195G (2020), printed pages 94–95: recurring/nonrecurring cost categories. Page 123: double-counting checks. Our project amounts are assumptions.</a:t>
            </a:r>
          </a:p>
          <a:p xmlns:a="http://schemas.openxmlformats.org/drawingml/2006/main">
            <a:r>
              <a:t/>
            </a:r>
          </a:p>
          <a:p xmlns:a="http://schemas.openxmlformats.org/drawingml/2006/main">
            <a:r>
              <a:t>[S25] NIST investment analysis guide</a:t>
            </a:r>
          </a:p>
          <a:p xmlns:a="http://schemas.openxmlformats.org/drawingml/2006/main">
            <a:r>
              <a:t>https://nvlpubs.nist.gov/nistpubs/ams/NIST.AMS.200-11.pdf</a:t>
            </a:r>
          </a:p>
          <a:p xmlns:a="http://schemas.openxmlformats.org/drawingml/2006/main">
            <a:r>
              <a:t>Appendix A1.3, printed page 25 equation 7: simple payback from initial investment and uniform annual net inflow. Page 26 discusses limitations. Our inputs are scenarios.</a:t>
            </a:r>
          </a:p>
          <a:p xmlns:a="http://schemas.openxmlformats.org/drawingml/2006/main">
            <a:r>
              <a:t/>
            </a:r>
          </a:p>
          <a:p xmlns:a="http://schemas.openxmlformats.org/drawingml/2006/main">
            <a:r>
              <a:t>[S26] University of Bristol Annual Report 2025</a:t>
            </a:r>
          </a:p>
          <a:p xmlns:a="http://schemas.openxmlformats.org/drawingml/2006/main">
            <a:r>
              <a:t>https://www.bristol.ac.uk/media-library/sites/finance/documents/UoB_ARFS2025_WEB.pdf</a:t>
            </a:r>
          </a:p>
          <a:p xmlns:a="http://schemas.openxmlformats.org/drawingml/2006/main">
            <a:r>
              <a:t>Page 34 reports nearly 800 office-furniture items reused and estimated GBP 92,000 avoided purchase cost. This is university-reported gross avoidance, not KU savings or net system ROI.</a:t>
            </a:r>
          </a:p>
          <a:p xmlns:a="http://schemas.openxmlformats.org/drawingml/2006/main">
            <a:r>
              <a:t/>
            </a:r>
          </a:p>
          <a:p xmlns:a="http://schemas.openxmlformats.org/drawingml/2006/main">
            <a:r>
              <a:t>[S27] University of Liverpool Warp It first-year results</a:t>
            </a:r>
          </a:p>
          <a:p xmlns:a="http://schemas.openxmlformats.org/drawingml/2006/main">
            <a:r>
              <a:t>https://www.liverpool.ac.uk/about/sustainability/news/stories/title,1545664,en.php</a:t>
            </a:r>
          </a:p>
          <a:p xmlns:a="http://schemas.openxmlformats.org/drawingml/2006/main">
            <a:r>
              <a:t>Published 24 February 2026: GBP 300,442 reported savings in the first 12 months, including 1,732 furniture items reused. Storage, collection, delivery and IT support also contributed. No complete net-cost method is disclosed.</a:t>
            </a:r>
          </a:p>
          <a:p xmlns:a="http://schemas.openxmlformats.org/drawingml/2006/main">
            <a:r>
              <a:t/>
            </a:r>
          </a:p>
          <a:p xmlns:a="http://schemas.openxmlformats.org/drawingml/2006/main">
            <a:r>
              <a:t>[S28] Django built-in application components</a:t>
            </a:r>
          </a:p>
          <a:p xmlns:a="http://schemas.openxmlformats.org/drawingml/2006/main">
            <a:r>
              <a:t>https://www.djangoproject.com/start/</a:t>
            </a:r>
          </a:p>
          <a:p xmlns:a="http://schemas.openxmlformats.org/drawingml/2006/main">
            <a:r>
              <a:t>Official forms, authentication and administration facilities. Supports reuse availability, not our estimated hours.</a:t>
            </a:r>
          </a:p>
          <a:p xmlns:a="http://schemas.openxmlformats.org/drawingml/2006/main">
            <a:r>
              <a:t/>
            </a:r>
          </a:p>
          <a:p xmlns:a="http://schemas.openxmlformats.org/drawingml/2006/main">
            <a:r>
              <a:t>[S29] PostgreSQL and Django licence information</a:t>
            </a:r>
          </a:p>
          <a:p xmlns:a="http://schemas.openxmlformats.org/drawingml/2006/main">
            <a:r>
              <a:t>https://www.postgresql.org/about/licence/</a:t>
            </a:r>
          </a:p>
          <a:p xmlns:a="http://schemas.openxmlformats.org/drawingml/2006/main">
            <a:r>
              <a:t>PostgreSQL permits use without a licence fee subject to its notice conditions. Django BSD licence: https://docs.djangoproject.com/en/5.2/faq/general/#how-is-django-licensed . Hosting and maintenance still cost resources.</a:t>
            </a:r>
          </a:p>
          <a:p xmlns:a="http://schemas.openxmlformats.org/drawingml/2006/main">
            <a:r>
              <a:t/>
            </a:r>
          </a:p>
          <a:p xmlns:a="http://schemas.openxmlformats.org/drawingml/2006/main">
            <a:r>
              <a:t>[S30] OpenAI GPT 4.1 mini model documentation</a:t>
            </a:r>
          </a:p>
          <a:p xmlns:a="http://schemas.openxmlformats.org/drawingml/2006/main">
            <a:r>
              <a:t>https://developers.openai.com/api/docs/models/gpt-4.1-mini</a:t>
            </a:r>
          </a:p>
          <a:p xmlns:a="http://schemas.openxmlformats.org/drawingml/2006/main">
            <a:r>
              <a:t>Provisional text-model candidate gpt-4.1-mini-2025-04-14. Standard uncached text rates: USD 0.40 per million input tokens, USD 1.60 per million output tokens. Access and suitability untested.</a:t>
            </a:r>
          </a:p>
          <a:p xmlns:a="http://schemas.openxmlformats.org/drawingml/2006/main">
            <a:r>
              <a:t/>
            </a:r>
          </a:p>
          <a:p xmlns:a="http://schemas.openxmlformats.org/drawingml/2006/main">
            <a:r>
              <a:t>[S31] OpenAI text embedding 3 small documentation</a:t>
            </a:r>
          </a:p>
          <a:p xmlns:a="http://schemas.openxmlformats.org/drawingml/2006/main">
            <a:r>
              <a:t>https://developers.openai.com/api/docs/models/text-embedding-3-small</a:t>
            </a:r>
          </a:p>
          <a:p xmlns:a="http://schemas.openxmlformats.org/drawingml/2006/main">
            <a:r>
              <a:t>Provisional hosted semantic-search candidate. USD 0.02 per million input tokens. Token volume remains unmeasured.</a:t>
            </a:r>
          </a:p>
          <a:p xmlns:a="http://schemas.openxmlformats.org/drawingml/2006/main">
            <a:r>
              <a:t/>
            </a:r>
          </a:p>
          <a:p xmlns:a="http://schemas.openxmlformats.org/drawingml/2006/main">
            <a:r>
              <a:t>[S32] Sentence Transformers all MiniLM L6 v2 model card</a:t>
            </a:r>
          </a:p>
          <a:p xmlns:a="http://schemas.openxmlformats.org/drawingml/2006/main">
            <a:r>
              <a:t>https://huggingface.co/sentence-transformers/all-MiniLM-L6-v2</a:t>
            </a:r>
          </a:p>
          <a:p xmlns:a="http://schemas.openxmlformats.org/drawingml/2006/main">
            <a:r>
              <a:t>Local English embedding alternative with Apache 2.0 licence. Requires separate loaded-memory, latency and quality tests. Not assumed to fit 0.5 GB hosting.</a:t>
            </a:r>
          </a:p>
          <a:p xmlns:a="http://schemas.openxmlformats.org/drawingml/2006/main">
            <a:r>
              <a:t/>
            </a:r>
          </a:p>
          <a:p xmlns:a="http://schemas.openxmlformats.org/drawingml/2006/main">
            <a:r>
              <a:t>[S33] Django supported release schedule</a:t>
            </a:r>
          </a:p>
          <a:p xmlns:a="http://schemas.openxmlformats.org/drawingml/2006/main">
            <a:r>
              <a:t>https://www.djangoproject.com/download/</a:t>
            </a:r>
          </a:p>
          <a:p xmlns:a="http://schemas.openxmlformats.org/drawingml/2006/main">
            <a:r>
              <a:t>Django 5.2 LTS is the selected branch for a prototype trial. Official support table lists extended support through April 2028. Pin a current patched release at implementation.</a:t>
            </a:r>
          </a:p>
          <a:p xmlns:a="http://schemas.openxmlformats.org/drawingml/2006/main">
            <a:r>
              <a:t/>
            </a:r>
          </a:p>
          <a:p xmlns:a="http://schemas.openxmlformats.org/drawingml/2006/main">
            <a:r>
              <a:t>[S34] OpenAI API data controls</a:t>
            </a:r>
          </a:p>
          <a:p xmlns:a="http://schemas.openxmlformats.org/drawingml/2006/main">
            <a:r>
              <a:t>https://developers.openai.com/api/docs/guides/your-data</a:t>
            </a:r>
          </a:p>
          <a:p xmlns:a="http://schemas.openxmlformats.org/drawingml/2006/main">
            <a:r>
              <a:t>Default no training use does not mean zero retention or KU approval. Review actual account retention, permitted fields and location before using real data.</a:t>
            </a:r>
          </a:p>
          <a:p xmlns:a="http://schemas.openxmlformats.org/drawingml/2006/main">
            <a:r>
              <a:t/>
            </a:r>
          </a:p>
          <a:p xmlns:a="http://schemas.openxmlformats.org/drawingml/2006/main">
            <a:r>
              <a:t>[S35] KU Procurement and Contracts Department</a:t>
            </a:r>
          </a:p>
          <a:p xmlns:a="http://schemas.openxmlformats.org/drawingml/2006/main">
            <a:r>
              <a:t>https://www.ku.ac.ae/about/procurement-and-contracts-department</a:t>
            </a:r>
          </a:p>
          <a:p xmlns:a="http://schemas.openxmlformats.org/drawingml/2006/main">
            <a:r>
              <a:t>Public purchasing responsibilities, scope and procurement links. Added from the 28 September team review.</a:t>
            </a:r>
          </a:p>
          <a:p xmlns:a="http://schemas.openxmlformats.org/drawingml/2006/main">
            <a:r>
              <a:t/>
            </a:r>
          </a:p>
          <a:p xmlns:a="http://schemas.openxmlformats.org/drawingml/2006/main">
            <a:r>
              <a:t>[S36] KU Environmental Sustainability Policy EHS 7600</a:t>
            </a:r>
          </a:p>
          <a:p xmlns:a="http://schemas.openxmlformats.org/drawingml/2006/main">
            <a:r>
              <a:t>https://www.ku.ac.ae/sustainability/assets/attachments/EHS_7600_Environmental_Sustainability_Policy.pdf</a:t>
            </a:r>
          </a:p>
          <a:p xmlns:a="http://schemas.openxmlformats.org/drawingml/2006/main">
            <a:r>
              <a:t>Sections 5.1.1 and 6 support EHS consultation on waste and recycling. Public policy is not evidence of acceptance of Dawra Campus.</a:t>
            </a:r>
          </a:p>
          <a:p xmlns:a="http://schemas.openxmlformats.org/drawingml/2006/main">
            <a:r>
              <a:t/>
            </a:r>
          </a:p>
          <a:p xmlns:a="http://schemas.openxmlformats.org/drawingml/2006/main">
            <a:r>
              <a:t>[S37] KU sustainability initiatives</a:t>
            </a:r>
          </a:p>
          <a:p xmlns:a="http://schemas.openxmlformats.org/drawingml/2006/main">
            <a:r>
              <a:t>https://www.ku.ac.ae/sustainability/initiative</a:t>
            </a:r>
          </a:p>
          <a:p xmlns:a="http://schemas.openxmlformats.org/drawingml/2006/main">
            <a:r>
              <a:t>Public reduction, reuse and recycling activity supports local relevance, not a measured demand or saving for our system.</a:t>
            </a:r>
          </a:p>
          <a:p xmlns:a="http://schemas.openxmlformats.org/drawingml/2006/main">
            <a:r>
              <a:t/>
            </a:r>
          </a:p>
          <a:p xmlns:a="http://schemas.openxmlformats.org/drawingml/2006/main">
            <a:r>
              <a:t>[S38] Abu Dhabi Procurement Standards linked by KU</a:t>
            </a:r>
          </a:p>
          <a:p xmlns:a="http://schemas.openxmlformats.org/drawingml/2006/main">
            <a:r>
              <a:t>https://www.ku.ac.ae/wp-content/uploads/2025/01/Abu-Dhabi-Procurement-Standards.pdf</a:t>
            </a:r>
          </a:p>
          <a:p xmlns:a="http://schemas.openxmlformats.org/drawingml/2006/main">
            <a:r>
              <a:t>Institutional procurement framework linked from S35. No inference is made about the name or functions of the internal KU asset system.</a:t>
            </a:r>
          </a:p>
          <a:p xmlns:a="http://schemas.openxmlformats.org/drawingml/2006/main">
            <a:r>
              <a:t/>
            </a:r>
          </a:p>
          <a:p xmlns:a="http://schemas.openxmlformats.org/drawingml/2006/main">
            <a:r>
              <a:t>Evidence and calculation context</a:t>
            </a:r>
          </a:p>
          <a:p xmlns:a="http://schemas.openxmlformats.org/drawingml/2006/main">
            <a:r>
              <a:t>Final recommendation from the29September2026report: proceed with the academic prototype investigation. The8-monitor base case does not justify custom KU adoption when development and staff time count. Actual staff needs, baseline workload, permissions, deployment quality, AI outcomes and savings still need validation. The report covers technical, data/AI, operational, economic, legal and scheduling feasibility, complete scope, all six risk responses, sensitivity cases and38references. Claude and OpenAI Codex assisted drafting, research, calculations, source checking, document and presentation preparation. AI also supplied the two explicitly fictional interview roles and conceptual visuals. The team remains responsible for the submitted work. No real KU staff were interviewed in the role-play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c90dea02a940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d0496ac2974ad1" /><Relationship Type="http://schemas.openxmlformats.org/officeDocument/2006/relationships/slideLayout" Target="/ppt/slideLayouts/slideLayout1.xml" Id="R887d03c375bc4b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7d03c375bc4b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0426c30aae8401f" /><Relationship Type="http://schemas.openxmlformats.org/officeDocument/2006/relationships/image" Target="/ppt/media/image.png" Id="Rc8c6d4371dfb46a4" /><Relationship Type="http://schemas.openxmlformats.org/officeDocument/2006/relationships/notesSlide" Target="/ppt/notesSlides/notesSlide1.xml" Id="R03d6120eee8540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3d2fd99845418a" /><Relationship Type="http://schemas.openxmlformats.org/officeDocument/2006/relationships/notesSlide" Target="/ppt/notesSlides/notesSlide2.xml" Id="R6b962ca6e3ee43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f128b4c1b147eb" /><Relationship Type="http://schemas.openxmlformats.org/officeDocument/2006/relationships/image" Target="/ppt/media/image2.png" Id="R87b074f2b8da4d3c" /><Relationship Type="http://schemas.openxmlformats.org/officeDocument/2006/relationships/notesSlide" Target="/ppt/notesSlides/notesSlide3.xml" Id="R3285d45175e043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433a3296d4e4da9" /><Relationship Type="http://schemas.openxmlformats.org/officeDocument/2006/relationships/notesSlide" Target="/ppt/notesSlides/notesSlide4.xml" Id="Re7b6cf799e2a44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86a2ab83dc41e6" /><Relationship Type="http://schemas.openxmlformats.org/officeDocument/2006/relationships/notesSlide" Target="/ppt/notesSlides/notesSlide5.xml" Id="R0e9a7c300f674ca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6046d0e2338421a" /><Relationship Type="http://schemas.openxmlformats.org/officeDocument/2006/relationships/notesSlide" Target="/ppt/notesSlides/notesSlide6.xml" Id="Rb1e0c2ef644e40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446f4ad948440c" /><Relationship Type="http://schemas.openxmlformats.org/officeDocument/2006/relationships/notesSlide" Target="/ppt/notesSlides/notesSlide7.xml" Id="R263013fa2b174f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6de56a1e464173" /><Relationship Type="http://schemas.openxmlformats.org/officeDocument/2006/relationships/notesSlide" Target="/ppt/notesSlides/notesSlide8.xml" Id="R7ec643fe78d146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4f4d05ca6b4682" /><Relationship Type="http://schemas.openxmlformats.org/officeDocument/2006/relationships/notesSlide" Target="/ppt/notesSlides/notesSlide9.xml" Id="R7acffcee940b40b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ac2db93154f4750" /><Relationship Type="http://schemas.openxmlformats.org/officeDocument/2006/relationships/notesSlide" Target="/ppt/notesSlides/notesSlide10.xml" Id="R799aa21513924e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628277da3314bc6" /><Relationship Type="http://schemas.openxmlformats.org/officeDocument/2006/relationships/notesSlide" Target="/ppt/notesSlides/notesSlide11.xml" Id="R2f7aa88fd6394d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70dbace158e4d4b" /><Relationship Type="http://schemas.openxmlformats.org/officeDocument/2006/relationships/notesSlide" Target="/ppt/notesSlides/notesSlide12.xml" Id="R3fe1558c6a1c4cc2" /></Relationships>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F54964AF-C744-43CB-A49E-E1018DCFA359}"/>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Phase 2 feasibility study</a:t>
            </a:r>
          </a:p>
        </p:txBody>
      </p:sp>
      <p:sp>
        <p:nvSpPr>
          <p:cNvPr id="2" name="page">
            <a:extLst xmlns:a="http://schemas.openxmlformats.org/drawingml/2006/main">
              <a:ext uri="{FF2B5EF4-FFF2-40B4-BE49-F238E27FC236}">
                <a16:creationId xmlns:a16="http://schemas.microsoft.com/office/drawing/2014/main" id="{2A4300C4-1CD6-43AB-A13C-9A57C7CFB6DC}"/>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Group 4  /  01</a:t>
            </a:r>
          </a:p>
        </p:txBody>
      </p:sp>
      <p:sp>
        <p:nvSpPr>
          <p:cNvPr id="3" name="sources">
            <a:extLst xmlns:a="http://schemas.openxmlformats.org/drawingml/2006/main">
              <a:ext uri="{FF2B5EF4-FFF2-40B4-BE49-F238E27FC236}">
                <a16:creationId xmlns:a16="http://schemas.microsoft.com/office/drawing/2014/main" id="{79055E3A-E18E-4AC7-B453-DE3A289DEC6C}"/>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[S02]</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8c6d4371dfb46a4"/>
          <a:stretch xmlns:a="http://schemas.openxmlformats.org/drawingml/2006/main"/>
        </p:blipFill>
        <p:spPr>
          <a:xfrm xmlns:a="http://schemas.openxmlformats.org/drawingml/2006/main">
            <a:off x="6231664" y="1409700"/>
            <a:ext cx="5281748" cy="2200275"/>
          </a:xfrm>
          <a:prstGeom xmlns:a="http://schemas.openxmlformats.org/drawingml/2006/main" prst="rect">
            <a:avLst/>
          </a:prstGeom>
        </p:spPr>
      </p:pic>
      <p:sp>
        <p:nvSpPr>
          <p:cNvPr id="5" name="purpose">
            <a:extLst xmlns:a="http://schemas.openxmlformats.org/drawingml/2006/main">
              <a:ext uri="{FF2B5EF4-FFF2-40B4-BE49-F238E27FC236}">
                <a16:creationId xmlns:a16="http://schemas.microsoft.com/office/drawing/2014/main" id="{06374405-B08E-4F9D-8A05-DE3176BDAE03}"/>
              </a:ext>
            </a:extLst>
          </p:cNvPr>
          <p:cNvSpPr>
            <a:spLocks xmlns:a="http://schemas.openxmlformats.org/drawingml/2006/main" noGrp="1"/>
          </p:cNvSpPr>
          <p:nvPr/>
        </p:nvSpPr>
        <p:spPr>
          <a:xfrm xmlns:a="http://schemas.openxmlformats.org/drawingml/2006/main">
            <a:off x="647700" y="1800225"/>
            <a:ext cx="5905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17343C"/>
                </a:solidFill>
                <a:latin typeface="Arial"/>
                <a:ea typeface="Arial"/>
                <a:cs typeface="Arial"/>
              </a:defRPr>
            </a:pPr>
            <a:r>
              <a:rPr sz="4125" b="1">
                <a:solidFill>
                  <a:srgbClr val="17343C"/>
                </a:solidFill>
                <a:latin typeface="Arial"/>
                <a:ea typeface="Arial"/>
                <a:cs typeface="Arial"/>
              </a:rPr>
              <a:t>Campus reuse</a:t>
            </a:r>
          </a:p>
          <a:p xmlns:a="http://schemas.openxmlformats.org/drawingml/2006/main">
            <a:pPr algn="l">
              <a:defRPr sz="4125" b="1">
                <a:solidFill>
                  <a:srgbClr val="17343C"/>
                </a:solidFill>
                <a:latin typeface="Arial"/>
                <a:ea typeface="Arial"/>
                <a:cs typeface="Arial"/>
              </a:defRPr>
            </a:pPr>
            <a:r>
              <a:rPr sz="4125" b="1">
                <a:solidFill>
                  <a:srgbClr val="17343C"/>
                </a:solidFill>
                <a:latin typeface="Arial"/>
                <a:ea typeface="Arial"/>
                <a:cs typeface="Arial"/>
              </a:rPr>
              <a:t>and asset life cycles</a:t>
            </a:r>
          </a:p>
        </p:txBody>
      </p:sp>
      <p:sp>
        <p:nvSpPr>
          <p:cNvPr id="6" name="brand">
            <a:extLst xmlns:a="http://schemas.openxmlformats.org/drawingml/2006/main">
              <a:ext uri="{FF2B5EF4-FFF2-40B4-BE49-F238E27FC236}">
                <a16:creationId xmlns:a16="http://schemas.microsoft.com/office/drawing/2014/main" id="{EA253AF8-B296-4F13-A79E-2EB3A76C8407}"/>
              </a:ext>
            </a:extLst>
          </p:cNvPr>
          <p:cNvSpPr>
            <a:spLocks xmlns:a="http://schemas.openxmlformats.org/drawingml/2006/main" noGrp="1"/>
          </p:cNvSpPr>
          <p:nvPr/>
        </p:nvSpPr>
        <p:spPr>
          <a:xfrm xmlns:a="http://schemas.openxmlformats.org/drawingml/2006/main">
            <a:off x="6467475" y="3686175"/>
            <a:ext cx="50768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264"/>
                </a:solidFill>
                <a:latin typeface="Arial"/>
                <a:ea typeface="Arial"/>
                <a:cs typeface="Arial"/>
              </a:defRPr>
            </a:pPr>
            <a:r>
              <a:rPr sz="1650" b="0">
                <a:solidFill>
                  <a:srgbClr val="526264"/>
                </a:solidFill>
                <a:latin typeface="Arial"/>
                <a:ea typeface="Arial"/>
                <a:cs typeface="Arial"/>
              </a:rPr>
              <a:t>Dawra Campus student project</a:t>
            </a:r>
          </a:p>
        </p:txBody>
      </p:sp>
      <p:sp>
        <p:nvSpPr>
          <p:cNvPr id="7" name="course">
            <a:extLst xmlns:a="http://schemas.openxmlformats.org/drawingml/2006/main">
              <a:ext uri="{FF2B5EF4-FFF2-40B4-BE49-F238E27FC236}">
                <a16:creationId xmlns:a16="http://schemas.microsoft.com/office/drawing/2014/main" id="{56315246-4471-45CE-8107-4547A32FA5AB}"/>
              </a:ext>
            </a:extLst>
          </p:cNvPr>
          <p:cNvSpPr>
            <a:spLocks xmlns:a="http://schemas.openxmlformats.org/drawingml/2006/main" noGrp="1"/>
          </p:cNvSpPr>
          <p:nvPr/>
        </p:nvSpPr>
        <p:spPr>
          <a:xfrm xmlns:a="http://schemas.openxmlformats.org/drawingml/2006/main">
            <a:off x="647700" y="4114800"/>
            <a:ext cx="4953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COSC 336  /  Group 4</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Khalifa University</a:t>
            </a:r>
          </a:p>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29 September 2026</a:t>
            </a:r>
          </a:p>
        </p:txBody>
      </p:sp>
      <p:sp>
        <p:nvSpPr>
          <p:cNvPr id="8" name="team">
            <a:extLst xmlns:a="http://schemas.openxmlformats.org/drawingml/2006/main">
              <a:ext uri="{FF2B5EF4-FFF2-40B4-BE49-F238E27FC236}">
                <a16:creationId xmlns:a16="http://schemas.microsoft.com/office/drawing/2014/main" id="{2128FBBD-0772-40CA-80E2-A28AC3E73DAC}"/>
              </a:ext>
            </a:extLst>
          </p:cNvPr>
          <p:cNvSpPr>
            <a:spLocks xmlns:a="http://schemas.openxmlformats.org/drawingml/2006/main" noGrp="1"/>
          </p:cNvSpPr>
          <p:nvPr/>
        </p:nvSpPr>
        <p:spPr>
          <a:xfrm xmlns:a="http://schemas.openxmlformats.org/drawingml/2006/main">
            <a:off x="6467475" y="4457700"/>
            <a:ext cx="507682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343C"/>
                </a:solidFill>
                <a:latin typeface="Arial"/>
                <a:ea typeface="Arial"/>
                <a:cs typeface="Arial"/>
              </a:defRPr>
            </a:pPr>
            <a:r>
              <a:rPr sz="1950" b="0">
                <a:solidFill>
                  <a:srgbClr val="17343C"/>
                </a:solidFill>
                <a:latin typeface="Arial"/>
                <a:ea typeface="Arial"/>
                <a:cs typeface="Arial"/>
              </a:rPr>
              <a:t>Sultan Almheiri  100065654</a:t>
            </a:r>
          </a:p>
          <a:p xmlns:a="http://schemas.openxmlformats.org/drawingml/2006/main">
            <a:pPr algn="l">
              <a:defRPr sz="1950" b="0">
                <a:solidFill>
                  <a:srgbClr val="17343C"/>
                </a:solidFill>
                <a:latin typeface="Arial"/>
                <a:ea typeface="Arial"/>
                <a:cs typeface="Arial"/>
              </a:defRPr>
            </a:pPr>
            <a:r>
              <a:rPr sz="1950" b="0">
                <a:solidFill>
                  <a:srgbClr val="17343C"/>
                </a:solidFill>
                <a:latin typeface="Arial"/>
                <a:ea typeface="Arial"/>
                <a:cs typeface="Arial"/>
              </a:rPr>
              <a:t>Zayed Alfadli  100064657</a:t>
            </a:r>
          </a:p>
          <a:p xmlns:a="http://schemas.openxmlformats.org/drawingml/2006/main">
            <a:pPr algn="l">
              <a:defRPr sz="1950" b="0">
                <a:solidFill>
                  <a:srgbClr val="17343C"/>
                </a:solidFill>
                <a:latin typeface="Arial"/>
                <a:ea typeface="Arial"/>
                <a:cs typeface="Arial"/>
              </a:defRPr>
            </a:pPr>
            <a:r>
              <a:rPr sz="1950" b="0">
                <a:solidFill>
                  <a:srgbClr val="17343C"/>
                </a:solidFill>
                <a:latin typeface="Arial"/>
                <a:ea typeface="Arial"/>
                <a:cs typeface="Arial"/>
              </a:rPr>
              <a:t>Ghaith Alhinaai  100066185</a:t>
            </a:r>
          </a:p>
        </p:txBody>
      </p:sp>
      <p:sp>
        <p:nvSpPr>
          <p:cNvPr id="9" name="takeaway">
            <a:extLst xmlns:a="http://schemas.openxmlformats.org/drawingml/2006/main">
              <a:ext uri="{FF2B5EF4-FFF2-40B4-BE49-F238E27FC236}">
                <a16:creationId xmlns:a16="http://schemas.microsoft.com/office/drawing/2014/main" id="{D1EE9E17-F588-4B09-B975-2C4D8FAE573F}"/>
              </a:ext>
            </a:extLst>
          </p:cNvPr>
          <p:cNvSpPr>
            <a:spLocks xmlns:a="http://schemas.openxmlformats.org/drawingml/2006/main" noGrp="1"/>
          </p:cNvSpPr>
          <p:nvPr/>
        </p:nvSpPr>
        <p:spPr>
          <a:xfrm xmlns:a="http://schemas.openxmlformats.org/drawingml/2006/main">
            <a:off x="647700" y="6029325"/>
            <a:ext cx="10896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6746D"/>
                </a:solidFill>
                <a:latin typeface="Arial"/>
                <a:ea typeface="Arial"/>
                <a:cs typeface="Arial"/>
              </a:defRPr>
            </a:pPr>
            <a:r>
              <a:rPr sz="1875" b="1">
                <a:solidFill>
                  <a:srgbClr val="26746D"/>
                </a:solidFill>
                <a:latin typeface="Arial"/>
                <a:ea typeface="Arial"/>
                <a:cs typeface="Arial"/>
              </a:rPr>
              <a:t>A student prototype for campus reuse. Benefits still need validation.</a:t>
            </a:r>
          </a:p>
        </p:txBody>
      </p:sp>
    </p:spTree>
    <p:extLst>
      <p:ext uri="{BB962C8B-B14F-4D97-AF65-F5344CB8AC3E}">
        <p14:creationId xmlns:p14="http://schemas.microsoft.com/office/powerpoint/2010/main" val="1565791179"/>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D05563A2-3ECB-4475-9590-0187743B6DA2}"/>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What we plan to build</a:t>
            </a:r>
          </a:p>
        </p:txBody>
      </p:sp>
      <p:sp>
        <p:nvSpPr>
          <p:cNvPr id="2" name="page">
            <a:extLst xmlns:a="http://schemas.openxmlformats.org/drawingml/2006/main">
              <a:ext uri="{FF2B5EF4-FFF2-40B4-BE49-F238E27FC236}">
                <a16:creationId xmlns:a16="http://schemas.microsoft.com/office/drawing/2014/main" id="{5E1989AB-F65E-441A-8609-57D8B4DC0E40}"/>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Group 4  /  02</a:t>
            </a:r>
          </a:p>
        </p:txBody>
      </p:sp>
      <p:sp>
        <p:nvSpPr>
          <p:cNvPr id="3" name="sources">
            <a:extLst xmlns:a="http://schemas.openxmlformats.org/drawingml/2006/main">
              <a:ext uri="{FF2B5EF4-FFF2-40B4-BE49-F238E27FC236}">
                <a16:creationId xmlns:a16="http://schemas.microsoft.com/office/drawing/2014/main" id="{21DFD747-7D57-4446-A7C4-A72ADA6C3EB0}"/>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[S02]</a:t>
            </a:r>
          </a:p>
        </p:txBody>
      </p:sp>
      <p:graphicFrame>
        <p:nvGraphicFramePr>
          <p:cNvPr id="9" name=""/>
          <p:cNvGraphicFramePr/>
          <p:nvPr/>
        </p:nvGraphicFramePr>
        <p:xfrm>
          <a:off xmlns:a="http://schemas.openxmlformats.org/drawingml/2006/main" x="647700" y="1628775"/>
          <a:ext xmlns:a="http://schemas.openxmlformats.org/drawingml/2006/main" cx="10896600" cy="4314825"/>
        </p:xfrm>
        <a:graphic xmlns:a="http://schemas.openxmlformats.org/drawingml/2006/main">
          <a:graphicData uri="http://schemas.openxmlformats.org/drawingml/2006/table">
            <a:tbl>
              <a:tblPr firstRow="0" firstCol="0" bandRow="0"/>
              <a:tblGrid>
                <a:gridCol w="1905000"/>
                <a:gridCol w="4714875"/>
                <a:gridCol w="4276725"/>
              </a:tblGrid>
              <a:tr h="542925">
                <a:tc>
                  <a:txBody>
                    <a:bodyPr lIns="123825" tIns="76200" rIns="123825" bIns="76200">
                      <a:noAutofit/>
                    </a:bodyPr>
                    <a:lstStyle/>
                    <a:p>
                      <a:r>
                        <a:rPr sz="1875" b="1">
                          <a:solidFill>
                            <a:srgbClr val="FFFFFF"/>
                          </a:solidFill>
                          <a:latin typeface="Arial"/>
                          <a:ea typeface="Arial"/>
                          <a:cs typeface="Arial"/>
                        </a:rPr>
                        <a:t>Area</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In scope</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Outside this prototype</a:t>
                      </a:r>
                    </a:p>
                  </a:txBody>
                  <a:tcPr marL="91440" marR="91440" marT="45720" marB="45720" anchor="ctr">
                    <a:solidFill>
                      <a:srgbClr val="17343C"/>
                    </a:solidFill>
                  </a:tcPr>
                </a:tc>
              </a:tr>
              <a:tr h="942975">
                <a:tc>
                  <a:txBody>
                    <a:bodyPr lIns="123825" tIns="76200" rIns="123825" bIns="76200">
                      <a:noAutofit/>
                    </a:bodyPr>
                    <a:lstStyle/>
                    <a:p>
                      <a:r>
                        <a:rPr sz="2025" b="0">
                          <a:solidFill>
                            <a:srgbClr val="17343C"/>
                          </a:solidFill>
                          <a:latin typeface="Arial"/>
                          <a:ea typeface="Arial"/>
                          <a:cs typeface="Arial"/>
                        </a:rPr>
                        <a:t>Asset work</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Inventory, requests, approvals,</a:t>
                      </a:r>
                    </a:p>
                    <a:p>
                      <a:r>
                        <a:rPr sz="2025" b="0">
                          <a:solidFill>
                            <a:srgbClr val="17343C"/>
                          </a:solidFill>
                          <a:latin typeface="Arial"/>
                          <a:ea typeface="Arial"/>
                          <a:cs typeface="Arial"/>
                        </a:rPr>
                        <a:t>transfer and custody records</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Live KU system integration</a:t>
                      </a:r>
                    </a:p>
                    <a:p>
                      <a:r>
                        <a:rPr sz="2025" b="0">
                          <a:solidFill>
                            <a:srgbClr val="17343C"/>
                          </a:solidFill>
                          <a:latin typeface="Arial"/>
                          <a:ea typeface="Arial"/>
                          <a:cs typeface="Arial"/>
                        </a:rPr>
                        <a:t>and physical transport</a:t>
                      </a:r>
                    </a:p>
                  </a:txBody>
                  <a:tcPr marL="91440" marR="91440" marT="45720" marB="45720" anchor="ctr">
                    <a:solidFill>
                      <a:srgbClr val="FAFAF7"/>
                    </a:solidFill>
                  </a:tcPr>
                </a:tc>
              </a:tr>
              <a:tr h="942975">
                <a:tc>
                  <a:txBody>
                    <a:bodyPr lIns="123825" tIns="76200" rIns="123825" bIns="76200">
                      <a:noAutofit/>
                    </a:bodyPr>
                    <a:lstStyle/>
                    <a:p>
                      <a:r>
                        <a:rPr sz="2025" b="0">
                          <a:solidFill>
                            <a:srgbClr val="17343C"/>
                          </a:solidFill>
                          <a:latin typeface="Arial"/>
                          <a:ea typeface="Arial"/>
                          <a:cs typeface="Arial"/>
                        </a:rPr>
                        <a:t>Life cycle</a:t>
                      </a:r>
                    </a:p>
                  </a:txBody>
                  <a:tcPr marL="91440" marR="91440" marT="45720" marB="45720" anchor="ctr">
                    <a:solidFill>
                      <a:srgbClr val="F0F4F3"/>
                    </a:solidFill>
                  </a:tcPr>
                </a:tc>
                <a:tc>
                  <a:txBody>
                    <a:bodyPr lIns="123825" tIns="76200" rIns="123825" bIns="76200">
                      <a:noAutofit/>
                    </a:bodyPr>
                    <a:lstStyle/>
                    <a:p>
                      <a:r>
                        <a:rPr sz="2025" b="0">
                          <a:solidFill>
                            <a:srgbClr val="17343C"/>
                          </a:solidFill>
                          <a:latin typeface="Arial"/>
                          <a:ea typeface="Arial"/>
                          <a:cs typeface="Arial"/>
                        </a:rPr>
                        <a:t>Maintenance, repair, retirement</a:t>
                      </a:r>
                    </a:p>
                    <a:p>
                      <a:r>
                        <a:rPr sz="2025" b="0">
                          <a:solidFill>
                            <a:srgbClr val="17343C"/>
                          </a:solidFill>
                          <a:latin typeface="Arial"/>
                          <a:ea typeface="Arial"/>
                          <a:cs typeface="Arial"/>
                        </a:rPr>
                        <a:t>and sustainability records</a:t>
                      </a:r>
                    </a:p>
                  </a:txBody>
                  <a:tcPr marL="91440" marR="91440" marT="45720" marB="45720" anchor="ctr">
                    <a:solidFill>
                      <a:srgbClr val="F0F4F3"/>
                    </a:solidFill>
                  </a:tcPr>
                </a:tc>
                <a:tc>
                  <a:txBody>
                    <a:bodyPr lIns="123825" tIns="76200" rIns="123825" bIns="76200">
                      <a:noAutofit/>
                    </a:bodyPr>
                    <a:lstStyle/>
                    <a:p>
                      <a:r>
                        <a:rPr sz="2025" b="0">
                          <a:solidFill>
                            <a:srgbClr val="17343C"/>
                          </a:solidFill>
                          <a:latin typeface="Arial"/>
                          <a:ea typeface="Arial"/>
                          <a:cs typeface="Arial"/>
                        </a:rPr>
                        <a:t>Purchase/payment processing</a:t>
                      </a:r>
                    </a:p>
                    <a:p>
                      <a:r>
                        <a:rPr sz="2025" b="0">
                          <a:solidFill>
                            <a:srgbClr val="17343C"/>
                          </a:solidFill>
                          <a:latin typeface="Arial"/>
                          <a:ea typeface="Arial"/>
                          <a:cs typeface="Arial"/>
                        </a:rPr>
                        <a:t>and barcode/RFID hardware</a:t>
                      </a:r>
                    </a:p>
                  </a:txBody>
                  <a:tcPr marL="91440" marR="91440" marT="45720" marB="45720" anchor="ctr">
                    <a:solidFill>
                      <a:srgbClr val="F0F4F3"/>
                    </a:solidFill>
                  </a:tcPr>
                </a:tc>
              </a:tr>
              <a:tr h="942975">
                <a:tc>
                  <a:txBody>
                    <a:bodyPr lIns="123825" tIns="76200" rIns="123825" bIns="76200">
                      <a:noAutofit/>
                    </a:bodyPr>
                    <a:lstStyle/>
                    <a:p>
                      <a:r>
                        <a:rPr sz="2025" b="0">
                          <a:solidFill>
                            <a:srgbClr val="17343C"/>
                          </a:solidFill>
                          <a:latin typeface="Arial"/>
                          <a:ea typeface="Arial"/>
                          <a:cs typeface="Arial"/>
                        </a:rPr>
                        <a:t>AI support</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Six AI functions with</a:t>
                      </a:r>
                    </a:p>
                    <a:p>
                      <a:r>
                        <a:rPr sz="2025" b="0">
                          <a:solidFill>
                            <a:srgbClr val="17343C"/>
                          </a:solidFill>
                          <a:latin typeface="Arial"/>
                          <a:ea typeface="Arial"/>
                          <a:cs typeface="Arial"/>
                        </a:rPr>
                        <a:t>human review and classic fallback</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New model training</a:t>
                      </a:r>
                    </a:p>
                    <a:p>
                      <a:r>
                        <a:rPr sz="2025" b="0">
                          <a:solidFill>
                            <a:srgbClr val="17343C"/>
                          </a:solidFill>
                          <a:latin typeface="Arial"/>
                          <a:ea typeface="Arial"/>
                          <a:cs typeface="Arial"/>
                        </a:rPr>
                        <a:t>and autonomous approvals</a:t>
                      </a:r>
                    </a:p>
                  </a:txBody>
                  <a:tcPr marL="91440" marR="91440" marT="45720" marB="45720" anchor="ctr">
                    <a:solidFill>
                      <a:srgbClr val="FAFAF7"/>
                    </a:solidFill>
                  </a:tcPr>
                </a:tc>
              </a:tr>
              <a:tr h="942975">
                <a:tc>
                  <a:txBody>
                    <a:bodyPr lIns="123825" tIns="76200" rIns="123825" bIns="76200">
                      <a:noAutofit/>
                    </a:bodyPr>
                    <a:lstStyle/>
                    <a:p>
                      <a:r>
                        <a:rPr sz="2025" b="0">
                          <a:solidFill>
                            <a:srgbClr val="17343C"/>
                          </a:solidFill>
                          <a:latin typeface="Arial"/>
                          <a:ea typeface="Arial"/>
                          <a:cs typeface="Arial"/>
                        </a:rPr>
                        <a:t>Delivery</a:t>
                      </a:r>
                    </a:p>
                  </a:txBody>
                  <a:tcPr marL="91440" marR="91440" marT="45720" marB="45720" anchor="ctr">
                    <a:solidFill>
                      <a:srgbClr val="F0F4F3"/>
                    </a:solidFill>
                  </a:tcPr>
                </a:tc>
                <a:tc>
                  <a:txBody>
                    <a:bodyPr lIns="123825" tIns="76200" rIns="123825" bIns="76200">
                      <a:noAutofit/>
                    </a:bodyPr>
                    <a:lstStyle/>
                    <a:p>
                      <a:r>
                        <a:rPr sz="2025" b="0">
                          <a:solidFill>
                            <a:srgbClr val="17343C"/>
                          </a:solidFill>
                          <a:latin typeface="Arial"/>
                          <a:ea typeface="Arial"/>
                          <a:cs typeface="Arial"/>
                        </a:rPr>
                        <a:t>Responsive website, reports,</a:t>
                      </a:r>
                    </a:p>
                    <a:p>
                      <a:r>
                        <a:rPr sz="2025" b="0">
                          <a:solidFill>
                            <a:srgbClr val="17343C"/>
                          </a:solidFill>
                          <a:latin typeface="Arial"/>
                          <a:ea typeface="Arial"/>
                          <a:cs typeface="Arial"/>
                        </a:rPr>
                        <a:t>hosting and recovery instructions</a:t>
                      </a:r>
                    </a:p>
                  </a:txBody>
                  <a:tcPr marL="91440" marR="91440" marT="45720" marB="45720" anchor="ctr">
                    <a:solidFill>
                      <a:srgbClr val="F0F4F3"/>
                    </a:solidFill>
                  </a:tcPr>
                </a:tc>
                <a:tc>
                  <a:txBody>
                    <a:bodyPr lIns="123825" tIns="76200" rIns="123825" bIns="76200">
                      <a:noAutofit/>
                    </a:bodyPr>
                    <a:lstStyle/>
                    <a:p>
                      <a:r>
                        <a:rPr sz="2025" b="0">
                          <a:solidFill>
                            <a:srgbClr val="17343C"/>
                          </a:solidFill>
                          <a:latin typeface="Arial"/>
                          <a:ea typeface="Arial"/>
                          <a:cs typeface="Arial"/>
                        </a:rPr>
                        <a:t>Separate native mobile apps</a:t>
                      </a:r>
                    </a:p>
                  </a:txBody>
                  <a:tcPr marL="91440" marR="91440" marT="45720" marB="45720" anchor="ctr">
                    <a:solidFill>
                      <a:srgbClr val="F0F4F3"/>
                    </a:solidFill>
                  </a:tcPr>
                </a:tc>
              </a:tr>
            </a:tbl>
          </a:graphicData>
        </a:graphic>
      </p:graphicFrame>
      <p:sp>
        <p:nvSpPr>
          <p:cNvPr id="5" name="takeaway">
            <a:extLst xmlns:a="http://schemas.openxmlformats.org/drawingml/2006/main">
              <a:ext uri="{FF2B5EF4-FFF2-40B4-BE49-F238E27FC236}">
                <a16:creationId xmlns:a16="http://schemas.microsoft.com/office/drawing/2014/main" id="{D0D7F6D1-FE04-4514-B278-CE5AD7A42476}"/>
              </a:ext>
            </a:extLst>
          </p:cNvPr>
          <p:cNvSpPr>
            <a:spLocks xmlns:a="http://schemas.openxmlformats.org/drawingml/2006/main" noGrp="1"/>
          </p:cNvSpPr>
          <p:nvPr/>
        </p:nvSpPr>
        <p:spPr>
          <a:xfrm xmlns:a="http://schemas.openxmlformats.org/drawingml/2006/main">
            <a:off x="647700" y="6048375"/>
            <a:ext cx="10896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26746D"/>
                </a:solidFill>
                <a:latin typeface="Arial"/>
                <a:ea typeface="Arial"/>
                <a:cs typeface="Arial"/>
              </a:defRPr>
            </a:pPr>
            <a:r>
              <a:rPr sz="1950" b="1">
                <a:solidFill>
                  <a:srgbClr val="26746D"/>
                </a:solidFill>
                <a:latin typeface="Arial"/>
                <a:ea typeface="Arial"/>
                <a:cs typeface="Arial"/>
              </a:rPr>
              <a:t>The monitor request is one example within this wider scope.</a:t>
            </a:r>
          </a:p>
        </p:txBody>
      </p:sp>
    </p:spTree>
    <p:extLst>
      <p:ext uri="{BB962C8B-B14F-4D97-AF65-F5344CB8AC3E}">
        <p14:creationId xmlns:p14="http://schemas.microsoft.com/office/powerpoint/2010/main" val="215551660"/>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FD54021F-C0B1-4824-993B-34FA6879F1E1}"/>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One monitor request shows the workflow</a:t>
            </a:r>
          </a:p>
        </p:txBody>
      </p:sp>
      <p:sp>
        <p:nvSpPr>
          <p:cNvPr id="2" name="page">
            <a:extLst xmlns:a="http://schemas.openxmlformats.org/drawingml/2006/main">
              <a:ext uri="{FF2B5EF4-FFF2-40B4-BE49-F238E27FC236}">
                <a16:creationId xmlns:a16="http://schemas.microsoft.com/office/drawing/2014/main" id="{179A3DBB-C3A5-48C0-A276-9A15A632DB8D}"/>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Group 4  /  03</a:t>
            </a:r>
          </a:p>
        </p:txBody>
      </p:sp>
      <p:sp>
        <p:nvSpPr>
          <p:cNvPr id="3" name="sources">
            <a:extLst xmlns:a="http://schemas.openxmlformats.org/drawingml/2006/main">
              <a:ext uri="{FF2B5EF4-FFF2-40B4-BE49-F238E27FC236}">
                <a16:creationId xmlns:a16="http://schemas.microsoft.com/office/drawing/2014/main" id="{9F196208-930D-46F9-AFF9-CE5714D9201B}"/>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[S02] [S03] [S35] [S36]</a:t>
            </a:r>
          </a:p>
        </p:txBody>
      </p:sp>
      <p:sp>
        <p:nvSpPr>
          <p:cNvPr id="4" name="request">
            <a:extLst xmlns:a="http://schemas.openxmlformats.org/drawingml/2006/main">
              <a:ext uri="{FF2B5EF4-FFF2-40B4-BE49-F238E27FC236}">
                <a16:creationId xmlns:a16="http://schemas.microsoft.com/office/drawing/2014/main" id="{8FCB8D57-D77D-46C2-B52B-B4FB54254652}"/>
              </a:ext>
            </a:extLst>
          </p:cNvPr>
          <p:cNvSpPr>
            <a:spLocks xmlns:a="http://schemas.openxmlformats.org/drawingml/2006/main" noGrp="1"/>
          </p:cNvSpPr>
          <p:nvPr/>
        </p:nvSpPr>
        <p:spPr>
          <a:xfrm xmlns:a="http://schemas.openxmlformats.org/drawingml/2006/main">
            <a:off x="647700" y="1457325"/>
            <a:ext cx="10896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26746D"/>
                </a:solidFill>
                <a:latin typeface="Arial"/>
                <a:ea typeface="Arial"/>
                <a:cs typeface="Arial"/>
              </a:defRPr>
            </a:pPr>
            <a:r>
              <a:rPr sz="2475" b="1">
                <a:solidFill>
                  <a:srgbClr val="26746D"/>
                </a:solidFill>
                <a:latin typeface="Arial"/>
                <a:ea typeface="Arial"/>
                <a:cs typeface="Arial"/>
              </a:rPr>
              <a:t>A staff member needs two suitable working monitors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87b074f2b8da4d3c"/>
          <a:stretch xmlns:a="http://schemas.openxmlformats.org/drawingml/2006/main"/>
        </p:blipFill>
        <p:spPr>
          <a:xfrm xmlns:a="http://schemas.openxmlformats.org/drawingml/2006/main">
            <a:off x="1476375" y="2352675"/>
            <a:ext cx="9258300" cy="3086100"/>
          </a:xfrm>
          <a:prstGeom xmlns:a="http://schemas.openxmlformats.org/drawingml/2006/main" prst="rect">
            <a:avLst/>
          </a:prstGeom>
        </p:spPr>
      </p:pic>
      <p:sp>
        <p:nvSpPr>
          <p:cNvPr id="6" name="stage0">
            <a:extLst xmlns:a="http://schemas.openxmlformats.org/drawingml/2006/main">
              <a:ext uri="{FF2B5EF4-FFF2-40B4-BE49-F238E27FC236}">
                <a16:creationId xmlns:a16="http://schemas.microsoft.com/office/drawing/2014/main" id="{3B281235-AA40-4E74-81DB-5D1ED8A80E95}"/>
              </a:ext>
            </a:extLst>
          </p:cNvPr>
          <p:cNvSpPr>
            <a:spLocks xmlns:a="http://schemas.openxmlformats.org/drawingml/2006/main" noGrp="1"/>
          </p:cNvSpPr>
          <p:nvPr/>
        </p:nvSpPr>
        <p:spPr>
          <a:xfrm xmlns:a="http://schemas.openxmlformats.org/drawingml/2006/main">
            <a:off x="647700" y="2057400"/>
            <a:ext cx="2638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43C"/>
                </a:solidFill>
                <a:latin typeface="Arial"/>
                <a:ea typeface="Arial"/>
                <a:cs typeface="Arial"/>
              </a:defRPr>
            </a:pPr>
            <a:r>
              <a:rPr sz="2100" b="1">
                <a:solidFill>
                  <a:srgbClr val="17343C"/>
                </a:solidFill>
                <a:latin typeface="Arial"/>
                <a:ea typeface="Arial"/>
                <a:cs typeface="Arial"/>
              </a:rPr>
              <a:t>1  Request</a:t>
            </a:r>
          </a:p>
        </p:txBody>
      </p:sp>
      <p:sp>
        <p:nvSpPr>
          <p:cNvPr id="7" name="role0">
            <a:extLst xmlns:a="http://schemas.openxmlformats.org/drawingml/2006/main">
              <a:ext uri="{FF2B5EF4-FFF2-40B4-BE49-F238E27FC236}">
                <a16:creationId xmlns:a16="http://schemas.microsoft.com/office/drawing/2014/main" id="{958C85AB-5B53-4AFD-9537-558B4C13AAC7}"/>
              </a:ext>
            </a:extLst>
          </p:cNvPr>
          <p:cNvSpPr>
            <a:spLocks xmlns:a="http://schemas.openxmlformats.org/drawingml/2006/main" noGrp="1"/>
          </p:cNvSpPr>
          <p:nvPr/>
        </p:nvSpPr>
        <p:spPr>
          <a:xfrm xmlns:a="http://schemas.openxmlformats.org/drawingml/2006/main">
            <a:off x="647700" y="5486400"/>
            <a:ext cx="2638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Staff describe the need</a:t>
            </a:r>
          </a:p>
        </p:txBody>
      </p:sp>
      <p:sp>
        <p:nvSpPr>
          <p:cNvPr id="8" name="stage1">
            <a:extLst xmlns:a="http://schemas.openxmlformats.org/drawingml/2006/main">
              <a:ext uri="{FF2B5EF4-FFF2-40B4-BE49-F238E27FC236}">
                <a16:creationId xmlns:a16="http://schemas.microsoft.com/office/drawing/2014/main" id="{DBD2F3F9-9E90-4AEC-A312-B9FF6003B1A5}"/>
              </a:ext>
            </a:extLst>
          </p:cNvPr>
          <p:cNvSpPr>
            <a:spLocks xmlns:a="http://schemas.openxmlformats.org/drawingml/2006/main" noGrp="1"/>
          </p:cNvSpPr>
          <p:nvPr/>
        </p:nvSpPr>
        <p:spPr>
          <a:xfrm xmlns:a="http://schemas.openxmlformats.org/drawingml/2006/main">
            <a:off x="3381375" y="2057400"/>
            <a:ext cx="2638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43C"/>
                </a:solidFill>
                <a:latin typeface="Arial"/>
                <a:ea typeface="Arial"/>
                <a:cs typeface="Arial"/>
              </a:defRPr>
            </a:pPr>
            <a:r>
              <a:rPr sz="2100" b="1">
                <a:solidFill>
                  <a:srgbClr val="17343C"/>
                </a:solidFill>
                <a:latin typeface="Arial"/>
                <a:ea typeface="Arial"/>
                <a:cs typeface="Arial"/>
              </a:rPr>
              <a:t>2  Find spares</a:t>
            </a:r>
          </a:p>
        </p:txBody>
      </p:sp>
      <p:sp>
        <p:nvSpPr>
          <p:cNvPr id="9" name="role1">
            <a:extLst xmlns:a="http://schemas.openxmlformats.org/drawingml/2006/main">
              <a:ext uri="{FF2B5EF4-FFF2-40B4-BE49-F238E27FC236}">
                <a16:creationId xmlns:a16="http://schemas.microsoft.com/office/drawing/2014/main" id="{B42B76E4-A516-4A06-9031-40950E087CBE}"/>
              </a:ext>
            </a:extLst>
          </p:cNvPr>
          <p:cNvSpPr>
            <a:spLocks xmlns:a="http://schemas.openxmlformats.org/drawingml/2006/main" noGrp="1"/>
          </p:cNvSpPr>
          <p:nvPr/>
        </p:nvSpPr>
        <p:spPr>
          <a:xfrm xmlns:a="http://schemas.openxmlformats.org/drawingml/2006/main">
            <a:off x="3381375" y="5486400"/>
            <a:ext cx="2638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Check fit and availability</a:t>
            </a:r>
          </a:p>
        </p:txBody>
      </p:sp>
      <p:sp>
        <p:nvSpPr>
          <p:cNvPr id="10" name="stage2">
            <a:extLst xmlns:a="http://schemas.openxmlformats.org/drawingml/2006/main">
              <a:ext uri="{FF2B5EF4-FFF2-40B4-BE49-F238E27FC236}">
                <a16:creationId xmlns:a16="http://schemas.microsoft.com/office/drawing/2014/main" id="{2F325078-1E3F-489B-AD1C-5C4E6878193B}"/>
              </a:ext>
            </a:extLst>
          </p:cNvPr>
          <p:cNvSpPr>
            <a:spLocks xmlns:a="http://schemas.openxmlformats.org/drawingml/2006/main" noGrp="1"/>
          </p:cNvSpPr>
          <p:nvPr/>
        </p:nvSpPr>
        <p:spPr>
          <a:xfrm xmlns:a="http://schemas.openxmlformats.org/drawingml/2006/main">
            <a:off x="6115050" y="2057400"/>
            <a:ext cx="2638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43C"/>
                </a:solidFill>
                <a:latin typeface="Arial"/>
                <a:ea typeface="Arial"/>
                <a:cs typeface="Arial"/>
              </a:defRPr>
            </a:pPr>
            <a:r>
              <a:rPr sz="2100" b="1">
                <a:solidFill>
                  <a:srgbClr val="17343C"/>
                </a:solidFill>
                <a:latin typeface="Arial"/>
                <a:ea typeface="Arial"/>
                <a:cs typeface="Arial"/>
              </a:rPr>
              <a:t>3  Approve</a:t>
            </a:r>
          </a:p>
        </p:txBody>
      </p:sp>
      <p:sp>
        <p:nvSpPr>
          <p:cNvPr id="11" name="role2">
            <a:extLst xmlns:a="http://schemas.openxmlformats.org/drawingml/2006/main">
              <a:ext uri="{FF2B5EF4-FFF2-40B4-BE49-F238E27FC236}">
                <a16:creationId xmlns:a16="http://schemas.microsoft.com/office/drawing/2014/main" id="{4804D2FF-7C01-43C5-9D88-A43745C6CC0D}"/>
              </a:ext>
            </a:extLst>
          </p:cNvPr>
          <p:cNvSpPr>
            <a:spLocks xmlns:a="http://schemas.openxmlformats.org/drawingml/2006/main" noGrp="1"/>
          </p:cNvSpPr>
          <p:nvPr/>
        </p:nvSpPr>
        <p:spPr>
          <a:xfrm xmlns:a="http://schemas.openxmlformats.org/drawingml/2006/main">
            <a:off x="6115050" y="5486400"/>
            <a:ext cx="2638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Release and receive</a:t>
            </a:r>
          </a:p>
        </p:txBody>
      </p:sp>
      <p:sp>
        <p:nvSpPr>
          <p:cNvPr id="12" name="stage3">
            <a:extLst xmlns:a="http://schemas.openxmlformats.org/drawingml/2006/main">
              <a:ext uri="{FF2B5EF4-FFF2-40B4-BE49-F238E27FC236}">
                <a16:creationId xmlns:a16="http://schemas.microsoft.com/office/drawing/2014/main" id="{1DCEF90A-7C1E-4932-A034-523B62971F65}"/>
              </a:ext>
            </a:extLst>
          </p:cNvPr>
          <p:cNvSpPr>
            <a:spLocks xmlns:a="http://schemas.openxmlformats.org/drawingml/2006/main" noGrp="1"/>
          </p:cNvSpPr>
          <p:nvPr/>
        </p:nvSpPr>
        <p:spPr>
          <a:xfrm xmlns:a="http://schemas.openxmlformats.org/drawingml/2006/main">
            <a:off x="8848725" y="2057400"/>
            <a:ext cx="2638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43C"/>
                </a:solidFill>
                <a:latin typeface="Arial"/>
                <a:ea typeface="Arial"/>
                <a:cs typeface="Arial"/>
              </a:defRPr>
            </a:pPr>
            <a:r>
              <a:rPr sz="2100" b="1">
                <a:solidFill>
                  <a:srgbClr val="17343C"/>
                </a:solidFill>
                <a:latin typeface="Arial"/>
                <a:ea typeface="Arial"/>
                <a:cs typeface="Arial"/>
              </a:rPr>
              <a:t>4  Handover</a:t>
            </a:r>
          </a:p>
        </p:txBody>
      </p:sp>
      <p:sp>
        <p:nvSpPr>
          <p:cNvPr id="13" name="role3">
            <a:extLst xmlns:a="http://schemas.openxmlformats.org/drawingml/2006/main">
              <a:ext uri="{FF2B5EF4-FFF2-40B4-BE49-F238E27FC236}">
                <a16:creationId xmlns:a16="http://schemas.microsoft.com/office/drawing/2014/main" id="{54EEDBA5-74BF-4E6B-98C3-5F10DC77630C}"/>
              </a:ext>
            </a:extLst>
          </p:cNvPr>
          <p:cNvSpPr>
            <a:spLocks xmlns:a="http://schemas.openxmlformats.org/drawingml/2006/main" noGrp="1"/>
          </p:cNvSpPr>
          <p:nvPr/>
        </p:nvSpPr>
        <p:spPr>
          <a:xfrm xmlns:a="http://schemas.openxmlformats.org/drawingml/2006/main">
            <a:off x="8848725" y="5486400"/>
            <a:ext cx="2638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Update custody records</a:t>
            </a:r>
          </a:p>
        </p:txBody>
      </p:sp>
      <p:sp>
        <p:nvSpPr>
          <p:cNvPr id="14" name="takeaway">
            <a:extLst xmlns:a="http://schemas.openxmlformats.org/drawingml/2006/main">
              <a:ext uri="{FF2B5EF4-FFF2-40B4-BE49-F238E27FC236}">
                <a16:creationId xmlns:a16="http://schemas.microsoft.com/office/drawing/2014/main" id="{A3225A16-1A29-4E20-B9E7-4BE99306293B}"/>
              </a:ext>
            </a:extLst>
          </p:cNvPr>
          <p:cNvSpPr>
            <a:spLocks xmlns:a="http://schemas.openxmlformats.org/drawingml/2006/main" noGrp="1"/>
          </p:cNvSpPr>
          <p:nvPr/>
        </p:nvSpPr>
        <p:spPr>
          <a:xfrm xmlns:a="http://schemas.openxmlformats.org/drawingml/2006/main">
            <a:off x="647700" y="6076950"/>
            <a:ext cx="10896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26746D"/>
                </a:solidFill>
                <a:latin typeface="Arial"/>
                <a:ea typeface="Arial"/>
                <a:cs typeface="Arial"/>
              </a:defRPr>
            </a:pPr>
            <a:r>
              <a:rPr sz="1800" b="1">
                <a:solidFill>
                  <a:srgbClr val="26746D"/>
                </a:solidFill>
                <a:latin typeface="Arial"/>
                <a:ea typeface="Arial"/>
                <a:cs typeface="Arial"/>
              </a:rPr>
              <a:t>Proposed owner: Facilities Management. KU must confirm responsibilities.</a:t>
            </a:r>
          </a:p>
        </p:txBody>
      </p:sp>
    </p:spTree>
    <p:extLst>
      <p:ext uri="{BB962C8B-B14F-4D97-AF65-F5344CB8AC3E}">
        <p14:creationId xmlns:p14="http://schemas.microsoft.com/office/powerpoint/2010/main" val="1081321507"/>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072EB666-4A8E-4C85-BF37-6B4866BF57C6}"/>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Existing tools provide a useful comparison</a:t>
            </a:r>
          </a:p>
        </p:txBody>
      </p:sp>
      <p:sp>
        <p:nvSpPr>
          <p:cNvPr id="2" name="page">
            <a:extLst xmlns:a="http://schemas.openxmlformats.org/drawingml/2006/main">
              <a:ext uri="{FF2B5EF4-FFF2-40B4-BE49-F238E27FC236}">
                <a16:creationId xmlns:a16="http://schemas.microsoft.com/office/drawing/2014/main" id="{292F1A27-C7E6-4131-9C0D-AE92A6CD6E8A}"/>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Group 4  /  04</a:t>
            </a:r>
          </a:p>
        </p:txBody>
      </p:sp>
      <p:sp>
        <p:nvSpPr>
          <p:cNvPr id="3" name="sources">
            <a:extLst xmlns:a="http://schemas.openxmlformats.org/drawingml/2006/main">
              <a:ext uri="{FF2B5EF4-FFF2-40B4-BE49-F238E27FC236}">
                <a16:creationId xmlns:a16="http://schemas.microsoft.com/office/drawing/2014/main" id="{EF39BCF5-72EF-4D85-BBFE-16B3AF1A12BC}"/>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[S04] [S05] [S06] [S07] [S23] [S35] [S38]</a:t>
            </a:r>
          </a:p>
        </p:txBody>
      </p:sp>
      <p:graphicFrame>
        <p:nvGraphicFramePr>
          <p:cNvPr id="10" name=""/>
          <p:cNvGraphicFramePr/>
          <p:nvPr/>
        </p:nvGraphicFramePr>
        <p:xfrm>
          <a:off xmlns:a="http://schemas.openxmlformats.org/drawingml/2006/main" x="647700" y="1676400"/>
          <a:ext xmlns:a="http://schemas.openxmlformats.org/drawingml/2006/main" cx="10896600" cy="3638550"/>
        </p:xfrm>
        <a:graphic xmlns:a="http://schemas.openxmlformats.org/drawingml/2006/main">
          <a:graphicData uri="http://schemas.openxmlformats.org/drawingml/2006/table">
            <a:tbl>
              <a:tblPr firstRow="0" firstCol="0" bandRow="0"/>
              <a:tblGrid>
                <a:gridCol w="2066925"/>
                <a:gridCol w="4791075"/>
                <a:gridCol w="4038600"/>
              </a:tblGrid>
              <a:tr h="552450">
                <a:tc>
                  <a:txBody>
                    <a:bodyPr lIns="123825" tIns="76200" rIns="123825" bIns="76200">
                      <a:noAutofit/>
                    </a:bodyPr>
                    <a:lstStyle/>
                    <a:p>
                      <a:r>
                        <a:rPr sz="1875" b="1">
                          <a:solidFill>
                            <a:srgbClr val="FFFFFF"/>
                          </a:solidFill>
                          <a:latin typeface="Arial"/>
                          <a:ea typeface="Arial"/>
                          <a:cs typeface="Arial"/>
                        </a:rPr>
                        <a:t>System</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Documented strengths</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KU question to test</a:t>
                      </a:r>
                    </a:p>
                  </a:txBody>
                  <a:tcPr marL="91440" marR="91440" marT="45720" marB="45720" anchor="ctr">
                    <a:solidFill>
                      <a:srgbClr val="17343C"/>
                    </a:solidFill>
                  </a:tcPr>
                </a:tc>
              </a:tr>
              <a:tr h="1028700">
                <a:tc>
                  <a:txBody>
                    <a:bodyPr lIns="123825" tIns="76200" rIns="123825" bIns="76200">
                      <a:noAutofit/>
                    </a:bodyPr>
                    <a:lstStyle/>
                    <a:p>
                      <a:r>
                        <a:rPr sz="2100" b="0">
                          <a:solidFill>
                            <a:srgbClr val="17343C"/>
                          </a:solidFill>
                          <a:latin typeface="Arial"/>
                          <a:ea typeface="Arial"/>
                          <a:cs typeface="Arial"/>
                        </a:rPr>
                        <a:t>Rheaply</a:t>
                      </a:r>
                    </a:p>
                  </a:txBody>
                  <a:tcPr marL="91440" marR="91440" marT="45720" marB="45720" anchor="ctr">
                    <a:solidFill>
                      <a:srgbClr val="FAFAF7"/>
                    </a:solidFill>
                  </a:tcPr>
                </a:tc>
                <a:tc>
                  <a:txBody>
                    <a:bodyPr lIns="123825" tIns="76200" rIns="123825" bIns="76200">
                      <a:noAutofit/>
                    </a:bodyPr>
                    <a:lstStyle/>
                    <a:p>
                      <a:r>
                        <a:rPr sz="2100" b="0">
                          <a:solidFill>
                            <a:srgbClr val="17343C"/>
                          </a:solidFill>
                          <a:latin typeface="Arial"/>
                          <a:ea typeface="Arial"/>
                          <a:cs typeface="Arial"/>
                        </a:rPr>
                        <a:t>Reuse marketplace, approvals</a:t>
                      </a:r>
                    </a:p>
                    <a:p>
                      <a:r>
                        <a:rPr sz="2100" b="0">
                          <a:solidFill>
                            <a:srgbClr val="17343C"/>
                          </a:solidFill>
                          <a:latin typeface="Arial"/>
                          <a:ea typeface="Arial"/>
                          <a:cs typeface="Arial"/>
                        </a:rPr>
                        <a:t>and AI listing help</a:t>
                      </a:r>
                    </a:p>
                  </a:txBody>
                  <a:tcPr marL="91440" marR="91440" marT="45720" marB="45720" anchor="ctr">
                    <a:solidFill>
                      <a:srgbClr val="FAFAF7"/>
                    </a:solidFill>
                  </a:tcPr>
                </a:tc>
                <a:tc>
                  <a:txBody>
                    <a:bodyPr lIns="123825" tIns="76200" rIns="123825" bIns="76200">
                      <a:noAutofit/>
                    </a:bodyPr>
                    <a:lstStyle/>
                    <a:p>
                      <a:r>
                        <a:rPr sz="2100" b="0">
                          <a:solidFill>
                            <a:srgbClr val="17343C"/>
                          </a:solidFill>
                          <a:latin typeface="Arial"/>
                          <a:ea typeface="Arial"/>
                          <a:cs typeface="Arial"/>
                        </a:rPr>
                        <a:t>Workflow fit and total price</a:t>
                      </a:r>
                    </a:p>
                  </a:txBody>
                  <a:tcPr marL="91440" marR="91440" marT="45720" marB="45720" anchor="ctr">
                    <a:solidFill>
                      <a:srgbClr val="FAFAF7"/>
                    </a:solidFill>
                  </a:tcPr>
                </a:tc>
              </a:tr>
              <a:tr h="1028700">
                <a:tc>
                  <a:txBody>
                    <a:bodyPr lIns="123825" tIns="76200" rIns="123825" bIns="76200">
                      <a:noAutofit/>
                    </a:bodyPr>
                    <a:lstStyle/>
                    <a:p>
                      <a:r>
                        <a:rPr sz="2100" b="0">
                          <a:solidFill>
                            <a:srgbClr val="17343C"/>
                          </a:solidFill>
                          <a:latin typeface="Arial"/>
                          <a:ea typeface="Arial"/>
                          <a:cs typeface="Arial"/>
                        </a:rPr>
                        <a:t>Warp It</a:t>
                      </a:r>
                    </a:p>
                  </a:txBody>
                  <a:tcPr marL="91440" marR="91440" marT="45720" marB="45720" anchor="ctr">
                    <a:solidFill>
                      <a:srgbClr val="F0F4F3"/>
                    </a:solidFill>
                  </a:tcPr>
                </a:tc>
                <a:tc>
                  <a:txBody>
                    <a:bodyPr lIns="123825" tIns="76200" rIns="123825" bIns="76200">
                      <a:noAutofit/>
                    </a:bodyPr>
                    <a:lstStyle/>
                    <a:p>
                      <a:r>
                        <a:rPr sz="2100" b="0">
                          <a:solidFill>
                            <a:srgbClr val="17343C"/>
                          </a:solidFill>
                          <a:latin typeface="Arial"/>
                          <a:ea typeface="Arial"/>
                          <a:cs typeface="Arial"/>
                        </a:rPr>
                        <a:t>Surplus claims, approval flow</a:t>
                      </a:r>
                    </a:p>
                    <a:p>
                      <a:r>
                        <a:rPr sz="2100" b="0">
                          <a:solidFill>
                            <a:srgbClr val="17343C"/>
                          </a:solidFill>
                          <a:latin typeface="Arial"/>
                          <a:ea typeface="Arial"/>
                          <a:cs typeface="Arial"/>
                        </a:rPr>
                        <a:t>and reuse reports</a:t>
                      </a:r>
                    </a:p>
                  </a:txBody>
                  <a:tcPr marL="91440" marR="91440" marT="45720" marB="45720" anchor="ctr">
                    <a:solidFill>
                      <a:srgbClr val="F0F4F3"/>
                    </a:solidFill>
                  </a:tcPr>
                </a:tc>
                <a:tc>
                  <a:txBody>
                    <a:bodyPr lIns="123825" tIns="76200" rIns="123825" bIns="76200">
                      <a:noAutofit/>
                    </a:bodyPr>
                    <a:lstStyle/>
                    <a:p>
                      <a:r>
                        <a:rPr sz="2100" b="0">
                          <a:solidFill>
                            <a:srgbClr val="17343C"/>
                          </a:solidFill>
                          <a:latin typeface="Arial"/>
                          <a:ea typeface="Arial"/>
                          <a:cs typeface="Arial"/>
                        </a:rPr>
                        <a:t>UAE eligibility and local quote</a:t>
                      </a:r>
                    </a:p>
                  </a:txBody>
                  <a:tcPr marL="91440" marR="91440" marT="45720" marB="45720" anchor="ctr">
                    <a:solidFill>
                      <a:srgbClr val="F0F4F3"/>
                    </a:solidFill>
                  </a:tcPr>
                </a:tc>
              </a:tr>
              <a:tr h="1028700">
                <a:tc>
                  <a:txBody>
                    <a:bodyPr lIns="123825" tIns="76200" rIns="123825" bIns="76200">
                      <a:noAutofit/>
                    </a:bodyPr>
                    <a:lstStyle/>
                    <a:p>
                      <a:r>
                        <a:rPr sz="2100" b="0">
                          <a:solidFill>
                            <a:srgbClr val="17343C"/>
                          </a:solidFill>
                          <a:latin typeface="Arial"/>
                          <a:ea typeface="Arial"/>
                          <a:cs typeface="Arial"/>
                        </a:rPr>
                        <a:t>Snipe-IT</a:t>
                      </a:r>
                    </a:p>
                  </a:txBody>
                  <a:tcPr marL="91440" marR="91440" marT="45720" marB="45720" anchor="ctr">
                    <a:solidFill>
                      <a:srgbClr val="FAFAF7"/>
                    </a:solidFill>
                  </a:tcPr>
                </a:tc>
                <a:tc>
                  <a:txBody>
                    <a:bodyPr lIns="123825" tIns="76200" rIns="123825" bIns="76200">
                      <a:noAutofit/>
                    </a:bodyPr>
                    <a:lstStyle/>
                    <a:p>
                      <a:r>
                        <a:rPr sz="2100" b="0">
                          <a:solidFill>
                            <a:srgbClr val="17343C"/>
                          </a:solidFill>
                          <a:latin typeface="Arial"/>
                          <a:ea typeface="Arial"/>
                          <a:cs typeface="Arial"/>
                        </a:rPr>
                        <a:t>Inventory, custody, requests</a:t>
                      </a:r>
                    </a:p>
                    <a:p>
                      <a:r>
                        <a:rPr sz="2100" b="0">
                          <a:solidFill>
                            <a:srgbClr val="17343C"/>
                          </a:solidFill>
                          <a:latin typeface="Arial"/>
                          <a:ea typeface="Arial"/>
                          <a:cs typeface="Arial"/>
                        </a:rPr>
                        <a:t>and maintenance history</a:t>
                      </a:r>
                    </a:p>
                  </a:txBody>
                  <a:tcPr marL="91440" marR="91440" marT="45720" marB="45720" anchor="ctr">
                    <a:solidFill>
                      <a:srgbClr val="FAFAF7"/>
                    </a:solidFill>
                  </a:tcPr>
                </a:tc>
                <a:tc>
                  <a:txBody>
                    <a:bodyPr lIns="123825" tIns="76200" rIns="123825" bIns="76200">
                      <a:noAutofit/>
                    </a:bodyPr>
                    <a:lstStyle/>
                    <a:p>
                      <a:r>
                        <a:rPr sz="2100" b="0">
                          <a:solidFill>
                            <a:srgbClr val="17343C"/>
                          </a:solidFill>
                          <a:latin typeface="Arial"/>
                          <a:ea typeface="Arial"/>
                          <a:cs typeface="Arial"/>
                        </a:rPr>
                        <a:t>Configuration for reuse</a:t>
                      </a:r>
                    </a:p>
                  </a:txBody>
                  <a:tcPr marL="91440" marR="91440" marT="45720" marB="45720" anchor="ctr">
                    <a:solidFill>
                      <a:srgbClr val="FAFAF7"/>
                    </a:solidFill>
                  </a:tcPr>
                </a:tc>
              </a:tr>
            </a:tbl>
          </a:graphicData>
        </a:graphic>
      </p:graphicFrame>
      <p:sp>
        <p:nvSpPr>
          <p:cNvPr id="5" name="takeaway">
            <a:extLst xmlns:a="http://schemas.openxmlformats.org/drawingml/2006/main">
              <a:ext uri="{FF2B5EF4-FFF2-40B4-BE49-F238E27FC236}">
                <a16:creationId xmlns:a16="http://schemas.microsoft.com/office/drawing/2014/main" id="{4C883915-5A24-4EF7-96AF-4A51BA0EBB23}"/>
              </a:ext>
            </a:extLst>
          </p:cNvPr>
          <p:cNvSpPr>
            <a:spLocks xmlns:a="http://schemas.openxmlformats.org/drawingml/2006/main" noGrp="1"/>
          </p:cNvSpPr>
          <p:nvPr/>
        </p:nvSpPr>
        <p:spPr>
          <a:xfrm xmlns:a="http://schemas.openxmlformats.org/drawingml/2006/main">
            <a:off x="647700" y="5781675"/>
            <a:ext cx="10896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26746D"/>
                </a:solidFill>
                <a:latin typeface="Arial"/>
                <a:ea typeface="Arial"/>
                <a:cs typeface="Arial"/>
              </a:defRPr>
            </a:pPr>
            <a:r>
              <a:rPr sz="2175" b="1">
                <a:solidFill>
                  <a:srgbClr val="26746D"/>
                </a:solidFill>
                <a:latin typeface="Arial"/>
                <a:ea typeface="Arial"/>
                <a:cs typeface="Arial"/>
              </a:rPr>
              <a:t>KU’s current process and unmet demand remain unverified.</a:t>
            </a:r>
          </a:p>
        </p:txBody>
      </p:sp>
      <p:sp>
        <p:nvSpPr>
          <p:cNvPr id="6" name="comparison">
            <a:extLst xmlns:a="http://schemas.openxmlformats.org/drawingml/2006/main">
              <a:ext uri="{FF2B5EF4-FFF2-40B4-BE49-F238E27FC236}">
                <a16:creationId xmlns:a16="http://schemas.microsoft.com/office/drawing/2014/main" id="{A74C108D-A899-4FAE-873B-33F09F56EB48}"/>
              </a:ext>
            </a:extLst>
          </p:cNvPr>
          <p:cNvSpPr>
            <a:spLocks xmlns:a="http://schemas.openxmlformats.org/drawingml/2006/main" noGrp="1"/>
          </p:cNvSpPr>
          <p:nvPr/>
        </p:nvSpPr>
        <p:spPr>
          <a:xfrm xmlns:a="http://schemas.openxmlformats.org/drawingml/2006/main">
            <a:off x="647700" y="6191250"/>
            <a:ext cx="1089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Compare the same task through the current process, classic search and AI.</a:t>
            </a:r>
          </a:p>
        </p:txBody>
      </p:sp>
    </p:spTree>
    <p:extLst>
      <p:ext uri="{BB962C8B-B14F-4D97-AF65-F5344CB8AC3E}">
        <p14:creationId xmlns:p14="http://schemas.microsoft.com/office/powerpoint/2010/main" val="1498269995"/>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4DF8F49-FB43-4E6F-95A0-5A838CDD5279}"/>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Two simulated interviews shaped the design</a:t>
            </a:r>
          </a:p>
        </p:txBody>
      </p:sp>
      <p:sp>
        <p:nvSpPr>
          <p:cNvPr id="2" name="page">
            <a:extLst xmlns:a="http://schemas.openxmlformats.org/drawingml/2006/main">
              <a:ext uri="{FF2B5EF4-FFF2-40B4-BE49-F238E27FC236}">
                <a16:creationId xmlns:a16="http://schemas.microsoft.com/office/drawing/2014/main" id="{DC36533E-780D-4AE6-A5E0-729DBCDDE676}"/>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Group 4  /  05</a:t>
            </a:r>
          </a:p>
        </p:txBody>
      </p:sp>
      <p:sp>
        <p:nvSpPr>
          <p:cNvPr id="3" name="sources">
            <a:extLst xmlns:a="http://schemas.openxmlformats.org/drawingml/2006/main">
              <a:ext uri="{FF2B5EF4-FFF2-40B4-BE49-F238E27FC236}">
                <a16:creationId xmlns:a16="http://schemas.microsoft.com/office/drawing/2014/main" id="{95FB9179-8E6D-4359-ABB3-7A9CB678ED76}"/>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[S01] [S02]</a:t>
            </a:r>
          </a:p>
        </p:txBody>
      </p:sp>
      <p:sp>
        <p:nvSpPr>
          <p:cNvPr id="4" name="label">
            <a:extLst xmlns:a="http://schemas.openxmlformats.org/drawingml/2006/main">
              <a:ext uri="{FF2B5EF4-FFF2-40B4-BE49-F238E27FC236}">
                <a16:creationId xmlns:a16="http://schemas.microsoft.com/office/drawing/2014/main" id="{66C92ABD-2583-4945-9B6F-9B891086F3BA}"/>
              </a:ext>
            </a:extLst>
          </p:cNvPr>
          <p:cNvSpPr>
            <a:spLocks xmlns:a="http://schemas.openxmlformats.org/drawingml/2006/main" noGrp="1"/>
          </p:cNvSpPr>
          <p:nvPr/>
        </p:nvSpPr>
        <p:spPr>
          <a:xfrm xmlns:a="http://schemas.openxmlformats.org/drawingml/2006/main">
            <a:off x="647700" y="1438275"/>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6746D"/>
                </a:solidFill>
                <a:latin typeface="Arial"/>
                <a:ea typeface="Arial"/>
                <a:cs typeface="Arial"/>
              </a:defRPr>
            </a:pPr>
            <a:r>
              <a:rPr sz="2100" b="1">
                <a:solidFill>
                  <a:srgbClr val="26746D"/>
                </a:solidFill>
                <a:latin typeface="Arial"/>
                <a:ea typeface="Arial"/>
                <a:cs typeface="Arial"/>
              </a:rPr>
              <a:t>AI role-play on 29 September 2026. No real KU employees participated.</a:t>
            </a:r>
          </a:p>
        </p:txBody>
      </p:sp>
      <p:graphicFrame>
        <p:nvGraphicFramePr>
          <p:cNvPr id="11" name=""/>
          <p:cNvGraphicFramePr/>
          <p:nvPr/>
        </p:nvGraphicFramePr>
        <p:xfrm>
          <a:off xmlns:a="http://schemas.openxmlformats.org/drawingml/2006/main" x="647700" y="2181225"/>
          <a:ext xmlns:a="http://schemas.openxmlformats.org/drawingml/2006/main" cx="10896600" cy="3438525"/>
        </p:xfrm>
        <a:graphic xmlns:a="http://schemas.openxmlformats.org/drawingml/2006/main">
          <a:graphicData uri="http://schemas.openxmlformats.org/drawingml/2006/table">
            <a:tbl>
              <a:tblPr firstRow="0" firstCol="0" bandRow="0"/>
              <a:tblGrid>
                <a:gridCol w="2419350"/>
                <a:gridCol w="4086225"/>
                <a:gridCol w="4391025"/>
              </a:tblGrid>
              <a:tr h="561975">
                <a:tc>
                  <a:txBody>
                    <a:bodyPr lIns="123825" tIns="76200" rIns="123825" bIns="76200">
                      <a:noAutofit/>
                    </a:bodyPr>
                    <a:lstStyle/>
                    <a:p>
                      <a:r>
                        <a:rPr sz="1875" b="1">
                          <a:solidFill>
                            <a:srgbClr val="FFFFFF"/>
                          </a:solidFill>
                          <a:latin typeface="Arial"/>
                          <a:ea typeface="Arial"/>
                          <a:cs typeface="Arial"/>
                        </a:rPr>
                        <a:t>Simulated role</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Needs raised</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Design response</a:t>
                      </a:r>
                    </a:p>
                  </a:txBody>
                  <a:tcPr marL="91440" marR="91440" marT="45720" marB="45720" anchor="ctr">
                    <a:solidFill>
                      <a:srgbClr val="17343C"/>
                    </a:solidFill>
                  </a:tcPr>
                </a:tc>
              </a:tr>
              <a:tr h="1438275">
                <a:tc>
                  <a:txBody>
                    <a:bodyPr lIns="123825" tIns="76200" rIns="123825" bIns="76200">
                      <a:noAutofit/>
                    </a:bodyPr>
                    <a:lstStyle/>
                    <a:p>
                      <a:r>
                        <a:rPr sz="2100" b="0">
                          <a:solidFill>
                            <a:srgbClr val="17343C"/>
                          </a:solidFill>
                          <a:latin typeface="Arial"/>
                          <a:ea typeface="Arial"/>
                          <a:cs typeface="Arial"/>
                        </a:rPr>
                        <a:t>Asset coordinator</a:t>
                      </a:r>
                    </a:p>
                  </a:txBody>
                  <a:tcPr marL="91440" marR="91440" marT="45720" marB="45720" anchor="ctr">
                    <a:solidFill>
                      <a:srgbClr val="FAFAF7"/>
                    </a:solidFill>
                  </a:tcPr>
                </a:tc>
                <a:tc>
                  <a:txBody>
                    <a:bodyPr lIns="123825" tIns="76200" rIns="123825" bIns="76200">
                      <a:noAutofit/>
                    </a:bodyPr>
                    <a:lstStyle/>
                    <a:p>
                      <a:r>
                        <a:rPr sz="2100" b="0">
                          <a:solidFill>
                            <a:srgbClr val="17343C"/>
                          </a:solidFill>
                          <a:latin typeface="Arial"/>
                          <a:ea typeface="Arial"/>
                          <a:cs typeface="Arial"/>
                        </a:rPr>
                        <a:t>Reliable availability and condition.</a:t>
                      </a:r>
                    </a:p>
                    <a:p>
                      <a:r>
                        <a:rPr sz="2100" b="0">
                          <a:solidFill>
                            <a:srgbClr val="17343C"/>
                          </a:solidFill>
                          <a:latin typeface="Arial"/>
                          <a:ea typeface="Arial"/>
                          <a:cs typeface="Arial"/>
                        </a:rPr>
                        <a:t>Clear transfer responsibility.</a:t>
                      </a:r>
                    </a:p>
                  </a:txBody>
                  <a:tcPr marL="91440" marR="91440" marT="45720" marB="45720" anchor="ctr">
                    <a:solidFill>
                      <a:srgbClr val="FAFAF7"/>
                    </a:solidFill>
                  </a:tcPr>
                </a:tc>
                <a:tc>
                  <a:txBody>
                    <a:bodyPr lIns="123825" tIns="76200" rIns="123825" bIns="76200">
                      <a:noAutofit/>
                    </a:bodyPr>
                    <a:lstStyle/>
                    <a:p>
                      <a:r>
                        <a:rPr sz="2100" b="0">
                          <a:solidFill>
                            <a:srgbClr val="17343C"/>
                          </a:solidFill>
                          <a:latin typeface="Arial"/>
                          <a:ea typeface="Arial"/>
                          <a:cs typeface="Arial"/>
                        </a:rPr>
                        <a:t>Verification dates, approvals</a:t>
                      </a:r>
                    </a:p>
                    <a:p>
                      <a:r>
                        <a:rPr sz="2100" b="0">
                          <a:solidFill>
                            <a:srgbClr val="17343C"/>
                          </a:solidFill>
                          <a:latin typeface="Arial"/>
                          <a:ea typeface="Arial"/>
                          <a:cs typeface="Arial"/>
                        </a:rPr>
                        <a:t>and custody records.</a:t>
                      </a:r>
                    </a:p>
                  </a:txBody>
                  <a:tcPr marL="91440" marR="91440" marT="45720" marB="45720" anchor="ctr">
                    <a:solidFill>
                      <a:srgbClr val="FAFAF7"/>
                    </a:solidFill>
                  </a:tcPr>
                </a:tc>
              </a:tr>
              <a:tr h="1438275">
                <a:tc>
                  <a:txBody>
                    <a:bodyPr lIns="123825" tIns="76200" rIns="123825" bIns="76200">
                      <a:noAutofit/>
                    </a:bodyPr>
                    <a:lstStyle/>
                    <a:p>
                      <a:r>
                        <a:rPr sz="2100" b="0">
                          <a:solidFill>
                            <a:srgbClr val="17343C"/>
                          </a:solidFill>
                          <a:latin typeface="Arial"/>
                          <a:ea typeface="Arial"/>
                          <a:cs typeface="Arial"/>
                        </a:rPr>
                        <a:t>Department requester</a:t>
                      </a:r>
                    </a:p>
                  </a:txBody>
                  <a:tcPr marL="91440" marR="91440" marT="45720" marB="45720" anchor="ctr">
                    <a:solidFill>
                      <a:srgbClr val="F0F4F3"/>
                    </a:solidFill>
                  </a:tcPr>
                </a:tc>
                <a:tc>
                  <a:txBody>
                    <a:bodyPr lIns="123825" tIns="76200" rIns="123825" bIns="76200">
                      <a:noAutofit/>
                    </a:bodyPr>
                    <a:lstStyle/>
                    <a:p>
                      <a:r>
                        <a:rPr sz="2100" b="0">
                          <a:solidFill>
                            <a:srgbClr val="17343C"/>
                          </a:solidFill>
                          <a:latin typeface="Arial"/>
                          <a:ea typeface="Arial"/>
                          <a:cs typeface="Arial"/>
                        </a:rPr>
                        <a:t>Items that fit the request.</a:t>
                      </a:r>
                    </a:p>
                    <a:p>
                      <a:r>
                        <a:rPr sz="2100" b="0">
                          <a:solidFill>
                            <a:srgbClr val="17343C"/>
                          </a:solidFill>
                          <a:latin typeface="Arial"/>
                          <a:ea typeface="Arial"/>
                          <a:cs typeface="Arial"/>
                        </a:rPr>
                        <a:t>Clear status and editable drafts.</a:t>
                      </a:r>
                    </a:p>
                  </a:txBody>
                  <a:tcPr marL="91440" marR="91440" marT="45720" marB="45720" anchor="ctr">
                    <a:solidFill>
                      <a:srgbClr val="F0F4F3"/>
                    </a:solidFill>
                  </a:tcPr>
                </a:tc>
                <a:tc>
                  <a:txBody>
                    <a:bodyPr lIns="123825" tIns="76200" rIns="123825" bIns="76200">
                      <a:noAutofit/>
                    </a:bodyPr>
                    <a:lstStyle/>
                    <a:p>
                      <a:r>
                        <a:rPr sz="2100" b="0">
                          <a:solidFill>
                            <a:srgbClr val="17343C"/>
                          </a:solidFill>
                          <a:latin typeface="Arial"/>
                          <a:ea typeface="Arial"/>
                          <a:cs typeface="Arial"/>
                        </a:rPr>
                        <a:t>Eligibility checks, honest status</a:t>
                      </a:r>
                    </a:p>
                    <a:p>
                      <a:r>
                        <a:rPr sz="2100" b="0">
                          <a:solidFill>
                            <a:srgbClr val="17343C"/>
                          </a:solidFill>
                          <a:latin typeface="Arial"/>
                          <a:ea typeface="Arial"/>
                          <a:cs typeface="Arial"/>
                        </a:rPr>
                        <a:t>and confirmation before submission.</a:t>
                      </a:r>
                    </a:p>
                  </a:txBody>
                  <a:tcPr marL="91440" marR="91440" marT="45720" marB="45720" anchor="ctr">
                    <a:solidFill>
                      <a:srgbClr val="F0F4F3"/>
                    </a:solidFill>
                  </a:tcPr>
                </a:tc>
              </a:tr>
            </a:tbl>
          </a:graphicData>
        </a:graphic>
      </p:graphicFrame>
      <p:sp>
        <p:nvSpPr>
          <p:cNvPr id="6" name="takeaway">
            <a:extLst xmlns:a="http://schemas.openxmlformats.org/drawingml/2006/main">
              <a:ext uri="{FF2B5EF4-FFF2-40B4-BE49-F238E27FC236}">
                <a16:creationId xmlns:a16="http://schemas.microsoft.com/office/drawing/2014/main" id="{06A4AE26-0B5F-433D-9F2D-7021BAE692E2}"/>
              </a:ext>
            </a:extLst>
          </p:cNvPr>
          <p:cNvSpPr>
            <a:spLocks xmlns:a="http://schemas.openxmlformats.org/drawingml/2006/main" noGrp="1"/>
          </p:cNvSpPr>
          <p:nvPr/>
        </p:nvSpPr>
        <p:spPr>
          <a:xfrm xmlns:a="http://schemas.openxmlformats.org/drawingml/2006/main">
            <a:off x="647700" y="5953125"/>
            <a:ext cx="10896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26746D"/>
                </a:solidFill>
                <a:latin typeface="Arial"/>
                <a:ea typeface="Arial"/>
                <a:cs typeface="Arial"/>
              </a:defRPr>
            </a:pPr>
            <a:r>
              <a:rPr sz="2025" b="1">
                <a:solidFill>
                  <a:srgbClr val="26746D"/>
                </a:solidFill>
                <a:latin typeface="Arial"/>
                <a:ea typeface="Arial"/>
                <a:cs typeface="Arial"/>
              </a:rPr>
              <a:t>KU staff and records still need to validate these proposed needs.</a:t>
            </a:r>
          </a:p>
        </p:txBody>
      </p:sp>
    </p:spTree>
    <p:extLst>
      <p:ext uri="{BB962C8B-B14F-4D97-AF65-F5344CB8AC3E}">
        <p14:creationId xmlns:p14="http://schemas.microsoft.com/office/powerpoint/2010/main" val="1383981205"/>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969A85D2-19A7-489E-B407-C4A9DA898CB7}"/>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Our proposed technology</a:t>
            </a:r>
          </a:p>
        </p:txBody>
      </p:sp>
      <p:sp>
        <p:nvSpPr>
          <p:cNvPr id="2" name="page">
            <a:extLst xmlns:a="http://schemas.openxmlformats.org/drawingml/2006/main">
              <a:ext uri="{FF2B5EF4-FFF2-40B4-BE49-F238E27FC236}">
                <a16:creationId xmlns:a16="http://schemas.microsoft.com/office/drawing/2014/main" id="{F2041681-0AD1-4625-BDC5-93BCE695C7B6}"/>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Group 4  /  06</a:t>
            </a:r>
          </a:p>
        </p:txBody>
      </p:sp>
      <p:sp>
        <p:nvSpPr>
          <p:cNvPr id="3" name="sources">
            <a:extLst xmlns:a="http://schemas.openxmlformats.org/drawingml/2006/main">
              <a:ext uri="{FF2B5EF4-FFF2-40B4-BE49-F238E27FC236}">
                <a16:creationId xmlns:a16="http://schemas.microsoft.com/office/drawing/2014/main" id="{C7616973-0303-46C7-9F1C-9FD0AA403D23}"/>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[S09] [S10] [S12] [S28] [S29] [S30] [S31] [S33]</a:t>
            </a:r>
          </a:p>
        </p:txBody>
      </p:sp>
      <p:sp>
        <p:nvSpPr>
          <p:cNvPr id="4" name="stack">
            <a:extLst xmlns:a="http://schemas.openxmlformats.org/drawingml/2006/main">
              <a:ext uri="{FF2B5EF4-FFF2-40B4-BE49-F238E27FC236}">
                <a16:creationId xmlns:a16="http://schemas.microsoft.com/office/drawing/2014/main" id="{E906983F-CF5E-44DD-8570-4FCA6FBB8671}"/>
              </a:ext>
            </a:extLst>
          </p:cNvPr>
          <p:cNvSpPr>
            <a:spLocks xmlns:a="http://schemas.openxmlformats.org/drawingml/2006/main" noGrp="1"/>
          </p:cNvSpPr>
          <p:nvPr/>
        </p:nvSpPr>
        <p:spPr>
          <a:xfrm xmlns:a="http://schemas.openxmlformats.org/drawingml/2006/main">
            <a:off x="647700" y="1457325"/>
            <a:ext cx="10896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26746D"/>
                </a:solidFill>
                <a:latin typeface="Arial"/>
                <a:ea typeface="Arial"/>
                <a:cs typeface="Arial"/>
              </a:defRPr>
            </a:pPr>
            <a:r>
              <a:rPr sz="2625" b="1">
                <a:solidFill>
                  <a:srgbClr val="26746D"/>
                </a:solidFill>
                <a:latin typeface="Arial"/>
                <a:ea typeface="Arial"/>
                <a:cs typeface="Arial"/>
              </a:rPr>
              <a:t>Django + PostgreSQL + a responsive website</a:t>
            </a:r>
          </a:p>
        </p:txBody>
      </p:sp>
      <p:graphicFrame>
        <p:nvGraphicFramePr>
          <p:cNvPr id="13" name=""/>
          <p:cNvGraphicFramePr/>
          <p:nvPr/>
        </p:nvGraphicFramePr>
        <p:xfrm>
          <a:off xmlns:a="http://schemas.openxmlformats.org/drawingml/2006/main" x="647700" y="2200275"/>
          <a:ext xmlns:a="http://schemas.openxmlformats.org/drawingml/2006/main" cx="10896600" cy="2105025"/>
        </p:xfrm>
        <a:graphic xmlns:a="http://schemas.openxmlformats.org/drawingml/2006/main">
          <a:graphicData uri="http://schemas.openxmlformats.org/drawingml/2006/table">
            <a:tbl>
              <a:tblPr firstRow="0" firstCol="0" bandRow="0"/>
              <a:tblGrid>
                <a:gridCol w="5448300"/>
                <a:gridCol w="5448300"/>
              </a:tblGrid>
              <a:tr h="533400">
                <a:tc>
                  <a:txBody>
                    <a:bodyPr lIns="123825" tIns="76200" rIns="123825" bIns="76200">
                      <a:noAutofit/>
                    </a:bodyPr>
                    <a:lstStyle/>
                    <a:p>
                      <a:r>
                        <a:rPr sz="1875" b="1">
                          <a:solidFill>
                            <a:srgbClr val="FFFFFF"/>
                          </a:solidFill>
                          <a:latin typeface="Arial"/>
                          <a:ea typeface="Arial"/>
                          <a:cs typeface="Arial"/>
                        </a:rPr>
                        <a:t>AI for assets and requests</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AI for users and reports</a:t>
                      </a:r>
                    </a:p>
                  </a:txBody>
                  <a:tcPr marL="91440" marR="91440" marT="45720" marB="45720" anchor="ctr">
                    <a:solidFill>
                      <a:srgbClr val="17343C"/>
                    </a:solidFill>
                  </a:tcPr>
                </a:tc>
              </a:tr>
              <a:tr h="1571625">
                <a:tc>
                  <a:txBody>
                    <a:bodyPr lIns="123825" tIns="76200" rIns="123825" bIns="76200">
                      <a:noAutofit/>
                    </a:bodyPr>
                    <a:lstStyle/>
                    <a:p>
                      <a:r>
                        <a:rPr sz="2100" b="0">
                          <a:solidFill>
                            <a:srgbClr val="17343C"/>
                          </a:solidFill>
                          <a:latin typeface="Arial"/>
                          <a:ea typeface="Arial"/>
                          <a:cs typeface="Arial"/>
                        </a:rPr>
                        <a:t>Classify items</a:t>
                      </a:r>
                    </a:p>
                    <a:p>
                      <a:r>
                        <a:rPr sz="2100" b="0">
                          <a:solidFill>
                            <a:srgbClr val="17343C"/>
                          </a:solidFill>
                          <a:latin typeface="Arial"/>
                          <a:ea typeface="Arial"/>
                          <a:cs typeface="Arial"/>
                        </a:rPr>
                        <a:t>Match suitable assets</a:t>
                      </a:r>
                    </a:p>
                    <a:p>
                      <a:r>
                        <a:rPr sz="2100" b="0">
                          <a:solidFill>
                            <a:srgbClr val="17343C"/>
                          </a:solidFill>
                          <a:latin typeface="Arial"/>
                          <a:ea typeface="Arial"/>
                          <a:cs typeface="Arial"/>
                        </a:rPr>
                        <a:t>Suggest sustainable actions</a:t>
                      </a:r>
                    </a:p>
                  </a:txBody>
                  <a:tcPr marL="91440" marR="91440" marT="45720" marB="45720" anchor="ctr">
                    <a:solidFill>
                      <a:srgbClr val="FAFAF7"/>
                    </a:solidFill>
                  </a:tcPr>
                </a:tc>
                <a:tc>
                  <a:txBody>
                    <a:bodyPr lIns="123825" tIns="76200" rIns="123825" bIns="76200">
                      <a:noAutofit/>
                    </a:bodyPr>
                    <a:lstStyle/>
                    <a:p>
                      <a:r>
                        <a:rPr sz="2100" b="0">
                          <a:solidFill>
                            <a:srgbClr val="17343C"/>
                          </a:solidFill>
                          <a:latin typeface="Arial"/>
                          <a:ea typeface="Arial"/>
                          <a:cs typeface="Arial"/>
                        </a:rPr>
                        <a:t>Draft descriptions and explanations</a:t>
                      </a:r>
                    </a:p>
                    <a:p>
                      <a:r>
                        <a:rPr sz="2100" b="0">
                          <a:solidFill>
                            <a:srgbClr val="17343C"/>
                          </a:solidFill>
                          <a:latin typeface="Arial"/>
                          <a:ea typeface="Arial"/>
                          <a:cs typeface="Arial"/>
                        </a:rPr>
                        <a:t>Assist requests with confirmation</a:t>
                      </a:r>
                    </a:p>
                    <a:p>
                      <a:r>
                        <a:rPr sz="2100" b="0">
                          <a:solidFill>
                            <a:srgbClr val="17343C"/>
                          </a:solidFill>
                          <a:latin typeface="Arial"/>
                          <a:ea typeface="Arial"/>
                          <a:cs typeface="Arial"/>
                        </a:rPr>
                        <a:t>Generate editable reports</a:t>
                      </a:r>
                    </a:p>
                  </a:txBody>
                  <a:tcPr marL="91440" marR="91440" marT="45720" marB="45720" anchor="ctr">
                    <a:solidFill>
                      <a:srgbClr val="FAFAF7"/>
                    </a:solidFill>
                  </a:tcPr>
                </a:tc>
              </a:tr>
            </a:tbl>
          </a:graphicData>
        </a:graphic>
      </p:graphicFrame>
      <p:sp>
        <p:nvSpPr>
          <p:cNvPr id="6" name="reuse">
            <a:extLst xmlns:a="http://schemas.openxmlformats.org/drawingml/2006/main">
              <a:ext uri="{FF2B5EF4-FFF2-40B4-BE49-F238E27FC236}">
                <a16:creationId xmlns:a16="http://schemas.microsoft.com/office/drawing/2014/main" id="{F09E8D75-2DCC-4BB5-A521-619F0EF03EC8}"/>
              </a:ext>
            </a:extLst>
          </p:cNvPr>
          <p:cNvSpPr>
            <a:spLocks xmlns:a="http://schemas.openxmlformats.org/drawingml/2006/main" noGrp="1"/>
          </p:cNvSpPr>
          <p:nvPr/>
        </p:nvSpPr>
        <p:spPr>
          <a:xfrm xmlns:a="http://schemas.openxmlformats.org/drawingml/2006/main">
            <a:off x="647700" y="4648200"/>
            <a:ext cx="1089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343C"/>
                </a:solidFill>
                <a:latin typeface="Arial"/>
                <a:ea typeface="Arial"/>
                <a:cs typeface="Arial"/>
              </a:defRPr>
            </a:pPr>
            <a:r>
              <a:rPr sz="2325" b="1">
                <a:solidFill>
                  <a:srgbClr val="17343C"/>
                </a:solidFill>
                <a:latin typeface="Arial"/>
                <a:ea typeface="Arial"/>
                <a:cs typeface="Arial"/>
              </a:rPr>
              <a:t>Reuse estimate: 36 hours avoided, or 16.7% of total effort.</a:t>
            </a:r>
          </a:p>
        </p:txBody>
      </p:sp>
      <p:sp>
        <p:nvSpPr>
          <p:cNvPr id="7" name="hosting">
            <a:extLst xmlns:a="http://schemas.openxmlformats.org/drawingml/2006/main">
              <a:ext uri="{FF2B5EF4-FFF2-40B4-BE49-F238E27FC236}">
                <a16:creationId xmlns:a16="http://schemas.microsoft.com/office/drawing/2014/main" id="{B64BE5C3-78F8-4C0E-96CB-5A4547DB391A}"/>
              </a:ext>
            </a:extLst>
          </p:cNvPr>
          <p:cNvSpPr>
            <a:spLocks xmlns:a="http://schemas.openxmlformats.org/drawingml/2006/main" noGrp="1"/>
          </p:cNvSpPr>
          <p:nvPr/>
        </p:nvSpPr>
        <p:spPr>
          <a:xfrm xmlns:a="http://schemas.openxmlformats.org/drawingml/2006/main">
            <a:off x="647700" y="5419725"/>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43C"/>
                </a:solidFill>
                <a:latin typeface="Arial"/>
                <a:ea typeface="Arial"/>
                <a:cs typeface="Arial"/>
              </a:defRPr>
            </a:pPr>
            <a:r>
              <a:rPr sz="2100" b="0">
                <a:solidFill>
                  <a:srgbClr val="17343C"/>
                </a:solidFill>
                <a:latin typeface="Arial"/>
                <a:ea typeface="Arial"/>
                <a:cs typeface="Arial"/>
              </a:rPr>
              <a:t>Test eligibility, access, hosting wake-up, persistent files and recovery.</a:t>
            </a:r>
          </a:p>
        </p:txBody>
      </p:sp>
      <p:sp>
        <p:nvSpPr>
          <p:cNvPr id="8" name="status">
            <a:extLst xmlns:a="http://schemas.openxmlformats.org/drawingml/2006/main">
              <a:ext uri="{FF2B5EF4-FFF2-40B4-BE49-F238E27FC236}">
                <a16:creationId xmlns:a16="http://schemas.microsoft.com/office/drawing/2014/main" id="{20712E90-31AA-4354-AD88-0DDCD9BC10ED}"/>
              </a:ext>
            </a:extLst>
          </p:cNvPr>
          <p:cNvSpPr>
            <a:spLocks xmlns:a="http://schemas.openxmlformats.org/drawingml/2006/main" noGrp="1"/>
          </p:cNvSpPr>
          <p:nvPr/>
        </p:nvSpPr>
        <p:spPr>
          <a:xfrm xmlns:a="http://schemas.openxmlformats.org/drawingml/2006/main">
            <a:off x="647700" y="6115050"/>
            <a:ext cx="1089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All technology and effort claims above are proposals or estimates.</a:t>
            </a:r>
          </a:p>
        </p:txBody>
      </p:sp>
    </p:spTree>
    <p:extLst>
      <p:ext uri="{BB962C8B-B14F-4D97-AF65-F5344CB8AC3E}">
        <p14:creationId xmlns:p14="http://schemas.microsoft.com/office/powerpoint/2010/main" val="1504139428"/>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287C90A-1B3A-4321-900E-1ECC9F1EC61A}"/>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The prototype must meet clear test targets</a:t>
            </a:r>
          </a:p>
        </p:txBody>
      </p:sp>
      <p:sp>
        <p:nvSpPr>
          <p:cNvPr id="2" name="page">
            <a:extLst xmlns:a="http://schemas.openxmlformats.org/drawingml/2006/main">
              <a:ext uri="{FF2B5EF4-FFF2-40B4-BE49-F238E27FC236}">
                <a16:creationId xmlns:a16="http://schemas.microsoft.com/office/drawing/2014/main" id="{28B8027A-C048-40DE-B37A-9198620A8354}"/>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Group 4  /  07</a:t>
            </a:r>
          </a:p>
        </p:txBody>
      </p:sp>
      <p:sp>
        <p:nvSpPr>
          <p:cNvPr id="3" name="sources">
            <a:extLst xmlns:a="http://schemas.openxmlformats.org/drawingml/2006/main">
              <a:ext uri="{FF2B5EF4-FFF2-40B4-BE49-F238E27FC236}">
                <a16:creationId xmlns:a16="http://schemas.microsoft.com/office/drawing/2014/main" id="{DEE664DE-B0C6-4E69-B8E7-5B4C3BF9779A}"/>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[S02] [S19] [S20] [S21]</a:t>
            </a:r>
          </a:p>
        </p:txBody>
      </p:sp>
      <p:sp>
        <p:nvSpPr>
          <p:cNvPr id="4" name="status">
            <a:extLst xmlns:a="http://schemas.openxmlformats.org/drawingml/2006/main">
              <a:ext uri="{FF2B5EF4-FFF2-40B4-BE49-F238E27FC236}">
                <a16:creationId xmlns:a16="http://schemas.microsoft.com/office/drawing/2014/main" id="{52DC1A19-727F-4372-B0D0-7D6CA9DE7F16}"/>
              </a:ext>
            </a:extLst>
          </p:cNvPr>
          <p:cNvSpPr>
            <a:spLocks xmlns:a="http://schemas.openxmlformats.org/drawingml/2006/main" noGrp="1"/>
          </p:cNvSpPr>
          <p:nvPr/>
        </p:nvSpPr>
        <p:spPr>
          <a:xfrm xmlns:a="http://schemas.openxmlformats.org/drawingml/2006/main">
            <a:off x="647700" y="14573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26746D"/>
                </a:solidFill>
                <a:latin typeface="Arial"/>
                <a:ea typeface="Arial"/>
                <a:cs typeface="Arial"/>
              </a:defRPr>
            </a:pPr>
            <a:r>
              <a:rPr sz="2250" b="1">
                <a:solidFill>
                  <a:srgbClr val="26746D"/>
                </a:solidFill>
                <a:latin typeface="Arial"/>
                <a:ea typeface="Arial"/>
                <a:cs typeface="Arial"/>
              </a:rPr>
              <a:t>Proposed pass criteria. Testing has not yet run.</a:t>
            </a:r>
          </a:p>
        </p:txBody>
      </p:sp>
      <p:graphicFrame>
        <p:nvGraphicFramePr>
          <p:cNvPr id="11" name=""/>
          <p:cNvGraphicFramePr/>
          <p:nvPr/>
        </p:nvGraphicFramePr>
        <p:xfrm>
          <a:off xmlns:a="http://schemas.openxmlformats.org/drawingml/2006/main" x="647700" y="2038350"/>
          <a:ext xmlns:a="http://schemas.openxmlformats.org/drawingml/2006/main" cx="10896600" cy="3857625"/>
        </p:xfrm>
        <a:graphic xmlns:a="http://schemas.openxmlformats.org/drawingml/2006/main">
          <a:graphicData uri="http://schemas.openxmlformats.org/drawingml/2006/table">
            <a:tbl>
              <a:tblPr firstRow="0" firstCol="0" bandRow="0"/>
              <a:tblGrid>
                <a:gridCol w="2343150"/>
                <a:gridCol w="8553450"/>
              </a:tblGrid>
              <a:tr h="504825">
                <a:tc>
                  <a:txBody>
                    <a:bodyPr lIns="123825" tIns="76200" rIns="123825" bIns="76200">
                      <a:noAutofit/>
                    </a:bodyPr>
                    <a:lstStyle/>
                    <a:p>
                      <a:r>
                        <a:rPr sz="1875" b="1">
                          <a:solidFill>
                            <a:srgbClr val="FFFFFF"/>
                          </a:solidFill>
                          <a:latin typeface="Arial"/>
                          <a:ea typeface="Arial"/>
                          <a:cs typeface="Arial"/>
                        </a:rPr>
                        <a:t>Test</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Target</a:t>
                      </a:r>
                    </a:p>
                  </a:txBody>
                  <a:tcPr marL="91440" marR="91440" marT="45720" marB="45720" anchor="ctr">
                    <a:solidFill>
                      <a:srgbClr val="17343C"/>
                    </a:solidFill>
                  </a:tcPr>
                </a:tc>
              </a:tr>
              <a:tr h="914400">
                <a:tc>
                  <a:txBody>
                    <a:bodyPr lIns="123825" tIns="76200" rIns="123825" bIns="76200">
                      <a:noAutofit/>
                    </a:bodyPr>
                    <a:lstStyle/>
                    <a:p>
                      <a:r>
                        <a:rPr sz="2025" b="0">
                          <a:solidFill>
                            <a:srgbClr val="17343C"/>
                          </a:solidFill>
                          <a:latin typeface="Arial"/>
                          <a:ea typeface="Arial"/>
                          <a:cs typeface="Arial"/>
                        </a:rPr>
                        <a:t>Matching</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Useful top-three result for at least 16/20 eligible requests.</a:t>
                      </a:r>
                    </a:p>
                    <a:p>
                      <a:r>
                        <a:rPr sz="2025" b="0">
                          <a:solidFill>
                            <a:srgbClr val="17343C"/>
                          </a:solidFill>
                          <a:latin typeface="Arial"/>
                          <a:ea typeface="Arial"/>
                          <a:cs typeface="Arial"/>
                        </a:rPr>
                        <a:t>At least 2 more successes than classic search.</a:t>
                      </a:r>
                    </a:p>
                  </a:txBody>
                  <a:tcPr marL="91440" marR="91440" marT="45720" marB="45720" anchor="ctr">
                    <a:solidFill>
                      <a:srgbClr val="FAFAF7"/>
                    </a:solidFill>
                  </a:tcPr>
                </a:tc>
              </a:tr>
              <a:tr h="914400">
                <a:tc>
                  <a:txBody>
                    <a:bodyPr lIns="123825" tIns="76200" rIns="123825" bIns="76200">
                      <a:noAutofit/>
                    </a:bodyPr>
                    <a:lstStyle/>
                    <a:p>
                      <a:r>
                        <a:rPr sz="2025" b="0">
                          <a:solidFill>
                            <a:srgbClr val="17343C"/>
                          </a:solidFill>
                          <a:latin typeface="Arial"/>
                          <a:ea typeface="Arial"/>
                          <a:cs typeface="Arial"/>
                        </a:rPr>
                        <a:t>Classification</a:t>
                      </a:r>
                    </a:p>
                  </a:txBody>
                  <a:tcPr marL="91440" marR="91440" marT="45720" marB="45720" anchor="ctr">
                    <a:solidFill>
                      <a:srgbClr val="F0F4F3"/>
                    </a:solidFill>
                  </a:tcPr>
                </a:tc>
                <a:tc>
                  <a:txBody>
                    <a:bodyPr lIns="123825" tIns="76200" rIns="123825" bIns="76200">
                      <a:noAutofit/>
                    </a:bodyPr>
                    <a:lstStyle/>
                    <a:p>
                      <a:r>
                        <a:rPr sz="2025" b="0">
                          <a:solidFill>
                            <a:srgbClr val="17343C"/>
                          </a:solidFill>
                          <a:latin typeface="Arial"/>
                          <a:ea typeface="Arial"/>
                          <a:cs typeface="Arial"/>
                        </a:rPr>
                        <a:t>At least 16/20 correct asset categories.</a:t>
                      </a:r>
                    </a:p>
                    <a:p>
                      <a:r>
                        <a:rPr sz="2025" b="0">
                          <a:solidFill>
                            <a:srgbClr val="17343C"/>
                          </a:solidFill>
                          <a:latin typeface="Arial"/>
                          <a:ea typeface="Arial"/>
                          <a:cs typeface="Arial"/>
                        </a:rPr>
                        <a:t>Error fraction (zero-one loss) at most 0.20.</a:t>
                      </a:r>
                    </a:p>
                  </a:txBody>
                  <a:tcPr marL="91440" marR="91440" marT="45720" marB="45720" anchor="ctr">
                    <a:solidFill>
                      <a:srgbClr val="F0F4F3"/>
                    </a:solidFill>
                  </a:tcPr>
                </a:tc>
              </a:tr>
              <a:tr h="704850">
                <a:tc>
                  <a:txBody>
                    <a:bodyPr lIns="123825" tIns="76200" rIns="123825" bIns="76200">
                      <a:noAutofit/>
                    </a:bodyPr>
                    <a:lstStyle/>
                    <a:p>
                      <a:r>
                        <a:rPr sz="2025" b="0">
                          <a:solidFill>
                            <a:srgbClr val="17343C"/>
                          </a:solidFill>
                          <a:latin typeface="Arial"/>
                          <a:ea typeface="Arial"/>
                          <a:cs typeface="Arial"/>
                        </a:rPr>
                        <a:t>Permissions</a:t>
                      </a:r>
                    </a:p>
                  </a:txBody>
                  <a:tcPr marL="91440" marR="91440" marT="45720" marB="45720" anchor="ctr">
                    <a:solidFill>
                      <a:srgbClr val="FAFAF7"/>
                    </a:solidFill>
                  </a:tcPr>
                </a:tc>
                <a:tc>
                  <a:txBody>
                    <a:bodyPr lIns="123825" tIns="76200" rIns="123825" bIns="76200">
                      <a:noAutofit/>
                    </a:bodyPr>
                    <a:lstStyle/>
                    <a:p>
                      <a:r>
                        <a:rPr sz="2025" b="0">
                          <a:solidFill>
                            <a:srgbClr val="17343C"/>
                          </a:solidFill>
                          <a:latin typeface="Arial"/>
                          <a:ea typeface="Arial"/>
                          <a:cs typeface="Arial"/>
                        </a:rPr>
                        <a:t>Pass all 14 authorised and unauthorised approval cases.</a:t>
                      </a:r>
                    </a:p>
                  </a:txBody>
                  <a:tcPr marL="91440" marR="91440" marT="45720" marB="45720" anchor="ctr">
                    <a:solidFill>
                      <a:srgbClr val="FAFAF7"/>
                    </a:solidFill>
                  </a:tcPr>
                </a:tc>
              </a:tr>
              <a:tr h="819150">
                <a:tc>
                  <a:txBody>
                    <a:bodyPr lIns="123825" tIns="76200" rIns="123825" bIns="76200">
                      <a:noAutofit/>
                    </a:bodyPr>
                    <a:lstStyle/>
                    <a:p>
                      <a:r>
                        <a:rPr sz="2025" b="0">
                          <a:solidFill>
                            <a:srgbClr val="17343C"/>
                          </a:solidFill>
                          <a:latin typeface="Arial"/>
                          <a:ea typeface="Arial"/>
                          <a:cs typeface="Arial"/>
                        </a:rPr>
                        <a:t>Failure handling</a:t>
                      </a:r>
                    </a:p>
                  </a:txBody>
                  <a:tcPr marL="91440" marR="91440" marT="45720" marB="45720" anchor="ctr">
                    <a:solidFill>
                      <a:srgbClr val="F0F4F3"/>
                    </a:solidFill>
                  </a:tcPr>
                </a:tc>
                <a:tc>
                  <a:txBody>
                    <a:bodyPr lIns="123825" tIns="76200" rIns="123825" bIns="76200">
                      <a:noAutofit/>
                    </a:bodyPr>
                    <a:lstStyle/>
                    <a:p>
                      <a:r>
                        <a:rPr sz="2025" b="0">
                          <a:solidFill>
                            <a:srgbClr val="17343C"/>
                          </a:solidFill>
                          <a:latin typeface="Arial"/>
                          <a:ea typeface="Arial"/>
                          <a:cs typeface="Arial"/>
                        </a:rPr>
                        <a:t>Pass 5 cases with usable classic fallback within 15 seconds.</a:t>
                      </a:r>
                    </a:p>
                  </a:txBody>
                  <a:tcPr marL="91440" marR="91440" marT="45720" marB="45720" anchor="ctr">
                    <a:solidFill>
                      <a:srgbClr val="F0F4F3"/>
                    </a:solidFill>
                  </a:tcPr>
                </a:tc>
              </a:tr>
            </a:tbl>
          </a:graphicData>
        </a:graphic>
      </p:graphicFrame>
      <p:sp>
        <p:nvSpPr>
          <p:cNvPr id="6" name="full-test">
            <a:extLst xmlns:a="http://schemas.openxmlformats.org/drawingml/2006/main">
              <a:ext uri="{FF2B5EF4-FFF2-40B4-BE49-F238E27FC236}">
                <a16:creationId xmlns:a16="http://schemas.microsoft.com/office/drawing/2014/main" id="{BE94E5E1-6F76-4946-8E02-260A79C7978A}"/>
              </a:ext>
            </a:extLst>
          </p:cNvPr>
          <p:cNvSpPr>
            <a:spLocks xmlns:a="http://schemas.openxmlformats.org/drawingml/2006/main" noGrp="1"/>
          </p:cNvSpPr>
          <p:nvPr/>
        </p:nvSpPr>
        <p:spPr>
          <a:xfrm xmlns:a="http://schemas.openxmlformats.org/drawingml/2006/main">
            <a:off x="647700" y="6124575"/>
            <a:ext cx="1089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264"/>
                </a:solidFill>
                <a:latin typeface="Arial"/>
                <a:ea typeface="Arial"/>
                <a:cs typeface="Arial"/>
              </a:defRPr>
            </a:pPr>
            <a:r>
              <a:rPr sz="1800" b="0">
                <a:solidFill>
                  <a:srgbClr val="526264"/>
                </a:solidFill>
                <a:latin typeface="Arial"/>
                <a:ea typeface="Arial"/>
                <a:cs typeface="Arial"/>
              </a:rPr>
              <a:t>The report covers the full test plan, fairness and acceptance measures.</a:t>
            </a:r>
          </a:p>
        </p:txBody>
      </p:sp>
    </p:spTree>
    <p:extLst>
      <p:ext uri="{BB962C8B-B14F-4D97-AF65-F5344CB8AC3E}">
        <p14:creationId xmlns:p14="http://schemas.microsoft.com/office/powerpoint/2010/main" val="931175800"/>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2A19F729-6557-4BDD-A7D0-21D412EF5CBF}"/>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Costs need both a cash and a time view</a:t>
            </a:r>
          </a:p>
        </p:txBody>
      </p:sp>
      <p:sp>
        <p:nvSpPr>
          <p:cNvPr id="2" name="page">
            <a:extLst xmlns:a="http://schemas.openxmlformats.org/drawingml/2006/main">
              <a:ext uri="{FF2B5EF4-FFF2-40B4-BE49-F238E27FC236}">
                <a16:creationId xmlns:a16="http://schemas.microsoft.com/office/drawing/2014/main" id="{14286322-A6D5-4849-ABD2-F341E92DE800}"/>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Group 4  /  08</a:t>
            </a:r>
          </a:p>
        </p:txBody>
      </p:sp>
      <p:sp>
        <p:nvSpPr>
          <p:cNvPr id="3" name="sources">
            <a:extLst xmlns:a="http://schemas.openxmlformats.org/drawingml/2006/main">
              <a:ext uri="{FF2B5EF4-FFF2-40B4-BE49-F238E27FC236}">
                <a16:creationId xmlns:a16="http://schemas.microsoft.com/office/drawing/2014/main" id="{24DC87CC-C86D-4CBD-BB17-81988CFF65F9}"/>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[S11] [S14] [S24]</a:t>
            </a:r>
          </a:p>
        </p:txBody>
      </p:sp>
      <p:sp>
        <p:nvSpPr>
          <p:cNvPr id="4" name="case">
            <a:extLst xmlns:a="http://schemas.openxmlformats.org/drawingml/2006/main">
              <a:ext uri="{FF2B5EF4-FFF2-40B4-BE49-F238E27FC236}">
                <a16:creationId xmlns:a16="http://schemas.microsoft.com/office/drawing/2014/main" id="{763B9615-EE7D-40D5-8DAC-4C7FEFCD1403}"/>
              </a:ext>
            </a:extLst>
          </p:cNvPr>
          <p:cNvSpPr>
            <a:spLocks xmlns:a="http://schemas.openxmlformats.org/drawingml/2006/main" noGrp="1"/>
          </p:cNvSpPr>
          <p:nvPr/>
        </p:nvSpPr>
        <p:spPr>
          <a:xfrm xmlns:a="http://schemas.openxmlformats.org/drawingml/2006/main">
            <a:off x="647700" y="144780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746D"/>
                </a:solidFill>
                <a:latin typeface="Arial"/>
                <a:ea typeface="Arial"/>
                <a:cs typeface="Arial"/>
              </a:defRPr>
            </a:pPr>
            <a:r>
              <a:rPr sz="2325" b="1">
                <a:solidFill>
                  <a:srgbClr val="26746D"/>
                </a:solidFill>
                <a:latin typeface="Arial"/>
                <a:ea typeface="Arial"/>
                <a:cs typeface="Arial"/>
              </a:rPr>
              <a:t>Base planning case: 8 extra monitors reused each year</a:t>
            </a:r>
          </a:p>
        </p:txBody>
      </p:sp>
      <p:graphicFrame>
        <p:nvGraphicFramePr>
          <p:cNvPr id="11" name=""/>
          <p:cNvGraphicFramePr/>
          <p:nvPr/>
        </p:nvGraphicFramePr>
        <p:xfrm>
          <a:off xmlns:a="http://schemas.openxmlformats.org/drawingml/2006/main" x="647700" y="2314575"/>
          <a:ext xmlns:a="http://schemas.openxmlformats.org/drawingml/2006/main" cx="10896600" cy="3009900"/>
        </p:xfrm>
        <a:graphic xmlns:a="http://schemas.openxmlformats.org/drawingml/2006/main">
          <a:graphicData uri="http://schemas.openxmlformats.org/drawingml/2006/table">
            <a:tbl>
              <a:tblPr firstRow="0" firstCol="0" bandRow="0"/>
              <a:tblGrid>
                <a:gridCol w="5219700"/>
                <a:gridCol w="2838450"/>
                <a:gridCol w="2838450"/>
              </a:tblGrid>
              <a:tr h="628650">
                <a:tc>
                  <a:txBody>
                    <a:bodyPr lIns="123825" tIns="76200" rIns="123825" bIns="76200">
                      <a:noAutofit/>
                    </a:bodyPr>
                    <a:lstStyle/>
                    <a:p>
                      <a:r>
                        <a:rPr sz="1875" b="1">
                          <a:solidFill>
                            <a:srgbClr val="FFFFFF"/>
                          </a:solidFill>
                          <a:latin typeface="Arial"/>
                          <a:ea typeface="Arial"/>
                          <a:cs typeface="Arial"/>
                        </a:rPr>
                        <a:t>Cost, AED</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Cash only</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Including time</a:t>
                      </a:r>
                    </a:p>
                  </a:txBody>
                  <a:tcPr marL="91440" marR="91440" marT="45720" marB="45720" anchor="ctr">
                    <a:solidFill>
                      <a:srgbClr val="17343C"/>
                    </a:solidFill>
                  </a:tcPr>
                </a:tc>
              </a:tr>
              <a:tr h="1190625">
                <a:tc>
                  <a:txBody>
                    <a:bodyPr lIns="123825" tIns="76200" rIns="123825" bIns="76200">
                      <a:noAutofit/>
                    </a:bodyPr>
                    <a:lstStyle/>
                    <a:p>
                      <a:r>
                        <a:rPr sz="2625" b="0">
                          <a:solidFill>
                            <a:srgbClr val="17343C"/>
                          </a:solidFill>
                          <a:latin typeface="Arial"/>
                          <a:ea typeface="Arial"/>
                          <a:cs typeface="Arial"/>
                        </a:rPr>
                        <a:t>One-time setup</a:t>
                      </a:r>
                    </a:p>
                  </a:txBody>
                  <a:tcPr marL="91440" marR="91440" marT="45720" marB="45720" anchor="ctr">
                    <a:solidFill>
                      <a:srgbClr val="FAFAF7"/>
                    </a:solidFill>
                  </a:tcPr>
                </a:tc>
                <a:tc>
                  <a:txBody>
                    <a:bodyPr lIns="123825" tIns="76200" rIns="123825" bIns="76200">
                      <a:noAutofit/>
                    </a:bodyPr>
                    <a:lstStyle/>
                    <a:p>
                      <a:r>
                        <a:rPr sz="2625" b="0">
                          <a:solidFill>
                            <a:srgbClr val="17343C"/>
                          </a:solidFill>
                          <a:latin typeface="Arial"/>
                          <a:ea typeface="Arial"/>
                          <a:cs typeface="Arial"/>
                        </a:rPr>
                        <a:t>230.00</a:t>
                      </a:r>
                    </a:p>
                  </a:txBody>
                  <a:tcPr marL="91440" marR="91440" marT="45720" marB="45720" anchor="ctr">
                    <a:solidFill>
                      <a:srgbClr val="FAFAF7"/>
                    </a:solidFill>
                  </a:tcPr>
                </a:tc>
                <a:tc>
                  <a:txBody>
                    <a:bodyPr lIns="123825" tIns="76200" rIns="123825" bIns="76200">
                      <a:noAutofit/>
                    </a:bodyPr>
                    <a:lstStyle/>
                    <a:p>
                      <a:r>
                        <a:rPr sz="2625" b="0">
                          <a:solidFill>
                            <a:srgbClr val="17343C"/>
                          </a:solidFill>
                          <a:latin typeface="Arial"/>
                          <a:ea typeface="Arial"/>
                          <a:cs typeface="Arial"/>
                        </a:rPr>
                        <a:t>6,440.00</a:t>
                      </a:r>
                    </a:p>
                  </a:txBody>
                  <a:tcPr marL="91440" marR="91440" marT="45720" marB="45720" anchor="ctr">
                    <a:solidFill>
                      <a:srgbClr val="FAFAF7"/>
                    </a:solidFill>
                  </a:tcPr>
                </a:tc>
              </a:tr>
              <a:tr h="1190625">
                <a:tc>
                  <a:txBody>
                    <a:bodyPr lIns="123825" tIns="76200" rIns="123825" bIns="76200">
                      <a:noAutofit/>
                    </a:bodyPr>
                    <a:lstStyle/>
                    <a:p>
                      <a:r>
                        <a:rPr sz="2625" b="0">
                          <a:solidFill>
                            <a:srgbClr val="17343C"/>
                          </a:solidFill>
                          <a:latin typeface="Arial"/>
                          <a:ea typeface="Arial"/>
                          <a:cs typeface="Arial"/>
                        </a:rPr>
                        <a:t>Each year, with handling</a:t>
                      </a:r>
                    </a:p>
                  </a:txBody>
                  <a:tcPr marL="91440" marR="91440" marT="45720" marB="45720" anchor="ctr">
                    <a:solidFill>
                      <a:srgbClr val="F0F4F3"/>
                    </a:solidFill>
                  </a:tcPr>
                </a:tc>
                <a:tc>
                  <a:txBody>
                    <a:bodyPr lIns="123825" tIns="76200" rIns="123825" bIns="76200">
                      <a:noAutofit/>
                    </a:bodyPr>
                    <a:lstStyle/>
                    <a:p>
                      <a:r>
                        <a:rPr sz="2625" b="0">
                          <a:solidFill>
                            <a:srgbClr val="17343C"/>
                          </a:solidFill>
                          <a:latin typeface="Arial"/>
                          <a:ea typeface="Arial"/>
                          <a:cs typeface="Arial"/>
                        </a:rPr>
                        <a:t>1,274.43</a:t>
                      </a:r>
                    </a:p>
                  </a:txBody>
                  <a:tcPr marL="91440" marR="91440" marT="45720" marB="45720" anchor="ctr">
                    <a:solidFill>
                      <a:srgbClr val="F0F4F3"/>
                    </a:solidFill>
                  </a:tcPr>
                </a:tc>
                <a:tc>
                  <a:txBody>
                    <a:bodyPr lIns="123825" tIns="76200" rIns="123825" bIns="76200">
                      <a:noAutofit/>
                    </a:bodyPr>
                    <a:lstStyle/>
                    <a:p>
                      <a:r>
                        <a:rPr sz="2625" b="0">
                          <a:solidFill>
                            <a:srgbClr val="17343C"/>
                          </a:solidFill>
                          <a:latin typeface="Arial"/>
                          <a:ea typeface="Arial"/>
                          <a:cs typeface="Arial"/>
                        </a:rPr>
                        <a:t>2,114.43</a:t>
                      </a:r>
                    </a:p>
                  </a:txBody>
                  <a:tcPr marL="91440" marR="91440" marT="45720" marB="45720" anchor="ctr">
                    <a:solidFill>
                      <a:srgbClr val="F0F4F3"/>
                    </a:solidFill>
                  </a:tcPr>
                </a:tc>
              </a:tr>
            </a:tbl>
          </a:graphicData>
        </a:graphic>
      </p:graphicFrame>
      <p:sp>
        <p:nvSpPr>
          <p:cNvPr id="6" name="time">
            <a:extLst xmlns:a="http://schemas.openxmlformats.org/drawingml/2006/main">
              <a:ext uri="{FF2B5EF4-FFF2-40B4-BE49-F238E27FC236}">
                <a16:creationId xmlns:a16="http://schemas.microsoft.com/office/drawing/2014/main" id="{DA4C50DD-F314-4F0E-87EA-4D6B172AF123}"/>
              </a:ext>
            </a:extLst>
          </p:cNvPr>
          <p:cNvSpPr>
            <a:spLocks xmlns:a="http://schemas.openxmlformats.org/drawingml/2006/main" noGrp="1"/>
          </p:cNvSpPr>
          <p:nvPr/>
        </p:nvSpPr>
        <p:spPr>
          <a:xfrm xmlns:a="http://schemas.openxmlformats.org/drawingml/2006/main">
            <a:off x="647700" y="5619750"/>
            <a:ext cx="10896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343C"/>
                </a:solidFill>
                <a:latin typeface="Arial"/>
                <a:ea typeface="Arial"/>
                <a:cs typeface="Arial"/>
              </a:defRPr>
            </a:pPr>
            <a:r>
              <a:rPr sz="2175" b="0">
                <a:solidFill>
                  <a:srgbClr val="17343C"/>
                </a:solidFill>
                <a:latin typeface="Arial"/>
                <a:ea typeface="Arial"/>
                <a:cs typeface="Arial"/>
              </a:rPr>
              <a:t>Time assumes AED 30/hour for development, support and extra handling.</a:t>
            </a:r>
          </a:p>
        </p:txBody>
      </p:sp>
    </p:spTree>
    <p:extLst>
      <p:ext uri="{BB962C8B-B14F-4D97-AF65-F5344CB8AC3E}">
        <p14:creationId xmlns:p14="http://schemas.microsoft.com/office/powerpoint/2010/main" val="980600232"/>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AD09E9A8-CBFF-4343-ABDC-5F74E10DD09C}"/>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The benefit depends on extra purchase avoidance</a:t>
            </a:r>
          </a:p>
        </p:txBody>
      </p:sp>
      <p:sp>
        <p:nvSpPr>
          <p:cNvPr id="2" name="page">
            <a:extLst xmlns:a="http://schemas.openxmlformats.org/drawingml/2006/main">
              <a:ext uri="{FF2B5EF4-FFF2-40B4-BE49-F238E27FC236}">
                <a16:creationId xmlns:a16="http://schemas.microsoft.com/office/drawing/2014/main" id="{A05C70B7-5A5C-4A88-B770-45DA3845F621}"/>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Group 4  /  09</a:t>
            </a:r>
          </a:p>
        </p:txBody>
      </p:sp>
      <p:sp>
        <p:nvSpPr>
          <p:cNvPr id="3" name="sources">
            <a:extLst xmlns:a="http://schemas.openxmlformats.org/drawingml/2006/main">
              <a:ext uri="{FF2B5EF4-FFF2-40B4-BE49-F238E27FC236}">
                <a16:creationId xmlns:a16="http://schemas.microsoft.com/office/drawing/2014/main" id="{945D6A09-5892-492A-BA0E-A5E28C3A389D}"/>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[S15] [S16]</a:t>
            </a:r>
          </a:p>
        </p:txBody>
      </p:sp>
      <p:sp>
        <p:nvSpPr>
          <p:cNvPr id="4" name="baseline">
            <a:extLst xmlns:a="http://schemas.openxmlformats.org/drawingml/2006/main">
              <a:ext uri="{FF2B5EF4-FFF2-40B4-BE49-F238E27FC236}">
                <a16:creationId xmlns:a16="http://schemas.microsoft.com/office/drawing/2014/main" id="{FA97C97F-2275-4B1F-9CDB-9586575BCDE7}"/>
              </a:ext>
            </a:extLst>
          </p:cNvPr>
          <p:cNvSpPr>
            <a:spLocks xmlns:a="http://schemas.openxmlformats.org/drawingml/2006/main" noGrp="1"/>
          </p:cNvSpPr>
          <p:nvPr/>
        </p:nvSpPr>
        <p:spPr>
          <a:xfrm xmlns:a="http://schemas.openxmlformats.org/drawingml/2006/main">
            <a:off x="647700" y="15049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7343C"/>
                </a:solidFill>
                <a:latin typeface="Arial"/>
                <a:ea typeface="Arial"/>
                <a:cs typeface="Arial"/>
              </a:defRPr>
            </a:pPr>
            <a:r>
              <a:rPr sz="3150" b="1">
                <a:solidFill>
                  <a:srgbClr val="17343C"/>
                </a:solidFill>
                <a:latin typeface="Arial"/>
                <a:ea typeface="Arial"/>
                <a:cs typeface="Arial"/>
              </a:rPr>
              <a:t>40 remaining annual monitor purchases</a:t>
            </a:r>
          </a:p>
        </p:txBody>
      </p:sp>
      <p:sp>
        <p:nvSpPr>
          <p:cNvPr id="5" name="baseline-label">
            <a:extLst xmlns:a="http://schemas.openxmlformats.org/drawingml/2006/main">
              <a:ext uri="{FF2B5EF4-FFF2-40B4-BE49-F238E27FC236}">
                <a16:creationId xmlns:a16="http://schemas.microsoft.com/office/drawing/2014/main" id="{FAA2EC2E-5759-4048-AEBF-AA4F2EBF843A}"/>
              </a:ext>
            </a:extLst>
          </p:cNvPr>
          <p:cNvSpPr>
            <a:spLocks xmlns:a="http://schemas.openxmlformats.org/drawingml/2006/main" noGrp="1"/>
          </p:cNvSpPr>
          <p:nvPr/>
        </p:nvSpPr>
        <p:spPr>
          <a:xfrm xmlns:a="http://schemas.openxmlformats.org/drawingml/2006/main">
            <a:off x="647700" y="2190750"/>
            <a:ext cx="10896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264"/>
                </a:solidFill>
                <a:latin typeface="Arial"/>
                <a:ea typeface="Arial"/>
                <a:cs typeface="Arial"/>
              </a:defRPr>
            </a:pPr>
            <a:r>
              <a:rPr sz="2025" b="0">
                <a:solidFill>
                  <a:srgbClr val="526264"/>
                </a:solidFill>
                <a:latin typeface="Arial"/>
                <a:ea typeface="Arial"/>
                <a:cs typeface="Arial"/>
              </a:rPr>
              <a:t>Assumed baseline after current reuse</a:t>
            </a:r>
          </a:p>
        </p:txBody>
      </p:sp>
      <p:sp>
        <p:nvSpPr>
          <p:cNvPr id="6" name="additional">
            <a:extLst xmlns:a="http://schemas.openxmlformats.org/drawingml/2006/main">
              <a:ext uri="{FF2B5EF4-FFF2-40B4-BE49-F238E27FC236}">
                <a16:creationId xmlns:a16="http://schemas.microsoft.com/office/drawing/2014/main" id="{9DB0103E-024C-4EAD-932E-022646225AB8}"/>
              </a:ext>
            </a:extLst>
          </p:cNvPr>
          <p:cNvSpPr>
            <a:spLocks xmlns:a="http://schemas.openxmlformats.org/drawingml/2006/main" noGrp="1"/>
          </p:cNvSpPr>
          <p:nvPr/>
        </p:nvSpPr>
        <p:spPr>
          <a:xfrm xmlns:a="http://schemas.openxmlformats.org/drawingml/2006/main">
            <a:off x="647700" y="2924175"/>
            <a:ext cx="108966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26746D"/>
                </a:solidFill>
                <a:latin typeface="Arial"/>
                <a:ea typeface="Arial"/>
                <a:cs typeface="Arial"/>
              </a:defRPr>
            </a:pPr>
            <a:r>
              <a:rPr sz="2775" b="1">
                <a:solidFill>
                  <a:srgbClr val="26746D"/>
                </a:solidFill>
                <a:latin typeface="Arial"/>
                <a:ea typeface="Arial"/>
                <a:cs typeface="Arial"/>
              </a:rPr>
              <a:t>8 extra purchases avoided = 20% of that baseline</a:t>
            </a:r>
          </a:p>
        </p:txBody>
      </p:sp>
      <p:sp>
        <p:nvSpPr>
          <p:cNvPr id="7" name="formula">
            <a:extLst xmlns:a="http://schemas.openxmlformats.org/drawingml/2006/main">
              <a:ext uri="{FF2B5EF4-FFF2-40B4-BE49-F238E27FC236}">
                <a16:creationId xmlns:a16="http://schemas.microsoft.com/office/drawing/2014/main" id="{9C5559E3-EB50-415B-AF60-375BE3EE7D99}"/>
              </a:ext>
            </a:extLst>
          </p:cNvPr>
          <p:cNvSpPr>
            <a:spLocks xmlns:a="http://schemas.openxmlformats.org/drawingml/2006/main" noGrp="1"/>
          </p:cNvSpPr>
          <p:nvPr/>
        </p:nvSpPr>
        <p:spPr>
          <a:xfrm xmlns:a="http://schemas.openxmlformats.org/drawingml/2006/main">
            <a:off x="647700" y="3857625"/>
            <a:ext cx="10896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26746D"/>
                </a:solidFill>
                <a:latin typeface="Arial"/>
                <a:ea typeface="Arial"/>
                <a:cs typeface="Arial"/>
              </a:defRPr>
            </a:pPr>
            <a:r>
              <a:rPr sz="3150" b="1">
                <a:solidFill>
                  <a:srgbClr val="26746D"/>
                </a:solidFill>
                <a:latin typeface="Arial"/>
                <a:ea typeface="Arial"/>
                <a:cs typeface="Arial"/>
              </a:rPr>
              <a:t>8 × AED 345 = AED 2,760.00 gross benefit/year</a:t>
            </a:r>
          </a:p>
        </p:txBody>
      </p:sp>
      <p:sp>
        <p:nvSpPr>
          <p:cNvPr id="8" name="mechanism">
            <a:extLst xmlns:a="http://schemas.openxmlformats.org/drawingml/2006/main">
              <a:ext uri="{FF2B5EF4-FFF2-40B4-BE49-F238E27FC236}">
                <a16:creationId xmlns:a16="http://schemas.microsoft.com/office/drawing/2014/main" id="{C4560414-2430-4E68-BA28-50A3FA7E537A}"/>
              </a:ext>
            </a:extLst>
          </p:cNvPr>
          <p:cNvSpPr>
            <a:spLocks xmlns:a="http://schemas.openxmlformats.org/drawingml/2006/main" noGrp="1"/>
          </p:cNvSpPr>
          <p:nvPr/>
        </p:nvSpPr>
        <p:spPr>
          <a:xfrm xmlns:a="http://schemas.openxmlformats.org/drawingml/2006/main">
            <a:off x="647700" y="5019675"/>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343C"/>
                </a:solidFill>
                <a:latin typeface="Arial"/>
                <a:ea typeface="Arial"/>
                <a:cs typeface="Arial"/>
              </a:defRPr>
            </a:pPr>
            <a:r>
              <a:rPr sz="2325" b="0">
                <a:solidFill>
                  <a:srgbClr val="17343C"/>
                </a:solidFill>
                <a:latin typeface="Arial"/>
                <a:ea typeface="Arial"/>
                <a:cs typeface="Arial"/>
              </a:rPr>
              <a:t>A suitable spare must replace a purchase that would otherwise happen.</a:t>
            </a:r>
          </a:p>
        </p:txBody>
      </p:sp>
      <p:sp>
        <p:nvSpPr>
          <p:cNvPr id="9" name="caveat">
            <a:extLst xmlns:a="http://schemas.openxmlformats.org/drawingml/2006/main">
              <a:ext uri="{FF2B5EF4-FFF2-40B4-BE49-F238E27FC236}">
                <a16:creationId xmlns:a16="http://schemas.microsoft.com/office/drawing/2014/main" id="{42B7AF03-B453-4A8A-ACAA-A421B42153A8}"/>
              </a:ext>
            </a:extLst>
          </p:cNvPr>
          <p:cNvSpPr>
            <a:spLocks xmlns:a="http://schemas.openxmlformats.org/drawingml/2006/main" noGrp="1"/>
          </p:cNvSpPr>
          <p:nvPr/>
        </p:nvSpPr>
        <p:spPr>
          <a:xfrm xmlns:a="http://schemas.openxmlformats.org/drawingml/2006/main">
            <a:off x="647700" y="6096000"/>
            <a:ext cx="10896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264"/>
                </a:solidFill>
                <a:latin typeface="Arial"/>
                <a:ea typeface="Arial"/>
                <a:cs typeface="Arial"/>
              </a:defRPr>
            </a:pPr>
            <a:r>
              <a:rPr sz="1800" b="0">
                <a:solidFill>
                  <a:srgbClr val="526264"/>
                </a:solidFill>
                <a:latin typeface="Arial"/>
                <a:ea typeface="Arial"/>
                <a:cs typeface="Arial"/>
              </a:rPr>
              <a:t>Quantities are unverified assumptions. AED 345 is a dated retail price proxy.</a:t>
            </a:r>
          </a:p>
        </p:txBody>
      </p:sp>
    </p:spTree>
    <p:extLst>
      <p:ext uri="{BB962C8B-B14F-4D97-AF65-F5344CB8AC3E}">
        <p14:creationId xmlns:p14="http://schemas.microsoft.com/office/powerpoint/2010/main" val="1553864866"/>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title">
            <a:extLst xmlns:a="http://schemas.openxmlformats.org/drawingml/2006/main">
              <a:ext uri="{FF2B5EF4-FFF2-40B4-BE49-F238E27FC236}">
                <a16:creationId xmlns:a16="http://schemas.microsoft.com/office/drawing/2014/main" id="{DB3B894D-9F62-47DD-BA8F-6D981623B781}"/>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Counting time changes the financial conclusion</a:t>
            </a:r>
          </a:p>
        </p:txBody>
      </p:sp>
      <p:sp>
        <p:nvSpPr>
          <p:cNvPr id="2" name="page">
            <a:extLst xmlns:a="http://schemas.openxmlformats.org/drawingml/2006/main">
              <a:ext uri="{FF2B5EF4-FFF2-40B4-BE49-F238E27FC236}">
                <a16:creationId xmlns:a16="http://schemas.microsoft.com/office/drawing/2014/main" id="{44613F55-79FB-4BC1-ABFB-0EA65CD60A61}"/>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Group 4  /  10</a:t>
            </a:r>
          </a:p>
        </p:txBody>
      </p:sp>
      <p:sp>
        <p:nvSpPr>
          <p:cNvPr id="3" name="sources">
            <a:extLst xmlns:a="http://schemas.openxmlformats.org/drawingml/2006/main">
              <a:ext uri="{FF2B5EF4-FFF2-40B4-BE49-F238E27FC236}">
                <a16:creationId xmlns:a16="http://schemas.microsoft.com/office/drawing/2014/main" id="{B365FB90-DFB0-42C3-9E05-16913DC1FC3B}"/>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[S16] [S24] [S25]</a:t>
            </a:r>
          </a:p>
        </p:txBody>
      </p:sp>
      <p:sp>
        <p:nvSpPr>
          <p:cNvPr id="4" name="cash-title">
            <a:extLst xmlns:a="http://schemas.openxmlformats.org/drawingml/2006/main">
              <a:ext uri="{FF2B5EF4-FFF2-40B4-BE49-F238E27FC236}">
                <a16:creationId xmlns:a16="http://schemas.microsoft.com/office/drawing/2014/main" id="{FB5176DB-CA8D-4D72-B4C7-A8247CA4D5E9}"/>
              </a:ext>
            </a:extLst>
          </p:cNvPr>
          <p:cNvSpPr>
            <a:spLocks xmlns:a="http://schemas.openxmlformats.org/drawingml/2006/main" noGrp="1"/>
          </p:cNvSpPr>
          <p:nvPr/>
        </p:nvSpPr>
        <p:spPr>
          <a:xfrm xmlns:a="http://schemas.openxmlformats.org/drawingml/2006/main">
            <a:off x="647700" y="1619250"/>
            <a:ext cx="5067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26746D"/>
                </a:solidFill>
                <a:latin typeface="Arial"/>
                <a:ea typeface="Arial"/>
                <a:cs typeface="Arial"/>
              </a:defRPr>
            </a:pPr>
            <a:r>
              <a:rPr sz="2400" b="1">
                <a:solidFill>
                  <a:srgbClr val="26746D"/>
                </a:solidFill>
                <a:latin typeface="Arial"/>
                <a:ea typeface="Arial"/>
                <a:cs typeface="Arial"/>
              </a:rPr>
              <a:t>Cash view: first year</a:t>
            </a:r>
          </a:p>
        </p:txBody>
      </p:sp>
      <p:sp>
        <p:nvSpPr>
          <p:cNvPr id="5" name="time-title">
            <a:extLst xmlns:a="http://schemas.openxmlformats.org/drawingml/2006/main">
              <a:ext uri="{FF2B5EF4-FFF2-40B4-BE49-F238E27FC236}">
                <a16:creationId xmlns:a16="http://schemas.microsoft.com/office/drawing/2014/main" id="{A1182128-7D54-42EA-96A1-7C094553F41B}"/>
              </a:ext>
            </a:extLst>
          </p:cNvPr>
          <p:cNvSpPr>
            <a:spLocks xmlns:a="http://schemas.openxmlformats.org/drawingml/2006/main" noGrp="1"/>
          </p:cNvSpPr>
          <p:nvPr/>
        </p:nvSpPr>
        <p:spPr>
          <a:xfrm xmlns:a="http://schemas.openxmlformats.org/drawingml/2006/main">
            <a:off x="6477000" y="1619250"/>
            <a:ext cx="5067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9A4D40"/>
                </a:solidFill>
                <a:latin typeface="Arial"/>
                <a:ea typeface="Arial"/>
                <a:cs typeface="Arial"/>
              </a:defRPr>
            </a:pPr>
            <a:r>
              <a:rPr sz="2400" b="1">
                <a:solidFill>
                  <a:srgbClr val="9A4D40"/>
                </a:solidFill>
                <a:latin typeface="Arial"/>
                <a:ea typeface="Arial"/>
                <a:cs typeface="Arial"/>
              </a:rPr>
              <a:t>Including time: three years</a:t>
            </a:r>
          </a:p>
        </p:txBody>
      </p:sp>
      <p:sp>
        <p:nvSpPr>
          <p:cNvPr id="6" name="cash-roi">
            <a:extLst xmlns:a="http://schemas.openxmlformats.org/drawingml/2006/main">
              <a:ext uri="{FF2B5EF4-FFF2-40B4-BE49-F238E27FC236}">
                <a16:creationId xmlns:a16="http://schemas.microsoft.com/office/drawing/2014/main" id="{C262E660-A6FC-41CB-AB2B-AE2EB985D742}"/>
              </a:ext>
            </a:extLst>
          </p:cNvPr>
          <p:cNvSpPr>
            <a:spLocks xmlns:a="http://schemas.openxmlformats.org/drawingml/2006/main" noGrp="1"/>
          </p:cNvSpPr>
          <p:nvPr/>
        </p:nvSpPr>
        <p:spPr>
          <a:xfrm xmlns:a="http://schemas.openxmlformats.org/drawingml/2006/main">
            <a:off x="647700" y="2343150"/>
            <a:ext cx="5067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26746D"/>
                </a:solidFill>
                <a:latin typeface="Arial"/>
                <a:ea typeface="Arial"/>
                <a:cs typeface="Arial"/>
              </a:defRPr>
            </a:pPr>
            <a:r>
              <a:rPr sz="3825" b="1">
                <a:solidFill>
                  <a:srgbClr val="26746D"/>
                </a:solidFill>
                <a:latin typeface="Arial"/>
                <a:ea typeface="Arial"/>
                <a:cs typeface="Arial"/>
              </a:rPr>
              <a:t>83.46% ROI</a:t>
            </a:r>
          </a:p>
        </p:txBody>
      </p:sp>
      <p:sp>
        <p:nvSpPr>
          <p:cNvPr id="7" name="time-roi">
            <a:extLst xmlns:a="http://schemas.openxmlformats.org/drawingml/2006/main">
              <a:ext uri="{FF2B5EF4-FFF2-40B4-BE49-F238E27FC236}">
                <a16:creationId xmlns:a16="http://schemas.microsoft.com/office/drawing/2014/main" id="{309C4681-F6FB-4BB4-A574-375911C8690C}"/>
              </a:ext>
            </a:extLst>
          </p:cNvPr>
          <p:cNvSpPr>
            <a:spLocks xmlns:a="http://schemas.openxmlformats.org/drawingml/2006/main" noGrp="1"/>
          </p:cNvSpPr>
          <p:nvPr/>
        </p:nvSpPr>
        <p:spPr>
          <a:xfrm xmlns:a="http://schemas.openxmlformats.org/drawingml/2006/main">
            <a:off x="6477000" y="2343150"/>
            <a:ext cx="50673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9A4D40"/>
                </a:solidFill>
                <a:latin typeface="Arial"/>
                <a:ea typeface="Arial"/>
                <a:cs typeface="Arial"/>
              </a:defRPr>
            </a:pPr>
            <a:r>
              <a:rPr sz="3825" b="1">
                <a:solidFill>
                  <a:srgbClr val="9A4D40"/>
                </a:solidFill>
                <a:latin typeface="Arial"/>
                <a:ea typeface="Arial"/>
                <a:cs typeface="Arial"/>
              </a:rPr>
              <a:t>−35.23% ROI</a:t>
            </a:r>
          </a:p>
        </p:txBody>
      </p:sp>
      <p:sp>
        <p:nvSpPr>
          <p:cNvPr id="8" name="cash-ratio">
            <a:extLst xmlns:a="http://schemas.openxmlformats.org/drawingml/2006/main">
              <a:ext uri="{FF2B5EF4-FFF2-40B4-BE49-F238E27FC236}">
                <a16:creationId xmlns:a16="http://schemas.microsoft.com/office/drawing/2014/main" id="{F62735B5-DF1B-403C-9362-EFA581960C34}"/>
              </a:ext>
            </a:extLst>
          </p:cNvPr>
          <p:cNvSpPr>
            <a:spLocks xmlns:a="http://schemas.openxmlformats.org/drawingml/2006/main" noGrp="1"/>
          </p:cNvSpPr>
          <p:nvPr/>
        </p:nvSpPr>
        <p:spPr>
          <a:xfrm xmlns:a="http://schemas.openxmlformats.org/drawingml/2006/main">
            <a:off x="647700" y="3267075"/>
            <a:ext cx="50673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C"/>
                </a:solidFill>
                <a:latin typeface="Arial"/>
                <a:ea typeface="Arial"/>
                <a:cs typeface="Arial"/>
              </a:defRPr>
            </a:pPr>
            <a:r>
              <a:rPr sz="2025" b="0">
                <a:solidFill>
                  <a:srgbClr val="17343C"/>
                </a:solidFill>
                <a:latin typeface="Arial"/>
                <a:ea typeface="Arial"/>
                <a:cs typeface="Arial"/>
              </a:rPr>
              <a:t>AED 1,255.57 net / AED 1,504.43 cost</a:t>
            </a:r>
          </a:p>
        </p:txBody>
      </p:sp>
      <p:sp>
        <p:nvSpPr>
          <p:cNvPr id="9" name="time-ratio">
            <a:extLst xmlns:a="http://schemas.openxmlformats.org/drawingml/2006/main">
              <a:ext uri="{FF2B5EF4-FFF2-40B4-BE49-F238E27FC236}">
                <a16:creationId xmlns:a16="http://schemas.microsoft.com/office/drawing/2014/main" id="{23E842E3-B511-40DF-9FC5-9E7217728144}"/>
              </a:ext>
            </a:extLst>
          </p:cNvPr>
          <p:cNvSpPr>
            <a:spLocks xmlns:a="http://schemas.openxmlformats.org/drawingml/2006/main" noGrp="1"/>
          </p:cNvSpPr>
          <p:nvPr/>
        </p:nvSpPr>
        <p:spPr>
          <a:xfrm xmlns:a="http://schemas.openxmlformats.org/drawingml/2006/main">
            <a:off x="6477000" y="3267075"/>
            <a:ext cx="50673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343C"/>
                </a:solidFill>
                <a:latin typeface="Arial"/>
                <a:ea typeface="Arial"/>
                <a:cs typeface="Arial"/>
              </a:defRPr>
            </a:pPr>
            <a:r>
              <a:rPr sz="2025" b="0">
                <a:solidFill>
                  <a:srgbClr val="17343C"/>
                </a:solidFill>
                <a:latin typeface="Arial"/>
                <a:ea typeface="Arial"/>
                <a:cs typeface="Arial"/>
              </a:rPr>
              <a:t>−AED 4,503.28 net / AED 12,783.28 cost</a:t>
            </a:r>
          </a:p>
        </p:txBody>
      </p:sp>
      <p:sp>
        <p:nvSpPr>
          <p:cNvPr id="10" name="cash-payback">
            <a:extLst xmlns:a="http://schemas.openxmlformats.org/drawingml/2006/main">
              <a:ext uri="{FF2B5EF4-FFF2-40B4-BE49-F238E27FC236}">
                <a16:creationId xmlns:a16="http://schemas.microsoft.com/office/drawing/2014/main" id="{191652B1-3098-476A-BB62-F44DD443716A}"/>
              </a:ext>
            </a:extLst>
          </p:cNvPr>
          <p:cNvSpPr>
            <a:spLocks xmlns:a="http://schemas.openxmlformats.org/drawingml/2006/main" noGrp="1"/>
          </p:cNvSpPr>
          <p:nvPr/>
        </p:nvSpPr>
        <p:spPr>
          <a:xfrm xmlns:a="http://schemas.openxmlformats.org/drawingml/2006/main">
            <a:off x="647700" y="4438650"/>
            <a:ext cx="5067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343C"/>
                </a:solidFill>
                <a:latin typeface="Arial"/>
                <a:ea typeface="Arial"/>
                <a:cs typeface="Arial"/>
              </a:defRPr>
            </a:pPr>
            <a:r>
              <a:rPr sz="2475" b="1">
                <a:solidFill>
                  <a:srgbClr val="17343C"/>
                </a:solidFill>
                <a:latin typeface="Arial"/>
                <a:ea typeface="Arial"/>
                <a:cs typeface="Arial"/>
              </a:rPr>
              <a:t>1.86 months simple cash payback</a:t>
            </a:r>
          </a:p>
        </p:txBody>
      </p:sp>
      <p:sp>
        <p:nvSpPr>
          <p:cNvPr id="11" name="time-payback">
            <a:extLst xmlns:a="http://schemas.openxmlformats.org/drawingml/2006/main">
              <a:ext uri="{FF2B5EF4-FFF2-40B4-BE49-F238E27FC236}">
                <a16:creationId xmlns:a16="http://schemas.microsoft.com/office/drawing/2014/main" id="{793B3717-5097-401C-9A76-F457A84C9DD1}"/>
              </a:ext>
            </a:extLst>
          </p:cNvPr>
          <p:cNvSpPr>
            <a:spLocks xmlns:a="http://schemas.openxmlformats.org/drawingml/2006/main" noGrp="1"/>
          </p:cNvSpPr>
          <p:nvPr/>
        </p:nvSpPr>
        <p:spPr>
          <a:xfrm xmlns:a="http://schemas.openxmlformats.org/drawingml/2006/main">
            <a:off x="6477000" y="4438650"/>
            <a:ext cx="50673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7343C"/>
                </a:solidFill>
                <a:latin typeface="Arial"/>
                <a:ea typeface="Arial"/>
                <a:cs typeface="Arial"/>
              </a:defRPr>
            </a:pPr>
            <a:r>
              <a:rPr sz="2475" b="1">
                <a:solidFill>
                  <a:srgbClr val="17343C"/>
                </a:solidFill>
                <a:latin typeface="Arial"/>
                <a:ea typeface="Arial"/>
                <a:cs typeface="Arial"/>
              </a:rPr>
              <a:t>No recovery within 3 years</a:t>
            </a:r>
          </a:p>
        </p:txBody>
      </p:sp>
      <p:sp>
        <p:nvSpPr>
          <p:cNvPr id="12" name="payback-caveat">
            <a:extLst xmlns:a="http://schemas.openxmlformats.org/drawingml/2006/main">
              <a:ext uri="{FF2B5EF4-FFF2-40B4-BE49-F238E27FC236}">
                <a16:creationId xmlns:a16="http://schemas.microsoft.com/office/drawing/2014/main" id="{AEB0B871-F397-4F86-8C5E-854CA1AA1898}"/>
              </a:ext>
            </a:extLst>
          </p:cNvPr>
          <p:cNvSpPr>
            <a:spLocks xmlns:a="http://schemas.openxmlformats.org/drawingml/2006/main" noGrp="1"/>
          </p:cNvSpPr>
          <p:nvPr/>
        </p:nvSpPr>
        <p:spPr>
          <a:xfrm xmlns:a="http://schemas.openxmlformats.org/drawingml/2006/main">
            <a:off x="647700" y="5695950"/>
            <a:ext cx="1089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264"/>
                </a:solidFill>
                <a:latin typeface="Arial"/>
                <a:ea typeface="Arial"/>
                <a:cs typeface="Arial"/>
              </a:defRPr>
            </a:pPr>
            <a:r>
              <a:rPr sz="2025" b="0">
                <a:solidFill>
                  <a:srgbClr val="526264"/>
                </a:solidFill>
                <a:latin typeface="Arial"/>
                <a:ea typeface="Arial"/>
                <a:cs typeface="Arial"/>
              </a:rPr>
              <a:t>Cash payback assumes steady net benefit after launch. Actual transfers happen on specific dates.</a:t>
            </a:r>
          </a:p>
        </p:txBody>
      </p:sp>
    </p:spTree>
    <p:extLst>
      <p:ext uri="{BB962C8B-B14F-4D97-AF65-F5344CB8AC3E}">
        <p14:creationId xmlns:p14="http://schemas.microsoft.com/office/powerpoint/2010/main" val="1244923481"/>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A4BDFAC-F9DA-4460-99E3-524D8888746A}"/>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Evidence, access and time are the main risks</a:t>
            </a:r>
          </a:p>
        </p:txBody>
      </p:sp>
      <p:sp>
        <p:nvSpPr>
          <p:cNvPr id="2" name="page">
            <a:extLst xmlns:a="http://schemas.openxmlformats.org/drawingml/2006/main">
              <a:ext uri="{FF2B5EF4-FFF2-40B4-BE49-F238E27FC236}">
                <a16:creationId xmlns:a16="http://schemas.microsoft.com/office/drawing/2014/main" id="{F034C0CB-241A-46CF-95FA-3206F3437715}"/>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Group 4  /  11</a:t>
            </a:r>
          </a:p>
        </p:txBody>
      </p:sp>
      <p:sp>
        <p:nvSpPr>
          <p:cNvPr id="3" name="sources">
            <a:extLst xmlns:a="http://schemas.openxmlformats.org/drawingml/2006/main">
              <a:ext uri="{FF2B5EF4-FFF2-40B4-BE49-F238E27FC236}">
                <a16:creationId xmlns:a16="http://schemas.microsoft.com/office/drawing/2014/main" id="{63FD5CEA-C659-4047-8671-A0027B657EBD}"/>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[S17] [S18]</a:t>
            </a:r>
          </a:p>
        </p:txBody>
      </p:sp>
      <p:sp>
        <p:nvSpPr>
          <p:cNvPr id="4" name="capacity">
            <a:extLst xmlns:a="http://schemas.openxmlformats.org/drawingml/2006/main">
              <a:ext uri="{FF2B5EF4-FFF2-40B4-BE49-F238E27FC236}">
                <a16:creationId xmlns:a16="http://schemas.microsoft.com/office/drawing/2014/main" id="{720DD658-67F0-47DE-93B7-6E66EBB1ADEB}"/>
              </a:ext>
            </a:extLst>
          </p:cNvPr>
          <p:cNvSpPr>
            <a:spLocks xmlns:a="http://schemas.openxmlformats.org/drawingml/2006/main" noGrp="1"/>
          </p:cNvSpPr>
          <p:nvPr/>
        </p:nvSpPr>
        <p:spPr>
          <a:xfrm xmlns:a="http://schemas.openxmlformats.org/drawingml/2006/main">
            <a:off x="647700" y="144780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26746D"/>
                </a:solidFill>
                <a:latin typeface="Arial"/>
                <a:ea typeface="Arial"/>
                <a:cs typeface="Arial"/>
              </a:defRPr>
            </a:pPr>
            <a:r>
              <a:rPr sz="2325" b="1">
                <a:solidFill>
                  <a:srgbClr val="26746D"/>
                </a:solidFill>
                <a:latin typeface="Arial"/>
                <a:ea typeface="Arial"/>
                <a:cs typeface="Arial"/>
              </a:rPr>
              <a:t>207 hours estimated vs 192 hours assumed capacity: a 15-hour gap</a:t>
            </a:r>
          </a:p>
        </p:txBody>
      </p:sp>
      <p:graphicFrame>
        <p:nvGraphicFramePr>
          <p:cNvPr id="11" name=""/>
          <p:cNvGraphicFramePr/>
          <p:nvPr/>
        </p:nvGraphicFramePr>
        <p:xfrm>
          <a:off xmlns:a="http://schemas.openxmlformats.org/drawingml/2006/main" x="647700" y="2219325"/>
          <a:ext xmlns:a="http://schemas.openxmlformats.org/drawingml/2006/main" cx="10896600" cy="3819525"/>
        </p:xfrm>
        <a:graphic xmlns:a="http://schemas.openxmlformats.org/drawingml/2006/main">
          <a:graphicData uri="http://schemas.openxmlformats.org/drawingml/2006/table">
            <a:tbl>
              <a:tblPr firstRow="0" firstCol="0" bandRow="0"/>
              <a:tblGrid>
                <a:gridCol w="3257550"/>
                <a:gridCol w="3286125"/>
                <a:gridCol w="4352925"/>
              </a:tblGrid>
              <a:tr h="533400">
                <a:tc>
                  <a:txBody>
                    <a:bodyPr lIns="123825" tIns="76200" rIns="123825" bIns="76200">
                      <a:noAutofit/>
                    </a:bodyPr>
                    <a:lstStyle/>
                    <a:p>
                      <a:r>
                        <a:rPr sz="1875" b="1">
                          <a:solidFill>
                            <a:srgbClr val="FFFFFF"/>
                          </a:solidFill>
                          <a:latin typeface="Arial"/>
                          <a:ea typeface="Arial"/>
                          <a:cs typeface="Arial"/>
                        </a:rPr>
                        <a:t>Risk and score (L × I)</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Mitigation</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Trigger and response</a:t>
                      </a:r>
                    </a:p>
                  </a:txBody>
                  <a:tcPr marL="91440" marR="91440" marT="45720" marB="45720" anchor="ctr">
                    <a:solidFill>
                      <a:srgbClr val="17343C"/>
                    </a:solidFill>
                  </a:tcPr>
                </a:tc>
              </a:tr>
              <a:tr h="1095375">
                <a:tc>
                  <a:txBody>
                    <a:bodyPr lIns="123825" tIns="76200" rIns="123825" bIns="76200">
                      <a:noAutofit/>
                    </a:bodyPr>
                    <a:lstStyle/>
                    <a:p>
                      <a:r>
                        <a:rPr sz="1875" b="0">
                          <a:solidFill>
                            <a:srgbClr val="17343C"/>
                          </a:solidFill>
                          <a:latin typeface="Arial"/>
                          <a:ea typeface="Arial"/>
                          <a:cs typeface="Arial"/>
                        </a:rPr>
                        <a:t>KU evidence: 16 (4 × 4)</a:t>
                      </a:r>
                    </a:p>
                    <a:p>
                      <a:r>
                        <a:rPr sz="1875" b="0">
                          <a:solidFill>
                            <a:srgbClr val="17343C"/>
                          </a:solidFill>
                          <a:latin typeface="Arial"/>
                          <a:ea typeface="Arial"/>
                          <a:cs typeface="Arial"/>
                        </a:rPr>
                        <a:t>Zayed</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Confirm workflow and</a:t>
                      </a:r>
                    </a:p>
                    <a:p>
                      <a:r>
                        <a:rPr sz="1875" b="0">
                          <a:solidFill>
                            <a:srgbClr val="17343C"/>
                          </a:solidFill>
                          <a:latin typeface="Arial"/>
                          <a:ea typeface="Arial"/>
                          <a:cs typeface="Arial"/>
                        </a:rPr>
                        <a:t>permitted KU records.</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Baseline unavailable: use labelled</a:t>
                      </a:r>
                    </a:p>
                    <a:p>
                      <a:r>
                        <a:rPr sz="1875" b="0">
                          <a:solidFill>
                            <a:srgbClr val="17343C"/>
                          </a:solidFill>
                          <a:latin typeface="Arial"/>
                          <a:ea typeface="Arial"/>
                          <a:cs typeface="Arial"/>
                        </a:rPr>
                        <a:t>synthetic cases, keep benefit unverified.</a:t>
                      </a:r>
                    </a:p>
                  </a:txBody>
                  <a:tcPr marL="91440" marR="91440" marT="45720" marB="45720" anchor="ctr">
                    <a:solidFill>
                      <a:srgbClr val="FAFAF7"/>
                    </a:solidFill>
                  </a:tcPr>
                </a:tc>
              </a:tr>
              <a:tr h="1095375">
                <a:tc>
                  <a:txBody>
                    <a:bodyPr lIns="123825" tIns="76200" rIns="123825" bIns="76200">
                      <a:noAutofit/>
                    </a:bodyPr>
                    <a:lstStyle/>
                    <a:p>
                      <a:r>
                        <a:rPr sz="1875" b="0">
                          <a:solidFill>
                            <a:srgbClr val="17343C"/>
                          </a:solidFill>
                          <a:latin typeface="Arial"/>
                          <a:ea typeface="Arial"/>
                          <a:cs typeface="Arial"/>
                        </a:rPr>
                        <a:t>Data exposure: 15 (3 × 5)</a:t>
                      </a:r>
                    </a:p>
                    <a:p>
                      <a:r>
                        <a:rPr sz="1875" b="0">
                          <a:solidFill>
                            <a:srgbClr val="17343C"/>
                          </a:solidFill>
                          <a:latin typeface="Arial"/>
                          <a:ea typeface="Arial"/>
                          <a:cs typeface="Arial"/>
                        </a:rPr>
                        <a:t>Ghaith</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Use synthetic data and</a:t>
                      </a:r>
                    </a:p>
                    <a:p>
                      <a:r>
                        <a:rPr sz="1875" b="0">
                          <a:solidFill>
                            <a:srgbClr val="17343C"/>
                          </a:solidFill>
                          <a:latin typeface="Arial"/>
                          <a:ea typeface="Arial"/>
                          <a:cs typeface="Arial"/>
                        </a:rPr>
                        <a:t>test permissions.</a:t>
                      </a:r>
                    </a:p>
                  </a:txBody>
                  <a:tcPr marL="91440" marR="91440" marT="45720" marB="45720" anchor="ctr">
                    <a:solidFill>
                      <a:srgbClr val="F0F4F3"/>
                    </a:solidFill>
                  </a:tcPr>
                </a:tc>
                <a:tc>
                  <a:txBody>
                    <a:bodyPr lIns="123825" tIns="76200" rIns="123825" bIns="76200">
                      <a:noAutofit/>
                    </a:bodyPr>
                    <a:lstStyle/>
                    <a:p>
                      <a:r>
                        <a:rPr sz="1875" b="0">
                          <a:solidFill>
                            <a:srgbClr val="17343C"/>
                          </a:solidFill>
                          <a:latin typeface="Arial"/>
                          <a:ea typeface="Arial"/>
                          <a:cs typeface="Arial"/>
                        </a:rPr>
                        <a:t>Unauthorised access: stop the route,</a:t>
                      </a:r>
                    </a:p>
                    <a:p>
                      <a:r>
                        <a:rPr sz="1875" b="0">
                          <a:solidFill>
                            <a:srgbClr val="17343C"/>
                          </a:solidFill>
                          <a:latin typeface="Arial"/>
                          <a:ea typeface="Arial"/>
                          <a:cs typeface="Arial"/>
                        </a:rPr>
                        <a:t>revoke keys and notify the owner.</a:t>
                      </a:r>
                    </a:p>
                  </a:txBody>
                  <a:tcPr marL="91440" marR="91440" marT="45720" marB="45720" anchor="ctr">
                    <a:solidFill>
                      <a:srgbClr val="F0F4F3"/>
                    </a:solidFill>
                  </a:tcPr>
                </a:tc>
              </a:tr>
              <a:tr h="1095375">
                <a:tc>
                  <a:txBody>
                    <a:bodyPr lIns="123825" tIns="76200" rIns="123825" bIns="76200">
                      <a:noAutofit/>
                    </a:bodyPr>
                    <a:lstStyle/>
                    <a:p>
                      <a:r>
                        <a:rPr sz="1875" b="0">
                          <a:solidFill>
                            <a:srgbClr val="17343C"/>
                          </a:solidFill>
                          <a:latin typeface="Arial"/>
                          <a:ea typeface="Arial"/>
                          <a:cs typeface="Arial"/>
                        </a:rPr>
                        <a:t>Time shortage: 15 (3 × 5)</a:t>
                      </a:r>
                    </a:p>
                    <a:p>
                      <a:r>
                        <a:rPr sz="1875" b="0">
                          <a:solidFill>
                            <a:srgbClr val="17343C"/>
                          </a:solidFill>
                          <a:latin typeface="Arial"/>
                          <a:ea typeface="Arial"/>
                          <a:cs typeface="Arial"/>
                        </a:rPr>
                        <a:t>Sultan</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Confirm hours, integrate</a:t>
                      </a:r>
                    </a:p>
                    <a:p>
                      <a:r>
                        <a:rPr sz="1875" b="0">
                          <a:solidFill>
                            <a:srgbClr val="17343C"/>
                          </a:solidFill>
                          <a:latin typeface="Arial"/>
                          <a:ea typeface="Arial"/>
                          <a:cs typeface="Arial"/>
                        </a:rPr>
                        <a:t>early and review weekly.</a:t>
                      </a:r>
                    </a:p>
                  </a:txBody>
                  <a:tcPr marL="91440" marR="91440" marT="45720" marB="45720" anchor="ctr">
                    <a:solidFill>
                      <a:srgbClr val="FAFAF7"/>
                    </a:solidFill>
                  </a:tcPr>
                </a:tc>
                <a:tc>
                  <a:txBody>
                    <a:bodyPr lIns="123825" tIns="76200" rIns="123825" bIns="76200">
                      <a:noAutofit/>
                    </a:bodyPr>
                    <a:lstStyle/>
                    <a:p>
                      <a:r>
                        <a:rPr sz="1875" b="0">
                          <a:solidFill>
                            <a:srgbClr val="17343C"/>
                          </a:solidFill>
                          <a:latin typeface="Arial"/>
                          <a:ea typeface="Arial"/>
                          <a:cs typeface="Arial"/>
                        </a:rPr>
                        <a:t>Work exceeds capacity: reassign work</a:t>
                      </a:r>
                    </a:p>
                    <a:p>
                      <a:r>
                        <a:rPr sz="1875" b="0">
                          <a:solidFill>
                            <a:srgbClr val="17343C"/>
                          </a:solidFill>
                          <a:latin typeface="Arial"/>
                          <a:ea typeface="Arial"/>
                          <a:cs typeface="Arial"/>
                        </a:rPr>
                        <a:t>and discuss scope with the instructor.</a:t>
                      </a:r>
                    </a:p>
                  </a:txBody>
                  <a:tcPr marL="91440" marR="91440" marT="45720" marB="45720" anchor="ctr">
                    <a:solidFill>
                      <a:srgbClr val="FAFAF7"/>
                    </a:solidFill>
                  </a:tcPr>
                </a:tc>
              </a:tr>
            </a:tbl>
          </a:graphicData>
        </a:graphic>
      </p:graphicFrame>
      <p:sp>
        <p:nvSpPr>
          <p:cNvPr id="6" name="risk-caution">
            <a:extLst xmlns:a="http://schemas.openxmlformats.org/drawingml/2006/main">
              <a:ext uri="{FF2B5EF4-FFF2-40B4-BE49-F238E27FC236}">
                <a16:creationId xmlns:a16="http://schemas.microsoft.com/office/drawing/2014/main" id="{BC80087D-FABF-4881-9CBD-A28A22E8E806}"/>
              </a:ext>
            </a:extLst>
          </p:cNvPr>
          <p:cNvSpPr>
            <a:spLocks xmlns:a="http://schemas.openxmlformats.org/drawingml/2006/main" noGrp="1"/>
          </p:cNvSpPr>
          <p:nvPr/>
        </p:nvSpPr>
        <p:spPr>
          <a:xfrm xmlns:a="http://schemas.openxmlformats.org/drawingml/2006/main">
            <a:off x="647700" y="6143625"/>
            <a:ext cx="1089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264"/>
                </a:solidFill>
                <a:latin typeface="Arial"/>
                <a:ea typeface="Arial"/>
                <a:cs typeface="Arial"/>
              </a:defRPr>
            </a:pPr>
            <a:r>
              <a:rPr sz="1725" b="0">
                <a:solidFill>
                  <a:srgbClr val="526264"/>
                </a:solidFill>
                <a:latin typeface="Arial"/>
                <a:ea typeface="Arial"/>
                <a:cs typeface="Arial"/>
              </a:rPr>
              <a:t>Scores rank attention. They are team judgements, not measured probabilities.</a:t>
            </a:r>
          </a:p>
        </p:txBody>
      </p:sp>
    </p:spTree>
    <p:extLst>
      <p:ext uri="{BB962C8B-B14F-4D97-AF65-F5344CB8AC3E}">
        <p14:creationId xmlns:p14="http://schemas.microsoft.com/office/powerpoint/2010/main" val="1801803002"/>
      </p:ext>
    </p:extLst>
  </p:cSld>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DC35CF8-5D04-4BFF-B56A-79CCE933982B}"/>
              </a:ext>
            </a:extLst>
          </p:cNvPr>
          <p:cNvSpPr>
            <a:spLocks xmlns:a="http://schemas.openxmlformats.org/drawingml/2006/main" noGrp="1"/>
          </p:cNvSpPr>
          <p:nvPr/>
        </p:nvSpPr>
        <p:spPr>
          <a:xfrm xmlns:a="http://schemas.openxmlformats.org/drawingml/2006/main">
            <a:off x="647700" y="447675"/>
            <a:ext cx="10896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7343C"/>
                </a:solidFill>
                <a:latin typeface="Arial"/>
                <a:ea typeface="Arial"/>
                <a:cs typeface="Arial"/>
              </a:defRPr>
            </a:pPr>
            <a:r>
              <a:rPr sz="3375" b="1">
                <a:solidFill>
                  <a:srgbClr val="17343C"/>
                </a:solidFill>
                <a:latin typeface="Arial"/>
                <a:ea typeface="Arial"/>
                <a:cs typeface="Arial"/>
              </a:rPr>
              <a:t>Continue the prototype with clear conditions</a:t>
            </a:r>
          </a:p>
        </p:txBody>
      </p:sp>
      <p:sp>
        <p:nvSpPr>
          <p:cNvPr id="2" name="page">
            <a:extLst xmlns:a="http://schemas.openxmlformats.org/drawingml/2006/main">
              <a:ext uri="{FF2B5EF4-FFF2-40B4-BE49-F238E27FC236}">
                <a16:creationId xmlns:a16="http://schemas.microsoft.com/office/drawing/2014/main" id="{4472AE4F-9679-4950-B4A5-97F7694DCBD6}"/>
              </a:ext>
            </a:extLst>
          </p:cNvPr>
          <p:cNvSpPr>
            <a:spLocks xmlns:a="http://schemas.openxmlformats.org/drawingml/2006/main" noGrp="1"/>
          </p:cNvSpPr>
          <p:nvPr/>
        </p:nvSpPr>
        <p:spPr>
          <a:xfrm xmlns:a="http://schemas.openxmlformats.org/drawingml/2006/main">
            <a:off x="9810750" y="6496050"/>
            <a:ext cx="1733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Group 4  /  12</a:t>
            </a:r>
          </a:p>
        </p:txBody>
      </p:sp>
      <p:sp>
        <p:nvSpPr>
          <p:cNvPr id="3" name="sources">
            <a:extLst xmlns:a="http://schemas.openxmlformats.org/drawingml/2006/main">
              <a:ext uri="{FF2B5EF4-FFF2-40B4-BE49-F238E27FC236}">
                <a16:creationId xmlns:a16="http://schemas.microsoft.com/office/drawing/2014/main" id="{CB20E149-2432-4FF0-95B2-326BAD5491A9}"/>
              </a:ext>
            </a:extLst>
          </p:cNvPr>
          <p:cNvSpPr>
            <a:spLocks xmlns:a="http://schemas.openxmlformats.org/drawingml/2006/main" noGrp="1"/>
          </p:cNvSpPr>
          <p:nvPr/>
        </p:nvSpPr>
        <p:spPr>
          <a:xfrm xmlns:a="http://schemas.openxmlformats.org/drawingml/2006/main">
            <a:off x="647700" y="6496050"/>
            <a:ext cx="89725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264"/>
                </a:solidFill>
                <a:latin typeface="Arial"/>
                <a:ea typeface="Arial"/>
                <a:cs typeface="Arial"/>
              </a:defRPr>
            </a:pPr>
            <a:r>
              <a:rPr sz="1350" b="0">
                <a:solidFill>
                  <a:srgbClr val="526264"/>
                </a:solidFill>
                <a:latin typeface="Arial"/>
                <a:ea typeface="Arial"/>
                <a:cs typeface="Arial"/>
              </a:rPr>
              <a:t>Full sources [S01–S38]: Word report and source notes</a:t>
            </a:r>
          </a:p>
        </p:txBody>
      </p:sp>
      <p:sp>
        <p:nvSpPr>
          <p:cNvPr id="4" name="decision">
            <a:extLst xmlns:a="http://schemas.openxmlformats.org/drawingml/2006/main">
              <a:ext uri="{FF2B5EF4-FFF2-40B4-BE49-F238E27FC236}">
                <a16:creationId xmlns:a16="http://schemas.microsoft.com/office/drawing/2014/main" id="{AF5CB3A7-3E54-41A8-8810-4ABBE6E8B36D}"/>
              </a:ext>
            </a:extLst>
          </p:cNvPr>
          <p:cNvSpPr>
            <a:spLocks xmlns:a="http://schemas.openxmlformats.org/drawingml/2006/main" noGrp="1"/>
          </p:cNvSpPr>
          <p:nvPr/>
        </p:nvSpPr>
        <p:spPr>
          <a:xfrm xmlns:a="http://schemas.openxmlformats.org/drawingml/2006/main">
            <a:off x="647700" y="1476375"/>
            <a:ext cx="10896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26746D"/>
                </a:solidFill>
                <a:latin typeface="Arial"/>
                <a:ea typeface="Arial"/>
                <a:cs typeface="Arial"/>
              </a:defRPr>
            </a:pPr>
            <a:r>
              <a:rPr sz="2550" b="1">
                <a:solidFill>
                  <a:srgbClr val="26746D"/>
                </a:solidFill>
                <a:latin typeface="Arial"/>
                <a:ea typeface="Arial"/>
                <a:cs typeface="Arial"/>
              </a:rPr>
              <a:t>The monitor case alone does not justify a live KU rollout.</a:t>
            </a:r>
          </a:p>
        </p:txBody>
      </p:sp>
      <p:graphicFrame>
        <p:nvGraphicFramePr>
          <p:cNvPr id="12" name=""/>
          <p:cNvGraphicFramePr/>
          <p:nvPr/>
        </p:nvGraphicFramePr>
        <p:xfrm>
          <a:off xmlns:a="http://schemas.openxmlformats.org/drawingml/2006/main" x="647700" y="2514600"/>
          <a:ext xmlns:a="http://schemas.openxmlformats.org/drawingml/2006/main" cx="10896600" cy="2066925"/>
        </p:xfrm>
        <a:graphic xmlns:a="http://schemas.openxmlformats.org/drawingml/2006/main">
          <a:graphicData uri="http://schemas.openxmlformats.org/drawingml/2006/table">
            <a:tbl>
              <a:tblPr firstRow="0" firstCol="0" bandRow="0"/>
              <a:tblGrid>
                <a:gridCol w="5448300"/>
                <a:gridCol w="5448300"/>
              </a:tblGrid>
              <a:tr h="542925">
                <a:tc>
                  <a:txBody>
                    <a:bodyPr lIns="123825" tIns="76200" rIns="123825" bIns="76200">
                      <a:noAutofit/>
                    </a:bodyPr>
                    <a:lstStyle/>
                    <a:p>
                      <a:r>
                        <a:rPr sz="1875" b="1">
                          <a:solidFill>
                            <a:srgbClr val="FFFFFF"/>
                          </a:solidFill>
                          <a:latin typeface="Arial"/>
                          <a:ea typeface="Arial"/>
                          <a:cs typeface="Arial"/>
                        </a:rPr>
                        <a:t>Evidence included</a:t>
                      </a:r>
                    </a:p>
                  </a:txBody>
                  <a:tcPr marL="91440" marR="91440" marT="45720" marB="45720" anchor="ctr">
                    <a:solidFill>
                      <a:srgbClr val="17343C"/>
                    </a:solidFill>
                  </a:tcPr>
                </a:tc>
                <a:tc>
                  <a:txBody>
                    <a:bodyPr lIns="123825" tIns="76200" rIns="123825" bIns="76200">
                      <a:noAutofit/>
                    </a:bodyPr>
                    <a:lstStyle/>
                    <a:p>
                      <a:r>
                        <a:rPr sz="1875" b="1">
                          <a:solidFill>
                            <a:srgbClr val="FFFFFF"/>
                          </a:solidFill>
                          <a:latin typeface="Arial"/>
                          <a:ea typeface="Arial"/>
                          <a:cs typeface="Arial"/>
                        </a:rPr>
                        <a:t>Next evidence needed</a:t>
                      </a:r>
                    </a:p>
                  </a:txBody>
                  <a:tcPr marL="91440" marR="91440" marT="45720" marB="45720" anchor="ctr">
                    <a:solidFill>
                      <a:srgbClr val="17343C"/>
                    </a:solidFill>
                  </a:tcPr>
                </a:tc>
              </a:tr>
              <a:tr h="1524000">
                <a:tc>
                  <a:txBody>
                    <a:bodyPr lIns="123825" tIns="76200" rIns="123825" bIns="76200">
                      <a:noAutofit/>
                    </a:bodyPr>
                    <a:lstStyle/>
                    <a:p>
                      <a:r>
                        <a:rPr sz="2175" b="0">
                          <a:solidFill>
                            <a:srgbClr val="17343C"/>
                          </a:solidFill>
                          <a:latin typeface="Arial"/>
                          <a:ea typeface="Arial"/>
                          <a:cs typeface="Arial"/>
                        </a:rPr>
                        <a:t>Desk research and traced calculations.</a:t>
                      </a:r>
                    </a:p>
                    <a:p>
                      <a:r>
                        <a:rPr sz="2175" b="0">
                          <a:solidFill>
                            <a:srgbClr val="17343C"/>
                          </a:solidFill>
                          <a:latin typeface="Arial"/>
                          <a:ea typeface="Arial"/>
                          <a:cs typeface="Arial"/>
                        </a:rPr>
                        <a:t>Two clearly labelled AI role-play interviews.</a:t>
                      </a:r>
                    </a:p>
                  </a:txBody>
                  <a:tcPr marL="91440" marR="91440" marT="45720" marB="45720" anchor="ctr">
                    <a:solidFill>
                      <a:srgbClr val="FAFAF7"/>
                    </a:solidFill>
                  </a:tcPr>
                </a:tc>
                <a:tc>
                  <a:txBody>
                    <a:bodyPr lIns="123825" tIns="76200" rIns="123825" bIns="76200">
                      <a:noAutofit/>
                    </a:bodyPr>
                    <a:lstStyle/>
                    <a:p>
                      <a:r>
                        <a:rPr sz="2175" b="0">
                          <a:solidFill>
                            <a:srgbClr val="17343C"/>
                          </a:solidFill>
                          <a:latin typeface="Arial"/>
                          <a:ea typeface="Arial"/>
                          <a:cs typeface="Arial"/>
                        </a:rPr>
                        <a:t>Actual KU process, staff needs and workload.</a:t>
                      </a:r>
                    </a:p>
                    <a:p>
                      <a:r>
                        <a:rPr sz="2175" b="0">
                          <a:solidFill>
                            <a:srgbClr val="17343C"/>
                          </a:solidFill>
                          <a:latin typeface="Arial"/>
                          <a:ea typeface="Arial"/>
                          <a:cs typeface="Arial"/>
                        </a:rPr>
                        <a:t>Permission, hosting and AI test results.</a:t>
                      </a:r>
                    </a:p>
                  </a:txBody>
                  <a:tcPr marL="91440" marR="91440" marT="45720" marB="45720" anchor="ctr">
                    <a:solidFill>
                      <a:srgbClr val="FAFAF7"/>
                    </a:solidFill>
                  </a:tcPr>
                </a:tc>
              </a:tr>
            </a:tbl>
          </a:graphicData>
        </a:graphic>
      </p:graphicFrame>
      <p:sp>
        <p:nvSpPr>
          <p:cNvPr id="6" name="ai-use">
            <a:extLst xmlns:a="http://schemas.openxmlformats.org/drawingml/2006/main">
              <a:ext uri="{FF2B5EF4-FFF2-40B4-BE49-F238E27FC236}">
                <a16:creationId xmlns:a16="http://schemas.microsoft.com/office/drawing/2014/main" id="{F1E6784B-8170-4240-BA81-D82458356AF8}"/>
              </a:ext>
            </a:extLst>
          </p:cNvPr>
          <p:cNvSpPr>
            <a:spLocks xmlns:a="http://schemas.openxmlformats.org/drawingml/2006/main" noGrp="1"/>
          </p:cNvSpPr>
          <p:nvPr/>
        </p:nvSpPr>
        <p:spPr>
          <a:xfrm xmlns:a="http://schemas.openxmlformats.org/drawingml/2006/main">
            <a:off x="647700" y="4962525"/>
            <a:ext cx="108966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343C"/>
                </a:solidFill>
                <a:latin typeface="Arial"/>
                <a:ea typeface="Arial"/>
                <a:cs typeface="Arial"/>
              </a:defRPr>
            </a:pPr>
            <a:r>
              <a:rPr sz="2100" b="0">
                <a:solidFill>
                  <a:srgbClr val="17343C"/>
                </a:solidFill>
                <a:latin typeface="Arial"/>
                <a:ea typeface="Arial"/>
                <a:cs typeface="Arial"/>
              </a:rPr>
              <a:t>AI helped with drafting, research, calculations, role-play and visuals.</a:t>
            </a:r>
          </a:p>
          <a:p xmlns:a="http://schemas.openxmlformats.org/drawingml/2006/main">
            <a:pPr algn="l">
              <a:defRPr sz="2100" b="0">
                <a:solidFill>
                  <a:srgbClr val="17343C"/>
                </a:solidFill>
                <a:latin typeface="Arial"/>
                <a:ea typeface="Arial"/>
                <a:cs typeface="Arial"/>
              </a:defRPr>
            </a:pPr>
            <a:r>
              <a:rPr sz="2100" b="0">
                <a:solidFill>
                  <a:srgbClr val="17343C"/>
                </a:solidFill>
                <a:latin typeface="Arial"/>
                <a:ea typeface="Arial"/>
                <a:cs typeface="Arial"/>
              </a:rPr>
              <a:t>Our team remains responsible for the submitted work.</a:t>
            </a:r>
          </a:p>
        </p:txBody>
      </p:sp>
      <p:sp>
        <p:nvSpPr>
          <p:cNvPr id="7" name="word">
            <a:extLst xmlns:a="http://schemas.openxmlformats.org/drawingml/2006/main">
              <a:ext uri="{FF2B5EF4-FFF2-40B4-BE49-F238E27FC236}">
                <a16:creationId xmlns:a16="http://schemas.microsoft.com/office/drawing/2014/main" id="{8C851A77-D79E-44E5-8A83-09B3FC7201D3}"/>
              </a:ext>
            </a:extLst>
          </p:cNvPr>
          <p:cNvSpPr>
            <a:spLocks xmlns:a="http://schemas.openxmlformats.org/drawingml/2006/main" noGrp="1"/>
          </p:cNvSpPr>
          <p:nvPr/>
        </p:nvSpPr>
        <p:spPr>
          <a:xfrm xmlns:a="http://schemas.openxmlformats.org/drawingml/2006/main">
            <a:off x="647700" y="6038850"/>
            <a:ext cx="10896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26746D"/>
                </a:solidFill>
                <a:latin typeface="Arial"/>
                <a:ea typeface="Arial"/>
                <a:cs typeface="Arial"/>
              </a:defRPr>
            </a:pPr>
            <a:r>
              <a:rPr sz="1875" b="1">
                <a:solidFill>
                  <a:srgbClr val="26746D"/>
                </a:solidFill>
                <a:latin typeface="Arial"/>
                <a:ea typeface="Arial"/>
                <a:cs typeface="Arial"/>
              </a:rPr>
              <a:t>The full Word report contains the detailed analysis, test plan and 38 references.</a:t>
            </a:r>
          </a:p>
        </p:txBody>
      </p:sp>
    </p:spTree>
    <p:extLst>
      <p:ext uri="{BB962C8B-B14F-4D97-AF65-F5344CB8AC3E}">
        <p14:creationId xmlns:p14="http://schemas.microsoft.com/office/powerpoint/2010/main" val="14566701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2026-09-29T10:45:12.1100000Z</dcterms:created>
  <dcterms:modified xsi:type="dcterms:W3CDTF">2026-09-29T10:45:12.1100000Z</dcterms:modified>
</coreProperties>
</file>