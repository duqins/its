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01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Phase 3 requirements specification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What Dawra Campus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has to do</a:t>
            </a:r>
            <a:endParaRPr lang="en-US" sz="4600" dirty="0"/>
          </a:p>
        </p:txBody>
      </p:sp>
      <p:pic>
        <p:nvPicPr>
          <p:cNvPr id="4" name="Logo" descr="C:/Users/User/AppData/Local/Temp/claude/C--Users-User-OneDrive-Desktop-1---University-Fall-2026-COSC-336-Introduction-to-Software-Engineering-03-Lab-ITS/e96289d6-3a0a-45ed-81dd-724a32dfce07/scratchpad/p2/ppt/media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4937760" cy="2057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0690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COSC 336  /  Group 4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Khalifa University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13 October 2026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122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Dawra Campus student project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43434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Sultan Almheiri  100065654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Zayed Alfadli  100064657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Ghaith Alhinaai  100066185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Phase 3 submission: Software Requirements Specification (SRS)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02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What's in our SRS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Built on our Phase 1 requirements and Phase 2 decisions, using the course SRS template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1371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98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957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functional requirements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14 classic features, sections 4.3–4.16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79976" y="1371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4296" y="15544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3957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 cases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UML diagram + a full description for each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19872" y="1371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15544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61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3957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states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743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for assets, requests, transfers, repairs and more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40080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7947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360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business rules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who can do what, and when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379976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54296" y="37947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14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4654296" y="46360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screens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654296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what each page must show and allow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8119872" y="36118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94192" y="37947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</a:t>
            </a:r>
            <a:endParaRPr lang="en-US" sz="54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6360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sustainability requirements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4983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with a formula for every number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03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Nine roles, three do the daily work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IT access never turns into approval power (BR-01)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Primary users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640080" y="1783080"/>
            <a:ext cx="51206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Requester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Searches, asks for items and reserves them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40080" y="3081528"/>
            <a:ext cx="51206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218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Asset custodian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30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Registers items, hands them over and confirms receipt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40080" y="4379976"/>
            <a:ext cx="51206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5171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Department representative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9286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Approves listings, requests, transfers and repairs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Everyone else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Finance officer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Approves over-limit spending and write-offs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048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Procurement officer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Approves procurement-controlled transfers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2666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Sustainability officer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Checks reuse was tried before disposal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64845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Maintenance staff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Assesses and repairs items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27024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Business administrator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Sets up departments and authorises roles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892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System administrator  </a:t>
            </a:r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Runs accounts and applies roles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04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Use-case diagram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14 use cases; every approval goes through UC-08 (Approve workflow step)</a:t>
            </a:r>
            <a:endParaRPr lang="en-US" sz="1800" dirty="0"/>
          </a:p>
        </p:txBody>
      </p:sp>
      <p:pic>
        <p:nvPicPr>
          <p:cNvPr id="5" name="Use-case diagram" descr="C:/Users/User/OneDrive/Desktop/1 - University/Fall 2026/COSC-336 Introduction to Software Engineering/03 Lab/ITS/docs/phase3/images/use-cas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1890" y="1234440"/>
            <a:ext cx="6847915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05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Example: UC-09 Confirm handover and receipt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Ownership only changes after the receiving custodian confirms (BR-13)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Actors: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releasing and receiving Asset custodians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      Starts when: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transfer is Approved (TR-04)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40080" y="1783080"/>
            <a:ext cx="60350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Normal flow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5486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Both custodians confirm the delivery plan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Releasing custodian records quantity and condition, then hands over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System marks it Handed over; the item is In transfer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Receiving custodian checks it and confirms receipt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System completes the transfer, moves ownership and fulfils the request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903720" y="1783080"/>
            <a:ext cx="4645152" cy="3840480"/>
          </a:xfrm>
          <a:prstGeom prst="roundRect">
            <a:avLst>
              <a:gd name="adj" fmla="val 1905"/>
            </a:avLst>
          </a:prstGeom>
          <a:solidFill>
            <a:srgbClr val="F0F4F3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7804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If something goes wrong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4231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Approval missing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handover is blocked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4290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Cancelled before handover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quantity goes back to the listing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44348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Quantity or condition differs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transfer becomes Disputed and ownership stays put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06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a transfer moves through its states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61 states across 8 record types; any change not allowed is blocked and logged</a:t>
            </a:r>
            <a:endParaRPr lang="en-US" sz="1800" dirty="0"/>
          </a:p>
        </p:txBody>
      </p:sp>
      <p:sp>
        <p:nvSpPr>
          <p:cNvPr id="5" name="State 1"/>
          <p:cNvSpPr/>
          <p:nvPr/>
        </p:nvSpPr>
        <p:spPr>
          <a:xfrm>
            <a:off x="640080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6746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011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C"/>
                </a:solidFill>
              </a:rPr>
              <a:t>Pending release approval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TR-01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2537460"/>
            <a:ext cx="192024" cy="0"/>
          </a:xfrm>
          <a:prstGeom prst="line">
            <a:avLst/>
          </a:prstGeom>
          <a:noFill/>
          <a:ln w="19050">
            <a:solidFill>
              <a:srgbClr val="26746D"/>
            </a:solidFill>
            <a:prstDash val="solid"/>
            <a:tailEnd type="triangle"/>
          </a:ln>
        </p:spPr>
      </p:sp>
      <p:sp>
        <p:nvSpPr>
          <p:cNvPr id="9" name="State 2"/>
          <p:cNvSpPr/>
          <p:nvPr/>
        </p:nvSpPr>
        <p:spPr>
          <a:xfrm>
            <a:off x="2496312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674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9464" y="2011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C"/>
                </a:solidFill>
              </a:rPr>
              <a:t>Pending receipt approval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96312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TR-02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42232" y="2537460"/>
            <a:ext cx="192024" cy="0"/>
          </a:xfrm>
          <a:prstGeom prst="line">
            <a:avLst/>
          </a:prstGeom>
          <a:noFill/>
          <a:ln w="19050">
            <a:solidFill>
              <a:srgbClr val="26746D"/>
            </a:solidFill>
            <a:prstDash val="solid"/>
            <a:tailEnd type="triangle"/>
          </a:ln>
        </p:spPr>
      </p:sp>
      <p:sp>
        <p:nvSpPr>
          <p:cNvPr id="13" name="State 3"/>
          <p:cNvSpPr/>
          <p:nvPr/>
        </p:nvSpPr>
        <p:spPr>
          <a:xfrm>
            <a:off x="4352544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674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5696" y="2011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C"/>
                </a:solidFill>
              </a:rPr>
              <a:t>Pending policy approval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52544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TR-03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98464" y="2537460"/>
            <a:ext cx="192024" cy="0"/>
          </a:xfrm>
          <a:prstGeom prst="line">
            <a:avLst/>
          </a:prstGeom>
          <a:noFill/>
          <a:ln w="19050">
            <a:solidFill>
              <a:srgbClr val="26746D"/>
            </a:solidFill>
            <a:prstDash val="solid"/>
            <a:tailEnd type="triangle"/>
          </a:ln>
        </p:spPr>
      </p:sp>
      <p:sp>
        <p:nvSpPr>
          <p:cNvPr id="17" name="State 4"/>
          <p:cNvSpPr/>
          <p:nvPr/>
        </p:nvSpPr>
        <p:spPr>
          <a:xfrm>
            <a:off x="6208776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674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81928" y="2011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C"/>
                </a:solidFill>
              </a:rPr>
              <a:t>Approved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TR-04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54696" y="2537460"/>
            <a:ext cx="192024" cy="0"/>
          </a:xfrm>
          <a:prstGeom prst="line">
            <a:avLst/>
          </a:prstGeom>
          <a:noFill/>
          <a:ln w="19050">
            <a:solidFill>
              <a:srgbClr val="26746D"/>
            </a:solidFill>
            <a:prstDash val="solid"/>
            <a:tailEnd type="triangle"/>
          </a:ln>
        </p:spPr>
      </p:sp>
      <p:sp>
        <p:nvSpPr>
          <p:cNvPr id="21" name="State 5"/>
          <p:cNvSpPr/>
          <p:nvPr/>
        </p:nvSpPr>
        <p:spPr>
          <a:xfrm>
            <a:off x="8065008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2674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011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43C"/>
                </a:solidFill>
              </a:rPr>
              <a:t>Handed over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65008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TR-05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10928" y="2537460"/>
            <a:ext cx="192024" cy="0"/>
          </a:xfrm>
          <a:prstGeom prst="line">
            <a:avLst/>
          </a:prstGeom>
          <a:noFill/>
          <a:ln w="19050">
            <a:solidFill>
              <a:srgbClr val="26746D"/>
            </a:solidFill>
            <a:prstDash val="solid"/>
            <a:tailEnd type="triangle"/>
          </a:ln>
        </p:spPr>
      </p:sp>
      <p:sp>
        <p:nvSpPr>
          <p:cNvPr id="25" name="State 6"/>
          <p:cNvSpPr/>
          <p:nvPr/>
        </p:nvSpPr>
        <p:spPr>
          <a:xfrm>
            <a:off x="9921240" y="2011680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26746D"/>
          </a:solidFill>
          <a:ln w="15875">
            <a:solidFill>
              <a:srgbClr val="2674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4392" y="201168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Completed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1363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TR-06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86784" y="141732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only if over the Finance limit or procurement-controlled (BR-06)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40080" y="3886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0F4F3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Rejected (TR-08)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Any approver says no, with a reason</a:t>
            </a:r>
            <a:endParaRPr lang="en-US" sz="1500" dirty="0"/>
          </a:p>
        </p:txBody>
      </p:sp>
      <p:sp>
        <p:nvSpPr>
          <p:cNvPr id="32" name="Card"/>
          <p:cNvSpPr/>
          <p:nvPr/>
        </p:nvSpPr>
        <p:spPr>
          <a:xfrm>
            <a:off x="4343400" y="3886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0F4F3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Cancelled (TR-09)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Stopped before handover; quantity returns</a:t>
            </a:r>
            <a:endParaRPr lang="en-US" sz="1500" dirty="0"/>
          </a:p>
        </p:txBody>
      </p:sp>
      <p:sp>
        <p:nvSpPr>
          <p:cNvPr id="35" name="Card"/>
          <p:cNvSpPr/>
          <p:nvPr/>
        </p:nvSpPr>
        <p:spPr>
          <a:xfrm>
            <a:off x="8046720" y="3886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0F4F3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7532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Disputed (TR-07)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Receipt doesn't match; ownership stays put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07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approves what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Nobody can approve their own request (BR-02)</a:t>
            </a:r>
            <a:endParaRPr lang="en-US" sz="1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by, in order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an 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owning department's representative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requester's department representative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transfer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Releasing representative → receiving representative → Finance / Procurement if over the limit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spending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department representative → Finance if over the limit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life (donate, recycle, dispose)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officer → Finance officer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Giving someone a role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administrator authorises → System administrator applies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08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Requirements written so we can test them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Every "shall" becomes a test case in Phase 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We used the EARS patterns from the Chapter 3 slides. Examples from our SRS:</a:t>
            </a:r>
            <a:endParaRPr lang="en-US" sz="16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4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(event)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two users try to reserve the last units at the same time, the system shall confirm only one. (FR-09.5)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(state)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an asset is under maintenance, in transfer or retired, the system shall not allow it to be listed or reserved. (FR-05.4)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… then (problem)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received quantity or condition is different, then the system shall mark the transfer Disputed and keep ownership unchanged. (FR-11.5)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(optional)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email is enabled, the system shall also send each notification by email. (FR-16.6)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09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AI fits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 suggests, people decide, and normal search always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 features (sections 4.17–4.23)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Suggest category and description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185623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6746D"/>
          </a:solidFill>
          <a:ln w="12700">
            <a:solidFill>
              <a:srgbClr val="26746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18562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Essential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Match requests to items by meaning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240487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6746D"/>
          </a:solidFill>
          <a:ln w="12700">
            <a:solidFill>
              <a:srgbClr val="26746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0" y="24048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Essential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Rank matches with score, reasons and confidence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295351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6746D"/>
          </a:solidFill>
          <a:ln w="12700">
            <a:solidFill>
              <a:srgbClr val="26746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29535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Essential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Draft report summaries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350215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6746D"/>
          </a:solidFill>
          <a:ln w="12700">
            <a:solidFill>
              <a:srgbClr val="26746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35021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Essential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Track model version, overrides and fallback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0" y="405079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26746D"/>
          </a:solidFill>
          <a:ln w="12700">
            <a:solidFill>
              <a:srgbClr val="2674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4050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Essential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526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Suggest what to do with old items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0" y="459943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0" y="45994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</a:rPr>
              <a:t>Desirable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Campus chat assistant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0" y="5148072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51480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</a:rPr>
              <a:t>Desirable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7086600" y="1325880"/>
            <a:ext cx="4462272" cy="4251960"/>
          </a:xfrm>
          <a:prstGeom prst="roundRect">
            <a:avLst>
              <a:gd name="adj" fmla="val 1720"/>
            </a:avLst>
          </a:prstGeom>
          <a:solidFill>
            <a:srgbClr val="F0F4F3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6092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rules for AI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01168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Normal rules remove items that can't be used before AI ranks anything (BR-14)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Picking a match isn't a reservation, and a reservation isn't an approval (BR-15)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suggestion shows its reasons and how sure it 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If AI is down, normal search and forms still work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10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Measuring sustainability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Only finished, approved actions count; our made-up data shows the method, not real savings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16002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01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Avoided purchases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13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Requests filled with an existing item that a reviewer confirms would otherwise be bought × replacement cost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245352" y="16002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8013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Net savings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13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Avoided purchase value − transfer, inspection and repair costs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640080" y="36576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858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Reuse rate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708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Listed quantity that was transferred and received ÷ total listed quantity × 100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245352" y="365760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38587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Carbon saved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43708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Avoided quantity × emission factor for the category − transport and parts emissions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11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Quality targets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Every target can be measured; details are in section 5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16002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 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95% of searches return within 2 seconds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500 test assets, 5 users at once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429000" y="16002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 of 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 users finish the main tasks without help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register, find an item, submit a request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17920" y="16002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15 s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 switch to normal features if AI fails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nothing the user typed is lost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9006840" y="160020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0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880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paid accounts or AI keys needed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classic system runs straight from the repo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12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Priorities, and what we need from you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Next: architecture and design in Phases 4 and 5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132588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746D"/>
                </a:solidFill>
              </a:rPr>
              <a:t>Essential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562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classic features, AI classification and matching, basic AI reports, sustainability dashboard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40080" y="278892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Desirable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192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Old-item suggestions, chat assistant, configurable limits, report export, hosting online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40080" y="425196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6264"/>
                </a:solidFill>
              </a:rPr>
              <a:t>Future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78231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Email alerts, demand forecasting, map view, Arabic version, KU system integration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7086600" y="1325880"/>
            <a:ext cx="4462272" cy="4206240"/>
          </a:xfrm>
          <a:prstGeom prst="roundRect">
            <a:avLst>
              <a:gd name="adj" fmla="val 1739"/>
            </a:avLst>
          </a:prstGeom>
          <a:solidFill>
            <a:srgbClr val="F0F4F3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92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Open questions for the instructors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011680"/>
            <a:ext cx="3977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What value needs Finance approval for a transfer or repair? (TBD-1, TBD-2)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Is 5 working days right for holding a reservation? (TBD-3)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items need EHS handling? (TBD-8)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source should we use for carbon factors? (TBD-6)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Group 4  /  13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did what</a:t>
            </a:r>
            <a:endParaRPr lang="en-US" sz="3400" dirty="0"/>
          </a:p>
        </p:txBody>
      </p:sp>
      <p:sp>
        <p:nvSpPr>
          <p:cNvPr id="4" name="Takeaway"/>
          <p:cNvSpPr txBox="1"/>
          <p:nvPr/>
        </p:nvSpPr>
        <p:spPr>
          <a:xfrm>
            <a:off x="640080" y="583387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Thank you – questions?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141732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Sultan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scope, record states, 14 classic features, business rules and approvals, sustainability, priorities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79976" y="141732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1645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Zayed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286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Roles and permissions, 14 screens, use-case diagram and the 14 use-case descriptions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119872" y="141732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8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1645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Ghaith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2286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Operating environment, interfaces, AI features and the quality requirements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519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Each member wrote their own sections on GitHub, and teammates reviewed them through pull requests.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wra Campus">
  <a:themeElements>
    <a:clrScheme name="Dawra Campus">
      <a:dk1>
        <a:srgbClr val="17343C"/>
      </a:dk1>
      <a:lt1>
        <a:srgbClr val="FFFFFF"/>
      </a:lt1>
      <a:dk2>
        <a:srgbClr val="26746D"/>
      </a:dk2>
      <a:lt2>
        <a:srgbClr val="F0F4F3"/>
      </a:lt2>
      <a:accent1>
        <a:srgbClr val="26746D"/>
      </a:accent1>
      <a:accent2>
        <a:srgbClr val="17343C"/>
      </a:accent2>
      <a:accent3>
        <a:srgbClr val="526264"/>
      </a:accent3>
      <a:accent4>
        <a:srgbClr val="B7791F"/>
      </a:accent4>
      <a:accent5>
        <a:srgbClr val="DCE9E6"/>
      </a:accent5>
      <a:accent6>
        <a:srgbClr val="FAFAF7"/>
      </a:accent6>
      <a:hlink>
        <a:srgbClr val="26746D"/>
      </a:hlink>
      <a:folHlink>
        <a:srgbClr val="526264"/>
      </a:folHlink>
    </a:clrScheme>
    <a:fontScheme name="Dawra Camp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Dawra Campus – Phase 3 Requirements</dc:title>
  <dc:subject>PptxGenJS Presentation</dc:subject>
  <dc:creator>COSC 336 Group 4</dc:creator>
  <cp:lastModifiedBy>COSC 336 Group 4</cp:lastModifiedBy>
  <cp:revision>1</cp:revision>
  <dcterms:created xsi:type="dcterms:W3CDTF">2026-10-12T19:32:22Z</dcterms:created>
  <dcterms:modified xsi:type="dcterms:W3CDTF">2026-10-12T19:32:22Z</dcterms:modified>
</cp:coreProperties>
</file>